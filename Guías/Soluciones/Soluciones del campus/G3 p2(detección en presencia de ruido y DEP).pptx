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3"/>
  </p:notesMasterIdLst>
  <p:sldIdLst>
    <p:sldId id="256" r:id="rId2"/>
    <p:sldId id="291" r:id="rId3"/>
    <p:sldId id="259" r:id="rId4"/>
    <p:sldId id="293" r:id="rId5"/>
    <p:sldId id="294" r:id="rId6"/>
    <p:sldId id="345" r:id="rId7"/>
    <p:sldId id="346" r:id="rId8"/>
    <p:sldId id="348" r:id="rId9"/>
    <p:sldId id="349" r:id="rId10"/>
    <p:sldId id="351" r:id="rId11"/>
    <p:sldId id="350" r:id="rId12"/>
    <p:sldId id="347" r:id="rId13"/>
    <p:sldId id="286" r:id="rId14"/>
    <p:sldId id="288" r:id="rId15"/>
    <p:sldId id="292" r:id="rId16"/>
    <p:sldId id="333" r:id="rId17"/>
    <p:sldId id="276" r:id="rId18"/>
    <p:sldId id="277" r:id="rId19"/>
    <p:sldId id="289" r:id="rId20"/>
    <p:sldId id="334" r:id="rId21"/>
    <p:sldId id="282" r:id="rId22"/>
    <p:sldId id="337" r:id="rId23"/>
    <p:sldId id="298" r:id="rId24"/>
    <p:sldId id="323" r:id="rId25"/>
    <p:sldId id="338" r:id="rId26"/>
    <p:sldId id="324" r:id="rId27"/>
    <p:sldId id="335" r:id="rId28"/>
    <p:sldId id="290" r:id="rId29"/>
    <p:sldId id="325" r:id="rId30"/>
    <p:sldId id="299" r:id="rId31"/>
    <p:sldId id="300" r:id="rId32"/>
    <p:sldId id="336" r:id="rId33"/>
    <p:sldId id="301" r:id="rId34"/>
    <p:sldId id="341" r:id="rId35"/>
    <p:sldId id="305" r:id="rId36"/>
    <p:sldId id="344" r:id="rId37"/>
    <p:sldId id="343" r:id="rId38"/>
    <p:sldId id="303" r:id="rId39"/>
    <p:sldId id="304" r:id="rId40"/>
    <p:sldId id="339" r:id="rId41"/>
    <p:sldId id="302" r:id="rId42"/>
    <p:sldId id="342" r:id="rId43"/>
    <p:sldId id="306" r:id="rId44"/>
    <p:sldId id="312" r:id="rId45"/>
    <p:sldId id="314" r:id="rId46"/>
    <p:sldId id="340" r:id="rId47"/>
    <p:sldId id="315" r:id="rId48"/>
    <p:sldId id="318" r:id="rId49"/>
    <p:sldId id="320" r:id="rId50"/>
    <p:sldId id="331" r:id="rId51"/>
    <p:sldId id="321" r:id="rId52"/>
    <p:sldId id="322" r:id="rId53"/>
    <p:sldId id="307" r:id="rId54"/>
    <p:sldId id="310" r:id="rId55"/>
    <p:sldId id="311" r:id="rId56"/>
    <p:sldId id="308" r:id="rId57"/>
    <p:sldId id="309" r:id="rId58"/>
    <p:sldId id="316" r:id="rId59"/>
    <p:sldId id="317" r:id="rId60"/>
    <p:sldId id="262" r:id="rId61"/>
    <p:sldId id="263" r:id="rId6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88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138"/>
      </p:cViewPr>
      <p:guideLst>
        <p:guide orient="horz" pos="188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1C4CD-45E9-4654-9E96-A5B26A1F05EF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FAB1A-2EE0-4230-85AB-72E46B336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6436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 smtClean="0"/>
          </a:p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FAB1A-2EE0-4230-85AB-72E46B3362BA}" type="slidenum">
              <a:rPr lang="es-AR" smtClean="0"/>
              <a:t>38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0493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 smtClean="0"/>
          </a:p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FAB1A-2EE0-4230-85AB-72E46B3362BA}" type="slidenum">
              <a:rPr lang="es-AR" smtClean="0"/>
              <a:t>39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0493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 smtClean="0"/>
          </a:p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FAB1A-2EE0-4230-85AB-72E46B3362BA}" type="slidenum">
              <a:rPr lang="es-AR" smtClean="0"/>
              <a:t>40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0493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1938933"/>
            <a:ext cx="6858000" cy="1671614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 dirty="0" smtClean="0"/>
              <a:t>Haga clic para modificar el estilo de título del patrón</a:t>
            </a:r>
            <a:endParaRPr kumimoji="0" lang="en-US" dirty="0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904875" y="1700808"/>
            <a:ext cx="7315200" cy="216024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Rectángulo"/>
          <p:cNvSpPr/>
          <p:nvPr/>
        </p:nvSpPr>
        <p:spPr>
          <a:xfrm>
            <a:off x="904875" y="1700808"/>
            <a:ext cx="228600" cy="216024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 dirty="0" smtClean="0"/>
              <a:t>Haga clic para modificar el estilo de texto del patrón</a:t>
            </a:r>
          </a:p>
          <a:p>
            <a:pPr lvl="1" eaLnBrk="1" latinLnBrk="0" hangingPunct="1"/>
            <a:r>
              <a:rPr lang="es-ES" dirty="0" smtClean="0"/>
              <a:t>Segundo nivel</a:t>
            </a:r>
          </a:p>
          <a:p>
            <a:pPr lvl="2" eaLnBrk="1" latinLnBrk="0" hangingPunct="1"/>
            <a:r>
              <a:rPr lang="es-ES" dirty="0" smtClean="0"/>
              <a:t>Tercer nivel</a:t>
            </a:r>
          </a:p>
          <a:p>
            <a:pPr lvl="3" eaLnBrk="1" latinLnBrk="0" hangingPunct="1"/>
            <a:r>
              <a:rPr lang="es-ES" dirty="0" smtClean="0"/>
              <a:t>Cuarto nivel</a:t>
            </a:r>
          </a:p>
          <a:p>
            <a:pPr lvl="4" eaLnBrk="1" latinLnBrk="0" hangingPunct="1"/>
            <a:r>
              <a:rPr lang="es-ES" dirty="0" smtClean="0"/>
              <a:t>Quinto nivel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 dirty="0" smtClean="0"/>
              <a:t>Haga clic para modificar el estilo de título del patrón</a:t>
            </a:r>
            <a:endParaRPr kumimoji="0" lang="en-US" dirty="0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dirty="0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dirty="0" smtClean="0"/>
              <a:t>Segundo nivel</a:t>
            </a:r>
          </a:p>
          <a:p>
            <a:pPr lvl="2" eaLnBrk="1" latinLnBrk="0" hangingPunct="1"/>
            <a:r>
              <a:rPr kumimoji="0" lang="es-ES" dirty="0" smtClean="0"/>
              <a:t>Tercer nivel</a:t>
            </a:r>
          </a:p>
          <a:p>
            <a:pPr lvl="3" eaLnBrk="1" latinLnBrk="0" hangingPunct="1"/>
            <a:r>
              <a:rPr kumimoji="0" lang="es-ES" dirty="0" smtClean="0"/>
              <a:t>Cuarto nivel</a:t>
            </a:r>
          </a:p>
          <a:p>
            <a:pPr lvl="4" eaLnBrk="1" latinLnBrk="0" hangingPunct="1"/>
            <a:r>
              <a:rPr kumimoji="0" lang="es-ES" dirty="0" smtClean="0"/>
              <a:t>Quinto nivel</a:t>
            </a:r>
            <a:endParaRPr kumimoji="0" lang="en-US" dirty="0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39552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19/11/2014</a:t>
            </a:r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Ing. Leonel E. Hochman</a:t>
            </a:r>
            <a:endParaRPr lang="es-E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695256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7" Type="http://schemas.openxmlformats.org/officeDocument/2006/relationships/image" Target="../media/image28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image" Target="../media/image430.png"/><Relationship Id="rId3" Type="http://schemas.openxmlformats.org/officeDocument/2006/relationships/image" Target="../media/image330.png"/><Relationship Id="rId7" Type="http://schemas.openxmlformats.org/officeDocument/2006/relationships/image" Target="../media/image370.png"/><Relationship Id="rId12" Type="http://schemas.openxmlformats.org/officeDocument/2006/relationships/image" Target="../media/image4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11" Type="http://schemas.openxmlformats.org/officeDocument/2006/relationships/image" Target="../media/image410.png"/><Relationship Id="rId5" Type="http://schemas.openxmlformats.org/officeDocument/2006/relationships/image" Target="../media/image350.png"/><Relationship Id="rId10" Type="http://schemas.openxmlformats.org/officeDocument/2006/relationships/image" Target="../media/image400.png"/><Relationship Id="rId4" Type="http://schemas.openxmlformats.org/officeDocument/2006/relationships/image" Target="../media/image340.png"/><Relationship Id="rId9" Type="http://schemas.openxmlformats.org/officeDocument/2006/relationships/image" Target="../media/image3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G3 – Modulaciones Digitales</a:t>
            </a:r>
            <a:br>
              <a:rPr lang="es-AR" dirty="0" smtClean="0"/>
            </a:br>
            <a:r>
              <a:rPr lang="es-AR" dirty="0"/>
              <a:t/>
            </a:r>
            <a:br>
              <a:rPr lang="es-AR" dirty="0"/>
            </a:br>
            <a:r>
              <a:rPr lang="es-AR" dirty="0" smtClean="0"/>
              <a:t>Orientación para la resolución de ejercicios seleccionados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ctr"/>
            <a:endParaRPr lang="es-AR" dirty="0" smtClean="0"/>
          </a:p>
          <a:p>
            <a:pPr algn="ctr"/>
            <a:r>
              <a:rPr lang="es-AR" dirty="0" smtClean="0"/>
              <a:t>Ing. Leonel E. Hochman			Abril de 2024</a:t>
            </a:r>
          </a:p>
        </p:txBody>
      </p:sp>
      <p:pic>
        <p:nvPicPr>
          <p:cNvPr id="1026" name="Picture 2" descr="Inicio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17513"/>
            <a:ext cx="2381250" cy="79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 Universidad de Buenos Aires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8926"/>
            <a:ext cx="303847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89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Introducción a las modulaciones digitales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</a:t>
            </a:fld>
            <a:endParaRPr lang="es-ES"/>
          </a:p>
        </p:txBody>
      </p:sp>
      <p:sp>
        <p:nvSpPr>
          <p:cNvPr id="9" name="8 Rectángulo"/>
          <p:cNvSpPr/>
          <p:nvPr/>
        </p:nvSpPr>
        <p:spPr>
          <a:xfrm>
            <a:off x="1907704" y="1760406"/>
            <a:ext cx="108012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dirty="0" smtClean="0"/>
              <a:t>A/D</a:t>
            </a:r>
            <a:endParaRPr lang="es-AR" sz="1400" dirty="0"/>
          </a:p>
        </p:txBody>
      </p:sp>
      <p:sp>
        <p:nvSpPr>
          <p:cNvPr id="11" name="10 Rectángulo"/>
          <p:cNvSpPr/>
          <p:nvPr/>
        </p:nvSpPr>
        <p:spPr>
          <a:xfrm>
            <a:off x="6228184" y="1760406"/>
            <a:ext cx="108012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dirty="0" smtClean="0"/>
              <a:t>Modulador</a:t>
            </a:r>
            <a:endParaRPr lang="es-AR" sz="1400" dirty="0"/>
          </a:p>
        </p:txBody>
      </p:sp>
      <p:sp>
        <p:nvSpPr>
          <p:cNvPr id="13" name="12 Rectángulo"/>
          <p:cNvSpPr/>
          <p:nvPr/>
        </p:nvSpPr>
        <p:spPr>
          <a:xfrm>
            <a:off x="3345983" y="1760406"/>
            <a:ext cx="108012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400" dirty="0" smtClean="0"/>
              <a:t>Codificador de fuente</a:t>
            </a:r>
            <a:endParaRPr lang="es-AR" sz="1400" dirty="0"/>
          </a:p>
        </p:txBody>
      </p:sp>
      <p:sp>
        <p:nvSpPr>
          <p:cNvPr id="14" name="13 Rectángulo"/>
          <p:cNvSpPr/>
          <p:nvPr/>
        </p:nvSpPr>
        <p:spPr>
          <a:xfrm>
            <a:off x="4781423" y="1760406"/>
            <a:ext cx="108012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400" dirty="0" smtClean="0"/>
              <a:t>Codificador de canal</a:t>
            </a:r>
            <a:endParaRPr lang="es-AR" sz="1400" dirty="0"/>
          </a:p>
        </p:txBody>
      </p:sp>
      <p:cxnSp>
        <p:nvCxnSpPr>
          <p:cNvPr id="30" name="29 Conector recto de flecha"/>
          <p:cNvCxnSpPr>
            <a:stCxn id="9" idx="3"/>
            <a:endCxn id="13" idx="1"/>
          </p:cNvCxnSpPr>
          <p:nvPr/>
        </p:nvCxnSpPr>
        <p:spPr>
          <a:xfrm>
            <a:off x="2987824" y="2084442"/>
            <a:ext cx="35815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>
            <a:stCxn id="13" idx="3"/>
            <a:endCxn id="14" idx="1"/>
          </p:cNvCxnSpPr>
          <p:nvPr/>
        </p:nvCxnSpPr>
        <p:spPr>
          <a:xfrm>
            <a:off x="4426103" y="2084442"/>
            <a:ext cx="3553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 de flecha"/>
          <p:cNvCxnSpPr>
            <a:stCxn id="14" idx="3"/>
            <a:endCxn id="11" idx="1"/>
          </p:cNvCxnSpPr>
          <p:nvPr/>
        </p:nvCxnSpPr>
        <p:spPr>
          <a:xfrm>
            <a:off x="5861543" y="2084442"/>
            <a:ext cx="3666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Flecha derecha"/>
          <p:cNvSpPr/>
          <p:nvPr/>
        </p:nvSpPr>
        <p:spPr>
          <a:xfrm>
            <a:off x="7524328" y="1916832"/>
            <a:ext cx="57606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40 Flecha derecha"/>
          <p:cNvSpPr/>
          <p:nvPr/>
        </p:nvSpPr>
        <p:spPr>
          <a:xfrm>
            <a:off x="1115616" y="1916832"/>
            <a:ext cx="57606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2" name="41 CuadroTexto"/>
          <p:cNvSpPr txBox="1"/>
          <p:nvPr/>
        </p:nvSpPr>
        <p:spPr>
          <a:xfrm>
            <a:off x="35497" y="1484784"/>
            <a:ext cx="10801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/>
              <a:t>FUENTE</a:t>
            </a:r>
          </a:p>
          <a:p>
            <a:pPr algn="ctr"/>
            <a:r>
              <a:rPr lang="es-AR" sz="1600" dirty="0" smtClean="0"/>
              <a:t>(Voz, texto, imagen, video, etc.)</a:t>
            </a:r>
            <a:endParaRPr lang="es-AR" sz="1600" dirty="0"/>
          </a:p>
        </p:txBody>
      </p:sp>
      <p:sp>
        <p:nvSpPr>
          <p:cNvPr id="40" name="39 Rectángulo"/>
          <p:cNvSpPr/>
          <p:nvPr/>
        </p:nvSpPr>
        <p:spPr>
          <a:xfrm>
            <a:off x="3034922" y="1340768"/>
            <a:ext cx="6647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/>
              <a:t>1010110101110100	</a:t>
            </a:r>
            <a:r>
              <a:rPr lang="es-AR" sz="1400" dirty="0"/>
              <a:t> </a:t>
            </a:r>
            <a:r>
              <a:rPr lang="es-AR" sz="1400" dirty="0" smtClean="0"/>
              <a:t>     s</a:t>
            </a:r>
            <a:r>
              <a:rPr lang="es-AR" sz="1400" baseline="-25000" dirty="0" smtClean="0"/>
              <a:t>3</a:t>
            </a:r>
            <a:r>
              <a:rPr lang="es-AR" sz="1400" dirty="0" smtClean="0"/>
              <a:t>(t) s</a:t>
            </a:r>
            <a:r>
              <a:rPr lang="es-AR" sz="1400" baseline="-25000" dirty="0" smtClean="0"/>
              <a:t>3</a:t>
            </a:r>
            <a:r>
              <a:rPr lang="es-AR" sz="1400" dirty="0" smtClean="0"/>
              <a:t>(t) s</a:t>
            </a:r>
            <a:r>
              <a:rPr lang="es-AR" sz="1400" baseline="-25000" dirty="0" smtClean="0"/>
              <a:t>2</a:t>
            </a:r>
            <a:r>
              <a:rPr lang="es-AR" sz="1400" dirty="0" smtClean="0"/>
              <a:t>(t) s</a:t>
            </a:r>
            <a:r>
              <a:rPr lang="es-AR" sz="1400" baseline="-25000" dirty="0" smtClean="0"/>
              <a:t>1</a:t>
            </a:r>
            <a:r>
              <a:rPr lang="es-AR" sz="1400" dirty="0" smtClean="0"/>
              <a:t>(t) s</a:t>
            </a:r>
            <a:r>
              <a:rPr lang="es-AR" sz="1400" baseline="-25000" dirty="0" smtClean="0"/>
              <a:t>1</a:t>
            </a:r>
            <a:r>
              <a:rPr lang="es-AR" sz="1400" dirty="0" smtClean="0"/>
              <a:t>(t) s</a:t>
            </a:r>
            <a:r>
              <a:rPr lang="es-AR" sz="1400" baseline="-25000" dirty="0" smtClean="0"/>
              <a:t>2</a:t>
            </a:r>
            <a:r>
              <a:rPr lang="es-AR" sz="1400" dirty="0" smtClean="0"/>
              <a:t>(t) s</a:t>
            </a:r>
            <a:r>
              <a:rPr lang="es-AR" sz="1400" baseline="-25000" dirty="0" smtClean="0"/>
              <a:t>1</a:t>
            </a:r>
            <a:r>
              <a:rPr lang="es-AR" sz="1400" dirty="0" smtClean="0"/>
              <a:t>(t) s</a:t>
            </a:r>
            <a:r>
              <a:rPr lang="es-AR" sz="1400" baseline="-25000" dirty="0" smtClean="0"/>
              <a:t>0</a:t>
            </a:r>
            <a:r>
              <a:rPr lang="es-AR" sz="1400" dirty="0" smtClean="0"/>
              <a:t>(t)</a:t>
            </a:r>
            <a:r>
              <a:rPr lang="es-AR" dirty="0" smtClean="0"/>
              <a:t>	</a:t>
            </a:r>
            <a:endParaRPr lang="es-AR" dirty="0"/>
          </a:p>
        </p:txBody>
      </p:sp>
      <p:grpSp>
        <p:nvGrpSpPr>
          <p:cNvPr id="45" name="44 Grupo"/>
          <p:cNvGrpSpPr/>
          <p:nvPr/>
        </p:nvGrpSpPr>
        <p:grpSpPr>
          <a:xfrm>
            <a:off x="343321" y="3637473"/>
            <a:ext cx="2860527" cy="1015663"/>
            <a:chOff x="1763688" y="3277433"/>
            <a:chExt cx="2860527" cy="1015663"/>
          </a:xfrm>
        </p:grpSpPr>
        <p:sp>
          <p:nvSpPr>
            <p:cNvPr id="10" name="9 CuadroTexto"/>
            <p:cNvSpPr txBox="1"/>
            <p:nvPr/>
          </p:nvSpPr>
          <p:spPr>
            <a:xfrm>
              <a:off x="1763688" y="3277433"/>
              <a:ext cx="286052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 smtClean="0"/>
                <a:t>1010110101110100</a:t>
              </a:r>
            </a:p>
            <a:p>
              <a:endParaRPr lang="es-AR" dirty="0"/>
            </a:p>
            <a:p>
              <a:r>
                <a:rPr lang="es-AR" dirty="0" smtClean="0"/>
                <a:t> s</a:t>
              </a:r>
              <a:r>
                <a:rPr lang="es-AR" baseline="-25000" dirty="0" smtClean="0"/>
                <a:t>3</a:t>
              </a:r>
              <a:r>
                <a:rPr lang="es-AR" dirty="0" smtClean="0"/>
                <a:t>  </a:t>
              </a:r>
              <a:r>
                <a:rPr lang="es-AR" dirty="0" err="1" smtClean="0"/>
                <a:t>s</a:t>
              </a:r>
              <a:r>
                <a:rPr lang="es-AR" baseline="-25000" dirty="0" err="1" smtClean="0"/>
                <a:t>3</a:t>
              </a:r>
              <a:r>
                <a:rPr lang="es-AR" dirty="0" smtClean="0"/>
                <a:t>  s</a:t>
              </a:r>
              <a:r>
                <a:rPr lang="es-AR" baseline="-25000" dirty="0" smtClean="0"/>
                <a:t>2</a:t>
              </a:r>
              <a:r>
                <a:rPr lang="es-AR" dirty="0" smtClean="0"/>
                <a:t>  s</a:t>
              </a:r>
              <a:r>
                <a:rPr lang="es-AR" baseline="-25000" dirty="0" smtClean="0"/>
                <a:t>1</a:t>
              </a:r>
              <a:r>
                <a:rPr lang="es-AR" dirty="0" smtClean="0"/>
                <a:t>  </a:t>
              </a:r>
              <a:r>
                <a:rPr lang="es-AR" dirty="0" err="1" smtClean="0"/>
                <a:t>s</a:t>
              </a:r>
              <a:r>
                <a:rPr lang="es-AR" baseline="-25000" dirty="0" err="1" smtClean="0"/>
                <a:t>1</a:t>
              </a:r>
              <a:r>
                <a:rPr lang="es-AR" dirty="0" smtClean="0"/>
                <a:t>  s</a:t>
              </a:r>
              <a:r>
                <a:rPr lang="es-AR" baseline="-25000" dirty="0" smtClean="0"/>
                <a:t>2</a:t>
              </a:r>
              <a:r>
                <a:rPr lang="es-AR" dirty="0" smtClean="0"/>
                <a:t>  s</a:t>
              </a:r>
              <a:r>
                <a:rPr lang="es-AR" baseline="-25000" dirty="0" smtClean="0"/>
                <a:t>1</a:t>
              </a:r>
              <a:r>
                <a:rPr lang="es-AR" dirty="0" smtClean="0"/>
                <a:t>  s</a:t>
              </a:r>
              <a:r>
                <a:rPr lang="es-AR" baseline="-25000" dirty="0" smtClean="0"/>
                <a:t>0</a:t>
              </a:r>
              <a:r>
                <a:rPr lang="es-AR" dirty="0" smtClean="0"/>
                <a:t> </a:t>
              </a:r>
              <a:endParaRPr lang="es-AR" dirty="0"/>
            </a:p>
          </p:txBody>
        </p:sp>
        <p:sp>
          <p:nvSpPr>
            <p:cNvPr id="44" name="43 Cerrar llave"/>
            <p:cNvSpPr/>
            <p:nvPr/>
          </p:nvSpPr>
          <p:spPr>
            <a:xfrm rot="5400000">
              <a:off x="2015798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6" name="45 Cerrar llave"/>
            <p:cNvSpPr/>
            <p:nvPr/>
          </p:nvSpPr>
          <p:spPr>
            <a:xfrm rot="5400000">
              <a:off x="2343603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7" name="46 Cerrar llave"/>
            <p:cNvSpPr/>
            <p:nvPr/>
          </p:nvSpPr>
          <p:spPr>
            <a:xfrm rot="5400000">
              <a:off x="2658931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8" name="47 Cerrar llave"/>
            <p:cNvSpPr/>
            <p:nvPr/>
          </p:nvSpPr>
          <p:spPr>
            <a:xfrm rot="5400000">
              <a:off x="2941400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9" name="48 Cerrar llave"/>
            <p:cNvSpPr/>
            <p:nvPr/>
          </p:nvSpPr>
          <p:spPr>
            <a:xfrm rot="5400000">
              <a:off x="3294375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0" name="49 Cerrar llave"/>
            <p:cNvSpPr/>
            <p:nvPr/>
          </p:nvSpPr>
          <p:spPr>
            <a:xfrm rot="5400000">
              <a:off x="3618787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1" name="50 Cerrar llave"/>
            <p:cNvSpPr/>
            <p:nvPr/>
          </p:nvSpPr>
          <p:spPr>
            <a:xfrm rot="5400000">
              <a:off x="3901256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2" name="51 Cerrar llave"/>
            <p:cNvSpPr/>
            <p:nvPr/>
          </p:nvSpPr>
          <p:spPr>
            <a:xfrm rot="5400000">
              <a:off x="4260921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53" name="52 CuadroTexto"/>
          <p:cNvSpPr txBox="1"/>
          <p:nvPr/>
        </p:nvSpPr>
        <p:spPr>
          <a:xfrm>
            <a:off x="2411608" y="2987660"/>
            <a:ext cx="432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u="sng" dirty="0" smtClean="0"/>
              <a:t>Modulador (Ej. 4-PSK: M=4, k=2)</a:t>
            </a:r>
            <a:endParaRPr lang="es-AR" u="sng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2" t="3483" r="16477" b="3483"/>
          <a:stretch/>
        </p:blipFill>
        <p:spPr bwMode="auto">
          <a:xfrm>
            <a:off x="5363168" y="3650117"/>
            <a:ext cx="2043796" cy="165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" name="53 CuadroTexto"/>
          <p:cNvSpPr txBox="1"/>
          <p:nvPr/>
        </p:nvSpPr>
        <p:spPr>
          <a:xfrm>
            <a:off x="3203847" y="3717032"/>
            <a:ext cx="2692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R</a:t>
            </a:r>
            <a:r>
              <a:rPr lang="es-AR" baseline="-25000" dirty="0" smtClean="0"/>
              <a:t>b</a:t>
            </a:r>
            <a:r>
              <a:rPr lang="es-AR" dirty="0" smtClean="0"/>
              <a:t> [bps]</a:t>
            </a:r>
          </a:p>
          <a:p>
            <a:endParaRPr lang="es-AR" dirty="0" smtClean="0"/>
          </a:p>
          <a:p>
            <a:r>
              <a:rPr lang="es-AR" dirty="0" err="1" smtClean="0"/>
              <a:t>R</a:t>
            </a:r>
            <a:r>
              <a:rPr lang="es-AR" baseline="-25000" dirty="0" err="1" smtClean="0"/>
              <a:t>s</a:t>
            </a:r>
            <a:r>
              <a:rPr lang="es-AR" dirty="0" smtClean="0"/>
              <a:t> [</a:t>
            </a:r>
            <a:r>
              <a:rPr lang="es-AR" dirty="0" err="1" smtClean="0"/>
              <a:t>simb</a:t>
            </a:r>
            <a:r>
              <a:rPr lang="es-AR" dirty="0" smtClean="0"/>
              <a:t>/</a:t>
            </a:r>
            <a:r>
              <a:rPr lang="es-AR" dirty="0" err="1" smtClean="0"/>
              <a:t>seg</a:t>
            </a:r>
            <a:r>
              <a:rPr lang="es-AR" dirty="0" smtClean="0"/>
              <a:t>] </a:t>
            </a:r>
            <a:r>
              <a:rPr lang="es-AR" dirty="0"/>
              <a:t>= </a:t>
            </a:r>
            <a:r>
              <a:rPr lang="es-AR" dirty="0" smtClean="0"/>
              <a:t>R</a:t>
            </a:r>
            <a:r>
              <a:rPr lang="es-AR" baseline="-25000" dirty="0" smtClean="0"/>
              <a:t>b</a:t>
            </a:r>
            <a:r>
              <a:rPr lang="es-AR" dirty="0"/>
              <a:t>/2</a:t>
            </a:r>
          </a:p>
        </p:txBody>
      </p:sp>
      <p:sp>
        <p:nvSpPr>
          <p:cNvPr id="55" name="54 CuadroTexto"/>
          <p:cNvSpPr txBox="1"/>
          <p:nvPr/>
        </p:nvSpPr>
        <p:spPr>
          <a:xfrm>
            <a:off x="6901076" y="4499828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 smtClean="0"/>
              <a:t>0</a:t>
            </a:r>
            <a:endParaRPr lang="es-AR" baseline="-25000" dirty="0"/>
          </a:p>
        </p:txBody>
      </p:sp>
      <p:sp>
        <p:nvSpPr>
          <p:cNvPr id="58" name="57 CuadroTexto"/>
          <p:cNvSpPr txBox="1"/>
          <p:nvPr/>
        </p:nvSpPr>
        <p:spPr>
          <a:xfrm>
            <a:off x="5867224" y="3501008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/>
              <a:t>1</a:t>
            </a:r>
          </a:p>
        </p:txBody>
      </p:sp>
      <p:sp>
        <p:nvSpPr>
          <p:cNvPr id="59" name="58 CuadroTexto"/>
          <p:cNvSpPr txBox="1"/>
          <p:nvPr/>
        </p:nvSpPr>
        <p:spPr>
          <a:xfrm>
            <a:off x="5498974" y="4509120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/>
              <a:t>2</a:t>
            </a:r>
          </a:p>
        </p:txBody>
      </p:sp>
      <p:sp>
        <p:nvSpPr>
          <p:cNvPr id="60" name="59 CuadroTexto"/>
          <p:cNvSpPr txBox="1"/>
          <p:nvPr/>
        </p:nvSpPr>
        <p:spPr>
          <a:xfrm>
            <a:off x="5939232" y="4917479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/>
              <a:t>3</a:t>
            </a:r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941168"/>
            <a:ext cx="362902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65 CuadroTexto"/>
          <p:cNvSpPr txBox="1"/>
          <p:nvPr/>
        </p:nvSpPr>
        <p:spPr>
          <a:xfrm>
            <a:off x="5476876" y="5609540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dirty="0" smtClean="0"/>
              <a:t>Constelación</a:t>
            </a:r>
          </a:p>
          <a:p>
            <a:pPr algn="ctr"/>
            <a:r>
              <a:rPr lang="es-AR" dirty="0" smtClean="0"/>
              <a:t>(M símbolos, k bits/</a:t>
            </a:r>
            <a:r>
              <a:rPr lang="es-AR" dirty="0" err="1" smtClean="0"/>
              <a:t>simb</a:t>
            </a:r>
            <a:r>
              <a:rPr lang="es-AR" dirty="0" smtClean="0"/>
              <a:t>.)</a:t>
            </a:r>
            <a:endParaRPr lang="es-AR" dirty="0"/>
          </a:p>
        </p:txBody>
      </p:sp>
      <p:sp>
        <p:nvSpPr>
          <p:cNvPr id="67" name="66 CuadroTexto"/>
          <p:cNvSpPr txBox="1"/>
          <p:nvPr/>
        </p:nvSpPr>
        <p:spPr>
          <a:xfrm>
            <a:off x="539552" y="5373216"/>
            <a:ext cx="1749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dirty="0" smtClean="0"/>
              <a:t>Forma de onda</a:t>
            </a:r>
            <a:endParaRPr lang="es-AR" dirty="0"/>
          </a:p>
        </p:txBody>
      </p:sp>
      <p:sp>
        <p:nvSpPr>
          <p:cNvPr id="68" name="67 CuadroTexto"/>
          <p:cNvSpPr txBox="1"/>
          <p:nvPr/>
        </p:nvSpPr>
        <p:spPr>
          <a:xfrm>
            <a:off x="7379392" y="4437112"/>
            <a:ext cx="92365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 err="1" smtClean="0"/>
              <a:t>A.cos</a:t>
            </a:r>
            <a:r>
              <a:rPr lang="es-AR" sz="1200" dirty="0" smtClean="0"/>
              <a:t>(</a:t>
            </a:r>
            <a:r>
              <a:rPr lang="el-GR" sz="1200" dirty="0" smtClean="0"/>
              <a:t>ω</a:t>
            </a:r>
            <a:r>
              <a:rPr lang="es-AR" sz="1200" baseline="-25000" dirty="0" smtClean="0"/>
              <a:t>0</a:t>
            </a:r>
            <a:r>
              <a:rPr lang="es-AR" sz="1200" dirty="0" smtClean="0"/>
              <a:t> t)</a:t>
            </a:r>
            <a:endParaRPr lang="es-AR" sz="1200" dirty="0"/>
          </a:p>
        </p:txBody>
      </p:sp>
      <p:sp>
        <p:nvSpPr>
          <p:cNvPr id="69" name="68 CuadroTexto"/>
          <p:cNvSpPr txBox="1"/>
          <p:nvPr/>
        </p:nvSpPr>
        <p:spPr>
          <a:xfrm>
            <a:off x="6227264" y="3410317"/>
            <a:ext cx="93166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 err="1" smtClean="0"/>
              <a:t>A.sen</a:t>
            </a:r>
            <a:r>
              <a:rPr lang="es-AR" sz="1200" dirty="0" smtClean="0"/>
              <a:t>(</a:t>
            </a:r>
            <a:r>
              <a:rPr lang="el-GR" sz="1200" dirty="0" smtClean="0"/>
              <a:t>ω</a:t>
            </a:r>
            <a:r>
              <a:rPr lang="es-AR" sz="1200" baseline="-25000" dirty="0" smtClean="0"/>
              <a:t>0</a:t>
            </a:r>
            <a:r>
              <a:rPr lang="es-AR" sz="1200" dirty="0" smtClean="0"/>
              <a:t> t)</a:t>
            </a:r>
            <a:endParaRPr lang="es-AR" sz="1200" dirty="0"/>
          </a:p>
        </p:txBody>
      </p:sp>
      <p:sp>
        <p:nvSpPr>
          <p:cNvPr id="70" name="69 CuadroTexto"/>
          <p:cNvSpPr txBox="1"/>
          <p:nvPr/>
        </p:nvSpPr>
        <p:spPr>
          <a:xfrm>
            <a:off x="8100392" y="1715324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/>
              <a:t>CANAL</a:t>
            </a:r>
          </a:p>
          <a:p>
            <a:pPr algn="ctr"/>
            <a:r>
              <a:rPr lang="es-AR" sz="1600" dirty="0" smtClean="0"/>
              <a:t>(Espacio libre, cable, FO, etc.)</a:t>
            </a:r>
            <a:endParaRPr lang="es-AR" sz="1600" dirty="0"/>
          </a:p>
        </p:txBody>
      </p:sp>
      <p:sp>
        <p:nvSpPr>
          <p:cNvPr id="3" name="2 CuadroTexto"/>
          <p:cNvSpPr txBox="1"/>
          <p:nvPr/>
        </p:nvSpPr>
        <p:spPr>
          <a:xfrm>
            <a:off x="2267744" y="6021288"/>
            <a:ext cx="2705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 smtClean="0"/>
              <a:t>0             </a:t>
            </a:r>
            <a:r>
              <a:rPr lang="es-AR" sz="1400" dirty="0" err="1" smtClean="0"/>
              <a:t>Ts</a:t>
            </a:r>
            <a:r>
              <a:rPr lang="es-AR" sz="1400" dirty="0" smtClean="0"/>
              <a:t>        2.Ts           3.Ts</a:t>
            </a:r>
            <a:endParaRPr lang="es-AR" sz="1400" dirty="0"/>
          </a:p>
        </p:txBody>
      </p:sp>
      <p:sp>
        <p:nvSpPr>
          <p:cNvPr id="43" name="42 CuadroTexto"/>
          <p:cNvSpPr txBox="1"/>
          <p:nvPr/>
        </p:nvSpPr>
        <p:spPr>
          <a:xfrm>
            <a:off x="8164172" y="4293096"/>
            <a:ext cx="105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smtClean="0">
                <a:solidFill>
                  <a:srgbClr val="FF0000"/>
                </a:solidFill>
              </a:rPr>
              <a:t>.1</a:t>
            </a:r>
            <a:r>
              <a:rPr lang="es-AR" smtClean="0">
                <a:solidFill>
                  <a:srgbClr val="FF0000"/>
                </a:solidFill>
              </a:rPr>
              <a:t>[0, Ts]</a:t>
            </a:r>
            <a:endParaRPr lang="es-AR">
              <a:solidFill>
                <a:srgbClr val="FF0000"/>
              </a:solidFill>
            </a:endParaRPr>
          </a:p>
        </p:txBody>
      </p:sp>
      <p:sp>
        <p:nvSpPr>
          <p:cNvPr id="57" name="56 CuadroTexto"/>
          <p:cNvSpPr txBox="1"/>
          <p:nvPr/>
        </p:nvSpPr>
        <p:spPr>
          <a:xfrm>
            <a:off x="6980980" y="3244040"/>
            <a:ext cx="105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smtClean="0">
                <a:solidFill>
                  <a:srgbClr val="FF0000"/>
                </a:solidFill>
              </a:rPr>
              <a:t>.1</a:t>
            </a:r>
            <a:r>
              <a:rPr lang="es-AR" smtClean="0">
                <a:solidFill>
                  <a:srgbClr val="FF0000"/>
                </a:solidFill>
              </a:rPr>
              <a:t>[0, Ts]</a:t>
            </a:r>
            <a:endParaRPr lang="es-A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09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Introducción a las modulaciones digitales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</a:t>
            </a:fld>
            <a:endParaRPr lang="es-ES"/>
          </a:p>
        </p:txBody>
      </p:sp>
      <p:sp>
        <p:nvSpPr>
          <p:cNvPr id="9" name="8 Rectángulo"/>
          <p:cNvSpPr/>
          <p:nvPr/>
        </p:nvSpPr>
        <p:spPr>
          <a:xfrm>
            <a:off x="1907704" y="1760406"/>
            <a:ext cx="108012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dirty="0" smtClean="0"/>
              <a:t>Demodulador</a:t>
            </a:r>
            <a:endParaRPr lang="es-AR" sz="1400" dirty="0"/>
          </a:p>
        </p:txBody>
      </p:sp>
      <p:sp>
        <p:nvSpPr>
          <p:cNvPr id="11" name="10 Rectángulo"/>
          <p:cNvSpPr/>
          <p:nvPr/>
        </p:nvSpPr>
        <p:spPr>
          <a:xfrm>
            <a:off x="6228184" y="1760406"/>
            <a:ext cx="108012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dirty="0" smtClean="0"/>
              <a:t>D/A</a:t>
            </a:r>
            <a:endParaRPr lang="es-AR" sz="1400" dirty="0"/>
          </a:p>
        </p:txBody>
      </p:sp>
      <p:cxnSp>
        <p:nvCxnSpPr>
          <p:cNvPr id="30" name="29 Conector recto de flecha"/>
          <p:cNvCxnSpPr>
            <a:stCxn id="9" idx="3"/>
          </p:cNvCxnSpPr>
          <p:nvPr/>
        </p:nvCxnSpPr>
        <p:spPr>
          <a:xfrm>
            <a:off x="2987824" y="2084442"/>
            <a:ext cx="35815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>
            <a:off x="4426103" y="2084442"/>
            <a:ext cx="3553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 de flecha"/>
          <p:cNvCxnSpPr>
            <a:endCxn id="11" idx="1"/>
          </p:cNvCxnSpPr>
          <p:nvPr/>
        </p:nvCxnSpPr>
        <p:spPr>
          <a:xfrm>
            <a:off x="5861543" y="2084442"/>
            <a:ext cx="3666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Flecha derecha"/>
          <p:cNvSpPr/>
          <p:nvPr/>
        </p:nvSpPr>
        <p:spPr>
          <a:xfrm>
            <a:off x="7524328" y="1916832"/>
            <a:ext cx="57606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40 Flecha derecha"/>
          <p:cNvSpPr/>
          <p:nvPr/>
        </p:nvSpPr>
        <p:spPr>
          <a:xfrm>
            <a:off x="1115616" y="1916832"/>
            <a:ext cx="57606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2" name="41 CuadroTexto"/>
          <p:cNvSpPr txBox="1"/>
          <p:nvPr/>
        </p:nvSpPr>
        <p:spPr>
          <a:xfrm>
            <a:off x="8028384" y="138548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/>
              <a:t>Voz, texto, imagen, video, etc.</a:t>
            </a:r>
            <a:endParaRPr lang="es-AR" sz="1600" dirty="0"/>
          </a:p>
        </p:txBody>
      </p:sp>
      <p:sp>
        <p:nvSpPr>
          <p:cNvPr id="40" name="39 Rectángulo"/>
          <p:cNvSpPr/>
          <p:nvPr/>
        </p:nvSpPr>
        <p:spPr>
          <a:xfrm>
            <a:off x="395536" y="1268760"/>
            <a:ext cx="5724644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/>
              <a:t> s</a:t>
            </a:r>
            <a:r>
              <a:rPr lang="es-AR" baseline="-25000" dirty="0"/>
              <a:t>3</a:t>
            </a:r>
            <a:r>
              <a:rPr lang="es-AR" dirty="0"/>
              <a:t>(t) s</a:t>
            </a:r>
            <a:r>
              <a:rPr lang="es-AR" baseline="-25000" dirty="0"/>
              <a:t>3</a:t>
            </a:r>
            <a:r>
              <a:rPr lang="es-AR" dirty="0"/>
              <a:t>(t) s</a:t>
            </a:r>
            <a:r>
              <a:rPr lang="es-AR" baseline="-25000" dirty="0"/>
              <a:t>2</a:t>
            </a:r>
            <a:r>
              <a:rPr lang="es-AR" dirty="0"/>
              <a:t>(t) s</a:t>
            </a:r>
            <a:r>
              <a:rPr lang="es-AR" baseline="-25000" dirty="0"/>
              <a:t>1</a:t>
            </a:r>
            <a:r>
              <a:rPr lang="es-AR" dirty="0"/>
              <a:t>(t) s</a:t>
            </a:r>
            <a:r>
              <a:rPr lang="es-AR" baseline="-25000" dirty="0"/>
              <a:t>1</a:t>
            </a:r>
            <a:r>
              <a:rPr lang="es-AR" dirty="0"/>
              <a:t>(t) s</a:t>
            </a:r>
            <a:r>
              <a:rPr lang="es-AR" baseline="-25000" dirty="0"/>
              <a:t>2</a:t>
            </a:r>
            <a:r>
              <a:rPr lang="es-AR" dirty="0"/>
              <a:t>(t) s</a:t>
            </a:r>
            <a:r>
              <a:rPr lang="es-AR" baseline="-25000" dirty="0"/>
              <a:t>1</a:t>
            </a:r>
            <a:r>
              <a:rPr lang="es-AR" dirty="0"/>
              <a:t>(t) s</a:t>
            </a:r>
            <a:r>
              <a:rPr lang="es-AR" baseline="-25000" dirty="0"/>
              <a:t>0</a:t>
            </a:r>
            <a:r>
              <a:rPr lang="es-AR" dirty="0"/>
              <a:t>(t</a:t>
            </a:r>
            <a:r>
              <a:rPr lang="es-AR" dirty="0" smtClean="0"/>
              <a:t>) + RUIDO</a:t>
            </a:r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r>
              <a:rPr lang="es-AR" dirty="0" smtClean="0"/>
              <a:t>                                         1010110101110100	</a:t>
            </a:r>
            <a:endParaRPr lang="es-AR" dirty="0"/>
          </a:p>
        </p:txBody>
      </p:sp>
      <p:grpSp>
        <p:nvGrpSpPr>
          <p:cNvPr id="45" name="44 Grupo"/>
          <p:cNvGrpSpPr/>
          <p:nvPr/>
        </p:nvGrpSpPr>
        <p:grpSpPr>
          <a:xfrm>
            <a:off x="343321" y="3637473"/>
            <a:ext cx="2860527" cy="1015663"/>
            <a:chOff x="1763688" y="3277433"/>
            <a:chExt cx="2860527" cy="1015663"/>
          </a:xfrm>
        </p:grpSpPr>
        <p:sp>
          <p:nvSpPr>
            <p:cNvPr id="10" name="9 CuadroTexto"/>
            <p:cNvSpPr txBox="1"/>
            <p:nvPr/>
          </p:nvSpPr>
          <p:spPr>
            <a:xfrm>
              <a:off x="1763688" y="3277433"/>
              <a:ext cx="286052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 smtClean="0"/>
                <a:t>1010110101110100</a:t>
              </a:r>
            </a:p>
            <a:p>
              <a:endParaRPr lang="es-AR" dirty="0"/>
            </a:p>
            <a:p>
              <a:r>
                <a:rPr lang="es-AR" dirty="0" smtClean="0"/>
                <a:t> s</a:t>
              </a:r>
              <a:r>
                <a:rPr lang="es-AR" baseline="-25000" dirty="0" smtClean="0"/>
                <a:t>3</a:t>
              </a:r>
              <a:r>
                <a:rPr lang="es-AR" dirty="0" smtClean="0"/>
                <a:t>  </a:t>
              </a:r>
              <a:r>
                <a:rPr lang="es-AR" dirty="0" err="1" smtClean="0"/>
                <a:t>s</a:t>
              </a:r>
              <a:r>
                <a:rPr lang="es-AR" baseline="-25000" dirty="0" err="1" smtClean="0"/>
                <a:t>3</a:t>
              </a:r>
              <a:r>
                <a:rPr lang="es-AR" dirty="0" smtClean="0"/>
                <a:t>  s</a:t>
              </a:r>
              <a:r>
                <a:rPr lang="es-AR" baseline="-25000" dirty="0" smtClean="0"/>
                <a:t>2</a:t>
              </a:r>
              <a:r>
                <a:rPr lang="es-AR" dirty="0" smtClean="0"/>
                <a:t>  s</a:t>
              </a:r>
              <a:r>
                <a:rPr lang="es-AR" baseline="-25000" dirty="0" smtClean="0"/>
                <a:t>1</a:t>
              </a:r>
              <a:r>
                <a:rPr lang="es-AR" dirty="0" smtClean="0"/>
                <a:t>  </a:t>
              </a:r>
              <a:r>
                <a:rPr lang="es-AR" dirty="0" err="1" smtClean="0"/>
                <a:t>s</a:t>
              </a:r>
              <a:r>
                <a:rPr lang="es-AR" baseline="-25000" dirty="0" err="1" smtClean="0"/>
                <a:t>1</a:t>
              </a:r>
              <a:r>
                <a:rPr lang="es-AR" dirty="0" smtClean="0"/>
                <a:t>  s</a:t>
              </a:r>
              <a:r>
                <a:rPr lang="es-AR" baseline="-25000" dirty="0" smtClean="0"/>
                <a:t>2</a:t>
              </a:r>
              <a:r>
                <a:rPr lang="es-AR" dirty="0" smtClean="0"/>
                <a:t>  s</a:t>
              </a:r>
              <a:r>
                <a:rPr lang="es-AR" baseline="-25000" dirty="0" smtClean="0"/>
                <a:t>1</a:t>
              </a:r>
              <a:r>
                <a:rPr lang="es-AR" dirty="0" smtClean="0"/>
                <a:t>  s</a:t>
              </a:r>
              <a:r>
                <a:rPr lang="es-AR" baseline="-25000" dirty="0" smtClean="0"/>
                <a:t>0</a:t>
              </a:r>
              <a:r>
                <a:rPr lang="es-AR" dirty="0" smtClean="0"/>
                <a:t> </a:t>
              </a:r>
              <a:endParaRPr lang="es-AR" dirty="0"/>
            </a:p>
          </p:txBody>
        </p:sp>
        <p:sp>
          <p:nvSpPr>
            <p:cNvPr id="44" name="43 Cerrar llave"/>
            <p:cNvSpPr/>
            <p:nvPr/>
          </p:nvSpPr>
          <p:spPr>
            <a:xfrm rot="5400000">
              <a:off x="2015798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6" name="45 Cerrar llave"/>
            <p:cNvSpPr/>
            <p:nvPr/>
          </p:nvSpPr>
          <p:spPr>
            <a:xfrm rot="5400000">
              <a:off x="2343603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7" name="46 Cerrar llave"/>
            <p:cNvSpPr/>
            <p:nvPr/>
          </p:nvSpPr>
          <p:spPr>
            <a:xfrm rot="5400000">
              <a:off x="2658931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8" name="47 Cerrar llave"/>
            <p:cNvSpPr/>
            <p:nvPr/>
          </p:nvSpPr>
          <p:spPr>
            <a:xfrm rot="5400000">
              <a:off x="2941400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9" name="48 Cerrar llave"/>
            <p:cNvSpPr/>
            <p:nvPr/>
          </p:nvSpPr>
          <p:spPr>
            <a:xfrm rot="5400000">
              <a:off x="3294375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0" name="49 Cerrar llave"/>
            <p:cNvSpPr/>
            <p:nvPr/>
          </p:nvSpPr>
          <p:spPr>
            <a:xfrm rot="5400000">
              <a:off x="3618787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1" name="50 Cerrar llave"/>
            <p:cNvSpPr/>
            <p:nvPr/>
          </p:nvSpPr>
          <p:spPr>
            <a:xfrm rot="5400000">
              <a:off x="3901256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2" name="51 Cerrar llave"/>
            <p:cNvSpPr/>
            <p:nvPr/>
          </p:nvSpPr>
          <p:spPr>
            <a:xfrm rot="5400000">
              <a:off x="4260921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53" name="52 CuadroTexto"/>
          <p:cNvSpPr txBox="1"/>
          <p:nvPr/>
        </p:nvSpPr>
        <p:spPr>
          <a:xfrm>
            <a:off x="2411608" y="2987660"/>
            <a:ext cx="432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u="sng" dirty="0" smtClean="0"/>
              <a:t>Modulador (Ej. 4-PSK: M=4, k=2)</a:t>
            </a:r>
            <a:endParaRPr lang="es-AR" u="sng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2" t="3483" r="16477" b="3483"/>
          <a:stretch/>
        </p:blipFill>
        <p:spPr bwMode="auto">
          <a:xfrm>
            <a:off x="5363380" y="3650117"/>
            <a:ext cx="2043796" cy="165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" name="53 CuadroTexto"/>
          <p:cNvSpPr txBox="1"/>
          <p:nvPr/>
        </p:nvSpPr>
        <p:spPr>
          <a:xfrm>
            <a:off x="3121959" y="3717032"/>
            <a:ext cx="2692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R</a:t>
            </a:r>
            <a:r>
              <a:rPr lang="es-AR" baseline="-25000" dirty="0" smtClean="0"/>
              <a:t>b</a:t>
            </a:r>
            <a:r>
              <a:rPr lang="es-AR" dirty="0" smtClean="0"/>
              <a:t> [bps]</a:t>
            </a:r>
          </a:p>
          <a:p>
            <a:endParaRPr lang="es-AR" dirty="0" smtClean="0"/>
          </a:p>
          <a:p>
            <a:r>
              <a:rPr lang="es-AR" dirty="0" err="1" smtClean="0"/>
              <a:t>R</a:t>
            </a:r>
            <a:r>
              <a:rPr lang="es-AR" baseline="-25000" dirty="0" err="1" smtClean="0"/>
              <a:t>s</a:t>
            </a:r>
            <a:r>
              <a:rPr lang="es-AR" dirty="0" smtClean="0"/>
              <a:t> [</a:t>
            </a:r>
            <a:r>
              <a:rPr lang="es-AR" dirty="0" err="1" smtClean="0"/>
              <a:t>simb</a:t>
            </a:r>
            <a:r>
              <a:rPr lang="es-AR" dirty="0" smtClean="0"/>
              <a:t>/</a:t>
            </a:r>
            <a:r>
              <a:rPr lang="es-AR" dirty="0" err="1" smtClean="0"/>
              <a:t>seg</a:t>
            </a:r>
            <a:r>
              <a:rPr lang="es-AR" dirty="0" smtClean="0"/>
              <a:t>] </a:t>
            </a:r>
            <a:r>
              <a:rPr lang="es-AR" dirty="0"/>
              <a:t>= </a:t>
            </a:r>
            <a:r>
              <a:rPr lang="es-AR" dirty="0" smtClean="0"/>
              <a:t>R</a:t>
            </a:r>
            <a:r>
              <a:rPr lang="es-AR" baseline="-25000" dirty="0" smtClean="0"/>
              <a:t>b</a:t>
            </a:r>
            <a:r>
              <a:rPr lang="es-AR" dirty="0"/>
              <a:t>/2</a:t>
            </a:r>
          </a:p>
        </p:txBody>
      </p:sp>
      <p:sp>
        <p:nvSpPr>
          <p:cNvPr id="55" name="54 CuadroTexto"/>
          <p:cNvSpPr txBox="1"/>
          <p:nvPr/>
        </p:nvSpPr>
        <p:spPr>
          <a:xfrm>
            <a:off x="6901288" y="4499828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 smtClean="0"/>
              <a:t>0</a:t>
            </a:r>
            <a:endParaRPr lang="es-AR" baseline="-25000" dirty="0"/>
          </a:p>
        </p:txBody>
      </p:sp>
      <p:sp>
        <p:nvSpPr>
          <p:cNvPr id="58" name="57 CuadroTexto"/>
          <p:cNvSpPr txBox="1"/>
          <p:nvPr/>
        </p:nvSpPr>
        <p:spPr>
          <a:xfrm>
            <a:off x="5867436" y="3501008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/>
              <a:t>1</a:t>
            </a:r>
          </a:p>
        </p:txBody>
      </p:sp>
      <p:sp>
        <p:nvSpPr>
          <p:cNvPr id="59" name="58 CuadroTexto"/>
          <p:cNvSpPr txBox="1"/>
          <p:nvPr/>
        </p:nvSpPr>
        <p:spPr>
          <a:xfrm>
            <a:off x="5499186" y="4509120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/>
              <a:t>2</a:t>
            </a:r>
          </a:p>
        </p:txBody>
      </p:sp>
      <p:sp>
        <p:nvSpPr>
          <p:cNvPr id="60" name="59 CuadroTexto"/>
          <p:cNvSpPr txBox="1"/>
          <p:nvPr/>
        </p:nvSpPr>
        <p:spPr>
          <a:xfrm>
            <a:off x="5939444" y="4917479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/>
              <a:t>3</a:t>
            </a:r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941168"/>
            <a:ext cx="362902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65 CuadroTexto"/>
          <p:cNvSpPr txBox="1"/>
          <p:nvPr/>
        </p:nvSpPr>
        <p:spPr>
          <a:xfrm>
            <a:off x="5476876" y="5609540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dirty="0" smtClean="0"/>
              <a:t>Constelación</a:t>
            </a:r>
          </a:p>
          <a:p>
            <a:pPr algn="ctr"/>
            <a:r>
              <a:rPr lang="es-AR" dirty="0" smtClean="0"/>
              <a:t>(M símbolos, k bits/</a:t>
            </a:r>
            <a:r>
              <a:rPr lang="es-AR" dirty="0" err="1" smtClean="0"/>
              <a:t>simb</a:t>
            </a:r>
            <a:r>
              <a:rPr lang="es-AR" dirty="0" smtClean="0"/>
              <a:t>.)</a:t>
            </a:r>
            <a:endParaRPr lang="es-AR" dirty="0"/>
          </a:p>
        </p:txBody>
      </p:sp>
      <p:sp>
        <p:nvSpPr>
          <p:cNvPr id="67" name="66 CuadroTexto"/>
          <p:cNvSpPr txBox="1"/>
          <p:nvPr/>
        </p:nvSpPr>
        <p:spPr>
          <a:xfrm>
            <a:off x="539552" y="5373216"/>
            <a:ext cx="1749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dirty="0" smtClean="0"/>
              <a:t>Forma de onda</a:t>
            </a:r>
            <a:endParaRPr lang="es-AR" dirty="0"/>
          </a:p>
        </p:txBody>
      </p:sp>
      <p:sp>
        <p:nvSpPr>
          <p:cNvPr id="68" name="67 CuadroTexto"/>
          <p:cNvSpPr txBox="1"/>
          <p:nvPr/>
        </p:nvSpPr>
        <p:spPr>
          <a:xfrm>
            <a:off x="7379604" y="4437112"/>
            <a:ext cx="92365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 err="1" smtClean="0"/>
              <a:t>A.cos</a:t>
            </a:r>
            <a:r>
              <a:rPr lang="es-AR" sz="1200" dirty="0" smtClean="0"/>
              <a:t>(</a:t>
            </a:r>
            <a:r>
              <a:rPr lang="el-GR" sz="1200" dirty="0" smtClean="0"/>
              <a:t>ω</a:t>
            </a:r>
            <a:r>
              <a:rPr lang="es-AR" sz="1200" baseline="-25000" dirty="0" smtClean="0"/>
              <a:t>0</a:t>
            </a:r>
            <a:r>
              <a:rPr lang="es-AR" sz="1200" dirty="0" smtClean="0"/>
              <a:t> t)</a:t>
            </a:r>
            <a:endParaRPr lang="es-AR" sz="1200" dirty="0"/>
          </a:p>
        </p:txBody>
      </p:sp>
      <p:sp>
        <p:nvSpPr>
          <p:cNvPr id="69" name="68 CuadroTexto"/>
          <p:cNvSpPr txBox="1"/>
          <p:nvPr/>
        </p:nvSpPr>
        <p:spPr>
          <a:xfrm>
            <a:off x="6227476" y="3410317"/>
            <a:ext cx="93166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 err="1" smtClean="0"/>
              <a:t>A.sen</a:t>
            </a:r>
            <a:r>
              <a:rPr lang="es-AR" sz="1200" dirty="0" smtClean="0"/>
              <a:t>(</a:t>
            </a:r>
            <a:r>
              <a:rPr lang="el-GR" sz="1200" dirty="0" smtClean="0"/>
              <a:t>ω</a:t>
            </a:r>
            <a:r>
              <a:rPr lang="es-AR" sz="1200" baseline="-25000" dirty="0" smtClean="0"/>
              <a:t>0</a:t>
            </a:r>
            <a:r>
              <a:rPr lang="es-AR" sz="1200" dirty="0" smtClean="0"/>
              <a:t> t)</a:t>
            </a:r>
            <a:endParaRPr lang="es-AR" sz="1200" dirty="0"/>
          </a:p>
        </p:txBody>
      </p:sp>
      <p:sp>
        <p:nvSpPr>
          <p:cNvPr id="70" name="69 CuadroTexto"/>
          <p:cNvSpPr txBox="1"/>
          <p:nvPr/>
        </p:nvSpPr>
        <p:spPr>
          <a:xfrm>
            <a:off x="35496" y="168741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/>
              <a:t>CANAL</a:t>
            </a:r>
          </a:p>
          <a:p>
            <a:pPr algn="ctr"/>
            <a:r>
              <a:rPr lang="es-AR" sz="1600" dirty="0" smtClean="0"/>
              <a:t>(Espacio libre, cable, FO, etc.)</a:t>
            </a:r>
            <a:endParaRPr lang="es-AR" sz="1600" dirty="0"/>
          </a:p>
        </p:txBody>
      </p:sp>
      <p:sp>
        <p:nvSpPr>
          <p:cNvPr id="3" name="2 CuadroTexto"/>
          <p:cNvSpPr txBox="1"/>
          <p:nvPr/>
        </p:nvSpPr>
        <p:spPr>
          <a:xfrm>
            <a:off x="2267744" y="6021288"/>
            <a:ext cx="2705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 smtClean="0"/>
              <a:t>0             </a:t>
            </a:r>
            <a:r>
              <a:rPr lang="es-AR" sz="1400" dirty="0" err="1" smtClean="0"/>
              <a:t>Ts</a:t>
            </a:r>
            <a:r>
              <a:rPr lang="es-AR" sz="1400" dirty="0" smtClean="0"/>
              <a:t>        2.Ts           3.Ts</a:t>
            </a:r>
            <a:endParaRPr lang="es-AR" sz="1400" dirty="0"/>
          </a:p>
        </p:txBody>
      </p:sp>
      <p:sp>
        <p:nvSpPr>
          <p:cNvPr id="7" name="6 Elipse"/>
          <p:cNvSpPr/>
          <p:nvPr/>
        </p:nvSpPr>
        <p:spPr>
          <a:xfrm>
            <a:off x="5313264" y="4058488"/>
            <a:ext cx="738664" cy="738664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2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3" name="42 Elipse"/>
          <p:cNvSpPr/>
          <p:nvPr/>
        </p:nvSpPr>
        <p:spPr>
          <a:xfrm>
            <a:off x="6697182" y="4077072"/>
            <a:ext cx="738664" cy="738664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2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7" name="56 Elipse"/>
          <p:cNvSpPr/>
          <p:nvPr/>
        </p:nvSpPr>
        <p:spPr>
          <a:xfrm>
            <a:off x="5983924" y="4747036"/>
            <a:ext cx="738664" cy="738664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2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1" name="60 Elipse"/>
          <p:cNvSpPr/>
          <p:nvPr/>
        </p:nvSpPr>
        <p:spPr>
          <a:xfrm>
            <a:off x="5992868" y="3413234"/>
            <a:ext cx="738664" cy="738664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2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2" name="11 Conector recto"/>
          <p:cNvCxnSpPr/>
          <p:nvPr/>
        </p:nvCxnSpPr>
        <p:spPr>
          <a:xfrm>
            <a:off x="5507396" y="3637473"/>
            <a:ext cx="1764188" cy="164933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 flipV="1">
            <a:off x="5435388" y="3651870"/>
            <a:ext cx="1764188" cy="164933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62 Rectángulo"/>
          <p:cNvSpPr/>
          <p:nvPr/>
        </p:nvSpPr>
        <p:spPr>
          <a:xfrm>
            <a:off x="3345983" y="1760406"/>
            <a:ext cx="108012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100" dirty="0" smtClean="0"/>
              <a:t>Decodificador de canal</a:t>
            </a:r>
            <a:endParaRPr lang="es-AR" sz="1100" dirty="0"/>
          </a:p>
        </p:txBody>
      </p:sp>
      <p:sp>
        <p:nvSpPr>
          <p:cNvPr id="64" name="63 Rectángulo"/>
          <p:cNvSpPr/>
          <p:nvPr/>
        </p:nvSpPr>
        <p:spPr>
          <a:xfrm>
            <a:off x="4781423" y="1760406"/>
            <a:ext cx="108012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100" dirty="0" smtClean="0"/>
              <a:t>Decodificador de fuente</a:t>
            </a:r>
            <a:endParaRPr lang="es-AR" sz="1100" dirty="0"/>
          </a:p>
        </p:txBody>
      </p:sp>
      <p:sp>
        <p:nvSpPr>
          <p:cNvPr id="65" name="64 CuadroTexto"/>
          <p:cNvSpPr txBox="1"/>
          <p:nvPr/>
        </p:nvSpPr>
        <p:spPr>
          <a:xfrm>
            <a:off x="8164172" y="4293096"/>
            <a:ext cx="105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smtClean="0">
                <a:solidFill>
                  <a:srgbClr val="FF0000"/>
                </a:solidFill>
              </a:rPr>
              <a:t>.1</a:t>
            </a:r>
            <a:r>
              <a:rPr lang="es-AR" smtClean="0">
                <a:solidFill>
                  <a:srgbClr val="FF0000"/>
                </a:solidFill>
              </a:rPr>
              <a:t>[0, Ts]</a:t>
            </a:r>
            <a:endParaRPr lang="es-AR">
              <a:solidFill>
                <a:srgbClr val="FF0000"/>
              </a:solidFill>
            </a:endParaRPr>
          </a:p>
        </p:txBody>
      </p:sp>
      <p:sp>
        <p:nvSpPr>
          <p:cNvPr id="71" name="70 CuadroTexto"/>
          <p:cNvSpPr txBox="1"/>
          <p:nvPr/>
        </p:nvSpPr>
        <p:spPr>
          <a:xfrm>
            <a:off x="6980980" y="3244040"/>
            <a:ext cx="105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smtClean="0">
                <a:solidFill>
                  <a:srgbClr val="FF0000"/>
                </a:solidFill>
              </a:rPr>
              <a:t>.1</a:t>
            </a:r>
            <a:r>
              <a:rPr lang="es-AR" smtClean="0">
                <a:solidFill>
                  <a:srgbClr val="FF0000"/>
                </a:solidFill>
              </a:rPr>
              <a:t>[0, Ts]</a:t>
            </a:r>
            <a:endParaRPr lang="es-A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49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Reglas y regiones de decisión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59" t="35129" r="32023" b="19397"/>
          <a:stretch/>
        </p:blipFill>
        <p:spPr bwMode="auto">
          <a:xfrm>
            <a:off x="4860032" y="2837170"/>
            <a:ext cx="3933960" cy="350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" name="62 CuadroTexto"/>
          <p:cNvSpPr txBox="1"/>
          <p:nvPr/>
        </p:nvSpPr>
        <p:spPr>
          <a:xfrm>
            <a:off x="323528" y="1412776"/>
            <a:ext cx="8280920" cy="2929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MAP (óptimo): Tiene en cuenta símbolos con diferentes probabilidades.</a:t>
            </a:r>
          </a:p>
          <a:p>
            <a:pPr algn="just"/>
            <a:endParaRPr lang="es-AR" dirty="0"/>
          </a:p>
          <a:p>
            <a:pPr algn="just"/>
            <a:endParaRPr lang="es-AR" dirty="0" smtClean="0"/>
          </a:p>
          <a:p>
            <a:pPr algn="just"/>
            <a:endParaRPr lang="es-AR" dirty="0"/>
          </a:p>
          <a:p>
            <a:pPr algn="just"/>
            <a:r>
              <a:rPr lang="es-AR" dirty="0" smtClean="0"/>
              <a:t>ML (no óptimo): Para símbolos </a:t>
            </a:r>
            <a:r>
              <a:rPr lang="es-AR" dirty="0" err="1" smtClean="0"/>
              <a:t>equiprobables</a:t>
            </a:r>
            <a:r>
              <a:rPr lang="es-AR" dirty="0" smtClean="0"/>
              <a:t> o con distribución desconocida.</a:t>
            </a:r>
          </a:p>
          <a:p>
            <a:pPr algn="just"/>
            <a:endParaRPr lang="es-AR" dirty="0"/>
          </a:p>
          <a:p>
            <a:pPr algn="just"/>
            <a:endParaRPr lang="es-AR" dirty="0" smtClean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r>
              <a:rPr lang="es-AR" dirty="0" smtClean="0"/>
              <a:t> 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CuadroTexto"/>
              <p:cNvSpPr txBox="1"/>
              <p:nvPr/>
            </p:nvSpPr>
            <p:spPr>
              <a:xfrm>
                <a:off x="1817463" y="1916832"/>
                <a:ext cx="2652008" cy="4547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AR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AR" b="0" i="1" smtClean="0">
                              <a:latin typeface="Cambria Math"/>
                            </a:rPr>
                            <m:t>𝑚</m:t>
                          </m:r>
                        </m:e>
                      </m:acc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AR" b="0" i="0" smtClean="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s-AR" b="0" i="1" smtClean="0">
                                  <a:latin typeface="Cambria Math"/>
                                </a:rPr>
                                <m:t>1≤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𝑀</m:t>
                              </m:r>
                            </m:lim>
                          </m:limLow>
                        </m:fName>
                        <m:e>
                          <m:r>
                            <a:rPr lang="es-AR" i="1">
                              <a:latin typeface="Cambria Math"/>
                            </a:rPr>
                            <m:t>𝑃𝑚</m:t>
                          </m:r>
                          <m:r>
                            <a:rPr lang="es-AR" i="1">
                              <a:latin typeface="Cambria Math"/>
                            </a:rPr>
                            <m:t>.</m:t>
                          </m:r>
                          <m:r>
                            <a:rPr lang="es-AR" i="1"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𝑟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463" y="1916832"/>
                <a:ext cx="2652008" cy="454740"/>
              </a:xfrm>
              <a:prstGeom prst="rect">
                <a:avLst/>
              </a:prstGeom>
              <a:blipFill rotWithShape="1">
                <a:blip r:embed="rId3"/>
                <a:stretch>
                  <a:fillRect t="-4000" b="-1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63 CuadroTexto"/>
              <p:cNvSpPr txBox="1"/>
              <p:nvPr/>
            </p:nvSpPr>
            <p:spPr>
              <a:xfrm>
                <a:off x="1835696" y="3068960"/>
                <a:ext cx="2224840" cy="4547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AR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AR" i="1">
                              <a:latin typeface="Cambria Math"/>
                            </a:rPr>
                            <m:t>𝑚</m:t>
                          </m:r>
                        </m:e>
                      </m:acc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AR" b="0" i="0" smtClean="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s-AR" b="0" i="1" smtClean="0">
                                  <a:latin typeface="Cambria Math"/>
                                </a:rPr>
                                <m:t>1≤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𝑀</m:t>
                              </m:r>
                            </m:lim>
                          </m:limLow>
                        </m:fName>
                        <m:e>
                          <m:r>
                            <a:rPr lang="es-AR" i="1"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𝑟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4" name="6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068960"/>
                <a:ext cx="2224840" cy="454740"/>
              </a:xfrm>
              <a:prstGeom prst="rect">
                <a:avLst/>
              </a:prstGeom>
              <a:blipFill rotWithShape="1">
                <a:blip r:embed="rId4"/>
                <a:stretch>
                  <a:fillRect t="-4000" b="-1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5 CuadroTexto"/>
              <p:cNvSpPr txBox="1"/>
              <p:nvPr/>
            </p:nvSpPr>
            <p:spPr>
              <a:xfrm>
                <a:off x="107504" y="4067780"/>
                <a:ext cx="5990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</a:rPr>
                          <m:t>𝑚𝑀𝐴𝑃</m:t>
                        </m:r>
                      </m:sub>
                    </m:sSub>
                    <m:r>
                      <a:rPr lang="es-AR" b="0" i="1" smtClean="0">
                        <a:latin typeface="Cambria Math"/>
                      </a:rPr>
                      <m:t>={</m:t>
                    </m:r>
                    <m:r>
                      <a:rPr lang="es-AR" b="0" i="1" smtClean="0">
                        <a:latin typeface="Cambria Math"/>
                      </a:rPr>
                      <m:t>𝑟</m:t>
                    </m:r>
                    <m:r>
                      <a:rPr lang="es-AR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/>
                      </a:rPr>
                      <m:t>ε</m:t>
                    </m:r>
                    <m:r>
                      <a:rPr lang="es-AR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s-AR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s-AR" b="0" i="1" smtClean="0">
                            <a:latin typeface="Cambria Math"/>
                          </a:rPr>
                          <m:t>𝑁</m:t>
                        </m:r>
                      </m:sup>
                    </m:sSup>
                    <m:r>
                      <a:rPr lang="es-AR" b="0" i="1" smtClean="0">
                        <a:latin typeface="Cambria Math"/>
                      </a:rPr>
                      <m:t>/</m:t>
                    </m:r>
                    <m:r>
                      <a:rPr lang="es-AR" i="1">
                        <a:latin typeface="Cambria Math"/>
                      </a:rPr>
                      <m:t>𝑃𝑚</m:t>
                    </m:r>
                    <m:r>
                      <a:rPr lang="es-AR" i="1">
                        <a:latin typeface="Cambria Math"/>
                      </a:rPr>
                      <m:t>.</m:t>
                    </m:r>
                    <m:r>
                      <a:rPr lang="es-AR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s-AR" i="1">
                            <a:latin typeface="Cambria Math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𝑟</m:t>
                        </m:r>
                        <m:r>
                          <a:rPr lang="es-AR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AR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s-AR" dirty="0" smtClean="0"/>
                  <a:t> &gt;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/>
                      </a:rPr>
                      <m:t>𝑃𝑚</m:t>
                    </m:r>
                    <m:r>
                      <a:rPr lang="es-AR" b="0" i="1" smtClean="0">
                        <a:latin typeface="Cambria Math"/>
                      </a:rPr>
                      <m:t>′</m:t>
                    </m:r>
                    <m:r>
                      <a:rPr lang="es-AR" i="1">
                        <a:latin typeface="Cambria Math"/>
                      </a:rPr>
                      <m:t>.</m:t>
                    </m:r>
                    <m:r>
                      <a:rPr lang="es-AR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s-AR" i="1">
                            <a:latin typeface="Cambria Math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𝑟</m:t>
                        </m:r>
                        <m:r>
                          <a:rPr lang="es-AR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AR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𝑚</m:t>
                            </m:r>
                            <m:r>
                              <a:rPr lang="es-AR" b="0" i="1" smtClean="0">
                                <a:latin typeface="Cambria Math"/>
                              </a:rPr>
                              <m:t>′</m:t>
                            </m:r>
                          </m:sub>
                        </m:sSub>
                      </m:e>
                    </m:d>
                    <m:r>
                      <a:rPr lang="es-AR" b="0" i="1" smtClean="0">
                        <a:latin typeface="Cambria Math"/>
                      </a:rPr>
                      <m:t>, 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s-AR" b="0" i="1" smtClean="0">
                        <a:latin typeface="Cambria Math"/>
                      </a:rPr>
                      <m:t>𝑚</m:t>
                    </m:r>
                    <m:r>
                      <a:rPr lang="es-AR" b="0" i="1" smtClean="0">
                        <a:latin typeface="Cambria Math"/>
                      </a:rPr>
                      <m:t>′≠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𝑚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es-AR" dirty="0" smtClean="0"/>
                  <a:t> </a:t>
                </a:r>
                <a:endParaRPr lang="es-AR" dirty="0"/>
              </a:p>
            </p:txBody>
          </p:sp>
        </mc:Choice>
        <mc:Fallback xmlns=""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67780"/>
                <a:ext cx="599016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64 CuadroTexto"/>
              <p:cNvSpPr txBox="1"/>
              <p:nvPr/>
            </p:nvSpPr>
            <p:spPr>
              <a:xfrm>
                <a:off x="107504" y="5363924"/>
                <a:ext cx="49512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</a:rPr>
                          <m:t>𝑚𝑀𝐿</m:t>
                        </m:r>
                      </m:sub>
                    </m:sSub>
                    <m:r>
                      <a:rPr lang="es-AR" b="0" i="1" smtClean="0">
                        <a:latin typeface="Cambria Math"/>
                      </a:rPr>
                      <m:t>={</m:t>
                    </m:r>
                    <m:r>
                      <a:rPr lang="es-AR" b="0" i="1" smtClean="0">
                        <a:latin typeface="Cambria Math"/>
                      </a:rPr>
                      <m:t>𝑟</m:t>
                    </m:r>
                    <m:r>
                      <a:rPr lang="es-AR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/>
                      </a:rPr>
                      <m:t>ε</m:t>
                    </m:r>
                    <m:r>
                      <a:rPr lang="es-AR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s-AR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s-AR" b="0" i="1" smtClean="0">
                            <a:latin typeface="Cambria Math"/>
                          </a:rPr>
                          <m:t>𝑁</m:t>
                        </m:r>
                      </m:sup>
                    </m:sSup>
                    <m:r>
                      <a:rPr lang="es-AR" b="0" i="1" smtClean="0">
                        <a:latin typeface="Cambria Math"/>
                      </a:rPr>
                      <m:t>/</m:t>
                    </m:r>
                    <m:r>
                      <a:rPr lang="es-AR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s-AR" i="1">
                            <a:latin typeface="Cambria Math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𝑟</m:t>
                        </m:r>
                        <m:r>
                          <a:rPr lang="es-AR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AR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s-AR" dirty="0" smtClean="0"/>
                  <a:t> &gt;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s-AR" i="1">
                            <a:latin typeface="Cambria Math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𝑟</m:t>
                        </m:r>
                        <m:r>
                          <a:rPr lang="es-AR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AR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𝑚</m:t>
                            </m:r>
                            <m:r>
                              <a:rPr lang="es-AR" b="0" i="1" smtClean="0">
                                <a:latin typeface="Cambria Math"/>
                              </a:rPr>
                              <m:t>′</m:t>
                            </m:r>
                          </m:sub>
                        </m:sSub>
                      </m:e>
                    </m:d>
                    <m:r>
                      <a:rPr lang="es-AR" b="0" i="1" smtClean="0">
                        <a:latin typeface="Cambria Math"/>
                      </a:rPr>
                      <m:t>, 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s-AR" b="0" i="1" smtClean="0">
                        <a:latin typeface="Cambria Math"/>
                      </a:rPr>
                      <m:t>𝑚</m:t>
                    </m:r>
                    <m:r>
                      <a:rPr lang="es-AR" b="0" i="1" smtClean="0">
                        <a:latin typeface="Cambria Math"/>
                      </a:rPr>
                      <m:t>′≠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𝑚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es-AR" dirty="0" smtClean="0"/>
                  <a:t> </a:t>
                </a:r>
                <a:endParaRPr lang="es-AR" dirty="0"/>
              </a:p>
            </p:txBody>
          </p:sp>
        </mc:Choice>
        <mc:Fallback xmlns="">
          <p:sp>
            <p:nvSpPr>
              <p:cNvPr id="65" name="6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5363924"/>
                <a:ext cx="4951227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667" b="-28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51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Receptor óptimo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0" t="34052" r="25641" b="21983"/>
          <a:stretch/>
        </p:blipFill>
        <p:spPr bwMode="auto">
          <a:xfrm>
            <a:off x="155575" y="1628800"/>
            <a:ext cx="5472715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3" t="33728" r="39193" b="24246"/>
          <a:stretch/>
        </p:blipFill>
        <p:spPr bwMode="auto">
          <a:xfrm>
            <a:off x="5703153" y="1660332"/>
            <a:ext cx="3405351" cy="264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031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Receptor óptimo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6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8" t="33955" r="33115" b="53525"/>
          <a:stretch/>
        </p:blipFill>
        <p:spPr bwMode="auto">
          <a:xfrm>
            <a:off x="263857" y="1433053"/>
            <a:ext cx="4021384" cy="9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8" t="54531" r="33115" b="28227"/>
          <a:stretch/>
        </p:blipFill>
        <p:spPr bwMode="auto">
          <a:xfrm>
            <a:off x="307975" y="2585181"/>
            <a:ext cx="4021384" cy="1261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8" t="76072" r="33115" b="13798"/>
          <a:stretch/>
        </p:blipFill>
        <p:spPr bwMode="auto">
          <a:xfrm>
            <a:off x="155575" y="4059620"/>
            <a:ext cx="4021384" cy="740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5004048" y="1196752"/>
            <a:ext cx="3681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i="1" dirty="0"/>
              <a:t>h</a:t>
            </a:r>
            <a:r>
              <a:rPr lang="es-AR" i="1" dirty="0" smtClean="0"/>
              <a:t>(t</a:t>
            </a:r>
            <a:r>
              <a:rPr lang="es-AR" dirty="0" smtClean="0"/>
              <a:t>) es la respuesta impulsiva del filtro adaptado</a:t>
            </a:r>
          </a:p>
          <a:p>
            <a:pPr algn="ctr"/>
            <a:endParaRPr lang="es-AR" dirty="0"/>
          </a:p>
          <a:p>
            <a:pPr algn="ctr"/>
            <a:r>
              <a:rPr lang="es-AR" i="1" dirty="0" smtClean="0"/>
              <a:t>h(t) = </a:t>
            </a:r>
            <a:r>
              <a:rPr lang="es-AR" i="1" dirty="0" err="1" smtClean="0"/>
              <a:t>k.s</a:t>
            </a:r>
            <a:r>
              <a:rPr lang="es-AR" i="1" dirty="0" smtClean="0"/>
              <a:t>(T–t)	0 ≤ </a:t>
            </a:r>
            <a:r>
              <a:rPr lang="es-AR" i="1" dirty="0"/>
              <a:t>t ≤ T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5156448" y="3933056"/>
            <a:ext cx="3681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 smtClean="0"/>
              <a:t>En </a:t>
            </a:r>
            <a:r>
              <a:rPr lang="es-AR" b="1" i="1" dirty="0" smtClean="0"/>
              <a:t>t = T</a:t>
            </a:r>
            <a:r>
              <a:rPr lang="es-AR" b="1" dirty="0" smtClean="0"/>
              <a:t>, la salida del filtro adaptado coincide con la correlación entre la señal recibida y el símbolo esperado</a:t>
            </a:r>
            <a:endParaRPr lang="es-AR" b="1" dirty="0"/>
          </a:p>
        </p:txBody>
      </p:sp>
      <p:sp>
        <p:nvSpPr>
          <p:cNvPr id="7" name="6 Flecha derecha"/>
          <p:cNvSpPr/>
          <p:nvPr/>
        </p:nvSpPr>
        <p:spPr>
          <a:xfrm>
            <a:off x="3779912" y="4221088"/>
            <a:ext cx="1080120" cy="370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CuadroTexto"/>
          <p:cNvSpPr txBox="1"/>
          <p:nvPr/>
        </p:nvSpPr>
        <p:spPr>
          <a:xfrm>
            <a:off x="481192" y="5589240"/>
            <a:ext cx="815827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El receptor óptimo puede implementarse con un banco de </a:t>
            </a:r>
            <a:r>
              <a:rPr lang="es-AR" dirty="0" err="1" smtClean="0"/>
              <a:t>FAs</a:t>
            </a:r>
            <a:r>
              <a:rPr lang="es-AR" dirty="0" smtClean="0"/>
              <a:t> o de </a:t>
            </a:r>
            <a:r>
              <a:rPr lang="es-AR" dirty="0" err="1" smtClean="0"/>
              <a:t>correladores</a:t>
            </a:r>
            <a:r>
              <a:rPr lang="es-AR" dirty="0" smtClean="0"/>
              <a:t>.</a:t>
            </a:r>
            <a:endParaRPr lang="es-AR" baseline="30000" dirty="0" smtClean="0"/>
          </a:p>
        </p:txBody>
      </p:sp>
    </p:spTree>
    <p:extLst>
      <p:ext uri="{BB962C8B-B14F-4D97-AF65-F5344CB8AC3E}">
        <p14:creationId xmlns:p14="http://schemas.microsoft.com/office/powerpoint/2010/main" val="2679539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Receptor óptimo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7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5" name="14 CuadroTexto"/>
          <p:cNvSpPr txBox="1"/>
          <p:nvPr/>
        </p:nvSpPr>
        <p:spPr>
          <a:xfrm>
            <a:off x="481192" y="5589240"/>
            <a:ext cx="815827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El receptor óptimo puede implementarse con un banco de </a:t>
            </a:r>
            <a:r>
              <a:rPr lang="es-AR" dirty="0" err="1" smtClean="0"/>
              <a:t>FAs</a:t>
            </a:r>
            <a:r>
              <a:rPr lang="es-AR" dirty="0" smtClean="0"/>
              <a:t> o de </a:t>
            </a:r>
            <a:r>
              <a:rPr lang="es-AR" dirty="0" err="1" smtClean="0"/>
              <a:t>correladores</a:t>
            </a:r>
            <a:r>
              <a:rPr lang="es-AR" dirty="0" smtClean="0"/>
              <a:t>.</a:t>
            </a:r>
            <a:endParaRPr lang="es-AR" baseline="300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56" t="33865" r="26034" b="24538"/>
          <a:stretch/>
        </p:blipFill>
        <p:spPr bwMode="auto">
          <a:xfrm>
            <a:off x="5772148" y="2320120"/>
            <a:ext cx="2908925" cy="1990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18" t="30604" r="41960" b="23594"/>
          <a:stretch/>
        </p:blipFill>
        <p:spPr bwMode="auto">
          <a:xfrm>
            <a:off x="268563" y="1640009"/>
            <a:ext cx="5155324" cy="335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498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Probabilidad de error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8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029331"/>
            <a:ext cx="3783000" cy="111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1187624" y="5285639"/>
                <a:ext cx="2508956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 baseline="-25000">
                          <a:latin typeface="Cambria Math"/>
                        </a:rPr>
                        <m:t>𝑏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i="1">
                                      <a:latin typeface="Cambria Math"/>
                                    </a:rPr>
                                    <m:t>2.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5285639"/>
                <a:ext cx="2508956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2348880"/>
            <a:ext cx="2847000" cy="26246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5591436" y="5270371"/>
                <a:ext cx="2406364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 baseline="-25000">
                          <a:latin typeface="Cambria Math"/>
                        </a:rPr>
                        <m:t>𝑏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436" y="5270371"/>
                <a:ext cx="2406364" cy="9840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4276337" y="4221088"/>
                <a:ext cx="115768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l-GR" i="1" smtClean="0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en-US" i="1" dirty="0" smtClean="0"/>
                  <a:t> = </a:t>
                </a:r>
                <a:r>
                  <a:rPr lang="en-US" i="1" dirty="0" err="1" smtClean="0"/>
                  <a:t>E</a:t>
                </a:r>
                <a:r>
                  <a:rPr lang="en-US" i="1" baseline="-25000" dirty="0" err="1" smtClean="0"/>
                  <a:t>b</a:t>
                </a:r>
                <a:endParaRPr lang="en-US" i="1" baseline="-25000" dirty="0" smtClean="0"/>
              </a:p>
              <a:p>
                <a:pPr algn="ctr"/>
                <a:endParaRPr lang="en-US" i="1" baseline="-25000" dirty="0" smtClean="0"/>
              </a:p>
              <a:p>
                <a:pPr algn="ctr"/>
                <a:r>
                  <a:rPr lang="el-GR" dirty="0" smtClean="0">
                    <a:latin typeface="Cambria Math"/>
                    <a:ea typeface="Cambria Math"/>
                  </a:rPr>
                  <a:t>σ</a:t>
                </a:r>
                <a:r>
                  <a:rPr lang="el-GR" baseline="30000" dirty="0" smtClean="0">
                    <a:latin typeface="Cambria Math"/>
                    <a:ea typeface="Cambria Math"/>
                  </a:rPr>
                  <a:t>2</a:t>
                </a:r>
                <a:r>
                  <a:rPr lang="es-AR" dirty="0" smtClean="0">
                    <a:latin typeface="Cambria Math"/>
                    <a:ea typeface="Cambria Math"/>
                  </a:rPr>
                  <a:t> = N</a:t>
                </a:r>
                <a:r>
                  <a:rPr lang="es-AR" baseline="-25000" dirty="0" smtClean="0">
                    <a:latin typeface="Cambria Math"/>
                    <a:ea typeface="Cambria Math"/>
                  </a:rPr>
                  <a:t>o</a:t>
                </a:r>
                <a:r>
                  <a:rPr lang="es-AR" dirty="0" smtClean="0">
                    <a:latin typeface="Cambria Math"/>
                    <a:ea typeface="Cambria Math"/>
                  </a:rPr>
                  <a:t>/2</a:t>
                </a:r>
                <a:endParaRPr lang="en-US" i="1" baseline="-25000" dirty="0"/>
              </a:p>
              <a:p>
                <a:pPr algn="ctr"/>
                <a:endParaRPr lang="en-US" i="1" baseline="-25000" dirty="0"/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337" y="4221088"/>
                <a:ext cx="1157689" cy="1015663"/>
              </a:xfrm>
              <a:prstGeom prst="rect">
                <a:avLst/>
              </a:prstGeom>
              <a:blipFill rotWithShape="1">
                <a:blip r:embed="rId6"/>
                <a:stretch>
                  <a:fillRect l="-4211" t="-2994" r="-421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adroTexto 9"/>
          <p:cNvSpPr txBox="1"/>
          <p:nvPr/>
        </p:nvSpPr>
        <p:spPr>
          <a:xfrm>
            <a:off x="987033" y="198884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Modulación binaria </a:t>
            </a:r>
            <a:r>
              <a:rPr lang="es-AR" dirty="0" err="1" smtClean="0"/>
              <a:t>antipodal</a:t>
            </a:r>
            <a:endParaRPr lang="en-US" dirty="0"/>
          </a:p>
        </p:txBody>
      </p:sp>
      <p:sp>
        <p:nvSpPr>
          <p:cNvPr id="16" name="CuadroTexto 15"/>
          <p:cNvSpPr txBox="1"/>
          <p:nvPr/>
        </p:nvSpPr>
        <p:spPr>
          <a:xfrm>
            <a:off x="5163497" y="1988840"/>
            <a:ext cx="2928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Modulación binaria ortogonal</a:t>
            </a:r>
            <a:endParaRPr lang="en-US" dirty="0"/>
          </a:p>
        </p:txBody>
      </p:sp>
      <p:sp>
        <p:nvSpPr>
          <p:cNvPr id="11" name="Rectángulo 10"/>
          <p:cNvSpPr/>
          <p:nvPr/>
        </p:nvSpPr>
        <p:spPr>
          <a:xfrm>
            <a:off x="1241048" y="1268760"/>
            <a:ext cx="6678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dirty="0"/>
              <a:t>P</a:t>
            </a:r>
            <a:r>
              <a:rPr lang="es-AR" baseline="-25000" dirty="0"/>
              <a:t>e</a:t>
            </a:r>
            <a:r>
              <a:rPr lang="es-AR" dirty="0"/>
              <a:t> = </a:t>
            </a:r>
            <a:r>
              <a:rPr lang="es-AR" dirty="0">
                <a:solidFill>
                  <a:srgbClr val="0070C0"/>
                </a:solidFill>
              </a:rPr>
              <a:t>p(s</a:t>
            </a:r>
            <a:r>
              <a:rPr lang="es-AR" baseline="-25000" dirty="0">
                <a:solidFill>
                  <a:srgbClr val="0070C0"/>
                </a:solidFill>
              </a:rPr>
              <a:t>0</a:t>
            </a:r>
            <a:r>
              <a:rPr lang="es-AR" dirty="0">
                <a:solidFill>
                  <a:srgbClr val="0070C0"/>
                </a:solidFill>
              </a:rPr>
              <a:t>/s</a:t>
            </a:r>
            <a:r>
              <a:rPr lang="es-AR" baseline="-25000" dirty="0">
                <a:solidFill>
                  <a:srgbClr val="0070C0"/>
                </a:solidFill>
              </a:rPr>
              <a:t>1</a:t>
            </a:r>
            <a:r>
              <a:rPr lang="es-AR" dirty="0">
                <a:solidFill>
                  <a:srgbClr val="0070C0"/>
                </a:solidFill>
              </a:rPr>
              <a:t>)</a:t>
            </a:r>
            <a:r>
              <a:rPr lang="es-AR" dirty="0"/>
              <a:t>.p(s</a:t>
            </a:r>
            <a:r>
              <a:rPr lang="es-AR" baseline="-25000" dirty="0"/>
              <a:t>1</a:t>
            </a:r>
            <a:r>
              <a:rPr lang="es-AR" dirty="0"/>
              <a:t>) + </a:t>
            </a:r>
            <a:r>
              <a:rPr lang="es-AR" dirty="0">
                <a:solidFill>
                  <a:srgbClr val="00B050"/>
                </a:solidFill>
              </a:rPr>
              <a:t>p(s</a:t>
            </a:r>
            <a:r>
              <a:rPr lang="es-AR" baseline="-25000" dirty="0">
                <a:solidFill>
                  <a:srgbClr val="00B050"/>
                </a:solidFill>
              </a:rPr>
              <a:t>1</a:t>
            </a:r>
            <a:r>
              <a:rPr lang="es-AR" dirty="0">
                <a:solidFill>
                  <a:srgbClr val="00B050"/>
                </a:solidFill>
              </a:rPr>
              <a:t>/s</a:t>
            </a:r>
            <a:r>
              <a:rPr lang="es-AR" baseline="-25000" dirty="0">
                <a:solidFill>
                  <a:srgbClr val="00B050"/>
                </a:solidFill>
              </a:rPr>
              <a:t>0</a:t>
            </a:r>
            <a:r>
              <a:rPr lang="es-AR" dirty="0">
                <a:solidFill>
                  <a:srgbClr val="00B050"/>
                </a:solidFill>
              </a:rPr>
              <a:t>)</a:t>
            </a:r>
            <a:r>
              <a:rPr lang="es-AR" dirty="0"/>
              <a:t>.p(s</a:t>
            </a:r>
            <a:r>
              <a:rPr lang="es-AR" baseline="-25000" dirty="0"/>
              <a:t>0</a:t>
            </a:r>
            <a:r>
              <a:rPr lang="es-AR" dirty="0"/>
              <a:t>) = 0,5.Q(d/2</a:t>
            </a:r>
            <a:r>
              <a:rPr lang="el-GR" dirty="0">
                <a:latin typeface="Cambria Math"/>
                <a:ea typeface="Cambria Math"/>
              </a:rPr>
              <a:t>σ</a:t>
            </a:r>
            <a:r>
              <a:rPr lang="es-AR" dirty="0"/>
              <a:t> ) + 0,5.Q(d/2</a:t>
            </a:r>
            <a:r>
              <a:rPr lang="el-GR" dirty="0">
                <a:latin typeface="Cambria Math"/>
                <a:ea typeface="Cambria Math"/>
              </a:rPr>
              <a:t>σ</a:t>
            </a:r>
            <a:r>
              <a:rPr lang="es-AR" dirty="0"/>
              <a:t> ) =…</a:t>
            </a:r>
          </a:p>
        </p:txBody>
      </p:sp>
    </p:spTree>
    <p:extLst>
      <p:ext uri="{BB962C8B-B14F-4D97-AF65-F5344CB8AC3E}">
        <p14:creationId xmlns:p14="http://schemas.microsoft.com/office/powerpoint/2010/main" val="375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Probabilidad de error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9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25" name="2 Rectángulo"/>
          <p:cNvSpPr/>
          <p:nvPr/>
        </p:nvSpPr>
        <p:spPr>
          <a:xfrm>
            <a:off x="3916910" y="4245047"/>
            <a:ext cx="1658144" cy="53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aseline="30000" dirty="0" smtClean="0"/>
              <a:t>h(t)</a:t>
            </a:r>
            <a:endParaRPr lang="es-AR" sz="2800" baseline="30000" dirty="0"/>
          </a:p>
        </p:txBody>
      </p:sp>
      <p:cxnSp>
        <p:nvCxnSpPr>
          <p:cNvPr id="26" name="8 Conector recto de flecha"/>
          <p:cNvCxnSpPr>
            <a:endCxn id="25" idx="1"/>
          </p:cNvCxnSpPr>
          <p:nvPr/>
        </p:nvCxnSpPr>
        <p:spPr>
          <a:xfrm>
            <a:off x="2945782" y="4513089"/>
            <a:ext cx="9711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9 Conector recto de flecha"/>
          <p:cNvCxnSpPr>
            <a:stCxn id="25" idx="3"/>
          </p:cNvCxnSpPr>
          <p:nvPr/>
        </p:nvCxnSpPr>
        <p:spPr>
          <a:xfrm>
            <a:off x="5575054" y="4513089"/>
            <a:ext cx="9962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12 CuadroTexto"/>
          <p:cNvSpPr txBox="1"/>
          <p:nvPr/>
        </p:nvSpPr>
        <p:spPr>
          <a:xfrm>
            <a:off x="1907704" y="4154545"/>
            <a:ext cx="5577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i="1" dirty="0" smtClean="0"/>
              <a:t>[S</a:t>
            </a:r>
            <a:r>
              <a:rPr lang="es-AR" sz="1600" i="1" baseline="-25000" dirty="0" smtClean="0"/>
              <a:t>1</a:t>
            </a:r>
            <a:r>
              <a:rPr lang="es-AR" sz="1600" i="1" dirty="0" smtClean="0"/>
              <a:t>(t) – S</a:t>
            </a:r>
            <a:r>
              <a:rPr lang="es-AR" sz="1600" i="1" baseline="-25000" dirty="0" smtClean="0"/>
              <a:t>2</a:t>
            </a:r>
            <a:r>
              <a:rPr lang="es-AR" sz="1600" i="1" dirty="0" smtClean="0"/>
              <a:t>(t)] + n(t)			</a:t>
            </a:r>
            <a:r>
              <a:rPr lang="es-AR" sz="1600" i="1" dirty="0"/>
              <a:t> </a:t>
            </a:r>
            <a:r>
              <a:rPr lang="es-AR" sz="1600" i="1" dirty="0" smtClean="0"/>
              <a:t>[a</a:t>
            </a:r>
            <a:r>
              <a:rPr lang="es-AR" sz="1600" i="1" baseline="-25000" dirty="0" smtClean="0"/>
              <a:t>1</a:t>
            </a:r>
            <a:r>
              <a:rPr lang="es-AR" sz="1600" i="1" dirty="0" smtClean="0"/>
              <a:t>(t</a:t>
            </a:r>
            <a:r>
              <a:rPr lang="es-AR" sz="1600" i="1" dirty="0"/>
              <a:t>) – </a:t>
            </a:r>
            <a:r>
              <a:rPr lang="es-AR" sz="1600" i="1" dirty="0" smtClean="0"/>
              <a:t>a</a:t>
            </a:r>
            <a:r>
              <a:rPr lang="es-AR" sz="1600" i="1" baseline="-25000" dirty="0" smtClean="0"/>
              <a:t>2</a:t>
            </a:r>
            <a:r>
              <a:rPr lang="es-AR" sz="1600" i="1" dirty="0" smtClean="0"/>
              <a:t>(t</a:t>
            </a:r>
            <a:r>
              <a:rPr lang="es-AR" sz="1600" i="1" dirty="0"/>
              <a:t>)] + </a:t>
            </a:r>
            <a:r>
              <a:rPr lang="es-AR" sz="1600" i="1" dirty="0" smtClean="0"/>
              <a:t>n</a:t>
            </a:r>
            <a:r>
              <a:rPr lang="es-AR" sz="1600" i="1" baseline="-25000" dirty="0" smtClean="0"/>
              <a:t>o</a:t>
            </a:r>
            <a:r>
              <a:rPr lang="es-AR" sz="1600" i="1" dirty="0" smtClean="0"/>
              <a:t>(T)</a:t>
            </a:r>
            <a:endParaRPr lang="es-AR" sz="16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/>
              <p:cNvSpPr txBox="1"/>
              <p:nvPr/>
            </p:nvSpPr>
            <p:spPr>
              <a:xfrm>
                <a:off x="3380416" y="4925147"/>
                <a:ext cx="2655534" cy="6640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CuadroTexto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416" y="4925147"/>
                <a:ext cx="2655534" cy="66409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ángulo 29"/>
          <p:cNvSpPr/>
          <p:nvPr/>
        </p:nvSpPr>
        <p:spPr>
          <a:xfrm>
            <a:off x="138494" y="1294385"/>
            <a:ext cx="2088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/>
              <a:t>Receptor óptimo:</a:t>
            </a:r>
            <a:endParaRPr lang="es-AR" dirty="0"/>
          </a:p>
        </p:txBody>
      </p:sp>
      <p:sp>
        <p:nvSpPr>
          <p:cNvPr id="19" name="2 Rectángulo"/>
          <p:cNvSpPr/>
          <p:nvPr/>
        </p:nvSpPr>
        <p:spPr>
          <a:xfrm>
            <a:off x="3916910" y="3447494"/>
            <a:ext cx="1658144" cy="53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aseline="30000" dirty="0" smtClean="0"/>
              <a:t>h(t)</a:t>
            </a:r>
            <a:endParaRPr lang="es-AR" sz="2800" baseline="30000" dirty="0"/>
          </a:p>
        </p:txBody>
      </p:sp>
      <p:cxnSp>
        <p:nvCxnSpPr>
          <p:cNvPr id="20" name="8 Conector recto de flecha"/>
          <p:cNvCxnSpPr>
            <a:endCxn id="19" idx="1"/>
          </p:cNvCxnSpPr>
          <p:nvPr/>
        </p:nvCxnSpPr>
        <p:spPr>
          <a:xfrm>
            <a:off x="2945782" y="3715536"/>
            <a:ext cx="9711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9 Conector recto de flecha"/>
          <p:cNvCxnSpPr>
            <a:stCxn id="19" idx="3"/>
          </p:cNvCxnSpPr>
          <p:nvPr/>
        </p:nvCxnSpPr>
        <p:spPr>
          <a:xfrm>
            <a:off x="5575054" y="3715536"/>
            <a:ext cx="9962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12 CuadroTexto"/>
          <p:cNvSpPr txBox="1"/>
          <p:nvPr/>
        </p:nvSpPr>
        <p:spPr>
          <a:xfrm>
            <a:off x="1907704" y="3356992"/>
            <a:ext cx="4839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i="1" dirty="0" smtClean="0"/>
              <a:t>S</a:t>
            </a:r>
            <a:r>
              <a:rPr lang="es-AR" sz="1600" i="1" baseline="-25000" dirty="0" smtClean="0"/>
              <a:t>1</a:t>
            </a:r>
            <a:r>
              <a:rPr lang="es-AR" sz="1600" i="1" dirty="0" smtClean="0"/>
              <a:t>(t</a:t>
            </a:r>
            <a:r>
              <a:rPr lang="es-AR" sz="1600" i="1" dirty="0" smtClean="0"/>
              <a:t>) – </a:t>
            </a:r>
            <a:r>
              <a:rPr lang="es-AR" sz="1600" i="1" dirty="0" smtClean="0"/>
              <a:t>S</a:t>
            </a:r>
            <a:r>
              <a:rPr lang="es-AR" sz="1600" i="1" baseline="-25000" dirty="0" smtClean="0"/>
              <a:t>2</a:t>
            </a:r>
            <a:r>
              <a:rPr lang="es-AR" sz="1600" i="1" dirty="0" smtClean="0"/>
              <a:t>(t)</a:t>
            </a:r>
            <a:r>
              <a:rPr lang="es-AR" sz="1600" i="1" dirty="0" smtClean="0"/>
              <a:t>	</a:t>
            </a:r>
            <a:r>
              <a:rPr lang="es-AR" sz="1600" i="1" dirty="0" smtClean="0"/>
              <a:t>	</a:t>
            </a:r>
            <a:r>
              <a:rPr lang="es-AR" sz="1600" i="1" dirty="0" smtClean="0"/>
              <a:t>		</a:t>
            </a:r>
            <a:r>
              <a:rPr lang="es-AR" sz="1600" i="1" dirty="0"/>
              <a:t> </a:t>
            </a:r>
            <a:r>
              <a:rPr lang="es-AR" sz="1600" i="1" dirty="0" smtClean="0"/>
              <a:t>a</a:t>
            </a:r>
            <a:r>
              <a:rPr lang="es-AR" sz="1600" i="1" baseline="-25000" dirty="0" smtClean="0"/>
              <a:t>1</a:t>
            </a:r>
            <a:r>
              <a:rPr lang="es-AR" sz="1600" i="1" dirty="0" smtClean="0"/>
              <a:t>(t</a:t>
            </a:r>
            <a:r>
              <a:rPr lang="es-AR" sz="1600" i="1" dirty="0"/>
              <a:t>) – </a:t>
            </a:r>
            <a:r>
              <a:rPr lang="es-AR" sz="1600" i="1" dirty="0" smtClean="0"/>
              <a:t>a</a:t>
            </a:r>
            <a:r>
              <a:rPr lang="es-AR" sz="1600" i="1" baseline="-25000" dirty="0" smtClean="0"/>
              <a:t>2</a:t>
            </a:r>
            <a:r>
              <a:rPr lang="es-AR" sz="1600" i="1" dirty="0" smtClean="0"/>
              <a:t>(t)</a:t>
            </a:r>
            <a:endParaRPr lang="es-AR" sz="1600" i="1" dirty="0"/>
          </a:p>
        </p:txBody>
      </p:sp>
      <p:sp>
        <p:nvSpPr>
          <p:cNvPr id="23" name="2 Rectángulo"/>
          <p:cNvSpPr/>
          <p:nvPr/>
        </p:nvSpPr>
        <p:spPr>
          <a:xfrm>
            <a:off x="3916910" y="2686470"/>
            <a:ext cx="1658144" cy="53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aseline="30000" dirty="0" smtClean="0"/>
              <a:t>h(t)</a:t>
            </a:r>
            <a:endParaRPr lang="es-AR" sz="2800" baseline="30000" dirty="0"/>
          </a:p>
        </p:txBody>
      </p:sp>
      <p:cxnSp>
        <p:nvCxnSpPr>
          <p:cNvPr id="24" name="8 Conector recto de flecha"/>
          <p:cNvCxnSpPr>
            <a:endCxn id="23" idx="1"/>
          </p:cNvCxnSpPr>
          <p:nvPr/>
        </p:nvCxnSpPr>
        <p:spPr>
          <a:xfrm>
            <a:off x="2945782" y="2954512"/>
            <a:ext cx="9711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9 Conector recto de flecha"/>
          <p:cNvCxnSpPr>
            <a:stCxn id="23" idx="3"/>
          </p:cNvCxnSpPr>
          <p:nvPr/>
        </p:nvCxnSpPr>
        <p:spPr>
          <a:xfrm>
            <a:off x="5575054" y="2954512"/>
            <a:ext cx="9962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12 CuadroTexto"/>
          <p:cNvSpPr txBox="1"/>
          <p:nvPr/>
        </p:nvSpPr>
        <p:spPr>
          <a:xfrm>
            <a:off x="1907704" y="2595968"/>
            <a:ext cx="5028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i="1" dirty="0"/>
              <a:t> </a:t>
            </a:r>
            <a:r>
              <a:rPr lang="es-AR" sz="1600" i="1" dirty="0" smtClean="0"/>
              <a:t>          </a:t>
            </a:r>
            <a:r>
              <a:rPr lang="es-AR" sz="1600" i="1" dirty="0" smtClean="0"/>
              <a:t>S</a:t>
            </a:r>
            <a:r>
              <a:rPr lang="es-AR" sz="1600" i="1" baseline="-25000" dirty="0"/>
              <a:t>2</a:t>
            </a:r>
            <a:r>
              <a:rPr lang="es-AR" sz="1600" i="1" dirty="0" smtClean="0"/>
              <a:t>(t)</a:t>
            </a:r>
            <a:r>
              <a:rPr lang="es-AR" sz="1600" i="1" dirty="0" smtClean="0"/>
              <a:t>	</a:t>
            </a:r>
            <a:r>
              <a:rPr lang="es-AR" sz="1600" i="1" dirty="0" smtClean="0"/>
              <a:t>	</a:t>
            </a:r>
            <a:r>
              <a:rPr lang="es-AR" sz="1600" i="1" dirty="0" smtClean="0"/>
              <a:t>	</a:t>
            </a:r>
            <a:r>
              <a:rPr lang="es-AR" sz="1600" i="1" dirty="0"/>
              <a:t> </a:t>
            </a:r>
            <a:r>
              <a:rPr lang="es-AR" sz="1600" i="1" dirty="0" smtClean="0"/>
              <a:t>             </a:t>
            </a:r>
            <a:r>
              <a:rPr lang="es-AR" sz="1600" i="1" dirty="0" smtClean="0"/>
              <a:t>a</a:t>
            </a:r>
            <a:r>
              <a:rPr lang="es-AR" sz="1600" i="1" baseline="-25000" dirty="0"/>
              <a:t>2</a:t>
            </a:r>
            <a:r>
              <a:rPr lang="es-AR" sz="1600" i="1" dirty="0" smtClean="0"/>
              <a:t>(t)</a:t>
            </a:r>
            <a:endParaRPr lang="es-AR" sz="1600" i="1" dirty="0"/>
          </a:p>
        </p:txBody>
      </p:sp>
      <p:sp>
        <p:nvSpPr>
          <p:cNvPr id="33" name="2 Rectángulo"/>
          <p:cNvSpPr/>
          <p:nvPr/>
        </p:nvSpPr>
        <p:spPr>
          <a:xfrm>
            <a:off x="3916910" y="1935326"/>
            <a:ext cx="1658144" cy="53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aseline="30000" dirty="0" smtClean="0"/>
              <a:t>h(t)</a:t>
            </a:r>
            <a:endParaRPr lang="es-AR" sz="2800" baseline="30000" dirty="0"/>
          </a:p>
        </p:txBody>
      </p:sp>
      <p:cxnSp>
        <p:nvCxnSpPr>
          <p:cNvPr id="34" name="8 Conector recto de flecha"/>
          <p:cNvCxnSpPr>
            <a:endCxn id="33" idx="1"/>
          </p:cNvCxnSpPr>
          <p:nvPr/>
        </p:nvCxnSpPr>
        <p:spPr>
          <a:xfrm>
            <a:off x="2945782" y="2203368"/>
            <a:ext cx="9711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9 Conector recto de flecha"/>
          <p:cNvCxnSpPr>
            <a:stCxn id="33" idx="3"/>
          </p:cNvCxnSpPr>
          <p:nvPr/>
        </p:nvCxnSpPr>
        <p:spPr>
          <a:xfrm>
            <a:off x="5575054" y="2203368"/>
            <a:ext cx="9962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12 CuadroTexto"/>
          <p:cNvSpPr txBox="1"/>
          <p:nvPr/>
        </p:nvSpPr>
        <p:spPr>
          <a:xfrm>
            <a:off x="1907704" y="1844824"/>
            <a:ext cx="5028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i="1" dirty="0"/>
              <a:t> </a:t>
            </a:r>
            <a:r>
              <a:rPr lang="es-AR" sz="1600" i="1" dirty="0" smtClean="0"/>
              <a:t>          </a:t>
            </a:r>
            <a:r>
              <a:rPr lang="es-AR" sz="1600" i="1" dirty="0" smtClean="0"/>
              <a:t>S</a:t>
            </a:r>
            <a:r>
              <a:rPr lang="es-AR" sz="1600" i="1" baseline="-25000" dirty="0" smtClean="0"/>
              <a:t>1</a:t>
            </a:r>
            <a:r>
              <a:rPr lang="es-AR" sz="1600" i="1" dirty="0" smtClean="0"/>
              <a:t>(t)</a:t>
            </a:r>
            <a:r>
              <a:rPr lang="es-AR" sz="1600" i="1" dirty="0" smtClean="0"/>
              <a:t>	</a:t>
            </a:r>
            <a:r>
              <a:rPr lang="es-AR" sz="1600" i="1" dirty="0" smtClean="0"/>
              <a:t>	</a:t>
            </a:r>
            <a:r>
              <a:rPr lang="es-AR" sz="1600" i="1" dirty="0" smtClean="0"/>
              <a:t>	</a:t>
            </a:r>
            <a:r>
              <a:rPr lang="es-AR" sz="1600" i="1" dirty="0"/>
              <a:t> </a:t>
            </a:r>
            <a:r>
              <a:rPr lang="es-AR" sz="1600" i="1" dirty="0" smtClean="0"/>
              <a:t>             </a:t>
            </a:r>
            <a:r>
              <a:rPr lang="es-AR" sz="1600" i="1" dirty="0" smtClean="0"/>
              <a:t>a</a:t>
            </a:r>
            <a:r>
              <a:rPr lang="es-AR" sz="1600" i="1" baseline="-25000" dirty="0" smtClean="0"/>
              <a:t>1</a:t>
            </a:r>
            <a:r>
              <a:rPr lang="es-AR" sz="1600" i="1" dirty="0" smtClean="0"/>
              <a:t>(t)</a:t>
            </a:r>
            <a:endParaRPr lang="es-AR" sz="1600" i="1" dirty="0"/>
          </a:p>
        </p:txBody>
      </p:sp>
      <p:sp>
        <p:nvSpPr>
          <p:cNvPr id="37" name="Rectángulo 8"/>
          <p:cNvSpPr/>
          <p:nvPr/>
        </p:nvSpPr>
        <p:spPr>
          <a:xfrm>
            <a:off x="4878262" y="5698424"/>
            <a:ext cx="115768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l-GR" dirty="0" smtClean="0">
                <a:latin typeface="Cambria Math"/>
                <a:ea typeface="Cambria Math"/>
              </a:rPr>
              <a:t>σ</a:t>
            </a:r>
            <a:r>
              <a:rPr lang="el-GR" baseline="30000" dirty="0" smtClean="0">
                <a:latin typeface="Cambria Math"/>
                <a:ea typeface="Cambria Math"/>
              </a:rPr>
              <a:t>2</a:t>
            </a:r>
            <a:r>
              <a:rPr lang="es-AR" dirty="0" smtClean="0">
                <a:latin typeface="Cambria Math"/>
                <a:ea typeface="Cambria Math"/>
              </a:rPr>
              <a:t> </a:t>
            </a:r>
            <a:r>
              <a:rPr lang="es-AR" dirty="0" smtClean="0">
                <a:latin typeface="Cambria Math"/>
                <a:ea typeface="Cambria Math"/>
              </a:rPr>
              <a:t>= N</a:t>
            </a:r>
            <a:r>
              <a:rPr lang="es-AR" baseline="-25000" dirty="0" smtClean="0">
                <a:latin typeface="Cambria Math"/>
                <a:ea typeface="Cambria Math"/>
              </a:rPr>
              <a:t>o</a:t>
            </a:r>
            <a:r>
              <a:rPr lang="es-AR" dirty="0" smtClean="0">
                <a:latin typeface="Cambria Math"/>
                <a:ea typeface="Cambria Math"/>
              </a:rPr>
              <a:t>/2</a:t>
            </a:r>
            <a:endParaRPr lang="en-US" i="1" baseline="-25000" dirty="0"/>
          </a:p>
          <a:p>
            <a:pPr algn="ctr"/>
            <a:endParaRPr lang="en-US" i="1" baseline="-25000" dirty="0"/>
          </a:p>
        </p:txBody>
      </p:sp>
      <p:cxnSp>
        <p:nvCxnSpPr>
          <p:cNvPr id="38" name="37 Conector recto de flecha"/>
          <p:cNvCxnSpPr/>
          <p:nvPr/>
        </p:nvCxnSpPr>
        <p:spPr>
          <a:xfrm flipV="1">
            <a:off x="5457106" y="5410392"/>
            <a:ext cx="0" cy="2105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3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Probabilidad de error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10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ángulo 6"/>
              <p:cNvSpPr/>
              <p:nvPr/>
            </p:nvSpPr>
            <p:spPr>
              <a:xfrm>
                <a:off x="155357" y="3885471"/>
                <a:ext cx="8382423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/>
                        </a:rPr>
                        <m:t>𝑃𝑒</m:t>
                      </m:r>
                      <m:r>
                        <a:rPr lang="es-AR" i="1" baseline="-25000">
                          <a:latin typeface="Cambria Math"/>
                        </a:rPr>
                        <m:t>𝑏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AR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es-AR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AR" i="1" smtClean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AR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AR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s-AR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i="1">
                                              <a:latin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AR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r>
                                    <a:rPr lang="es-AR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(1−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ρ</m:t>
                                  </m:r>
                                  <m:r>
                                    <a:rPr lang="es-AR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i="1" smtClean="0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(1−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ρ</m:t>
                                  </m:r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57" y="3885471"/>
                <a:ext cx="8382423" cy="98405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6373281" y="4969824"/>
                <a:ext cx="2803075" cy="12692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/>
                        </a:rPr>
                        <m:t>ρ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AR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s-AR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s-AR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s-AR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endParaRPr lang="es-A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/>
                        </a:rPr>
                        <m:t>ρ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s-AR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AR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ϑ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281" y="4969824"/>
                <a:ext cx="2803075" cy="1269258"/>
              </a:xfrm>
              <a:prstGeom prst="rect">
                <a:avLst/>
              </a:prstGeom>
              <a:blipFill>
                <a:blip r:embed="rId3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ángulo 14"/>
          <p:cNvSpPr/>
          <p:nvPr/>
        </p:nvSpPr>
        <p:spPr>
          <a:xfrm>
            <a:off x="227365" y="3317164"/>
            <a:ext cx="2088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/>
              <a:t>En general…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334469" y="5386184"/>
                <a:ext cx="597666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dirty="0" smtClean="0"/>
                  <a:t>Donde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/>
                      </a:rPr>
                      <m:t>ρ</m:t>
                    </m:r>
                  </m:oMath>
                </a14:m>
                <a:r>
                  <a:rPr lang="es-AR" dirty="0" smtClean="0"/>
                  <a:t> es el coeficiente de correlación entre los símbolos: </a:t>
                </a:r>
                <a:endParaRPr lang="es-AR" dirty="0"/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9" y="5386184"/>
                <a:ext cx="5976664" cy="369332"/>
              </a:xfrm>
              <a:prstGeom prst="rect">
                <a:avLst/>
              </a:prstGeom>
              <a:blipFill>
                <a:blip r:embed="rId4"/>
                <a:stretch>
                  <a:fillRect l="-91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ángulo 17"/>
              <p:cNvSpPr/>
              <p:nvPr/>
            </p:nvSpPr>
            <p:spPr>
              <a:xfrm>
                <a:off x="6688351" y="2847471"/>
                <a:ext cx="2172934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dirty="0" smtClean="0">
                    <a:ea typeface="Cambria Math"/>
                  </a:rPr>
                  <a:t>Por tratarse de modulaciones binarias: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en-US" i="1" dirty="0" smtClean="0"/>
                  <a:t> = </a:t>
                </a:r>
                <a:r>
                  <a:rPr lang="en-US" i="1" dirty="0" err="1" smtClean="0"/>
                  <a:t>E</a:t>
                </a:r>
                <a:r>
                  <a:rPr lang="en-US" i="1" baseline="-25000" dirty="0" err="1" smtClean="0"/>
                  <a:t>b</a:t>
                </a:r>
                <a:endParaRPr lang="en-US" i="1" baseline="-25000" dirty="0"/>
              </a:p>
            </p:txBody>
          </p:sp>
        </mc:Choice>
        <mc:Fallback>
          <p:sp>
            <p:nvSpPr>
              <p:cNvPr id="18" name="Rectá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351" y="2847471"/>
                <a:ext cx="2172934" cy="923330"/>
              </a:xfrm>
              <a:prstGeom prst="rect">
                <a:avLst/>
              </a:prstGeom>
              <a:blipFill rotWithShape="1"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2 Rectángulo"/>
          <p:cNvSpPr/>
          <p:nvPr/>
        </p:nvSpPr>
        <p:spPr>
          <a:xfrm>
            <a:off x="4636990" y="1503278"/>
            <a:ext cx="1658144" cy="53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aseline="30000" dirty="0" smtClean="0"/>
              <a:t>h(t)</a:t>
            </a:r>
            <a:endParaRPr lang="es-AR" sz="2800" baseline="30000" dirty="0"/>
          </a:p>
        </p:txBody>
      </p:sp>
      <p:cxnSp>
        <p:nvCxnSpPr>
          <p:cNvPr id="26" name="8 Conector recto de flecha"/>
          <p:cNvCxnSpPr>
            <a:endCxn id="25" idx="1"/>
          </p:cNvCxnSpPr>
          <p:nvPr/>
        </p:nvCxnSpPr>
        <p:spPr>
          <a:xfrm>
            <a:off x="3665862" y="1771320"/>
            <a:ext cx="9711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9 Conector recto de flecha"/>
          <p:cNvCxnSpPr>
            <a:stCxn id="25" idx="3"/>
          </p:cNvCxnSpPr>
          <p:nvPr/>
        </p:nvCxnSpPr>
        <p:spPr>
          <a:xfrm>
            <a:off x="6295134" y="1771320"/>
            <a:ext cx="9962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12 CuadroTexto"/>
          <p:cNvSpPr txBox="1"/>
          <p:nvPr/>
        </p:nvSpPr>
        <p:spPr>
          <a:xfrm>
            <a:off x="2627784" y="1412776"/>
            <a:ext cx="5577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i="1" dirty="0" smtClean="0"/>
              <a:t>[S</a:t>
            </a:r>
            <a:r>
              <a:rPr lang="es-AR" sz="1600" i="1" baseline="-25000" dirty="0" smtClean="0"/>
              <a:t>1</a:t>
            </a:r>
            <a:r>
              <a:rPr lang="es-AR" sz="1600" i="1" dirty="0" smtClean="0"/>
              <a:t>(t) – S</a:t>
            </a:r>
            <a:r>
              <a:rPr lang="es-AR" sz="1600" i="1" baseline="-25000" dirty="0" smtClean="0"/>
              <a:t>2</a:t>
            </a:r>
            <a:r>
              <a:rPr lang="es-AR" sz="1600" i="1" dirty="0" smtClean="0"/>
              <a:t>(t)] + n(t)			</a:t>
            </a:r>
            <a:r>
              <a:rPr lang="es-AR" sz="1600" i="1" dirty="0"/>
              <a:t> </a:t>
            </a:r>
            <a:r>
              <a:rPr lang="es-AR" sz="1600" i="1" dirty="0" smtClean="0"/>
              <a:t>[a</a:t>
            </a:r>
            <a:r>
              <a:rPr lang="es-AR" sz="1600" i="1" baseline="-25000" dirty="0" smtClean="0"/>
              <a:t>1</a:t>
            </a:r>
            <a:r>
              <a:rPr lang="es-AR" sz="1600" i="1" dirty="0" smtClean="0"/>
              <a:t>(t</a:t>
            </a:r>
            <a:r>
              <a:rPr lang="es-AR" sz="1600" i="1" dirty="0"/>
              <a:t>) – </a:t>
            </a:r>
            <a:r>
              <a:rPr lang="es-AR" sz="1600" i="1" dirty="0" smtClean="0"/>
              <a:t>a</a:t>
            </a:r>
            <a:r>
              <a:rPr lang="es-AR" sz="1600" i="1" baseline="-25000" dirty="0" smtClean="0"/>
              <a:t>2</a:t>
            </a:r>
            <a:r>
              <a:rPr lang="es-AR" sz="1600" i="1" dirty="0" smtClean="0"/>
              <a:t>(t</a:t>
            </a:r>
            <a:r>
              <a:rPr lang="es-AR" sz="1600" i="1" dirty="0"/>
              <a:t>)] + </a:t>
            </a:r>
            <a:r>
              <a:rPr lang="es-AR" sz="1600" i="1" dirty="0" smtClean="0"/>
              <a:t>n</a:t>
            </a:r>
            <a:r>
              <a:rPr lang="es-AR" sz="1600" i="1" baseline="-25000" dirty="0" smtClean="0"/>
              <a:t>o</a:t>
            </a:r>
            <a:r>
              <a:rPr lang="es-AR" sz="1600" i="1" dirty="0" smtClean="0"/>
              <a:t>(T)</a:t>
            </a:r>
            <a:endParaRPr lang="es-AR" sz="16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/>
              <p:cNvSpPr txBox="1"/>
              <p:nvPr/>
            </p:nvSpPr>
            <p:spPr>
              <a:xfrm>
                <a:off x="4100496" y="2183378"/>
                <a:ext cx="2655534" cy="6640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CuadroTexto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496" y="2183378"/>
                <a:ext cx="2655534" cy="664093"/>
              </a:xfrm>
              <a:prstGeom prst="rect">
                <a:avLst/>
              </a:prstGeom>
              <a:blipFill>
                <a:blip r:embed="rId6"/>
                <a:stretch>
                  <a:fillRect b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ángulo 29"/>
          <p:cNvSpPr/>
          <p:nvPr/>
        </p:nvSpPr>
        <p:spPr>
          <a:xfrm>
            <a:off x="138494" y="1294385"/>
            <a:ext cx="2088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/>
              <a:t>Receptor óptimo:</a:t>
            </a:r>
            <a:endParaRPr lang="es-AR" dirty="0"/>
          </a:p>
        </p:txBody>
      </p:sp>
      <p:sp>
        <p:nvSpPr>
          <p:cNvPr id="19" name="Rectángulo 8"/>
          <p:cNvSpPr/>
          <p:nvPr/>
        </p:nvSpPr>
        <p:spPr>
          <a:xfrm>
            <a:off x="5591968" y="2924944"/>
            <a:ext cx="115768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l-GR" dirty="0" smtClean="0">
                <a:latin typeface="Cambria Math"/>
                <a:ea typeface="Cambria Math"/>
              </a:rPr>
              <a:t>σ</a:t>
            </a:r>
            <a:r>
              <a:rPr lang="el-GR" baseline="30000" dirty="0" smtClean="0">
                <a:latin typeface="Cambria Math"/>
                <a:ea typeface="Cambria Math"/>
              </a:rPr>
              <a:t>2</a:t>
            </a:r>
            <a:r>
              <a:rPr lang="es-AR" dirty="0" smtClean="0">
                <a:latin typeface="Cambria Math"/>
                <a:ea typeface="Cambria Math"/>
              </a:rPr>
              <a:t> </a:t>
            </a:r>
            <a:r>
              <a:rPr lang="es-AR" dirty="0" smtClean="0">
                <a:latin typeface="Cambria Math"/>
                <a:ea typeface="Cambria Math"/>
              </a:rPr>
              <a:t>= N</a:t>
            </a:r>
            <a:r>
              <a:rPr lang="es-AR" baseline="-25000" dirty="0" smtClean="0">
                <a:latin typeface="Cambria Math"/>
                <a:ea typeface="Cambria Math"/>
              </a:rPr>
              <a:t>o</a:t>
            </a:r>
            <a:r>
              <a:rPr lang="es-AR" dirty="0" smtClean="0">
                <a:latin typeface="Cambria Math"/>
                <a:ea typeface="Cambria Math"/>
              </a:rPr>
              <a:t>/2</a:t>
            </a:r>
            <a:endParaRPr lang="en-US" i="1" baseline="-25000" dirty="0"/>
          </a:p>
          <a:p>
            <a:pPr algn="ctr"/>
            <a:endParaRPr lang="en-US" i="1" baseline="-25000" dirty="0"/>
          </a:p>
        </p:txBody>
      </p:sp>
      <p:cxnSp>
        <p:nvCxnSpPr>
          <p:cNvPr id="8" name="7 Conector recto de flecha"/>
          <p:cNvCxnSpPr/>
          <p:nvPr/>
        </p:nvCxnSpPr>
        <p:spPr>
          <a:xfrm flipV="1">
            <a:off x="6170812" y="2636912"/>
            <a:ext cx="0" cy="2105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80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Probabilidad de error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11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84784"/>
            <a:ext cx="3186936" cy="306921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1628800"/>
            <a:ext cx="3509012" cy="35843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/>
              <p:cNvSpPr/>
              <p:nvPr/>
            </p:nvSpPr>
            <p:spPr>
              <a:xfrm>
                <a:off x="1187624" y="5285639"/>
                <a:ext cx="2406364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/>
                        </a:rPr>
                        <m:t>𝑃𝑒</m:t>
                      </m:r>
                      <m:r>
                        <a:rPr lang="es-AR" i="1" baseline="-25000">
                          <a:latin typeface="Cambria Math"/>
                        </a:rPr>
                        <m:t>𝑏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5285639"/>
                <a:ext cx="2406364" cy="9840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/>
          <p:cNvSpPr txBox="1"/>
          <p:nvPr/>
        </p:nvSpPr>
        <p:spPr>
          <a:xfrm>
            <a:off x="827584" y="1268760"/>
            <a:ext cx="326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Señalización unipolar (ortogonal)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/>
              <p:cNvSpPr/>
              <p:nvPr/>
            </p:nvSpPr>
            <p:spPr>
              <a:xfrm>
                <a:off x="5519428" y="5285639"/>
                <a:ext cx="2508956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 baseline="-25000">
                          <a:latin typeface="Cambria Math"/>
                        </a:rPr>
                        <m:t>𝑏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i="1">
                                      <a:latin typeface="Cambria Math"/>
                                    </a:rPr>
                                    <m:t>2.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á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428" y="5285639"/>
                <a:ext cx="2508956" cy="9840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uadroTexto 20"/>
          <p:cNvSpPr txBox="1"/>
          <p:nvPr/>
        </p:nvSpPr>
        <p:spPr>
          <a:xfrm>
            <a:off x="5233521" y="1268760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Señalización bipolar (</a:t>
            </a:r>
            <a:r>
              <a:rPr lang="es-AR" dirty="0" err="1" smtClean="0"/>
              <a:t>antipodal</a:t>
            </a:r>
            <a:r>
              <a:rPr lang="es-AR" dirty="0" smtClean="0"/>
              <a:t>)</a:t>
            </a:r>
            <a:endParaRPr lang="en-US" dirty="0"/>
          </a:p>
        </p:txBody>
      </p:sp>
      <p:cxnSp>
        <p:nvCxnSpPr>
          <p:cNvPr id="22" name="9 Conector recto de flecha"/>
          <p:cNvCxnSpPr/>
          <p:nvPr/>
        </p:nvCxnSpPr>
        <p:spPr>
          <a:xfrm>
            <a:off x="1592376" y="4581128"/>
            <a:ext cx="187220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12 Conector recto de flecha"/>
          <p:cNvCxnSpPr/>
          <p:nvPr/>
        </p:nvCxnSpPr>
        <p:spPr>
          <a:xfrm flipV="1">
            <a:off x="1808272" y="4337978"/>
            <a:ext cx="0" cy="443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17 Elipse"/>
          <p:cNvSpPr/>
          <p:nvPr/>
        </p:nvSpPr>
        <p:spPr>
          <a:xfrm>
            <a:off x="1732640" y="4509136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18 Elipse"/>
          <p:cNvSpPr/>
          <p:nvPr/>
        </p:nvSpPr>
        <p:spPr>
          <a:xfrm>
            <a:off x="2604272" y="450913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25 CuadroTexto"/>
          <p:cNvSpPr txBox="1"/>
          <p:nvPr/>
        </p:nvSpPr>
        <p:spPr>
          <a:xfrm>
            <a:off x="1605670" y="4149080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 smtClean="0"/>
              <a:t>o</a:t>
            </a:r>
            <a:r>
              <a:rPr lang="es-AR" dirty="0"/>
              <a:t> 	 </a:t>
            </a:r>
            <a:r>
              <a:rPr lang="es-AR" dirty="0" smtClean="0"/>
              <a:t>S</a:t>
            </a:r>
            <a:r>
              <a:rPr lang="es-AR" baseline="-250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ángulo 32"/>
              <p:cNvSpPr/>
              <p:nvPr/>
            </p:nvSpPr>
            <p:spPr>
              <a:xfrm>
                <a:off x="1808400" y="4667289"/>
                <a:ext cx="1548822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s-AR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AR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s-AR" b="0" i="1" smtClean="0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  <a:ea typeface="Cambria Math"/>
                          </a:rPr>
                          <m:t>ε</m:t>
                        </m:r>
                      </m:e>
                    </m:ra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Rectá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400" y="4667289"/>
                <a:ext cx="1548822" cy="427746"/>
              </a:xfrm>
              <a:prstGeom prst="rect">
                <a:avLst/>
              </a:prstGeom>
              <a:blipFill rotWithShape="1">
                <a:blip r:embed="rId6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ángulo 8"/>
              <p:cNvSpPr/>
              <p:nvPr/>
            </p:nvSpPr>
            <p:spPr>
              <a:xfrm>
                <a:off x="4067944" y="4149080"/>
                <a:ext cx="115768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l-GR" i="1" smtClean="0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en-US" i="1" dirty="0" smtClean="0"/>
                  <a:t> = </a:t>
                </a:r>
                <a:r>
                  <a:rPr lang="en-US" i="1" dirty="0" err="1" smtClean="0"/>
                  <a:t>E</a:t>
                </a:r>
                <a:r>
                  <a:rPr lang="en-US" i="1" baseline="-25000" dirty="0" err="1" smtClean="0"/>
                  <a:t>b</a:t>
                </a:r>
                <a:endParaRPr lang="en-US" i="1" baseline="-25000" dirty="0" smtClean="0"/>
              </a:p>
              <a:p>
                <a:pPr algn="ctr"/>
                <a:endParaRPr lang="en-US" i="1" baseline="-25000" dirty="0" smtClean="0"/>
              </a:p>
              <a:p>
                <a:pPr algn="ctr"/>
                <a:r>
                  <a:rPr lang="el-GR" dirty="0" smtClean="0">
                    <a:latin typeface="Cambria Math"/>
                    <a:ea typeface="Cambria Math"/>
                  </a:rPr>
                  <a:t>σ</a:t>
                </a:r>
                <a:r>
                  <a:rPr lang="el-GR" baseline="30000" dirty="0" smtClean="0">
                    <a:latin typeface="Cambria Math"/>
                    <a:ea typeface="Cambria Math"/>
                  </a:rPr>
                  <a:t>2</a:t>
                </a:r>
                <a:r>
                  <a:rPr lang="es-AR" dirty="0" smtClean="0">
                    <a:latin typeface="Cambria Math"/>
                    <a:ea typeface="Cambria Math"/>
                  </a:rPr>
                  <a:t> = N</a:t>
                </a:r>
                <a:r>
                  <a:rPr lang="es-AR" baseline="-25000" dirty="0" smtClean="0">
                    <a:latin typeface="Cambria Math"/>
                    <a:ea typeface="Cambria Math"/>
                  </a:rPr>
                  <a:t>o</a:t>
                </a:r>
                <a:r>
                  <a:rPr lang="es-AR" dirty="0" smtClean="0">
                    <a:latin typeface="Cambria Math"/>
                    <a:ea typeface="Cambria Math"/>
                  </a:rPr>
                  <a:t>/2</a:t>
                </a:r>
                <a:endParaRPr lang="en-US" i="1" baseline="-25000" dirty="0"/>
              </a:p>
              <a:p>
                <a:pPr algn="ctr"/>
                <a:endParaRPr lang="en-US" i="1" baseline="-25000" dirty="0"/>
              </a:p>
            </p:txBody>
          </p:sp>
        </mc:Choice>
        <mc:Fallback xmlns="">
          <p:sp>
            <p:nvSpPr>
              <p:cNvPr id="26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4149080"/>
                <a:ext cx="1157689" cy="1015663"/>
              </a:xfrm>
              <a:prstGeom prst="rect">
                <a:avLst/>
              </a:prstGeom>
              <a:blipFill rotWithShape="1">
                <a:blip r:embed="rId7"/>
                <a:stretch>
                  <a:fillRect l="-4211" t="-3012" r="-421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483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11 – 2-PAM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12</a:t>
            </a:fld>
            <a:endParaRPr lang="es-E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6" t="25970" r="28674" b="13470"/>
          <a:stretch/>
        </p:blipFill>
        <p:spPr bwMode="auto">
          <a:xfrm>
            <a:off x="1686910" y="1671144"/>
            <a:ext cx="5659822" cy="4430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519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11 – 2-PAM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13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s-AR" sz="1800" dirty="0" smtClean="0"/>
              <a:t>Utilice las relaciones entre tasa bits, símbolos y tiempos ya vistas.</a:t>
            </a:r>
          </a:p>
          <a:p>
            <a:pPr marL="342900" indent="-342900" algn="just">
              <a:buFont typeface="+mj-lt"/>
              <a:buAutoNum type="arabicParenR" startAt="2"/>
            </a:pPr>
            <a:r>
              <a:rPr lang="es-AR" sz="1800" dirty="0" smtClean="0"/>
              <a:t>Exprese la probabilidad de error de símbolo para una constelación 2-PAM, símbolos </a:t>
            </a:r>
            <a:r>
              <a:rPr lang="es-AR" sz="1800" dirty="0" err="1" smtClean="0"/>
              <a:t>equiprobables</a:t>
            </a:r>
            <a:r>
              <a:rPr lang="es-AR" sz="1800" dirty="0" smtClean="0"/>
              <a:t> y AWGN:</a:t>
            </a:r>
          </a:p>
          <a:p>
            <a:pPr marL="0" indent="0" algn="ctr">
              <a:buNone/>
            </a:pPr>
            <a:r>
              <a:rPr lang="es-AR" sz="1800" dirty="0" smtClean="0"/>
              <a:t>P</a:t>
            </a:r>
            <a:r>
              <a:rPr lang="es-AR" sz="1800" baseline="-25000" dirty="0" smtClean="0"/>
              <a:t>e</a:t>
            </a:r>
            <a:r>
              <a:rPr lang="es-AR" sz="1800" dirty="0" smtClean="0"/>
              <a:t> = </a:t>
            </a:r>
            <a:r>
              <a:rPr lang="es-AR" sz="1800" dirty="0" smtClean="0">
                <a:solidFill>
                  <a:srgbClr val="0070C0"/>
                </a:solidFill>
              </a:rPr>
              <a:t>p(s</a:t>
            </a:r>
            <a:r>
              <a:rPr lang="es-AR" sz="1800" baseline="-25000" dirty="0" smtClean="0">
                <a:solidFill>
                  <a:srgbClr val="0070C0"/>
                </a:solidFill>
              </a:rPr>
              <a:t>0</a:t>
            </a:r>
            <a:r>
              <a:rPr lang="es-AR" sz="1800" dirty="0" smtClean="0">
                <a:solidFill>
                  <a:srgbClr val="0070C0"/>
                </a:solidFill>
              </a:rPr>
              <a:t>/s</a:t>
            </a:r>
            <a:r>
              <a:rPr lang="es-AR" sz="1800" baseline="-25000" dirty="0" smtClean="0">
                <a:solidFill>
                  <a:srgbClr val="0070C0"/>
                </a:solidFill>
              </a:rPr>
              <a:t>1</a:t>
            </a:r>
            <a:r>
              <a:rPr lang="es-AR" sz="1800" dirty="0" smtClean="0">
                <a:solidFill>
                  <a:srgbClr val="0070C0"/>
                </a:solidFill>
              </a:rPr>
              <a:t>)</a:t>
            </a:r>
            <a:r>
              <a:rPr lang="es-AR" sz="1800" dirty="0" smtClean="0"/>
              <a:t>.p(s</a:t>
            </a:r>
            <a:r>
              <a:rPr lang="es-AR" sz="1800" baseline="-25000" dirty="0" smtClean="0"/>
              <a:t>1</a:t>
            </a:r>
            <a:r>
              <a:rPr lang="es-AR" sz="1800" dirty="0" smtClean="0"/>
              <a:t>) + </a:t>
            </a:r>
            <a:r>
              <a:rPr lang="es-AR" sz="1800" dirty="0" smtClean="0">
                <a:solidFill>
                  <a:srgbClr val="00B050"/>
                </a:solidFill>
              </a:rPr>
              <a:t>p(s</a:t>
            </a:r>
            <a:r>
              <a:rPr lang="es-AR" sz="1800" baseline="-25000" dirty="0" smtClean="0">
                <a:solidFill>
                  <a:srgbClr val="00B050"/>
                </a:solidFill>
              </a:rPr>
              <a:t>1</a:t>
            </a:r>
            <a:r>
              <a:rPr lang="es-AR" sz="1800" dirty="0" smtClean="0">
                <a:solidFill>
                  <a:srgbClr val="00B050"/>
                </a:solidFill>
              </a:rPr>
              <a:t>/s</a:t>
            </a:r>
            <a:r>
              <a:rPr lang="es-AR" sz="1800" baseline="-25000" dirty="0" smtClean="0">
                <a:solidFill>
                  <a:srgbClr val="00B050"/>
                </a:solidFill>
              </a:rPr>
              <a:t>0</a:t>
            </a:r>
            <a:r>
              <a:rPr lang="es-AR" sz="1800" dirty="0" smtClean="0">
                <a:solidFill>
                  <a:srgbClr val="00B050"/>
                </a:solidFill>
              </a:rPr>
              <a:t>)</a:t>
            </a:r>
            <a:r>
              <a:rPr lang="es-AR" sz="1800" dirty="0" smtClean="0"/>
              <a:t>.p(s</a:t>
            </a:r>
            <a:r>
              <a:rPr lang="es-AR" sz="1800" baseline="-25000" dirty="0" smtClean="0"/>
              <a:t>0</a:t>
            </a:r>
            <a:r>
              <a:rPr lang="es-AR" sz="1800" dirty="0" smtClean="0"/>
              <a:t>) = 0,5.Q(d/2</a:t>
            </a:r>
            <a:r>
              <a:rPr lang="el-GR" sz="1800" dirty="0" smtClean="0">
                <a:latin typeface="Cambria Math"/>
                <a:ea typeface="Cambria Math"/>
              </a:rPr>
              <a:t>σ</a:t>
            </a:r>
            <a:r>
              <a:rPr lang="es-AR" sz="1800" dirty="0" smtClean="0"/>
              <a:t> ) + </a:t>
            </a:r>
            <a:r>
              <a:rPr lang="es-AR" sz="1800" dirty="0"/>
              <a:t>0,5.Q(d/2</a:t>
            </a:r>
            <a:r>
              <a:rPr lang="el-GR" sz="1800" dirty="0" smtClean="0">
                <a:latin typeface="Cambria Math"/>
                <a:ea typeface="Cambria Math"/>
              </a:rPr>
              <a:t>σ</a:t>
            </a:r>
            <a:r>
              <a:rPr lang="es-AR" sz="1800" dirty="0" smtClean="0"/>
              <a:t> ) =…</a:t>
            </a:r>
          </a:p>
          <a:p>
            <a:pPr marL="0" indent="0" algn="ctr">
              <a:buNone/>
            </a:pPr>
            <a:endParaRPr lang="es-AR" sz="1800" dirty="0"/>
          </a:p>
          <a:p>
            <a:pPr marL="0" indent="0" algn="ctr">
              <a:buNone/>
            </a:pPr>
            <a:endParaRPr lang="es-AR" sz="1800" dirty="0" smtClean="0"/>
          </a:p>
          <a:p>
            <a:pPr marL="0" indent="0" algn="ctr">
              <a:buNone/>
            </a:pPr>
            <a:endParaRPr lang="es-AR" sz="1800" dirty="0"/>
          </a:p>
          <a:p>
            <a:pPr marL="0" indent="0" algn="ctr">
              <a:buNone/>
            </a:pPr>
            <a:endParaRPr lang="es-AR" sz="18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978" y="3238524"/>
            <a:ext cx="4272020" cy="2422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Abrir llave"/>
          <p:cNvSpPr/>
          <p:nvPr/>
        </p:nvSpPr>
        <p:spPr>
          <a:xfrm rot="16200000">
            <a:off x="4346597" y="5010619"/>
            <a:ext cx="432048" cy="185943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CuadroTexto"/>
          <p:cNvSpPr txBox="1"/>
          <p:nvPr/>
        </p:nvSpPr>
        <p:spPr>
          <a:xfrm>
            <a:off x="4403274" y="606823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d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7524328" y="3526556"/>
            <a:ext cx="12378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dirty="0" smtClean="0"/>
              <a:t>d = 2.(ε)</a:t>
            </a:r>
            <a:r>
              <a:rPr lang="es-AR" baseline="30000" dirty="0" smtClean="0"/>
              <a:t>1/2</a:t>
            </a:r>
          </a:p>
          <a:p>
            <a:pPr algn="ctr"/>
            <a:endParaRPr lang="es-AR" dirty="0"/>
          </a:p>
          <a:p>
            <a:pPr algn="ctr"/>
            <a:r>
              <a:rPr lang="el-GR" dirty="0" smtClean="0"/>
              <a:t>σ</a:t>
            </a:r>
            <a:r>
              <a:rPr lang="es-AR" baseline="30000" dirty="0" smtClean="0"/>
              <a:t>2</a:t>
            </a:r>
            <a:r>
              <a:rPr lang="es-AR" dirty="0" smtClean="0"/>
              <a:t> = N</a:t>
            </a:r>
            <a:r>
              <a:rPr lang="es-AR" baseline="-25000" dirty="0" smtClean="0"/>
              <a:t>0 </a:t>
            </a:r>
            <a:r>
              <a:rPr lang="es-AR" dirty="0" smtClean="0"/>
              <a:t>/ 2</a:t>
            </a:r>
            <a:endParaRPr lang="es-AR" dirty="0"/>
          </a:p>
        </p:txBody>
      </p:sp>
      <p:cxnSp>
        <p:nvCxnSpPr>
          <p:cNvPr id="10" name="9 Conector recto de flecha"/>
          <p:cNvCxnSpPr/>
          <p:nvPr/>
        </p:nvCxnSpPr>
        <p:spPr>
          <a:xfrm flipV="1">
            <a:off x="7938960" y="2852936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H="1">
            <a:off x="4560692" y="4581128"/>
            <a:ext cx="1929" cy="127119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71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11 – 2-PAM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14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 smtClean="0"/>
                  <a:t>Exprese la distancia en función de la energía de la constelación y reemplácela en la probabilidad de error. </a:t>
                </a:r>
              </a:p>
              <a:p>
                <a:pPr marL="0" indent="0" algn="just">
                  <a:buNone/>
                </a:pPr>
                <a:r>
                  <a:rPr lang="es-AR" sz="1800" dirty="0"/>
                  <a:t>	</a:t>
                </a:r>
                <a:r>
                  <a:rPr lang="es-AR" sz="1800" dirty="0" smtClean="0"/>
                  <a:t>M =2; k = 1; </a:t>
                </a:r>
                <a:r>
                  <a:rPr lang="es-AR" sz="1800" dirty="0" err="1" smtClean="0"/>
                  <a:t>R</a:t>
                </a:r>
                <a:r>
                  <a:rPr lang="es-AR" sz="1800" baseline="-25000" dirty="0" err="1" smtClean="0"/>
                  <a:t>s</a:t>
                </a:r>
                <a:r>
                  <a:rPr lang="es-AR" sz="1800" dirty="0" smtClean="0"/>
                  <a:t> = R</a:t>
                </a:r>
                <a:r>
                  <a:rPr lang="es-AR" sz="1800" baseline="-25000" dirty="0" smtClean="0"/>
                  <a:t>b</a:t>
                </a:r>
                <a:r>
                  <a:rPr lang="es-AR" sz="1800" dirty="0" smtClean="0"/>
                  <a:t> = 7200 </a:t>
                </a:r>
                <a:r>
                  <a:rPr lang="es-AR" sz="1800" dirty="0" err="1" smtClean="0"/>
                  <a:t>kbaudios</a:t>
                </a:r>
                <a:r>
                  <a:rPr lang="es-AR" sz="1800" dirty="0" smtClean="0"/>
                  <a:t>; </a:t>
                </a:r>
                <a:r>
                  <a:rPr lang="es-AR" sz="1800" dirty="0" err="1" smtClean="0"/>
                  <a:t>T</a:t>
                </a:r>
                <a:r>
                  <a:rPr lang="es-AR" sz="1800" baseline="-25000" dirty="0" err="1" smtClean="0"/>
                  <a:t>s</a:t>
                </a:r>
                <a:r>
                  <a:rPr lang="es-AR" sz="1800" dirty="0" smtClean="0"/>
                  <a:t> = 1/</a:t>
                </a:r>
                <a:r>
                  <a:rPr lang="es-AR" sz="1800" dirty="0" err="1" smtClean="0"/>
                  <a:t>R</a:t>
                </a:r>
                <a:r>
                  <a:rPr lang="es-AR" sz="1800" baseline="-25000" dirty="0" err="1" smtClean="0"/>
                  <a:t>s</a:t>
                </a:r>
                <a:r>
                  <a:rPr lang="es-AR" sz="1800" dirty="0" smtClean="0"/>
                  <a:t> = 138 </a:t>
                </a:r>
                <a:r>
                  <a:rPr lang="es-AR" sz="1800" dirty="0" err="1" smtClean="0"/>
                  <a:t>nseg</a:t>
                </a:r>
                <a:endParaRPr lang="es-AR" sz="1800" dirty="0" smtClean="0"/>
              </a:p>
              <a:p>
                <a:pPr algn="just">
                  <a:buFont typeface="Wingdings" pitchFamily="2" charset="2"/>
                  <a:buChar char="Ø"/>
                </a:pPr>
                <a:endParaRPr lang="es-AR" sz="1800" dirty="0" smtClean="0"/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 smtClean="0"/>
                  <a:t>Relacione la probabilidad de error de símbolo, P</a:t>
                </a:r>
                <a:r>
                  <a:rPr lang="es-AR" sz="1800" baseline="-25000" dirty="0" smtClean="0"/>
                  <a:t>e</a:t>
                </a:r>
                <a:r>
                  <a:rPr lang="es-AR" sz="1800" dirty="0" smtClean="0"/>
                  <a:t>, con la probabilidad de error de bit, </a:t>
                </a:r>
                <a:r>
                  <a:rPr lang="es-AR" sz="1800" dirty="0" err="1" smtClean="0"/>
                  <a:t>P</a:t>
                </a:r>
                <a:r>
                  <a:rPr lang="es-AR" sz="1800" baseline="-25000" dirty="0" err="1" smtClean="0"/>
                  <a:t>eb</a:t>
                </a:r>
                <a:r>
                  <a:rPr lang="es-AR" sz="1800" dirty="0" smtClean="0"/>
                  <a:t>. En general, si podemos etiquetar los símbolos según el código de Gray, la relación es </a:t>
                </a:r>
                <a:r>
                  <a:rPr lang="es-AR" sz="1800" dirty="0" err="1"/>
                  <a:t>P</a:t>
                </a:r>
                <a:r>
                  <a:rPr lang="es-AR" sz="1800" baseline="-25000" dirty="0" err="1"/>
                  <a:t>eb</a:t>
                </a:r>
                <a:r>
                  <a:rPr lang="es-AR" sz="1800" dirty="0" smtClean="0"/>
                  <a:t> = Pe/k. ¿Por qué? En este caso, k = 1.</a:t>
                </a:r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 smtClean="0"/>
                  <a:t>Con la </a:t>
                </a:r>
                <a:r>
                  <a:rPr lang="es-AR" sz="1800" dirty="0" err="1" smtClean="0"/>
                  <a:t>P</a:t>
                </a:r>
                <a:r>
                  <a:rPr lang="es-AR" sz="1800" baseline="-25000" dirty="0" err="1" smtClean="0"/>
                  <a:t>eb</a:t>
                </a:r>
                <a:r>
                  <a:rPr lang="es-AR" sz="1800" dirty="0" smtClean="0"/>
                  <a:t> objetivo del problema y la densidad de potencia de ruido, N</a:t>
                </a:r>
                <a:r>
                  <a:rPr lang="es-AR" sz="1800" baseline="-25000" dirty="0" smtClean="0"/>
                  <a:t>0</a:t>
                </a:r>
                <a:r>
                  <a:rPr lang="es-AR" sz="1800" dirty="0" smtClean="0"/>
                  <a:t>, obtenga la energía promedio de la constelación. Deberán utilizar la tabla de la función Q, que podrán encontrar en el Campus.</a:t>
                </a:r>
              </a:p>
              <a:p>
                <a:pPr algn="just">
                  <a:buFont typeface="Wingdings" pitchFamily="2" charset="2"/>
                  <a:buChar char="Ø"/>
                </a:pPr>
                <a:endParaRPr lang="es-AR" sz="18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latin typeface="Cambria Math"/>
                        </a:rPr>
                        <m:t>𝑃𝑒𝑏</m:t>
                      </m:r>
                      <m:r>
                        <a:rPr lang="es-AR" sz="1800" b="0" i="1" smtClean="0">
                          <a:latin typeface="Cambria Math"/>
                        </a:rPr>
                        <m:t>=</m:t>
                      </m:r>
                      <m:r>
                        <a:rPr lang="es-AR" sz="1800" b="0" i="1" smtClean="0">
                          <a:latin typeface="Cambria Math"/>
                        </a:rPr>
                        <m:t>𝑃𝑒</m:t>
                      </m:r>
                      <m:r>
                        <a:rPr lang="es-AR" sz="1800" b="0" i="1" smtClean="0">
                          <a:latin typeface="Cambria Math"/>
                        </a:rPr>
                        <m:t>=</m:t>
                      </m:r>
                      <m:r>
                        <a:rPr lang="es-AR" sz="1800" b="0" i="1" smtClean="0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sz="1800" b="0" i="1" smtClean="0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sz="1800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sz="18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sz="1800" b="0" i="1" smtClean="0">
                                      <a:latin typeface="Cambria Math"/>
                                    </a:rPr>
                                    <m:t>2.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800" b="0" i="1" smtClean="0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sz="18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800" b="0" i="1" smtClean="0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sz="1800" b="0" i="1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  <m:r>
                        <a:rPr lang="es-AR" sz="1800" b="0" i="1" smtClean="0">
                          <a:latin typeface="Cambria Math"/>
                          <a:ea typeface="Cambria Math"/>
                        </a:rPr>
                        <m:t>≤</m:t>
                      </m:r>
                      <m:sSup>
                        <m:sSupPr>
                          <m:ctrlPr>
                            <a:rPr lang="es-AR" sz="1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s-AR" sz="1800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s-AR" sz="1800" b="0" i="1" smtClean="0">
                              <a:latin typeface="Cambria Math"/>
                              <a:ea typeface="Cambria Math"/>
                            </a:rPr>
                            <m:t>−4</m:t>
                          </m:r>
                        </m:sup>
                      </m:sSup>
                      <m:r>
                        <a:rPr lang="es-AR" sz="1800" b="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l-GR" sz="1800" i="1">
                          <a:latin typeface="Cambria Math"/>
                          <a:ea typeface="Cambria Math"/>
                        </a:rPr>
                        <m:t>ε</m:t>
                      </m:r>
                      <m:r>
                        <a:rPr lang="es-AR" sz="1800" b="0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s-AR" sz="1800" b="0" i="1" smtClean="0">
                          <a:latin typeface="Cambria Math" panose="02040503050406030204" pitchFamily="18" charset="0"/>
                          <a:ea typeface="Cambria Math"/>
                        </a:rPr>
                        <m:t>1,37.</m:t>
                      </m:r>
                      <m:sSup>
                        <m:sSupPr>
                          <m:ctrlPr>
                            <a:rPr lang="es-AR" sz="1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s-AR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s-AR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−9</m:t>
                          </m:r>
                        </m:sup>
                      </m:sSup>
                      <m:r>
                        <a:rPr lang="es-AR" sz="1800" b="0" i="1" smtClean="0">
                          <a:latin typeface="Cambria Math" panose="02040503050406030204" pitchFamily="18" charset="0"/>
                          <a:ea typeface="Cambria Math"/>
                        </a:rPr>
                        <m:t>𝐽𝑜𝑢𝑙𝑒𝑠</m:t>
                      </m:r>
                    </m:oMath>
                  </m:oMathPara>
                </a14:m>
                <a:endParaRPr lang="es-AR" sz="1800" dirty="0"/>
              </a:p>
              <a:p>
                <a:pPr algn="just">
                  <a:buFont typeface="Wingdings" pitchFamily="2" charset="2"/>
                  <a:buChar char="Ø"/>
                </a:pPr>
                <a:endParaRPr lang="es-AR" sz="1800" dirty="0" smtClean="0"/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 smtClean="0"/>
                  <a:t>Calcule la potencia necesaria a la entrada del receptor:</a:t>
                </a:r>
              </a:p>
              <a:p>
                <a:pPr marL="0" indent="0" algn="ctr">
                  <a:buNone/>
                </a:pPr>
                <a:endParaRPr lang="es-AR" sz="1800" dirty="0" smtClean="0"/>
              </a:p>
              <a:p>
                <a:pPr marL="0" indent="0" algn="ctr">
                  <a:buNone/>
                </a:pPr>
                <a:r>
                  <a:rPr lang="es-AR" sz="1800" dirty="0" err="1" smtClean="0"/>
                  <a:t>P</a:t>
                </a:r>
                <a:r>
                  <a:rPr lang="es-AR" sz="1800" baseline="-25000" dirty="0" err="1" smtClean="0"/>
                  <a:t>Rx</a:t>
                </a:r>
                <a:r>
                  <a:rPr lang="es-AR" sz="1800" dirty="0" smtClean="0"/>
                  <a:t> = </a:t>
                </a:r>
                <a:r>
                  <a:rPr lang="el-GR" sz="1800" dirty="0" smtClean="0"/>
                  <a:t>ε</a:t>
                </a:r>
                <a:r>
                  <a:rPr lang="es-AR" sz="1800" dirty="0" smtClean="0"/>
                  <a:t> / </a:t>
                </a:r>
                <a:r>
                  <a:rPr lang="es-AR" sz="1800" baseline="-25000" dirty="0" err="1" smtClean="0"/>
                  <a:t>Ts</a:t>
                </a:r>
                <a:r>
                  <a:rPr lang="es-AR" sz="1800" baseline="-25000" dirty="0" smtClean="0"/>
                  <a:t> </a:t>
                </a:r>
                <a:r>
                  <a:rPr lang="es-AR" sz="1800" dirty="0"/>
                  <a:t>= </a:t>
                </a:r>
                <a:r>
                  <a:rPr lang="es-AR" sz="1800" dirty="0" smtClean="0"/>
                  <a:t>10 </a:t>
                </a:r>
                <a:r>
                  <a:rPr lang="es-AR" sz="1800" dirty="0" err="1" smtClean="0"/>
                  <a:t>mseg</a:t>
                </a:r>
                <a:endParaRPr lang="es-AR" sz="1800" dirty="0"/>
              </a:p>
            </p:txBody>
          </p:sp>
        </mc:Choice>
        <mc:Fallback xmlns="">
          <p:sp>
            <p:nvSpPr>
              <p:cNvPr id="8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235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63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12 – Laplace vs. Gauss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15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342900" indent="-342900" algn="just">
                  <a:buFont typeface="+mj-lt"/>
                  <a:buAutoNum type="arabicParenR"/>
                </a:pPr>
                <a:r>
                  <a:rPr lang="es-AR" sz="1800" dirty="0" smtClean="0"/>
                  <a:t>Repita el procedimiento del Ejercicio 1</a:t>
                </a:r>
                <a:r>
                  <a:rPr lang="es-AR" sz="1800" smtClean="0"/>
                  <a:t>, también para k = 1, pero </a:t>
                </a:r>
                <a:r>
                  <a:rPr lang="es-AR" sz="1800" dirty="0" smtClean="0"/>
                  <a:t>asumiendo que el ruido posee distribución </a:t>
                </a:r>
                <a:r>
                  <a:rPr lang="es-AR" sz="1800" dirty="0" err="1" smtClean="0"/>
                  <a:t>Laplaciana</a:t>
                </a:r>
                <a:r>
                  <a:rPr lang="es-AR" sz="1800" dirty="0" smtClean="0"/>
                  <a:t>, es </a:t>
                </a:r>
                <a:r>
                  <a:rPr lang="es-AR" sz="1800" smtClean="0"/>
                  <a:t>decir:</a:t>
                </a:r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smtClean="0"/>
              </a:p>
              <a:p>
                <a:pPr marL="0" indent="0" algn="ctr">
                  <a:buNone/>
                </a:pPr>
                <a:r>
                  <a:rPr lang="es-AR" sz="1800" smtClean="0"/>
                  <a:t>P</a:t>
                </a:r>
                <a:r>
                  <a:rPr lang="es-AR" sz="1800" baseline="-25000" smtClean="0"/>
                  <a:t>e</a:t>
                </a:r>
                <a:r>
                  <a:rPr lang="es-AR" sz="1800" smtClean="0"/>
                  <a:t> </a:t>
                </a:r>
                <a:r>
                  <a:rPr lang="es-AR" sz="1800" dirty="0" smtClean="0"/>
                  <a:t>= </a:t>
                </a:r>
                <a:r>
                  <a:rPr lang="es-AR" sz="1800" dirty="0" smtClean="0">
                    <a:solidFill>
                      <a:srgbClr val="0070C0"/>
                    </a:solidFill>
                  </a:rPr>
                  <a:t>p(s</a:t>
                </a:r>
                <a:r>
                  <a:rPr lang="es-AR" sz="1800" baseline="-25000" dirty="0" smtClean="0">
                    <a:solidFill>
                      <a:srgbClr val="0070C0"/>
                    </a:solidFill>
                  </a:rPr>
                  <a:t>0</a:t>
                </a:r>
                <a:r>
                  <a:rPr lang="es-AR" sz="1800" dirty="0" smtClean="0">
                    <a:solidFill>
                      <a:srgbClr val="0070C0"/>
                    </a:solidFill>
                  </a:rPr>
                  <a:t>/s</a:t>
                </a:r>
                <a:r>
                  <a:rPr lang="es-AR" sz="1800" baseline="-25000" dirty="0" smtClean="0">
                    <a:solidFill>
                      <a:srgbClr val="0070C0"/>
                    </a:solidFill>
                  </a:rPr>
                  <a:t>1</a:t>
                </a:r>
                <a:r>
                  <a:rPr lang="es-AR" sz="1800" dirty="0" smtClean="0">
                    <a:solidFill>
                      <a:srgbClr val="0070C0"/>
                    </a:solidFill>
                  </a:rPr>
                  <a:t>)</a:t>
                </a:r>
                <a:r>
                  <a:rPr lang="es-AR" sz="1800" dirty="0" smtClean="0"/>
                  <a:t>.p(s</a:t>
                </a:r>
                <a:r>
                  <a:rPr lang="es-AR" sz="1800" baseline="-25000" dirty="0" smtClean="0"/>
                  <a:t>1</a:t>
                </a:r>
                <a:r>
                  <a:rPr lang="es-AR" sz="1800" dirty="0" smtClean="0"/>
                  <a:t>) + </a:t>
                </a:r>
                <a:r>
                  <a:rPr lang="es-AR" sz="1800" dirty="0" smtClean="0">
                    <a:solidFill>
                      <a:srgbClr val="00B050"/>
                    </a:solidFill>
                  </a:rPr>
                  <a:t>p(s</a:t>
                </a:r>
                <a:r>
                  <a:rPr lang="es-AR" sz="1800" baseline="-25000" dirty="0" smtClean="0">
                    <a:solidFill>
                      <a:srgbClr val="00B050"/>
                    </a:solidFill>
                  </a:rPr>
                  <a:t>1</a:t>
                </a:r>
                <a:r>
                  <a:rPr lang="es-AR" sz="1800" dirty="0" smtClean="0">
                    <a:solidFill>
                      <a:srgbClr val="00B050"/>
                    </a:solidFill>
                  </a:rPr>
                  <a:t>/s</a:t>
                </a:r>
                <a:r>
                  <a:rPr lang="es-AR" sz="1800" baseline="-25000" dirty="0" smtClean="0">
                    <a:solidFill>
                      <a:srgbClr val="00B050"/>
                    </a:solidFill>
                  </a:rPr>
                  <a:t>0</a:t>
                </a:r>
                <a:r>
                  <a:rPr lang="es-AR" sz="1800" dirty="0" smtClean="0">
                    <a:solidFill>
                      <a:srgbClr val="00B050"/>
                    </a:solidFill>
                  </a:rPr>
                  <a:t>)</a:t>
                </a:r>
                <a:r>
                  <a:rPr lang="es-AR" sz="1800" dirty="0" smtClean="0"/>
                  <a:t>.</a:t>
                </a:r>
                <a:r>
                  <a:rPr lang="es-AR" sz="1800" smtClean="0"/>
                  <a:t>p(s</a:t>
                </a:r>
                <a:r>
                  <a:rPr lang="es-AR" sz="1800" baseline="-25000" smtClean="0"/>
                  <a:t>0</a:t>
                </a:r>
                <a:r>
                  <a:rPr lang="es-AR" sz="1800" smtClean="0"/>
                  <a:t>) </a:t>
                </a:r>
              </a:p>
              <a:p>
                <a:pPr marL="0" indent="0" algn="ctr">
                  <a:buNone/>
                </a:pPr>
                <a:endParaRPr lang="es-AR" sz="1800"/>
              </a:p>
              <a:p>
                <a:pPr marL="0" indent="0" algn="ctr">
                  <a:buNone/>
                </a:pPr>
                <a:endParaRPr lang="es-AR" sz="1800" i="1" smtClean="0">
                  <a:latin typeface="Cambria Math"/>
                </a:endParaRPr>
              </a:p>
              <a:p>
                <a:pPr marL="0" indent="0" algn="ctr">
                  <a:buNone/>
                </a:pPr>
                <a:endParaRPr lang="es-AR" sz="1800" i="1">
                  <a:latin typeface="Cambria Math"/>
                </a:endParaRPr>
              </a:p>
              <a:p>
                <a:pPr marL="0" indent="0" algn="ctr">
                  <a:buNone/>
                </a:pPr>
                <a:endParaRPr lang="es-AR" sz="1800" i="1" smtClean="0">
                  <a:latin typeface="Cambria Math"/>
                </a:endParaRPr>
              </a:p>
              <a:p>
                <a:pPr marL="0" indent="0" algn="ctr">
                  <a:buNone/>
                </a:pPr>
                <a:endParaRPr lang="es-AR" sz="1800" i="1">
                  <a:latin typeface="Cambria Math"/>
                </a:endParaRPr>
              </a:p>
              <a:p>
                <a:pPr marL="0" indent="0" algn="ctr">
                  <a:buNone/>
                </a:pPr>
                <a:endParaRPr lang="es-AR" sz="1800" i="1" smtClean="0">
                  <a:latin typeface="Cambria Math"/>
                </a:endParaRPr>
              </a:p>
              <a:p>
                <a:pPr marL="0" indent="0" algn="ctr">
                  <a:buNone/>
                </a:pPr>
                <a:endParaRPr lang="es-AR" sz="1800" i="1">
                  <a:latin typeface="Cambria Math"/>
                </a:endParaRPr>
              </a:p>
              <a:p>
                <a:pPr marL="0" indent="0" algn="ctr">
                  <a:buNone/>
                </a:pPr>
                <a:endParaRPr lang="es-AR" sz="1800" i="1" smtClean="0">
                  <a:latin typeface="Cambria Math"/>
                </a:endParaRPr>
              </a:p>
              <a:p>
                <a:pPr marL="0" indent="0" algn="ctr">
                  <a:buNone/>
                </a:pPr>
                <a:endParaRPr lang="es-AR" sz="1800" i="1">
                  <a:latin typeface="Cambria Math"/>
                </a:endParaRPr>
              </a:p>
              <a:p>
                <a:pPr marL="0" indent="0" algn="ctr">
                  <a:buNone/>
                </a:pPr>
                <a:endParaRPr lang="es-AR" sz="1800" i="1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s-AR" sz="1800" i="1">
                        <a:latin typeface="Cambria Math"/>
                      </a:rPr>
                      <m:t>𝑃𝑒</m:t>
                    </m:r>
                    <m:r>
                      <a:rPr lang="es-AR" sz="1800" b="0" i="1" smtClean="0">
                        <a:latin typeface="Cambria Math"/>
                      </a:rPr>
                      <m:t>𝑏</m:t>
                    </m:r>
                    <m:r>
                      <a:rPr lang="es-AR" sz="1800" i="1">
                        <a:latin typeface="Cambria Math"/>
                      </a:rPr>
                      <m:t>=</m:t>
                    </m:r>
                    <m:r>
                      <a:rPr lang="es-AR" sz="1800" i="1">
                        <a:latin typeface="Cambria Math"/>
                      </a:rPr>
                      <m:t>𝑃𝑒</m:t>
                    </m:r>
                    <m:r>
                      <a:rPr lang="es-AR" sz="1800" b="0" i="1" smtClean="0">
                        <a:latin typeface="Cambria Math"/>
                      </a:rPr>
                      <m:t>/</m:t>
                    </m:r>
                    <m:r>
                      <a:rPr lang="es-AR" sz="1800" b="0" i="1" smtClean="0">
                        <a:latin typeface="Cambria Math"/>
                      </a:rPr>
                      <m:t>𝑘</m:t>
                    </m:r>
                    <m:r>
                      <a:rPr lang="es-AR" sz="1800" i="1">
                        <a:latin typeface="Cambria Math"/>
                      </a:rPr>
                      <m:t>=</m:t>
                    </m:r>
                    <m:r>
                      <a:rPr lang="es-AR" sz="1800" i="1" smtClean="0">
                        <a:solidFill>
                          <a:srgbClr val="00B05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AR" sz="1800" i="1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AR" sz="18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s-AR" sz="18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0/</m:t>
                        </m:r>
                        <m:r>
                          <a:rPr lang="es-AR" sz="18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s-AR" sz="18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s-AR" sz="1800" i="1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s-AR" sz="1800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1800" i="1"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es-AR" sz="1800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AR" sz="18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s-AR" sz="1800" i="1">
                                <a:latin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l-GR" sz="1800" i="1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den>
                        </m:f>
                        <m:sSup>
                          <m:sSupPr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AR" sz="1800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s-AR" sz="1800" i="1">
                                <a:latin typeface="Cambria Math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s-AR" sz="1800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AR" sz="1800" i="1">
                                    <a:latin typeface="Cambria Math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s-AR" sz="1800" i="1">
                                <a:latin typeface="Cambria Math"/>
                              </a:rPr>
                              <m:t>𝑤</m:t>
                            </m:r>
                            <m:r>
                              <a:rPr lang="es-AR" sz="1800" i="1">
                                <a:latin typeface="Cambria Math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l-GR" sz="1800" i="1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sup>
                        </m:sSup>
                        <m:r>
                          <a:rPr lang="es-AR" sz="1800" i="1">
                            <a:latin typeface="Cambria Math"/>
                          </a:rPr>
                          <m:t>𝑑𝑤</m:t>
                        </m:r>
                        <m:r>
                          <a:rPr lang="es-AR" sz="1800" i="1">
                            <a:latin typeface="Cambria Math"/>
                          </a:rPr>
                          <m:t>=…=</m:t>
                        </m:r>
                        <m:f>
                          <m:fPr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AR" sz="18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s-AR" sz="18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AR" sz="1800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s-AR" sz="1800" i="1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AR" sz="18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s-AR" sz="1800" i="1"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AR" sz="18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a:rPr lang="es-AR" sz="1800" i="1">
                                    <a:latin typeface="Cambria Math"/>
                                  </a:rPr>
                                  <m:t>𝐴</m:t>
                                </m:r>
                              </m:num>
                              <m:den>
                                <m:r>
                                  <a:rPr lang="el-GR" sz="1800" i="1">
                                    <a:latin typeface="Cambria Math"/>
                                    <a:ea typeface="Cambria Math"/>
                                  </a:rPr>
                                  <m:t>𝜎</m:t>
                                </m:r>
                              </m:den>
                            </m:f>
                          </m:sup>
                        </m:sSup>
                      </m:e>
                    </m:nary>
                  </m:oMath>
                </a14:m>
                <a:r>
                  <a:rPr lang="es-AR" sz="1800" smtClean="0"/>
                  <a:t> </a:t>
                </a:r>
                <a:endParaRPr lang="es-AR" sz="1800" dirty="0" smtClean="0"/>
              </a:p>
              <a:p>
                <a:pPr marL="0" indent="0" algn="ctr">
                  <a:buNone/>
                </a:pPr>
                <a:endParaRPr lang="es-AR" sz="1800" smtClean="0"/>
              </a:p>
              <a:p>
                <a:pPr marL="0" indent="0" algn="ctr">
                  <a:buNone/>
                </a:pPr>
                <a:endParaRPr lang="es-AR" sz="1800" dirty="0"/>
              </a:p>
            </p:txBody>
          </p:sp>
        </mc:Choice>
        <mc:Fallback xmlns="">
          <p:sp>
            <p:nvSpPr>
              <p:cNvPr id="8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741" r="-44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6 Grupo"/>
          <p:cNvGrpSpPr/>
          <p:nvPr/>
        </p:nvGrpSpPr>
        <p:grpSpPr>
          <a:xfrm>
            <a:off x="3032536" y="2753632"/>
            <a:ext cx="3088102" cy="2478703"/>
            <a:chOff x="3032536" y="2753632"/>
            <a:chExt cx="3088102" cy="2478703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27" t="51724" r="62245" b="28528"/>
            <a:stretch/>
          </p:blipFill>
          <p:spPr bwMode="auto">
            <a:xfrm>
              <a:off x="4488940" y="2753632"/>
              <a:ext cx="1420537" cy="1443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27" t="51724" r="62245" b="28528"/>
            <a:stretch/>
          </p:blipFill>
          <p:spPr bwMode="auto">
            <a:xfrm>
              <a:off x="3155368" y="2756767"/>
              <a:ext cx="1420537" cy="1443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5388"/>
            <a:stretch/>
          </p:blipFill>
          <p:spPr bwMode="auto">
            <a:xfrm>
              <a:off x="3032536" y="4105755"/>
              <a:ext cx="3088102" cy="838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12 CuadroTexto"/>
            <p:cNvSpPr txBox="1"/>
            <p:nvPr/>
          </p:nvSpPr>
          <p:spPr>
            <a:xfrm>
              <a:off x="3419872" y="4863003"/>
              <a:ext cx="2520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mtClean="0"/>
                <a:t>    -A                  </a:t>
              </a:r>
              <a:r>
                <a:rPr lang="es-AR" dirty="0" err="1" smtClean="0"/>
                <a:t>A</a:t>
              </a:r>
              <a:endParaRPr lang="es-AR" dirty="0"/>
            </a:p>
          </p:txBody>
        </p:sp>
        <p:sp>
          <p:nvSpPr>
            <p:cNvPr id="3" name="2 Triángulo rectángulo"/>
            <p:cNvSpPr/>
            <p:nvPr/>
          </p:nvSpPr>
          <p:spPr>
            <a:xfrm>
              <a:off x="4544704" y="3919408"/>
              <a:ext cx="627208" cy="172699"/>
            </a:xfrm>
            <a:prstGeom prst="rtTriangle">
              <a:avLst/>
            </a:prstGeom>
            <a:solidFill>
              <a:srgbClr val="00B050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5" name="14 Triángulo rectángulo"/>
            <p:cNvSpPr/>
            <p:nvPr/>
          </p:nvSpPr>
          <p:spPr>
            <a:xfrm flipH="1">
              <a:off x="3923928" y="3919408"/>
              <a:ext cx="627208" cy="172699"/>
            </a:xfrm>
            <a:prstGeom prst="rtTriangle">
              <a:avLst/>
            </a:prstGeom>
            <a:solidFill>
              <a:srgbClr val="0070C0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cxnSp>
        <p:nvCxnSpPr>
          <p:cNvPr id="14" name="13 Conector recto"/>
          <p:cNvCxnSpPr/>
          <p:nvPr/>
        </p:nvCxnSpPr>
        <p:spPr>
          <a:xfrm flipH="1">
            <a:off x="4540936" y="3004488"/>
            <a:ext cx="1929" cy="127119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52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12 – Laplace vs. Gauss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16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AR" sz="1800" dirty="0" smtClean="0"/>
                  <a:t>2) De </a:t>
                </a:r>
                <a:r>
                  <a:rPr lang="es-AR" sz="1800" dirty="0"/>
                  <a:t>la expresión obtenida en (1), despeje SNR, definida como A</a:t>
                </a:r>
                <a:r>
                  <a:rPr lang="es-AR" sz="1800" baseline="30000" dirty="0"/>
                  <a:t>2</a:t>
                </a:r>
                <a:r>
                  <a:rPr lang="es-AR" sz="1800" dirty="0"/>
                  <a:t>/</a:t>
                </a:r>
                <a:r>
                  <a:rPr lang="el-GR" sz="1800" dirty="0"/>
                  <a:t>σ</a:t>
                </a:r>
                <a:r>
                  <a:rPr lang="es-AR" sz="1800" baseline="30000" dirty="0" smtClean="0"/>
                  <a:t>2</a:t>
                </a:r>
                <a:r>
                  <a:rPr lang="es-AR" sz="1800" dirty="0" smtClean="0"/>
                  <a:t>.</a:t>
                </a:r>
                <a:endParaRPr lang="es-AR" sz="1800" dirty="0"/>
              </a:p>
              <a:p>
                <a:pPr marL="0" indent="0" algn="ctr">
                  <a:buNone/>
                </a:pPr>
                <a:endParaRPr lang="es-AR" sz="1800" b="0" i="1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latin typeface="Cambria Math"/>
                        </a:rPr>
                        <m:t>𝑃𝑒𝑏</m:t>
                      </m:r>
                      <m:r>
                        <a:rPr lang="es-AR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sz="1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sz="18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AR" sz="1800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AR" sz="18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AR" sz="18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s-AR" sz="1800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s-AR" sz="1800" i="1">
                                  <a:latin typeface="Cambria Math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s-AR" sz="18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sz="18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s-AR" sz="1800" i="1">
                                  <a:latin typeface="Cambria Math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l-GR" sz="18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den>
                          </m:f>
                        </m:sup>
                      </m:sSup>
                      <m:r>
                        <a:rPr lang="es-AR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sz="1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sz="18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AR" sz="1800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AR" sz="18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AR" sz="18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s-AR" sz="1800" i="1"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s-AR" sz="18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1800" i="1">
                                  <a:latin typeface="Cambria Math"/>
                                </a:rPr>
                                <m:t>2.</m:t>
                              </m:r>
                              <m:r>
                                <a:rPr lang="es-AR" sz="1800" i="1">
                                  <a:latin typeface="Cambria Math"/>
                                </a:rPr>
                                <m:t>𝑆𝑁𝑅</m:t>
                              </m:r>
                            </m:e>
                          </m:rad>
                        </m:sup>
                      </m:sSup>
                      <m:r>
                        <a:rPr lang="es-AR" sz="1800" b="0" i="1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s-AR" sz="1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s-AR" sz="1800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s-AR" sz="1800" b="0" i="1" smtClean="0">
                              <a:latin typeface="Cambria Math"/>
                              <a:ea typeface="Cambria Math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es-AR" sz="1800" dirty="0" smtClean="0"/>
              </a:p>
              <a:p>
                <a:pPr marL="0" indent="0" algn="ctr">
                  <a:buNone/>
                </a:pPr>
                <a:endParaRPr lang="es-AR" sz="1800" dirty="0"/>
              </a:p>
              <a:p>
                <a:pPr marL="0" indent="0" algn="just">
                  <a:buNone/>
                </a:pPr>
                <a:r>
                  <a:rPr lang="es-AR" sz="1800" dirty="0" smtClean="0"/>
                  <a:t>De aquí obtenemos el valor de SNR, en veces, tal que </a:t>
                </a:r>
                <a:r>
                  <a:rPr lang="es-AR" sz="1800" dirty="0" err="1" smtClean="0"/>
                  <a:t>P</a:t>
                </a:r>
                <a:r>
                  <a:rPr lang="es-AR" sz="1800" baseline="-25000" dirty="0" err="1" smtClean="0"/>
                  <a:t>eb</a:t>
                </a:r>
                <a:r>
                  <a:rPr lang="es-AR" sz="1800" dirty="0" smtClean="0"/>
                  <a:t> = 10</a:t>
                </a:r>
                <a:r>
                  <a:rPr lang="es-AR" sz="1800" baseline="30000" dirty="0" smtClean="0"/>
                  <a:t>-5</a:t>
                </a:r>
                <a:r>
                  <a:rPr lang="es-AR" sz="1800" dirty="0" smtClean="0"/>
                  <a:t>. </a:t>
                </a:r>
              </a:p>
              <a:p>
                <a:pPr marL="0" indent="0" algn="just">
                  <a:buNone/>
                </a:pPr>
                <a:r>
                  <a:rPr lang="es-AR" sz="1800" dirty="0" smtClean="0"/>
                  <a:t>SNR = 58,5 → 17,67 dB</a:t>
                </a:r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dirty="0" smtClean="0"/>
                  <a:t>3) Repita </a:t>
                </a:r>
                <a:r>
                  <a:rPr lang="es-AR" sz="1800" dirty="0"/>
                  <a:t>el paso 2 para ruido AWGN (ídem ej. </a:t>
                </a:r>
                <a:r>
                  <a:rPr lang="es-AR" sz="1800" dirty="0" smtClean="0"/>
                  <a:t>11), </a:t>
                </a:r>
                <a:r>
                  <a:rPr lang="es-AR" sz="1800" dirty="0"/>
                  <a:t>con SNR = E/</a:t>
                </a:r>
                <a:r>
                  <a:rPr lang="el-GR" sz="1800" dirty="0"/>
                  <a:t>σ</a:t>
                </a:r>
                <a:r>
                  <a:rPr lang="es-AR" sz="1800" baseline="30000" dirty="0"/>
                  <a:t>2</a:t>
                </a:r>
                <a:r>
                  <a:rPr lang="es-AR" sz="1800" dirty="0"/>
                  <a:t>.</a:t>
                </a:r>
              </a:p>
              <a:p>
                <a:pPr marL="0" indent="0" algn="just">
                  <a:buNone/>
                </a:pPr>
                <a:endParaRPr lang="es-AR" sz="1800" dirty="0" smtClean="0"/>
              </a:p>
            </p:txBody>
          </p:sp>
        </mc:Choice>
        <mc:Fallback xmlns="">
          <p:sp>
            <p:nvSpPr>
              <p:cNvPr id="8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93" t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32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13 – Una QAM diferente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s-AR" sz="1800" dirty="0" smtClean="0"/>
              <a:t>Obtenga las fronteras de decisión entre cada par de símbolos, demarcando la mediatriz al segmento que los une.</a:t>
            </a:r>
          </a:p>
          <a:p>
            <a:pPr marL="342900" indent="-342900" algn="just">
              <a:buFont typeface="+mj-lt"/>
              <a:buAutoNum type="arabicParenR" startAt="2"/>
            </a:pPr>
            <a:r>
              <a:rPr lang="es-AR" sz="1800" dirty="0" smtClean="0"/>
              <a:t>Aplique el código de Gray entre símbolos que comparten fronteras de decisión.</a:t>
            </a:r>
          </a:p>
          <a:p>
            <a:pPr marL="342900" indent="-342900" algn="just">
              <a:buFont typeface="+mj-lt"/>
              <a:buAutoNum type="arabicParenR" startAt="2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17</a:t>
            </a:fld>
            <a:endParaRPr lang="es-ES"/>
          </a:p>
        </p:txBody>
      </p:sp>
      <p:grpSp>
        <p:nvGrpSpPr>
          <p:cNvPr id="30" name="29 Grupo"/>
          <p:cNvGrpSpPr/>
          <p:nvPr/>
        </p:nvGrpSpPr>
        <p:grpSpPr>
          <a:xfrm>
            <a:off x="252695" y="2276872"/>
            <a:ext cx="6407538" cy="4016464"/>
            <a:chOff x="252695" y="2276872"/>
            <a:chExt cx="6407538" cy="4016464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57" t="26077" r="29722" b="9914"/>
            <a:stretch/>
          </p:blipFill>
          <p:spPr bwMode="auto">
            <a:xfrm>
              <a:off x="2483767" y="2276872"/>
              <a:ext cx="4176466" cy="40164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9" name="28 Grupo"/>
            <p:cNvGrpSpPr/>
            <p:nvPr/>
          </p:nvGrpSpPr>
          <p:grpSpPr>
            <a:xfrm>
              <a:off x="252695" y="3621412"/>
              <a:ext cx="5303240" cy="1758463"/>
              <a:chOff x="252695" y="3621412"/>
              <a:chExt cx="5303240" cy="1758463"/>
            </a:xfrm>
          </p:grpSpPr>
          <p:grpSp>
            <p:nvGrpSpPr>
              <p:cNvPr id="21" name="20 Grupo"/>
              <p:cNvGrpSpPr/>
              <p:nvPr/>
            </p:nvGrpSpPr>
            <p:grpSpPr>
              <a:xfrm rot="5400000">
                <a:off x="4286463" y="3895796"/>
                <a:ext cx="1112132" cy="563364"/>
                <a:chOff x="4008636" y="3645024"/>
                <a:chExt cx="1112132" cy="563364"/>
              </a:xfrm>
            </p:grpSpPr>
            <p:cxnSp>
              <p:nvCxnSpPr>
                <p:cNvPr id="8" name="7 Conector recto"/>
                <p:cNvCxnSpPr/>
                <p:nvPr/>
              </p:nvCxnSpPr>
              <p:spPr>
                <a:xfrm flipV="1">
                  <a:off x="4572000" y="3645024"/>
                  <a:ext cx="548768" cy="54876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10 Conector recto"/>
                <p:cNvCxnSpPr/>
                <p:nvPr/>
              </p:nvCxnSpPr>
              <p:spPr>
                <a:xfrm>
                  <a:off x="4099694" y="3736082"/>
                  <a:ext cx="936104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13 Conector recto"/>
                <p:cNvCxnSpPr/>
                <p:nvPr/>
              </p:nvCxnSpPr>
              <p:spPr>
                <a:xfrm flipH="1" flipV="1">
                  <a:off x="4008636" y="3645024"/>
                  <a:ext cx="563364" cy="563364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19 CuadroTexto"/>
              <p:cNvSpPr txBox="1"/>
              <p:nvPr/>
            </p:nvSpPr>
            <p:spPr>
              <a:xfrm>
                <a:off x="4672076" y="4221088"/>
                <a:ext cx="41549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z="800" dirty="0" smtClean="0"/>
                  <a:t>0000</a:t>
                </a:r>
                <a:endParaRPr lang="es-AR" sz="800" dirty="0"/>
              </a:p>
            </p:txBody>
          </p:sp>
          <p:sp>
            <p:nvSpPr>
              <p:cNvPr id="22" name="21 CuadroTexto"/>
              <p:cNvSpPr txBox="1"/>
              <p:nvPr/>
            </p:nvSpPr>
            <p:spPr>
              <a:xfrm>
                <a:off x="5140437" y="4221088"/>
                <a:ext cx="41549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z="800" dirty="0" smtClean="0"/>
                  <a:t>0001</a:t>
                </a:r>
                <a:endParaRPr lang="es-AR" sz="800" dirty="0"/>
              </a:p>
            </p:txBody>
          </p:sp>
          <p:sp>
            <p:nvSpPr>
              <p:cNvPr id="23" name="22 CuadroTexto"/>
              <p:cNvSpPr txBox="1"/>
              <p:nvPr/>
            </p:nvSpPr>
            <p:spPr>
              <a:xfrm>
                <a:off x="4206393" y="3784029"/>
                <a:ext cx="41549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z="800" dirty="0" smtClean="0"/>
                  <a:t>0100</a:t>
                </a:r>
                <a:endParaRPr lang="es-AR" sz="800" dirty="0"/>
              </a:p>
            </p:txBody>
          </p:sp>
          <p:sp>
            <p:nvSpPr>
              <p:cNvPr id="24" name="23 CuadroTexto"/>
              <p:cNvSpPr txBox="1"/>
              <p:nvPr/>
            </p:nvSpPr>
            <p:spPr>
              <a:xfrm>
                <a:off x="4204657" y="4412810"/>
                <a:ext cx="41549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z="800" dirty="0" smtClean="0"/>
                  <a:t>1000</a:t>
                </a:r>
                <a:endParaRPr lang="es-AR" sz="800" dirty="0"/>
              </a:p>
            </p:txBody>
          </p:sp>
          <p:sp>
            <p:nvSpPr>
              <p:cNvPr id="25" name="24 CuadroTexto"/>
              <p:cNvSpPr txBox="1"/>
              <p:nvPr/>
            </p:nvSpPr>
            <p:spPr>
              <a:xfrm>
                <a:off x="4012486" y="4221088"/>
                <a:ext cx="41549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z="800" dirty="0"/>
                  <a:t>1</a:t>
                </a:r>
                <a:r>
                  <a:rPr lang="es-AR" sz="800" dirty="0" smtClean="0"/>
                  <a:t>100</a:t>
                </a:r>
                <a:endParaRPr lang="es-AR" sz="800" dirty="0"/>
              </a:p>
            </p:txBody>
          </p:sp>
          <p:sp>
            <p:nvSpPr>
              <p:cNvPr id="26" name="25 CuadroTexto"/>
              <p:cNvSpPr txBox="1"/>
              <p:nvPr/>
            </p:nvSpPr>
            <p:spPr>
              <a:xfrm>
                <a:off x="252695" y="4733544"/>
                <a:ext cx="2232248" cy="646331"/>
              </a:xfrm>
              <a:prstGeom prst="rect">
                <a:avLst/>
              </a:prstGeom>
              <a:solidFill>
                <a:schemeClr val="bg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AR" sz="1200" dirty="0" smtClean="0"/>
                  <a:t>Observen que los dos primeros bits identifican el semieje.</a:t>
                </a:r>
                <a:endParaRPr lang="es-AR" sz="1200" dirty="0"/>
              </a:p>
            </p:txBody>
          </p:sp>
          <p:cxnSp>
            <p:nvCxnSpPr>
              <p:cNvPr id="28" name="27 Conector recto de flecha"/>
              <p:cNvCxnSpPr>
                <a:stCxn id="26" idx="3"/>
              </p:cNvCxnSpPr>
              <p:nvPr/>
            </p:nvCxnSpPr>
            <p:spPr>
              <a:xfrm flipV="1">
                <a:off x="2484943" y="4520532"/>
                <a:ext cx="1527543" cy="53617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859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14 – Teorema de </a:t>
            </a:r>
            <a:r>
              <a:rPr lang="es-AR" dirty="0" err="1" smtClean="0"/>
              <a:t>Parseval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s-AR" sz="1800" dirty="0" smtClean="0"/>
                  <a:t>Se presentan dos señales:</a:t>
                </a:r>
              </a:p>
              <a:p>
                <a:pPr lvl="1" algn="just"/>
                <a:r>
                  <a:rPr lang="es-AR" sz="1600" dirty="0" smtClean="0"/>
                  <a:t>x</a:t>
                </a:r>
                <a:r>
                  <a:rPr lang="es-AR" sz="1600" baseline="-25000" dirty="0" smtClean="0"/>
                  <a:t>0</a:t>
                </a:r>
                <a:r>
                  <a:rPr lang="es-AR" sz="1600" dirty="0" smtClean="0"/>
                  <a:t>(t): Señal de tipo sinc</a:t>
                </a:r>
                <a:r>
                  <a:rPr lang="es-AR" sz="1600" baseline="30000" dirty="0" smtClean="0"/>
                  <a:t>2</a:t>
                </a:r>
                <a:r>
                  <a:rPr lang="es-AR" sz="1600" dirty="0" smtClean="0"/>
                  <a:t>.</a:t>
                </a:r>
              </a:p>
              <a:p>
                <a:pPr lvl="1" algn="just"/>
                <a:r>
                  <a:rPr lang="es-AR" sz="1600" dirty="0" smtClean="0"/>
                  <a:t>x</a:t>
                </a:r>
                <a:r>
                  <a:rPr lang="es-AR" sz="1600" baseline="-25000" dirty="0" smtClean="0"/>
                  <a:t>1</a:t>
                </a:r>
                <a:r>
                  <a:rPr lang="es-AR" sz="1600" dirty="0" smtClean="0"/>
                  <a:t>(t): Señal de tipo sinc</a:t>
                </a:r>
                <a:r>
                  <a:rPr lang="es-AR" sz="1600" baseline="30000" dirty="0" smtClean="0"/>
                  <a:t>2</a:t>
                </a:r>
                <a:r>
                  <a:rPr lang="es-AR" sz="1600" dirty="0" smtClean="0"/>
                  <a:t> modulando la amplitud de un coseno de mayor frecuencia.</a:t>
                </a:r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 smtClean="0"/>
                  <a:t>Es necesario determinar la constelación, para lo cual necesitamos una BON que permita representar los símbolos x</a:t>
                </a:r>
                <a:r>
                  <a:rPr lang="es-AR" sz="1800" baseline="-25000" dirty="0" smtClean="0"/>
                  <a:t>0</a:t>
                </a:r>
                <a:r>
                  <a:rPr lang="es-AR" sz="1800" dirty="0" smtClean="0"/>
                  <a:t> y x</a:t>
                </a:r>
                <a:r>
                  <a:rPr lang="es-AR" sz="1800" baseline="-25000" dirty="0" smtClean="0"/>
                  <a:t>1</a:t>
                </a:r>
                <a:r>
                  <a:rPr lang="es-AR" sz="1800" dirty="0" smtClean="0"/>
                  <a:t>.</a:t>
                </a:r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 smtClean="0"/>
                  <a:t>Trabajar en el dominio del tiempo con estas dos señales puede ser engorroso, pero el ejercicio se simplifica si hacemos uso de la identidad de </a:t>
                </a:r>
                <a:r>
                  <a:rPr lang="es-AR" sz="1800" dirty="0" err="1" smtClean="0"/>
                  <a:t>Parseval</a:t>
                </a:r>
                <a:r>
                  <a:rPr lang="es-AR" sz="1800" dirty="0" smtClean="0"/>
                  <a:t>, tanto para probar la </a:t>
                </a:r>
                <a:r>
                  <a:rPr lang="es-AR" sz="1800" dirty="0" err="1" smtClean="0"/>
                  <a:t>ortogonalidad</a:t>
                </a:r>
                <a:r>
                  <a:rPr lang="es-AR" sz="1800" dirty="0" smtClean="0"/>
                  <a:t> de estas dos señales como para calcular su energía:</a:t>
                </a:r>
              </a:p>
              <a:p>
                <a:pPr algn="just">
                  <a:buFont typeface="Wingdings" pitchFamily="2" charset="2"/>
                  <a:buChar char="Ø"/>
                </a:pPr>
                <a:endParaRPr lang="es-AR" sz="18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180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18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s-AR" sz="18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s-AR" sz="18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s-AR" sz="1800" b="0" i="1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s-AR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sz="18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1800" b="0" i="1" smtClean="0">
                              <a:latin typeface="Cambria Math"/>
                            </a:rPr>
                            <m:t>.</m:t>
                          </m:r>
                          <m:r>
                            <a:rPr lang="es-AR" sz="1800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s-AR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sz="18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1800" b="0" i="1" smtClean="0">
                              <a:latin typeface="Cambria Math"/>
                            </a:rPr>
                            <m:t>𝑑𝑡</m:t>
                          </m:r>
                          <m:r>
                            <a:rPr lang="es-AR" sz="1800" b="0" i="1" smtClean="0">
                              <a:latin typeface="Cambria Math"/>
                            </a:rPr>
                            <m:t>= </m:t>
                          </m:r>
                          <m:f>
                            <m:fPr>
                              <m:ctrlPr>
                                <a:rPr lang="el-GR" sz="18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sz="18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l-GR" sz="18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l-GR" sz="1800" i="1">
                                  <a:latin typeface="Cambria Math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ctrlPr>
                                <a:rPr lang="es-AR" sz="18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18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s-AR" sz="1800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s-AR" sz="1800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s-AR" sz="1800" b="0" i="1" smtClean="0">
                                  <a:latin typeface="Cambria Math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s-AR" sz="18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800" b="0" i="1" smtClean="0">
                                      <a:latin typeface="Cambria Math"/>
                                    </a:rPr>
                                    <m:t>ω</m:t>
                                  </m:r>
                                </m:e>
                              </m:d>
                              <m:r>
                                <a:rPr lang="es-AR" sz="1800" b="0" i="1" smtClean="0">
                                  <a:latin typeface="Cambria Math"/>
                                </a:rPr>
                                <m:t>.</m:t>
                              </m:r>
                              <m:sSup>
                                <m:sSupPr>
                                  <m:ctrlPr>
                                    <a:rPr lang="es-AR" sz="18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smtClean="0">
                                      <a:latin typeface="Cambria Math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s-AR" sz="1800" b="0" i="1" smtClean="0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s-AR" sz="1800" b="0" i="1" smtClean="0">
                                  <a:latin typeface="Cambria Math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l-GR" sz="1800" i="1">
                                  <a:latin typeface="Cambria Math"/>
                                </a:rPr>
                                <m:t>ω</m:t>
                              </m:r>
                              <m:r>
                                <a:rPr lang="es-AR" sz="18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  <m:r>
                            <a:rPr lang="es-AR" sz="1800" b="0" i="1" smtClean="0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sz="1800" i="1">
                              <a:latin typeface="Cambria Math"/>
                            </a:rPr>
                            <m:t>ω</m:t>
                          </m:r>
                        </m:e>
                      </m:nary>
                    </m:oMath>
                  </m:oMathPara>
                </a14:m>
                <a:endParaRPr lang="es-AR" sz="1800" dirty="0"/>
              </a:p>
              <a:p>
                <a:pPr algn="just">
                  <a:buFont typeface="Wingdings" pitchFamily="2" charset="2"/>
                  <a:buChar char="Ø"/>
                </a:pPr>
                <a:endParaRPr lang="es-AR" sz="1800" dirty="0" smtClean="0"/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 smtClean="0"/>
                  <a:t>Una vez obtenida la BON, ubique ambos símbolos en la constelación y calcule la Pe como en el Ejercicio </a:t>
                </a:r>
                <a:r>
                  <a:rPr lang="es-AR" sz="1800" smtClean="0"/>
                  <a:t>1. ¿De qué tipo de modulación se trata? ¿Cuál es la relación entre d y E?</a:t>
                </a: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algn="just"/>
                <a:endParaRPr lang="es-AR" sz="18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741" r="-444" b="-61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500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14 – Teorema de </a:t>
            </a:r>
            <a:r>
              <a:rPr lang="es-AR" dirty="0" err="1" smtClean="0"/>
              <a:t>Parseval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19</a:t>
            </a:fld>
            <a:endParaRPr lang="es-ES"/>
          </a:p>
        </p:txBody>
      </p:sp>
      <p:grpSp>
        <p:nvGrpSpPr>
          <p:cNvPr id="3" name="2 Grupo"/>
          <p:cNvGrpSpPr/>
          <p:nvPr/>
        </p:nvGrpSpPr>
        <p:grpSpPr>
          <a:xfrm>
            <a:off x="35496" y="1433781"/>
            <a:ext cx="5472608" cy="4786530"/>
            <a:chOff x="1835696" y="1306766"/>
            <a:chExt cx="5654092" cy="4786530"/>
          </a:xfrm>
        </p:grpSpPr>
        <p:grpSp>
          <p:nvGrpSpPr>
            <p:cNvPr id="15" name="14 Grupo"/>
            <p:cNvGrpSpPr/>
            <p:nvPr/>
          </p:nvGrpSpPr>
          <p:grpSpPr>
            <a:xfrm>
              <a:off x="1835696" y="1306766"/>
              <a:ext cx="5628364" cy="2266250"/>
              <a:chOff x="1835696" y="1124744"/>
              <a:chExt cx="5628364" cy="2266250"/>
            </a:xfrm>
          </p:grpSpPr>
          <p:cxnSp>
            <p:nvCxnSpPr>
              <p:cNvPr id="9" name="8 Conector recto de flecha"/>
              <p:cNvCxnSpPr/>
              <p:nvPr/>
            </p:nvCxnSpPr>
            <p:spPr>
              <a:xfrm flipV="1">
                <a:off x="4572000" y="1484784"/>
                <a:ext cx="0" cy="17281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10 Conector recto de flecha"/>
              <p:cNvCxnSpPr/>
              <p:nvPr/>
            </p:nvCxnSpPr>
            <p:spPr>
              <a:xfrm>
                <a:off x="1835696" y="2997200"/>
                <a:ext cx="5472608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11 Triángulo isósceles"/>
              <p:cNvSpPr/>
              <p:nvPr/>
            </p:nvSpPr>
            <p:spPr>
              <a:xfrm>
                <a:off x="3995936" y="1844824"/>
                <a:ext cx="1152128" cy="1152376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3" name="12 CuadroTexto"/>
              <p:cNvSpPr txBox="1"/>
              <p:nvPr/>
            </p:nvSpPr>
            <p:spPr>
              <a:xfrm>
                <a:off x="3707904" y="3021662"/>
                <a:ext cx="37561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dirty="0" smtClean="0"/>
                  <a:t>-2</a:t>
                </a:r>
                <a:r>
                  <a:rPr lang="el-GR" dirty="0" smtClean="0"/>
                  <a:t>π</a:t>
                </a:r>
                <a:r>
                  <a:rPr lang="es-AR" dirty="0" smtClean="0"/>
                  <a:t>              2</a:t>
                </a:r>
                <a:r>
                  <a:rPr lang="el-GR" dirty="0" smtClean="0"/>
                  <a:t>π</a:t>
                </a:r>
                <a:r>
                  <a:rPr lang="es-AR" dirty="0" smtClean="0"/>
                  <a:t>                              </a:t>
                </a:r>
                <a:r>
                  <a:rPr lang="el-GR" dirty="0" smtClean="0"/>
                  <a:t>ω</a:t>
                </a:r>
                <a:endParaRPr lang="es-AR" dirty="0"/>
              </a:p>
            </p:txBody>
          </p:sp>
          <p:sp>
            <p:nvSpPr>
              <p:cNvPr id="14" name="13 CuadroTexto"/>
              <p:cNvSpPr txBox="1"/>
              <p:nvPr/>
            </p:nvSpPr>
            <p:spPr>
              <a:xfrm>
                <a:off x="4613562" y="1124744"/>
                <a:ext cx="75052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dirty="0" smtClean="0"/>
                  <a:t>X</a:t>
                </a:r>
                <a:r>
                  <a:rPr lang="es-AR" baseline="-25000" dirty="0" smtClean="0"/>
                  <a:t>0</a:t>
                </a:r>
                <a:r>
                  <a:rPr lang="es-AR" dirty="0" smtClean="0"/>
                  <a:t>(</a:t>
                </a:r>
                <a:r>
                  <a:rPr lang="el-GR" dirty="0" smtClean="0">
                    <a:latin typeface="Cambria Math"/>
                    <a:ea typeface="Cambria Math"/>
                  </a:rPr>
                  <a:t>ω</a:t>
                </a:r>
                <a:r>
                  <a:rPr lang="es-AR" dirty="0" smtClean="0"/>
                  <a:t>)</a:t>
                </a:r>
              </a:p>
              <a:p>
                <a:endParaRPr lang="es-AR" dirty="0" smtClean="0"/>
              </a:p>
              <a:p>
                <a:r>
                  <a:rPr lang="es-AR" dirty="0" smtClean="0"/>
                  <a:t>1</a:t>
                </a:r>
                <a:endParaRPr lang="es-AR" dirty="0"/>
              </a:p>
            </p:txBody>
          </p:sp>
        </p:grpSp>
        <p:cxnSp>
          <p:nvCxnSpPr>
            <p:cNvPr id="18" name="17 Conector recto de flecha"/>
            <p:cNvCxnSpPr/>
            <p:nvPr/>
          </p:nvCxnSpPr>
          <p:spPr>
            <a:xfrm flipV="1">
              <a:off x="4572000" y="4187086"/>
              <a:ext cx="0" cy="172819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 de flecha"/>
            <p:cNvCxnSpPr/>
            <p:nvPr/>
          </p:nvCxnSpPr>
          <p:spPr>
            <a:xfrm>
              <a:off x="1835696" y="5699502"/>
              <a:ext cx="547260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19 Triángulo isósceles"/>
            <p:cNvSpPr/>
            <p:nvPr/>
          </p:nvSpPr>
          <p:spPr>
            <a:xfrm>
              <a:off x="5148064" y="5051182"/>
              <a:ext cx="1152128" cy="648320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1" name="20 CuadroTexto"/>
            <p:cNvSpPr txBox="1"/>
            <p:nvPr/>
          </p:nvSpPr>
          <p:spPr>
            <a:xfrm>
              <a:off x="3156550" y="5723964"/>
              <a:ext cx="4333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dirty="0" smtClean="0"/>
                <a:t>-4</a:t>
              </a:r>
              <a:r>
                <a:rPr lang="el-GR" dirty="0" smtClean="0"/>
                <a:t>π</a:t>
              </a:r>
              <a:r>
                <a:rPr lang="es-AR" dirty="0" smtClean="0"/>
                <a:t>                                </a:t>
              </a:r>
              <a:r>
                <a:rPr lang="es-AR" dirty="0"/>
                <a:t>4</a:t>
              </a:r>
              <a:r>
                <a:rPr lang="el-GR" dirty="0" smtClean="0"/>
                <a:t>π</a:t>
              </a:r>
              <a:r>
                <a:rPr lang="es-AR" dirty="0" smtClean="0"/>
                <a:t>                     </a:t>
              </a:r>
              <a:r>
                <a:rPr lang="el-GR" dirty="0" smtClean="0"/>
                <a:t>ω</a:t>
              </a:r>
              <a:endParaRPr lang="es-AR" dirty="0"/>
            </a:p>
          </p:txBody>
        </p:sp>
        <p:sp>
          <p:nvSpPr>
            <p:cNvPr id="22" name="21 CuadroTexto"/>
            <p:cNvSpPr txBox="1"/>
            <p:nvPr/>
          </p:nvSpPr>
          <p:spPr>
            <a:xfrm>
              <a:off x="4613562" y="3827046"/>
              <a:ext cx="872355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dirty="0" smtClean="0"/>
                <a:t>X</a:t>
              </a:r>
              <a:r>
                <a:rPr lang="es-AR" baseline="-25000" dirty="0" smtClean="0"/>
                <a:t>1</a:t>
              </a:r>
              <a:r>
                <a:rPr lang="es-AR" dirty="0" smtClean="0"/>
                <a:t>(</a:t>
              </a:r>
              <a:r>
                <a:rPr lang="el-GR" dirty="0" smtClean="0">
                  <a:latin typeface="Cambria Math"/>
                  <a:ea typeface="Cambria Math"/>
                </a:rPr>
                <a:t>ω</a:t>
              </a:r>
              <a:r>
                <a:rPr lang="es-AR" dirty="0" smtClean="0"/>
                <a:t>)</a:t>
              </a:r>
            </a:p>
            <a:p>
              <a:endParaRPr lang="es-AR" dirty="0" smtClean="0"/>
            </a:p>
            <a:p>
              <a:endParaRPr lang="es-AR" dirty="0" smtClean="0"/>
            </a:p>
            <a:p>
              <a:endParaRPr lang="es-AR" dirty="0"/>
            </a:p>
            <a:p>
              <a:r>
                <a:rPr lang="es-AR" dirty="0" smtClean="0"/>
                <a:t>(1/2)</a:t>
              </a:r>
              <a:r>
                <a:rPr lang="es-AR" baseline="30000" dirty="0" smtClean="0"/>
                <a:t>1/2</a:t>
              </a:r>
              <a:endParaRPr lang="es-AR" baseline="30000" dirty="0"/>
            </a:p>
          </p:txBody>
        </p:sp>
        <p:sp>
          <p:nvSpPr>
            <p:cNvPr id="23" name="22 Triángulo isósceles"/>
            <p:cNvSpPr/>
            <p:nvPr/>
          </p:nvSpPr>
          <p:spPr>
            <a:xfrm>
              <a:off x="2852752" y="5060474"/>
              <a:ext cx="1152128" cy="648320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4" name="23 CuadroTexto"/>
          <p:cNvSpPr txBox="1"/>
          <p:nvPr/>
        </p:nvSpPr>
        <p:spPr>
          <a:xfrm>
            <a:off x="5508104" y="1609679"/>
            <a:ext cx="352839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Aplicando la identidad de Parseval y trabajando en el dominio de la frecuencia, deben demostrar que:</a:t>
            </a:r>
          </a:p>
          <a:p>
            <a:pPr marL="285750" indent="-285750">
              <a:buFont typeface="Arial" pitchFamily="34" charset="0"/>
              <a:buChar char="•"/>
            </a:pPr>
            <a:endParaRPr lang="es-AR" smtClean="0"/>
          </a:p>
          <a:p>
            <a:pPr marL="285750" indent="-285750">
              <a:buFont typeface="Arial" pitchFamily="34" charset="0"/>
              <a:buChar char="•"/>
            </a:pPr>
            <a:r>
              <a:rPr lang="es-AR" smtClean="0"/>
              <a:t>&lt; x</a:t>
            </a:r>
            <a:r>
              <a:rPr lang="es-AR" baseline="-25000" smtClean="0"/>
              <a:t>0</a:t>
            </a:r>
            <a:r>
              <a:rPr lang="es-AR" smtClean="0"/>
              <a:t>(</a:t>
            </a:r>
            <a:r>
              <a:rPr lang="es-AR" smtClean="0">
                <a:latin typeface="Cambria Math"/>
                <a:ea typeface="Cambria Math"/>
              </a:rPr>
              <a:t>t) , x</a:t>
            </a:r>
            <a:r>
              <a:rPr lang="es-AR" baseline="-25000" smtClean="0">
                <a:latin typeface="Cambria Math"/>
                <a:ea typeface="Cambria Math"/>
              </a:rPr>
              <a:t>1</a:t>
            </a:r>
            <a:r>
              <a:rPr lang="es-AR" smtClean="0">
                <a:latin typeface="Cambria Math"/>
                <a:ea typeface="Cambria Math"/>
              </a:rPr>
              <a:t>(t)&gt; = 0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AR" smtClean="0"/>
              <a:t>E</a:t>
            </a:r>
            <a:r>
              <a:rPr lang="es-AR" baseline="-25000" smtClean="0"/>
              <a:t>0</a:t>
            </a:r>
            <a:r>
              <a:rPr lang="es-AR" smtClean="0"/>
              <a:t> = &lt; x</a:t>
            </a:r>
            <a:r>
              <a:rPr lang="es-AR" baseline="-25000" smtClean="0"/>
              <a:t>0</a:t>
            </a:r>
            <a:r>
              <a:rPr lang="es-AR" smtClean="0"/>
              <a:t>(</a:t>
            </a:r>
            <a:r>
              <a:rPr lang="es-AR" smtClean="0">
                <a:latin typeface="Cambria Math"/>
                <a:ea typeface="Cambria Math"/>
              </a:rPr>
              <a:t>t) </a:t>
            </a:r>
            <a:r>
              <a:rPr lang="es-AR">
                <a:latin typeface="Cambria Math"/>
                <a:ea typeface="Cambria Math"/>
              </a:rPr>
              <a:t>, </a:t>
            </a:r>
            <a:r>
              <a:rPr lang="es-AR" smtClean="0">
                <a:latin typeface="Cambria Math"/>
                <a:ea typeface="Cambria Math"/>
              </a:rPr>
              <a:t>x</a:t>
            </a:r>
            <a:r>
              <a:rPr lang="es-AR" baseline="-25000" smtClean="0">
                <a:latin typeface="Cambria Math"/>
                <a:ea typeface="Cambria Math"/>
              </a:rPr>
              <a:t>0</a:t>
            </a:r>
            <a:r>
              <a:rPr lang="es-AR" smtClean="0">
                <a:latin typeface="Cambria Math"/>
                <a:ea typeface="Cambria Math"/>
              </a:rPr>
              <a:t>(t)&gt; = 2/3</a:t>
            </a:r>
            <a:endParaRPr lang="es-AR" baseline="30000" smtClean="0">
              <a:latin typeface="Cambria Math"/>
              <a:ea typeface="Cambria Math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AR" smtClean="0"/>
              <a:t>E</a:t>
            </a:r>
            <a:r>
              <a:rPr lang="es-AR" baseline="-25000" smtClean="0"/>
              <a:t>1</a:t>
            </a:r>
            <a:r>
              <a:rPr lang="es-AR" smtClean="0"/>
              <a:t> = &lt; x</a:t>
            </a:r>
            <a:r>
              <a:rPr lang="es-AR" baseline="-25000"/>
              <a:t>1</a:t>
            </a:r>
            <a:r>
              <a:rPr lang="es-AR" smtClean="0"/>
              <a:t>(</a:t>
            </a:r>
            <a:r>
              <a:rPr lang="es-AR" smtClean="0">
                <a:latin typeface="Cambria Math"/>
                <a:ea typeface="Cambria Math"/>
              </a:rPr>
              <a:t>t) </a:t>
            </a:r>
            <a:r>
              <a:rPr lang="es-AR">
                <a:latin typeface="Cambria Math"/>
                <a:ea typeface="Cambria Math"/>
              </a:rPr>
              <a:t>, x</a:t>
            </a:r>
            <a:r>
              <a:rPr lang="es-AR" baseline="-25000">
                <a:latin typeface="Cambria Math"/>
                <a:ea typeface="Cambria Math"/>
              </a:rPr>
              <a:t>1</a:t>
            </a:r>
            <a:r>
              <a:rPr lang="es-AR">
                <a:latin typeface="Cambria Math"/>
                <a:ea typeface="Cambria Math"/>
              </a:rPr>
              <a:t>(t</a:t>
            </a:r>
            <a:r>
              <a:rPr lang="es-AR" smtClean="0">
                <a:latin typeface="Cambria Math"/>
                <a:ea typeface="Cambria Math"/>
              </a:rPr>
              <a:t>)&gt; = 2/3</a:t>
            </a:r>
            <a:endParaRPr lang="es-AR" baseline="30000">
              <a:latin typeface="Cambria Math"/>
              <a:ea typeface="Cambria Math"/>
            </a:endParaRPr>
          </a:p>
          <a:p>
            <a:endParaRPr lang="es-AR">
              <a:latin typeface="Cambria Math"/>
              <a:ea typeface="Cambria Math"/>
            </a:endParaRPr>
          </a:p>
          <a:p>
            <a:r>
              <a:rPr lang="es-AR" smtClean="0">
                <a:latin typeface="Cambria Math"/>
                <a:ea typeface="Cambria Math"/>
              </a:rPr>
              <a:t>Las señales son ortogonales, por lo que sólo resta normalizarlas para obtener la BON:</a:t>
            </a:r>
          </a:p>
          <a:p>
            <a:endParaRPr lang="es-AR">
              <a:latin typeface="Cambria Math"/>
              <a:ea typeface="Cambria Math"/>
            </a:endParaRPr>
          </a:p>
          <a:p>
            <a:r>
              <a:rPr lang="el-GR" smtClean="0">
                <a:latin typeface="Cambria Math"/>
                <a:ea typeface="Cambria Math"/>
              </a:rPr>
              <a:t>Φ</a:t>
            </a:r>
            <a:r>
              <a:rPr lang="es-AR" baseline="-25000">
                <a:latin typeface="Cambria Math"/>
                <a:ea typeface="Cambria Math"/>
              </a:rPr>
              <a:t>0</a:t>
            </a:r>
            <a:r>
              <a:rPr lang="es-AR" smtClean="0">
                <a:latin typeface="Cambria Math"/>
                <a:ea typeface="Cambria Math"/>
              </a:rPr>
              <a:t>(t) = x</a:t>
            </a:r>
            <a:r>
              <a:rPr lang="es-AR" baseline="-25000" smtClean="0">
                <a:latin typeface="Cambria Math"/>
                <a:ea typeface="Cambria Math"/>
              </a:rPr>
              <a:t>0</a:t>
            </a:r>
            <a:r>
              <a:rPr lang="es-AR" smtClean="0">
                <a:latin typeface="Cambria Math"/>
                <a:ea typeface="Cambria Math"/>
              </a:rPr>
              <a:t>(t) / </a:t>
            </a:r>
            <a:r>
              <a:rPr lang="es-AR">
                <a:latin typeface="Cambria Math"/>
                <a:ea typeface="Cambria Math"/>
              </a:rPr>
              <a:t>(</a:t>
            </a:r>
            <a:r>
              <a:rPr lang="es-AR" smtClean="0">
                <a:latin typeface="Cambria Math"/>
                <a:ea typeface="Cambria Math"/>
              </a:rPr>
              <a:t>2/3)</a:t>
            </a:r>
            <a:r>
              <a:rPr lang="es-AR" baseline="30000" smtClean="0">
                <a:latin typeface="Cambria Math"/>
                <a:ea typeface="Cambria Math"/>
              </a:rPr>
              <a:t>1/2</a:t>
            </a:r>
          </a:p>
          <a:p>
            <a:r>
              <a:rPr lang="el-GR" smtClean="0">
                <a:latin typeface="Cambria Math"/>
                <a:ea typeface="Cambria Math"/>
              </a:rPr>
              <a:t>Φ</a:t>
            </a:r>
            <a:r>
              <a:rPr lang="es-AR" baseline="-25000">
                <a:latin typeface="Cambria Math"/>
                <a:ea typeface="Cambria Math"/>
              </a:rPr>
              <a:t>1</a:t>
            </a:r>
            <a:r>
              <a:rPr lang="es-AR" smtClean="0">
                <a:latin typeface="Cambria Math"/>
                <a:ea typeface="Cambria Math"/>
              </a:rPr>
              <a:t>(t</a:t>
            </a:r>
            <a:r>
              <a:rPr lang="es-AR">
                <a:latin typeface="Cambria Math"/>
                <a:ea typeface="Cambria Math"/>
              </a:rPr>
              <a:t>) = x</a:t>
            </a:r>
            <a:r>
              <a:rPr lang="es-AR" baseline="-25000">
                <a:latin typeface="Cambria Math"/>
                <a:ea typeface="Cambria Math"/>
              </a:rPr>
              <a:t>1</a:t>
            </a:r>
            <a:r>
              <a:rPr lang="es-AR">
                <a:latin typeface="Cambria Math"/>
                <a:ea typeface="Cambria Math"/>
              </a:rPr>
              <a:t>(t</a:t>
            </a:r>
            <a:r>
              <a:rPr lang="es-AR" smtClean="0">
                <a:latin typeface="Cambria Math"/>
                <a:ea typeface="Cambria Math"/>
              </a:rPr>
              <a:t>) / </a:t>
            </a:r>
            <a:r>
              <a:rPr lang="es-AR">
                <a:latin typeface="Cambria Math"/>
                <a:ea typeface="Cambria Math"/>
              </a:rPr>
              <a:t>(2/3)</a:t>
            </a:r>
            <a:r>
              <a:rPr lang="es-AR" baseline="30000">
                <a:latin typeface="Cambria Math"/>
                <a:ea typeface="Cambria Math"/>
              </a:rPr>
              <a:t>1/2</a:t>
            </a:r>
          </a:p>
          <a:p>
            <a:endParaRPr lang="es-AR">
              <a:latin typeface="Cambria Math"/>
              <a:ea typeface="Cambria Math"/>
            </a:endParaRPr>
          </a:p>
          <a:p>
            <a:pPr marL="285750" indent="-285750">
              <a:buFont typeface="Arial" pitchFamily="34" charset="0"/>
              <a:buChar char="•"/>
            </a:pPr>
            <a:endParaRPr lang="es-AR" baseline="30000">
              <a:latin typeface="Cambria Math"/>
              <a:ea typeface="Cambria Math"/>
            </a:endParaRPr>
          </a:p>
          <a:p>
            <a:pPr marL="285750" indent="-285750">
              <a:buFont typeface="Arial" pitchFamily="34" charset="0"/>
              <a:buChar char="•"/>
            </a:pPr>
            <a:endParaRPr lang="es-AR" baseline="30000" dirty="0" smtClean="0"/>
          </a:p>
        </p:txBody>
      </p:sp>
    </p:spTree>
    <p:extLst>
      <p:ext uri="{BB962C8B-B14F-4D97-AF65-F5344CB8AC3E}">
        <p14:creationId xmlns:p14="http://schemas.microsoft.com/office/powerpoint/2010/main" val="308557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14 – Teorema de </a:t>
            </a:r>
            <a:r>
              <a:rPr lang="es-AR" dirty="0" err="1" smtClean="0"/>
              <a:t>Parseval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20</a:t>
            </a:fld>
            <a:endParaRPr lang="es-E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81" t="38578" r="51532" b="26518"/>
          <a:stretch/>
        </p:blipFill>
        <p:spPr bwMode="auto">
          <a:xfrm>
            <a:off x="3131840" y="1307734"/>
            <a:ext cx="2548483" cy="255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23 CuadroTexto"/>
          <p:cNvSpPr txBox="1"/>
          <p:nvPr/>
        </p:nvSpPr>
        <p:spPr>
          <a:xfrm>
            <a:off x="309755" y="3225750"/>
            <a:ext cx="2808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mtClean="0"/>
              <a:t>Se trata de una modulación ortogonal, con d = (2.ε)</a:t>
            </a:r>
            <a:r>
              <a:rPr lang="es-AR" baseline="30000" smtClean="0"/>
              <a:t>1/2</a:t>
            </a:r>
            <a:r>
              <a:rPr lang="es-AR"/>
              <a:t> = </a:t>
            </a:r>
            <a:r>
              <a:rPr lang="es-AR" smtClean="0"/>
              <a:t>(4/3)</a:t>
            </a:r>
            <a:r>
              <a:rPr lang="es-AR" baseline="30000" smtClean="0"/>
              <a:t>1/2 </a:t>
            </a:r>
            <a:endParaRPr lang="es-AR" baseline="30000" dirty="0" smtClean="0"/>
          </a:p>
        </p:txBody>
      </p:sp>
      <p:sp>
        <p:nvSpPr>
          <p:cNvPr id="25" name="24 CuadroTexto"/>
          <p:cNvSpPr txBox="1"/>
          <p:nvPr/>
        </p:nvSpPr>
        <p:spPr>
          <a:xfrm>
            <a:off x="481192" y="5589240"/>
            <a:ext cx="8158277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smtClean="0"/>
              <a:t>Obsérvese la diferencia con una modulación binaria antipodal como la del ejercicio 1, en la que d </a:t>
            </a:r>
            <a:r>
              <a:rPr lang="es-AR"/>
              <a:t>= </a:t>
            </a:r>
            <a:r>
              <a:rPr lang="es-AR" smtClean="0"/>
              <a:t>2.(ε)</a:t>
            </a:r>
            <a:r>
              <a:rPr lang="es-AR" baseline="30000" smtClean="0"/>
              <a:t>1/2</a:t>
            </a:r>
            <a:endParaRPr lang="es-AR" baseline="30000" dirty="0" smtClean="0"/>
          </a:p>
        </p:txBody>
      </p:sp>
      <p:sp>
        <p:nvSpPr>
          <p:cNvPr id="26" name="25 Abrir llave"/>
          <p:cNvSpPr/>
          <p:nvPr/>
        </p:nvSpPr>
        <p:spPr>
          <a:xfrm rot="8134904">
            <a:off x="4616879" y="1387727"/>
            <a:ext cx="432048" cy="185943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26 CuadroTexto"/>
          <p:cNvSpPr txBox="1"/>
          <p:nvPr/>
        </p:nvSpPr>
        <p:spPr>
          <a:xfrm>
            <a:off x="4960243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d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34204" y="4767534"/>
            <a:ext cx="76755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/>
              <a:t>P</a:t>
            </a:r>
            <a:r>
              <a:rPr lang="es-AR" baseline="-25000"/>
              <a:t>e</a:t>
            </a:r>
            <a:r>
              <a:rPr lang="es-AR"/>
              <a:t> = </a:t>
            </a:r>
            <a:r>
              <a:rPr lang="es-AR">
                <a:solidFill>
                  <a:srgbClr val="0070C0"/>
                </a:solidFill>
              </a:rPr>
              <a:t>p(s</a:t>
            </a:r>
            <a:r>
              <a:rPr lang="es-AR" baseline="-25000">
                <a:solidFill>
                  <a:srgbClr val="0070C0"/>
                </a:solidFill>
              </a:rPr>
              <a:t>0</a:t>
            </a:r>
            <a:r>
              <a:rPr lang="es-AR">
                <a:solidFill>
                  <a:srgbClr val="0070C0"/>
                </a:solidFill>
              </a:rPr>
              <a:t>/s</a:t>
            </a:r>
            <a:r>
              <a:rPr lang="es-AR" baseline="-25000">
                <a:solidFill>
                  <a:srgbClr val="0070C0"/>
                </a:solidFill>
              </a:rPr>
              <a:t>1</a:t>
            </a:r>
            <a:r>
              <a:rPr lang="es-AR">
                <a:solidFill>
                  <a:srgbClr val="0070C0"/>
                </a:solidFill>
              </a:rPr>
              <a:t>)</a:t>
            </a:r>
            <a:r>
              <a:rPr lang="es-AR"/>
              <a:t>.p(s</a:t>
            </a:r>
            <a:r>
              <a:rPr lang="es-AR" baseline="-25000"/>
              <a:t>1</a:t>
            </a:r>
            <a:r>
              <a:rPr lang="es-AR"/>
              <a:t>) + </a:t>
            </a:r>
            <a:r>
              <a:rPr lang="es-AR">
                <a:solidFill>
                  <a:srgbClr val="00B050"/>
                </a:solidFill>
              </a:rPr>
              <a:t>p(s</a:t>
            </a:r>
            <a:r>
              <a:rPr lang="es-AR" baseline="-25000">
                <a:solidFill>
                  <a:srgbClr val="00B050"/>
                </a:solidFill>
              </a:rPr>
              <a:t>1</a:t>
            </a:r>
            <a:r>
              <a:rPr lang="es-AR">
                <a:solidFill>
                  <a:srgbClr val="00B050"/>
                </a:solidFill>
              </a:rPr>
              <a:t>/s</a:t>
            </a:r>
            <a:r>
              <a:rPr lang="es-AR" baseline="-25000">
                <a:solidFill>
                  <a:srgbClr val="00B050"/>
                </a:solidFill>
              </a:rPr>
              <a:t>0</a:t>
            </a:r>
            <a:r>
              <a:rPr lang="es-AR">
                <a:solidFill>
                  <a:srgbClr val="00B050"/>
                </a:solidFill>
              </a:rPr>
              <a:t>)</a:t>
            </a:r>
            <a:r>
              <a:rPr lang="es-AR"/>
              <a:t>.p(s</a:t>
            </a:r>
            <a:r>
              <a:rPr lang="es-AR" baseline="-25000"/>
              <a:t>0</a:t>
            </a:r>
            <a:r>
              <a:rPr lang="es-AR"/>
              <a:t>) = 0,5.Q(d/2</a:t>
            </a:r>
            <a:r>
              <a:rPr lang="el-GR">
                <a:latin typeface="Cambria Math"/>
                <a:ea typeface="Cambria Math"/>
              </a:rPr>
              <a:t>σ</a:t>
            </a:r>
            <a:r>
              <a:rPr lang="es-AR"/>
              <a:t> ) + 0,5.Q(d/2</a:t>
            </a:r>
            <a:r>
              <a:rPr lang="el-GR">
                <a:latin typeface="Cambria Math"/>
                <a:ea typeface="Cambria Math"/>
              </a:rPr>
              <a:t>σ</a:t>
            </a:r>
            <a:r>
              <a:rPr lang="es-AR"/>
              <a:t> ) =…</a:t>
            </a:r>
            <a:endParaRPr lang="es-AR" dirty="0"/>
          </a:p>
        </p:txBody>
      </p:sp>
      <p:cxnSp>
        <p:nvCxnSpPr>
          <p:cNvPr id="16" name="15 Conector angular"/>
          <p:cNvCxnSpPr>
            <a:stCxn id="24" idx="2"/>
            <a:endCxn id="8" idx="3"/>
          </p:cNvCxnSpPr>
          <p:nvPr/>
        </p:nvCxnSpPr>
        <p:spPr>
          <a:xfrm rot="16200000" flipH="1">
            <a:off x="4660293" y="1202698"/>
            <a:ext cx="803120" cy="6695883"/>
          </a:xfrm>
          <a:prstGeom prst="bentConnector4">
            <a:avLst>
              <a:gd name="adj1" fmla="val 38503"/>
              <a:gd name="adj2" fmla="val 10341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89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Cotas de probabilidad de error 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21</a:t>
            </a:fld>
            <a:endParaRPr lang="es-ES"/>
          </a:p>
        </p:txBody>
      </p:sp>
      <p:pic>
        <p:nvPicPr>
          <p:cNvPr id="1026" name="Picture 2" descr="Modulación de amplitud en cuadratura - Wikiwa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84784"/>
            <a:ext cx="381000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8 Conector recto"/>
          <p:cNvCxnSpPr/>
          <p:nvPr/>
        </p:nvCxnSpPr>
        <p:spPr>
          <a:xfrm>
            <a:off x="2915816" y="1628800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1979712" y="1628800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1115616" y="1628800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rot="16200000">
            <a:off x="2045271" y="699146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rot="16200000">
            <a:off x="2045271" y="1617833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rot="16200000">
            <a:off x="2058169" y="2602417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CuadroTexto"/>
          <p:cNvSpPr txBox="1"/>
          <p:nvPr/>
        </p:nvSpPr>
        <p:spPr>
          <a:xfrm>
            <a:off x="4067944" y="1916832"/>
            <a:ext cx="5153975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u="sng" dirty="0" smtClean="0"/>
              <a:t>Cálculo exacto de Pe</a:t>
            </a:r>
          </a:p>
          <a:p>
            <a:endParaRPr lang="es-AR" dirty="0"/>
          </a:p>
          <a:p>
            <a:r>
              <a:rPr lang="es-AR" dirty="0" smtClean="0"/>
              <a:t>Pe = 1 – Pc</a:t>
            </a:r>
          </a:p>
          <a:p>
            <a:endParaRPr lang="es-AR" dirty="0"/>
          </a:p>
          <a:p>
            <a:r>
              <a:rPr lang="es-AR" dirty="0" smtClean="0"/>
              <a:t>Pc</a:t>
            </a:r>
            <a:r>
              <a:rPr lang="es-AR" baseline="-25000" dirty="0" smtClean="0"/>
              <a:t>0000</a:t>
            </a:r>
            <a:r>
              <a:rPr lang="es-AR" dirty="0" smtClean="0"/>
              <a:t> = </a:t>
            </a:r>
            <a:r>
              <a:rPr lang="es-AR" dirty="0" smtClean="0">
                <a:solidFill>
                  <a:srgbClr val="FF0000"/>
                </a:solidFill>
              </a:rPr>
              <a:t>[1-Q( )]</a:t>
            </a:r>
            <a:r>
              <a:rPr lang="es-AR" dirty="0" smtClean="0"/>
              <a:t>.</a:t>
            </a:r>
            <a:r>
              <a:rPr lang="es-AR" dirty="0" smtClean="0">
                <a:solidFill>
                  <a:srgbClr val="00B050"/>
                </a:solidFill>
              </a:rPr>
              <a:t>[1-Q( )]</a:t>
            </a:r>
            <a:r>
              <a:rPr lang="es-AR" dirty="0" smtClean="0"/>
              <a:t>	Q( ) = Q(d/2</a:t>
            </a:r>
            <a:r>
              <a:rPr lang="el-GR" dirty="0" smtClean="0">
                <a:latin typeface="Cambria Math"/>
                <a:ea typeface="Cambria Math"/>
              </a:rPr>
              <a:t>σ</a:t>
            </a:r>
            <a:r>
              <a:rPr lang="es-AR" dirty="0" smtClean="0">
                <a:latin typeface="Cambria Math"/>
                <a:ea typeface="Cambria Math"/>
              </a:rPr>
              <a:t>)</a:t>
            </a:r>
            <a:endParaRPr lang="es-AR" dirty="0" smtClean="0"/>
          </a:p>
          <a:p>
            <a:endParaRPr lang="es-AR" dirty="0"/>
          </a:p>
          <a:p>
            <a:r>
              <a:rPr lang="es-AR" dirty="0" smtClean="0"/>
              <a:t>Pc</a:t>
            </a:r>
            <a:r>
              <a:rPr lang="es-AR" baseline="-25000" dirty="0" smtClean="0"/>
              <a:t>0100</a:t>
            </a:r>
            <a:r>
              <a:rPr lang="es-AR" dirty="0" smtClean="0"/>
              <a:t> = </a:t>
            </a:r>
            <a:r>
              <a:rPr lang="es-AR" dirty="0" smtClean="0">
                <a:solidFill>
                  <a:srgbClr val="FF0000"/>
                </a:solidFill>
              </a:rPr>
              <a:t>[1-2.Q( )]</a:t>
            </a:r>
            <a:r>
              <a:rPr lang="es-AR" dirty="0" smtClean="0"/>
              <a:t>.</a:t>
            </a:r>
            <a:r>
              <a:rPr lang="es-AR" dirty="0" smtClean="0">
                <a:solidFill>
                  <a:srgbClr val="00B050"/>
                </a:solidFill>
              </a:rPr>
              <a:t>[1-Q( )]</a:t>
            </a:r>
          </a:p>
          <a:p>
            <a:endParaRPr lang="es-AR" dirty="0"/>
          </a:p>
          <a:p>
            <a:r>
              <a:rPr lang="es-AR" dirty="0" smtClean="0"/>
              <a:t>Pc</a:t>
            </a:r>
            <a:r>
              <a:rPr lang="es-AR" baseline="-25000" dirty="0" smtClean="0"/>
              <a:t>0101</a:t>
            </a:r>
            <a:r>
              <a:rPr lang="es-AR" dirty="0" smtClean="0"/>
              <a:t> = </a:t>
            </a:r>
            <a:r>
              <a:rPr lang="es-AR" dirty="0" smtClean="0">
                <a:solidFill>
                  <a:srgbClr val="FF0000"/>
                </a:solidFill>
              </a:rPr>
              <a:t>[1-2.Q( )]</a:t>
            </a:r>
            <a:r>
              <a:rPr lang="es-AR" dirty="0" smtClean="0"/>
              <a:t>.</a:t>
            </a:r>
            <a:r>
              <a:rPr lang="es-AR" dirty="0" smtClean="0">
                <a:solidFill>
                  <a:srgbClr val="00B050"/>
                </a:solidFill>
              </a:rPr>
              <a:t>[1-2.Q( )]</a:t>
            </a:r>
          </a:p>
          <a:p>
            <a:endParaRPr lang="es-AR" dirty="0"/>
          </a:p>
          <a:p>
            <a:r>
              <a:rPr lang="es-AR" dirty="0" smtClean="0"/>
              <a:t>Pc = 1/16.(Pc</a:t>
            </a:r>
            <a:r>
              <a:rPr lang="es-AR" baseline="-25000" dirty="0" smtClean="0"/>
              <a:t>0000</a:t>
            </a:r>
            <a:r>
              <a:rPr lang="es-AR" dirty="0" smtClean="0"/>
              <a:t> + Pc</a:t>
            </a:r>
            <a:r>
              <a:rPr lang="es-AR" baseline="-25000" dirty="0" smtClean="0"/>
              <a:t>0100</a:t>
            </a:r>
            <a:r>
              <a:rPr lang="es-AR" dirty="0" smtClean="0"/>
              <a:t> + …. </a:t>
            </a:r>
            <a:r>
              <a:rPr lang="es-AR" smtClean="0"/>
              <a:t>P</a:t>
            </a:r>
            <a:r>
              <a:rPr lang="es-AR"/>
              <a:t>c</a:t>
            </a:r>
            <a:r>
              <a:rPr lang="es-AR" baseline="-25000"/>
              <a:t>1010</a:t>
            </a:r>
            <a:r>
              <a:rPr lang="es-AR" smtClean="0"/>
              <a:t>) ≈ 1-3.Q( )</a:t>
            </a:r>
          </a:p>
          <a:p>
            <a:endParaRPr lang="es-AR"/>
          </a:p>
          <a:p>
            <a:r>
              <a:rPr lang="es-AR" smtClean="0"/>
              <a:t>Pe = 1 – [1-3.Q(  ) ] = 3.Q(  )</a:t>
            </a:r>
          </a:p>
          <a:p>
            <a:endParaRPr lang="es-AR" baseline="-25000"/>
          </a:p>
          <a:p>
            <a:r>
              <a:rPr lang="es-AR" baseline="-25000"/>
              <a:t> </a:t>
            </a:r>
            <a:endParaRPr lang="es-AR" baseline="-25000" dirty="0"/>
          </a:p>
        </p:txBody>
      </p:sp>
      <p:sp>
        <p:nvSpPr>
          <p:cNvPr id="18" name="17 Forma libre"/>
          <p:cNvSpPr/>
          <p:nvPr/>
        </p:nvSpPr>
        <p:spPr>
          <a:xfrm>
            <a:off x="214644" y="1556792"/>
            <a:ext cx="900972" cy="312228"/>
          </a:xfrm>
          <a:custGeom>
            <a:avLst/>
            <a:gdLst>
              <a:gd name="connsiteX0" fmla="*/ 0 w 1514901"/>
              <a:gd name="connsiteY0" fmla="*/ 619297 h 624455"/>
              <a:gd name="connsiteX1" fmla="*/ 313898 w 1514901"/>
              <a:gd name="connsiteY1" fmla="*/ 592002 h 624455"/>
              <a:gd name="connsiteX2" fmla="*/ 518615 w 1514901"/>
              <a:gd name="connsiteY2" fmla="*/ 373637 h 624455"/>
              <a:gd name="connsiteX3" fmla="*/ 777922 w 1514901"/>
              <a:gd name="connsiteY3" fmla="*/ 5148 h 624455"/>
              <a:gd name="connsiteX4" fmla="*/ 982639 w 1514901"/>
              <a:gd name="connsiteY4" fmla="*/ 182569 h 624455"/>
              <a:gd name="connsiteX5" fmla="*/ 1187355 w 1514901"/>
              <a:gd name="connsiteY5" fmla="*/ 523763 h 624455"/>
              <a:gd name="connsiteX6" fmla="*/ 1514901 w 1514901"/>
              <a:gd name="connsiteY6" fmla="*/ 578354 h 62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4901" h="624455">
                <a:moveTo>
                  <a:pt x="0" y="619297"/>
                </a:moveTo>
                <a:cubicBezTo>
                  <a:pt x="113731" y="626121"/>
                  <a:pt x="227462" y="632945"/>
                  <a:pt x="313898" y="592002"/>
                </a:cubicBezTo>
                <a:cubicBezTo>
                  <a:pt x="400334" y="551059"/>
                  <a:pt x="441278" y="471446"/>
                  <a:pt x="518615" y="373637"/>
                </a:cubicBezTo>
                <a:cubicBezTo>
                  <a:pt x="595952" y="275828"/>
                  <a:pt x="700585" y="36993"/>
                  <a:pt x="777922" y="5148"/>
                </a:cubicBezTo>
                <a:cubicBezTo>
                  <a:pt x="855259" y="-26697"/>
                  <a:pt x="914400" y="96133"/>
                  <a:pt x="982639" y="182569"/>
                </a:cubicBezTo>
                <a:cubicBezTo>
                  <a:pt x="1050878" y="269005"/>
                  <a:pt x="1098645" y="457799"/>
                  <a:pt x="1187355" y="523763"/>
                </a:cubicBezTo>
                <a:cubicBezTo>
                  <a:pt x="1276065" y="589727"/>
                  <a:pt x="1426191" y="562432"/>
                  <a:pt x="1514901" y="578354"/>
                </a:cubicBezTo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Forma libre"/>
          <p:cNvSpPr/>
          <p:nvPr/>
        </p:nvSpPr>
        <p:spPr>
          <a:xfrm>
            <a:off x="1150748" y="1556792"/>
            <a:ext cx="900972" cy="312228"/>
          </a:xfrm>
          <a:custGeom>
            <a:avLst/>
            <a:gdLst>
              <a:gd name="connsiteX0" fmla="*/ 0 w 1514901"/>
              <a:gd name="connsiteY0" fmla="*/ 619297 h 624455"/>
              <a:gd name="connsiteX1" fmla="*/ 313898 w 1514901"/>
              <a:gd name="connsiteY1" fmla="*/ 592002 h 624455"/>
              <a:gd name="connsiteX2" fmla="*/ 518615 w 1514901"/>
              <a:gd name="connsiteY2" fmla="*/ 373637 h 624455"/>
              <a:gd name="connsiteX3" fmla="*/ 777922 w 1514901"/>
              <a:gd name="connsiteY3" fmla="*/ 5148 h 624455"/>
              <a:gd name="connsiteX4" fmla="*/ 982639 w 1514901"/>
              <a:gd name="connsiteY4" fmla="*/ 182569 h 624455"/>
              <a:gd name="connsiteX5" fmla="*/ 1187355 w 1514901"/>
              <a:gd name="connsiteY5" fmla="*/ 523763 h 624455"/>
              <a:gd name="connsiteX6" fmla="*/ 1514901 w 1514901"/>
              <a:gd name="connsiteY6" fmla="*/ 578354 h 62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4901" h="624455">
                <a:moveTo>
                  <a:pt x="0" y="619297"/>
                </a:moveTo>
                <a:cubicBezTo>
                  <a:pt x="113731" y="626121"/>
                  <a:pt x="227462" y="632945"/>
                  <a:pt x="313898" y="592002"/>
                </a:cubicBezTo>
                <a:cubicBezTo>
                  <a:pt x="400334" y="551059"/>
                  <a:pt x="441278" y="471446"/>
                  <a:pt x="518615" y="373637"/>
                </a:cubicBezTo>
                <a:cubicBezTo>
                  <a:pt x="595952" y="275828"/>
                  <a:pt x="700585" y="36993"/>
                  <a:pt x="777922" y="5148"/>
                </a:cubicBezTo>
                <a:cubicBezTo>
                  <a:pt x="855259" y="-26697"/>
                  <a:pt x="914400" y="96133"/>
                  <a:pt x="982639" y="182569"/>
                </a:cubicBezTo>
                <a:cubicBezTo>
                  <a:pt x="1050878" y="269005"/>
                  <a:pt x="1098645" y="457799"/>
                  <a:pt x="1187355" y="523763"/>
                </a:cubicBezTo>
                <a:cubicBezTo>
                  <a:pt x="1276065" y="589727"/>
                  <a:pt x="1426191" y="562432"/>
                  <a:pt x="1514901" y="578354"/>
                </a:cubicBezTo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Forma libre"/>
          <p:cNvSpPr/>
          <p:nvPr/>
        </p:nvSpPr>
        <p:spPr>
          <a:xfrm>
            <a:off x="1115616" y="2420888"/>
            <a:ext cx="900972" cy="312228"/>
          </a:xfrm>
          <a:custGeom>
            <a:avLst/>
            <a:gdLst>
              <a:gd name="connsiteX0" fmla="*/ 0 w 1514901"/>
              <a:gd name="connsiteY0" fmla="*/ 619297 h 624455"/>
              <a:gd name="connsiteX1" fmla="*/ 313898 w 1514901"/>
              <a:gd name="connsiteY1" fmla="*/ 592002 h 624455"/>
              <a:gd name="connsiteX2" fmla="*/ 518615 w 1514901"/>
              <a:gd name="connsiteY2" fmla="*/ 373637 h 624455"/>
              <a:gd name="connsiteX3" fmla="*/ 777922 w 1514901"/>
              <a:gd name="connsiteY3" fmla="*/ 5148 h 624455"/>
              <a:gd name="connsiteX4" fmla="*/ 982639 w 1514901"/>
              <a:gd name="connsiteY4" fmla="*/ 182569 h 624455"/>
              <a:gd name="connsiteX5" fmla="*/ 1187355 w 1514901"/>
              <a:gd name="connsiteY5" fmla="*/ 523763 h 624455"/>
              <a:gd name="connsiteX6" fmla="*/ 1514901 w 1514901"/>
              <a:gd name="connsiteY6" fmla="*/ 578354 h 62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4901" h="624455">
                <a:moveTo>
                  <a:pt x="0" y="619297"/>
                </a:moveTo>
                <a:cubicBezTo>
                  <a:pt x="113731" y="626121"/>
                  <a:pt x="227462" y="632945"/>
                  <a:pt x="313898" y="592002"/>
                </a:cubicBezTo>
                <a:cubicBezTo>
                  <a:pt x="400334" y="551059"/>
                  <a:pt x="441278" y="471446"/>
                  <a:pt x="518615" y="373637"/>
                </a:cubicBezTo>
                <a:cubicBezTo>
                  <a:pt x="595952" y="275828"/>
                  <a:pt x="700585" y="36993"/>
                  <a:pt x="777922" y="5148"/>
                </a:cubicBezTo>
                <a:cubicBezTo>
                  <a:pt x="855259" y="-26697"/>
                  <a:pt x="914400" y="96133"/>
                  <a:pt x="982639" y="182569"/>
                </a:cubicBezTo>
                <a:cubicBezTo>
                  <a:pt x="1050878" y="269005"/>
                  <a:pt x="1098645" y="457799"/>
                  <a:pt x="1187355" y="523763"/>
                </a:cubicBezTo>
                <a:cubicBezTo>
                  <a:pt x="1276065" y="589727"/>
                  <a:pt x="1426191" y="562432"/>
                  <a:pt x="1514901" y="578354"/>
                </a:cubicBezTo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Forma libre"/>
          <p:cNvSpPr/>
          <p:nvPr/>
        </p:nvSpPr>
        <p:spPr>
          <a:xfrm rot="16200000">
            <a:off x="509016" y="1709192"/>
            <a:ext cx="900972" cy="312228"/>
          </a:xfrm>
          <a:custGeom>
            <a:avLst/>
            <a:gdLst>
              <a:gd name="connsiteX0" fmla="*/ 0 w 1514901"/>
              <a:gd name="connsiteY0" fmla="*/ 619297 h 624455"/>
              <a:gd name="connsiteX1" fmla="*/ 313898 w 1514901"/>
              <a:gd name="connsiteY1" fmla="*/ 592002 h 624455"/>
              <a:gd name="connsiteX2" fmla="*/ 518615 w 1514901"/>
              <a:gd name="connsiteY2" fmla="*/ 373637 h 624455"/>
              <a:gd name="connsiteX3" fmla="*/ 777922 w 1514901"/>
              <a:gd name="connsiteY3" fmla="*/ 5148 h 624455"/>
              <a:gd name="connsiteX4" fmla="*/ 982639 w 1514901"/>
              <a:gd name="connsiteY4" fmla="*/ 182569 h 624455"/>
              <a:gd name="connsiteX5" fmla="*/ 1187355 w 1514901"/>
              <a:gd name="connsiteY5" fmla="*/ 523763 h 624455"/>
              <a:gd name="connsiteX6" fmla="*/ 1514901 w 1514901"/>
              <a:gd name="connsiteY6" fmla="*/ 578354 h 62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4901" h="624455">
                <a:moveTo>
                  <a:pt x="0" y="619297"/>
                </a:moveTo>
                <a:cubicBezTo>
                  <a:pt x="113731" y="626121"/>
                  <a:pt x="227462" y="632945"/>
                  <a:pt x="313898" y="592002"/>
                </a:cubicBezTo>
                <a:cubicBezTo>
                  <a:pt x="400334" y="551059"/>
                  <a:pt x="441278" y="471446"/>
                  <a:pt x="518615" y="373637"/>
                </a:cubicBezTo>
                <a:cubicBezTo>
                  <a:pt x="595952" y="275828"/>
                  <a:pt x="700585" y="36993"/>
                  <a:pt x="777922" y="5148"/>
                </a:cubicBezTo>
                <a:cubicBezTo>
                  <a:pt x="855259" y="-26697"/>
                  <a:pt x="914400" y="96133"/>
                  <a:pt x="982639" y="182569"/>
                </a:cubicBezTo>
                <a:cubicBezTo>
                  <a:pt x="1050878" y="269005"/>
                  <a:pt x="1098645" y="457799"/>
                  <a:pt x="1187355" y="523763"/>
                </a:cubicBezTo>
                <a:cubicBezTo>
                  <a:pt x="1276065" y="589727"/>
                  <a:pt x="1426191" y="562432"/>
                  <a:pt x="1514901" y="578354"/>
                </a:cubicBezTo>
              </a:path>
            </a:pathLst>
          </a:custGeom>
          <a:solidFill>
            <a:srgbClr val="00B05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Forma libre"/>
          <p:cNvSpPr/>
          <p:nvPr/>
        </p:nvSpPr>
        <p:spPr>
          <a:xfrm rot="16200000">
            <a:off x="1335936" y="1707148"/>
            <a:ext cx="900972" cy="312228"/>
          </a:xfrm>
          <a:custGeom>
            <a:avLst/>
            <a:gdLst>
              <a:gd name="connsiteX0" fmla="*/ 0 w 1514901"/>
              <a:gd name="connsiteY0" fmla="*/ 619297 h 624455"/>
              <a:gd name="connsiteX1" fmla="*/ 313898 w 1514901"/>
              <a:gd name="connsiteY1" fmla="*/ 592002 h 624455"/>
              <a:gd name="connsiteX2" fmla="*/ 518615 w 1514901"/>
              <a:gd name="connsiteY2" fmla="*/ 373637 h 624455"/>
              <a:gd name="connsiteX3" fmla="*/ 777922 w 1514901"/>
              <a:gd name="connsiteY3" fmla="*/ 5148 h 624455"/>
              <a:gd name="connsiteX4" fmla="*/ 982639 w 1514901"/>
              <a:gd name="connsiteY4" fmla="*/ 182569 h 624455"/>
              <a:gd name="connsiteX5" fmla="*/ 1187355 w 1514901"/>
              <a:gd name="connsiteY5" fmla="*/ 523763 h 624455"/>
              <a:gd name="connsiteX6" fmla="*/ 1514901 w 1514901"/>
              <a:gd name="connsiteY6" fmla="*/ 578354 h 62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4901" h="624455">
                <a:moveTo>
                  <a:pt x="0" y="619297"/>
                </a:moveTo>
                <a:cubicBezTo>
                  <a:pt x="113731" y="626121"/>
                  <a:pt x="227462" y="632945"/>
                  <a:pt x="313898" y="592002"/>
                </a:cubicBezTo>
                <a:cubicBezTo>
                  <a:pt x="400334" y="551059"/>
                  <a:pt x="441278" y="471446"/>
                  <a:pt x="518615" y="373637"/>
                </a:cubicBezTo>
                <a:cubicBezTo>
                  <a:pt x="595952" y="275828"/>
                  <a:pt x="700585" y="36993"/>
                  <a:pt x="777922" y="5148"/>
                </a:cubicBezTo>
                <a:cubicBezTo>
                  <a:pt x="855259" y="-26697"/>
                  <a:pt x="914400" y="96133"/>
                  <a:pt x="982639" y="182569"/>
                </a:cubicBezTo>
                <a:cubicBezTo>
                  <a:pt x="1050878" y="269005"/>
                  <a:pt x="1098645" y="457799"/>
                  <a:pt x="1187355" y="523763"/>
                </a:cubicBezTo>
                <a:cubicBezTo>
                  <a:pt x="1276065" y="589727"/>
                  <a:pt x="1426191" y="562432"/>
                  <a:pt x="1514901" y="578354"/>
                </a:cubicBezTo>
              </a:path>
            </a:pathLst>
          </a:custGeom>
          <a:solidFill>
            <a:srgbClr val="00B05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Forma libre"/>
          <p:cNvSpPr/>
          <p:nvPr/>
        </p:nvSpPr>
        <p:spPr>
          <a:xfrm rot="16200000">
            <a:off x="1332168" y="2602309"/>
            <a:ext cx="900972" cy="312228"/>
          </a:xfrm>
          <a:custGeom>
            <a:avLst/>
            <a:gdLst>
              <a:gd name="connsiteX0" fmla="*/ 0 w 1514901"/>
              <a:gd name="connsiteY0" fmla="*/ 619297 h 624455"/>
              <a:gd name="connsiteX1" fmla="*/ 313898 w 1514901"/>
              <a:gd name="connsiteY1" fmla="*/ 592002 h 624455"/>
              <a:gd name="connsiteX2" fmla="*/ 518615 w 1514901"/>
              <a:gd name="connsiteY2" fmla="*/ 373637 h 624455"/>
              <a:gd name="connsiteX3" fmla="*/ 777922 w 1514901"/>
              <a:gd name="connsiteY3" fmla="*/ 5148 h 624455"/>
              <a:gd name="connsiteX4" fmla="*/ 982639 w 1514901"/>
              <a:gd name="connsiteY4" fmla="*/ 182569 h 624455"/>
              <a:gd name="connsiteX5" fmla="*/ 1187355 w 1514901"/>
              <a:gd name="connsiteY5" fmla="*/ 523763 h 624455"/>
              <a:gd name="connsiteX6" fmla="*/ 1514901 w 1514901"/>
              <a:gd name="connsiteY6" fmla="*/ 578354 h 62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4901" h="624455">
                <a:moveTo>
                  <a:pt x="0" y="619297"/>
                </a:moveTo>
                <a:cubicBezTo>
                  <a:pt x="113731" y="626121"/>
                  <a:pt x="227462" y="632945"/>
                  <a:pt x="313898" y="592002"/>
                </a:cubicBezTo>
                <a:cubicBezTo>
                  <a:pt x="400334" y="551059"/>
                  <a:pt x="441278" y="471446"/>
                  <a:pt x="518615" y="373637"/>
                </a:cubicBezTo>
                <a:cubicBezTo>
                  <a:pt x="595952" y="275828"/>
                  <a:pt x="700585" y="36993"/>
                  <a:pt x="777922" y="5148"/>
                </a:cubicBezTo>
                <a:cubicBezTo>
                  <a:pt x="855259" y="-26697"/>
                  <a:pt x="914400" y="96133"/>
                  <a:pt x="982639" y="182569"/>
                </a:cubicBezTo>
                <a:cubicBezTo>
                  <a:pt x="1050878" y="269005"/>
                  <a:pt x="1098645" y="457799"/>
                  <a:pt x="1187355" y="523763"/>
                </a:cubicBezTo>
                <a:cubicBezTo>
                  <a:pt x="1276065" y="589727"/>
                  <a:pt x="1426191" y="562432"/>
                  <a:pt x="1514901" y="578354"/>
                </a:cubicBezTo>
              </a:path>
            </a:pathLst>
          </a:custGeom>
          <a:solidFill>
            <a:srgbClr val="00B05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2558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Cotas de probabilidad de error 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22</a:t>
            </a:fld>
            <a:endParaRPr lang="es-ES"/>
          </a:p>
        </p:txBody>
      </p:sp>
      <p:grpSp>
        <p:nvGrpSpPr>
          <p:cNvPr id="8" name="7 Grupo"/>
          <p:cNvGrpSpPr/>
          <p:nvPr/>
        </p:nvGrpSpPr>
        <p:grpSpPr>
          <a:xfrm>
            <a:off x="323528" y="1640393"/>
            <a:ext cx="4104456" cy="3885776"/>
            <a:chOff x="2699792" y="1640393"/>
            <a:chExt cx="4104456" cy="3885776"/>
          </a:xfrm>
        </p:grpSpPr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014" t="22388" r="48393" b="34515"/>
            <a:stretch/>
          </p:blipFill>
          <p:spPr bwMode="auto">
            <a:xfrm>
              <a:off x="2699792" y="1640393"/>
              <a:ext cx="4104456" cy="3885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6 CuadroTexto"/>
            <p:cNvSpPr txBox="1"/>
            <p:nvPr/>
          </p:nvSpPr>
          <p:spPr>
            <a:xfrm>
              <a:off x="5007816" y="4406048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mtClean="0"/>
                <a:t>Q(x</a:t>
              </a:r>
              <a:r>
                <a:rPr lang="es-AR" baseline="-25000" smtClean="0"/>
                <a:t>0</a:t>
              </a:r>
              <a:r>
                <a:rPr lang="es-AR" smtClean="0"/>
                <a:t>)</a:t>
              </a:r>
              <a:endParaRPr lang="es-AR"/>
            </a:p>
          </p:txBody>
        </p:sp>
        <p:sp>
          <p:nvSpPr>
            <p:cNvPr id="23" name="22 CuadroTexto"/>
            <p:cNvSpPr txBox="1"/>
            <p:nvPr/>
          </p:nvSpPr>
          <p:spPr>
            <a:xfrm>
              <a:off x="3923928" y="3933056"/>
              <a:ext cx="10518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mtClean="0"/>
                <a:t>1 - Q(x</a:t>
              </a:r>
              <a:r>
                <a:rPr lang="es-AR" baseline="-25000" smtClean="0"/>
                <a:t>0</a:t>
              </a:r>
              <a:r>
                <a:rPr lang="es-AR" smtClean="0"/>
                <a:t>)</a:t>
              </a:r>
              <a:endParaRPr lang="es-AR"/>
            </a:p>
          </p:txBody>
        </p:sp>
      </p:grpSp>
      <p:grpSp>
        <p:nvGrpSpPr>
          <p:cNvPr id="26" name="25 Grupo"/>
          <p:cNvGrpSpPr/>
          <p:nvPr/>
        </p:nvGrpSpPr>
        <p:grpSpPr>
          <a:xfrm>
            <a:off x="4644008" y="1632568"/>
            <a:ext cx="4104456" cy="3885776"/>
            <a:chOff x="2699792" y="1640393"/>
            <a:chExt cx="4104456" cy="3885776"/>
          </a:xfrm>
        </p:grpSpPr>
        <p:pic>
          <p:nvPicPr>
            <p:cNvPr id="27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014" t="22388" r="48393" b="34515"/>
            <a:stretch/>
          </p:blipFill>
          <p:spPr bwMode="auto">
            <a:xfrm>
              <a:off x="2699792" y="1640393"/>
              <a:ext cx="4104456" cy="3885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27 CuadroTexto"/>
            <p:cNvSpPr txBox="1"/>
            <p:nvPr/>
          </p:nvSpPr>
          <p:spPr>
            <a:xfrm>
              <a:off x="5007816" y="4406048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mtClean="0"/>
                <a:t>Q(x</a:t>
              </a:r>
              <a:r>
                <a:rPr lang="es-AR" baseline="-25000" smtClean="0"/>
                <a:t>0</a:t>
              </a:r>
              <a:r>
                <a:rPr lang="es-AR" smtClean="0"/>
                <a:t>)</a:t>
              </a:r>
              <a:endParaRPr lang="es-AR"/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3851920" y="3933056"/>
              <a:ext cx="1180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mtClean="0"/>
                <a:t>1 - 2Q(x</a:t>
              </a:r>
              <a:r>
                <a:rPr lang="es-AR" baseline="-25000" smtClean="0"/>
                <a:t>0</a:t>
              </a:r>
              <a:r>
                <a:rPr lang="es-AR" smtClean="0"/>
                <a:t>)</a:t>
              </a:r>
              <a:endParaRPr lang="es-AR"/>
            </a:p>
          </p:txBody>
        </p:sp>
      </p:grpSp>
      <p:sp>
        <p:nvSpPr>
          <p:cNvPr id="32" name="31 Forma libre"/>
          <p:cNvSpPr/>
          <p:nvPr/>
        </p:nvSpPr>
        <p:spPr>
          <a:xfrm>
            <a:off x="4780320" y="4039737"/>
            <a:ext cx="1009934" cy="832514"/>
          </a:xfrm>
          <a:custGeom>
            <a:avLst/>
            <a:gdLst>
              <a:gd name="connsiteX0" fmla="*/ 0 w 1009934"/>
              <a:gd name="connsiteY0" fmla="*/ 832514 h 832514"/>
              <a:gd name="connsiteX1" fmla="*/ 450376 w 1009934"/>
              <a:gd name="connsiteY1" fmla="*/ 805218 h 832514"/>
              <a:gd name="connsiteX2" fmla="*/ 777922 w 1009934"/>
              <a:gd name="connsiteY2" fmla="*/ 532263 h 832514"/>
              <a:gd name="connsiteX3" fmla="*/ 982639 w 1009934"/>
              <a:gd name="connsiteY3" fmla="*/ 0 h 832514"/>
              <a:gd name="connsiteX4" fmla="*/ 1009934 w 1009934"/>
              <a:gd name="connsiteY4" fmla="*/ 832514 h 832514"/>
              <a:gd name="connsiteX5" fmla="*/ 0 w 1009934"/>
              <a:gd name="connsiteY5" fmla="*/ 832514 h 832514"/>
              <a:gd name="connsiteX0" fmla="*/ 0 w 1009934"/>
              <a:gd name="connsiteY0" fmla="*/ 832514 h 832514"/>
              <a:gd name="connsiteX1" fmla="*/ 450376 w 1009934"/>
              <a:gd name="connsiteY1" fmla="*/ 805218 h 832514"/>
              <a:gd name="connsiteX2" fmla="*/ 602562 w 1009934"/>
              <a:gd name="connsiteY2" fmla="*/ 678912 h 832514"/>
              <a:gd name="connsiteX3" fmla="*/ 777922 w 1009934"/>
              <a:gd name="connsiteY3" fmla="*/ 532263 h 832514"/>
              <a:gd name="connsiteX4" fmla="*/ 982639 w 1009934"/>
              <a:gd name="connsiteY4" fmla="*/ 0 h 832514"/>
              <a:gd name="connsiteX5" fmla="*/ 1009934 w 1009934"/>
              <a:gd name="connsiteY5" fmla="*/ 832514 h 832514"/>
              <a:gd name="connsiteX6" fmla="*/ 0 w 1009934"/>
              <a:gd name="connsiteY6" fmla="*/ 832514 h 832514"/>
              <a:gd name="connsiteX0" fmla="*/ 0 w 1009934"/>
              <a:gd name="connsiteY0" fmla="*/ 832514 h 832514"/>
              <a:gd name="connsiteX1" fmla="*/ 450376 w 1009934"/>
              <a:gd name="connsiteY1" fmla="*/ 805218 h 832514"/>
              <a:gd name="connsiteX2" fmla="*/ 645694 w 1009934"/>
              <a:gd name="connsiteY2" fmla="*/ 678912 h 832514"/>
              <a:gd name="connsiteX3" fmla="*/ 777922 w 1009934"/>
              <a:gd name="connsiteY3" fmla="*/ 532263 h 832514"/>
              <a:gd name="connsiteX4" fmla="*/ 982639 w 1009934"/>
              <a:gd name="connsiteY4" fmla="*/ 0 h 832514"/>
              <a:gd name="connsiteX5" fmla="*/ 1009934 w 1009934"/>
              <a:gd name="connsiteY5" fmla="*/ 832514 h 832514"/>
              <a:gd name="connsiteX6" fmla="*/ 0 w 1009934"/>
              <a:gd name="connsiteY6" fmla="*/ 832514 h 832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9934" h="832514">
                <a:moveTo>
                  <a:pt x="0" y="832514"/>
                </a:moveTo>
                <a:lnTo>
                  <a:pt x="450376" y="805218"/>
                </a:lnTo>
                <a:lnTo>
                  <a:pt x="645694" y="678912"/>
                </a:lnTo>
                <a:lnTo>
                  <a:pt x="777922" y="532263"/>
                </a:lnTo>
                <a:lnTo>
                  <a:pt x="982639" y="0"/>
                </a:lnTo>
                <a:lnTo>
                  <a:pt x="1009934" y="832514"/>
                </a:lnTo>
                <a:lnTo>
                  <a:pt x="0" y="832514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33 CuadroTexto"/>
          <p:cNvSpPr txBox="1"/>
          <p:nvPr/>
        </p:nvSpPr>
        <p:spPr>
          <a:xfrm>
            <a:off x="5148064" y="4399608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Q(x</a:t>
            </a:r>
            <a:r>
              <a:rPr lang="es-AR" baseline="-25000" smtClean="0"/>
              <a:t>0</a:t>
            </a:r>
            <a:r>
              <a:rPr lang="es-AR" smtClean="0"/>
              <a:t>)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788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Cotas de probabilidad de error 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AR" sz="1800" b="1" dirty="0" smtClean="0"/>
                  <a:t>Cota de unión de eventos:</a:t>
                </a:r>
                <a:r>
                  <a:rPr lang="es-AR" sz="1800" dirty="0" smtClean="0"/>
                  <a:t> asume que cada símbolo puede confundirse con los M – 1 símbolos restantes, y que todos ellos se encuentran a distancia mínima.</a:t>
                </a:r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sz="18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s-AR" sz="1800" b="0" i="1" smtClean="0">
                              <a:latin typeface="Cambria Math"/>
                            </a:rPr>
                            <m:t>𝑒𝑈𝐵</m:t>
                          </m:r>
                        </m:sub>
                      </m:sSub>
                      <m:r>
                        <a:rPr lang="es-AR" sz="1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s-AR" sz="1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sz="1800" b="0" i="1" smtClean="0">
                              <a:latin typeface="Cambria Math"/>
                            </a:rPr>
                            <m:t>𝑀</m:t>
                          </m:r>
                          <m:r>
                            <a:rPr lang="es-AR" sz="1800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s-AR" sz="1800" b="0" i="1" smtClean="0">
                          <a:latin typeface="Cambria Math"/>
                        </a:rPr>
                        <m:t>.</m:t>
                      </m:r>
                      <m:r>
                        <a:rPr lang="es-AR" sz="1800" b="0" i="1" smtClean="0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sz="18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sz="18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sz="1800" i="1">
                                      <a:latin typeface="Cambria Math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AR" sz="1800" i="1">
                                      <a:latin typeface="Cambria Math"/>
                                    </a:rPr>
                                    <m:t>𝑚𝑖𝑛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AR" sz="18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sz="1800" i="1">
                                      <a:latin typeface="Cambria Math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s-AR" sz="1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s-AR" sz="1800" dirty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b="1" dirty="0" smtClean="0"/>
                  <a:t>Cota de vecinos más cercanos:</a:t>
                </a:r>
                <a:r>
                  <a:rPr lang="es-AR" sz="1800" dirty="0" smtClean="0"/>
                  <a:t> asume que cada símbolo puede confundirse sólo con sus vecinos a distancia mínima.</a:t>
                </a:r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s-AR" sz="18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AR" sz="1800" i="1">
                            <a:latin typeface="Cambria Math"/>
                          </a:rPr>
                          <m:t>𝑒</m:t>
                        </m:r>
                        <m:r>
                          <a:rPr lang="es-AR" sz="1800" b="0" i="1" smtClean="0">
                            <a:latin typeface="Cambria Math"/>
                          </a:rPr>
                          <m:t>𝑁𝑁</m:t>
                        </m:r>
                        <m:r>
                          <a:rPr lang="es-AR" sz="1800" i="1">
                            <a:latin typeface="Cambria Math"/>
                          </a:rPr>
                          <m:t>𝑈𝐵</m:t>
                        </m:r>
                      </m:sub>
                    </m:sSub>
                    <m:r>
                      <a:rPr lang="es-AR" sz="1800" i="1">
                        <a:latin typeface="Cambria Math"/>
                      </a:rPr>
                      <m:t>=&lt;</m:t>
                    </m:r>
                    <m:sSub>
                      <m:sSubPr>
                        <m:ctrlPr>
                          <a:rPr lang="es-AR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s-AR" sz="1800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s-AR" sz="1800" i="1">
                            <a:latin typeface="Cambria Math"/>
                          </a:rPr>
                          <m:t>𝑒</m:t>
                        </m:r>
                      </m:sub>
                    </m:sSub>
                    <m:r>
                      <a:rPr lang="es-AR" sz="1800" i="1">
                        <a:latin typeface="Cambria Math"/>
                      </a:rPr>
                      <m:t>&gt;.</m:t>
                    </m:r>
                    <m:r>
                      <a:rPr lang="es-AR" sz="18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s-AR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AR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s-AR" sz="1800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s-AR" sz="1800" i="1">
                                    <a:latin typeface="Cambria Math"/>
                                  </a:rPr>
                                  <m:t>𝑚𝑖𝑛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AR" sz="1800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AR" sz="1800" i="1">
                                    <a:latin typeface="Cambria Math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AR" sz="1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AR" sz="1800" i="1">
                                        <a:latin typeface="Cambria Math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AR" sz="1800" i="1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s-AR" sz="1800" dirty="0" smtClean="0"/>
                  <a:t>		</a:t>
                </a:r>
                <a14:m>
                  <m:oMath xmlns:m="http://schemas.openxmlformats.org/officeDocument/2006/math">
                    <m:r>
                      <a:rPr lang="es-AR" sz="1800" b="0" i="1" smtClean="0">
                        <a:latin typeface="Cambria Math"/>
                      </a:rPr>
                      <m:t>&lt; </m:t>
                    </m:r>
                    <m:sSub>
                      <m:sSubPr>
                        <m:ctrlPr>
                          <a:rPr lang="es-AR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AR" sz="1800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s-AR" sz="1800" b="0" i="1" smtClean="0">
                            <a:latin typeface="Cambria Math"/>
                          </a:rPr>
                          <m:t>𝑒</m:t>
                        </m:r>
                      </m:sub>
                    </m:sSub>
                    <m:r>
                      <a:rPr lang="es-AR" sz="1800" b="0" i="1" smtClean="0">
                        <a:latin typeface="Cambria Math"/>
                      </a:rPr>
                      <m:t>&gt; =</m:t>
                    </m:r>
                    <m:nary>
                      <m:naryPr>
                        <m:chr m:val="∑"/>
                        <m:ctrlPr>
                          <a:rPr lang="es-AR" sz="18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1800" b="0" i="1" smtClean="0">
                            <a:latin typeface="Cambria Math"/>
                          </a:rPr>
                          <m:t>𝑖</m:t>
                        </m:r>
                        <m:r>
                          <a:rPr lang="es-AR" sz="18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s-AR" sz="1800" b="0" i="1" smtClean="0">
                            <a:latin typeface="Cambria Math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s-AR" sz="18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sz="1800" b="0" i="1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s-AR" sz="18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s-AR" sz="18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sz="1800" b="0" i="1" smtClean="0">
                                <a:latin typeface="Cambria Math"/>
                              </a:rPr>
                              <m:t>.</m:t>
                            </m:r>
                            <m:r>
                              <a:rPr lang="es-AR" sz="1800" b="0" i="1" smtClean="0"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s-AR" sz="18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s-AR" sz="1800" dirty="0" smtClean="0"/>
                  <a:t>	</a:t>
                </a: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marL="0" indent="0" algn="just">
                  <a:buNone/>
                </a:pPr>
                <a:r>
                  <a:rPr lang="es-AR" sz="1800" dirty="0"/>
                  <a:t>Si se utiliza etiquetamiento de Gray</a:t>
                </a:r>
                <a:r>
                  <a:rPr lang="es-AR" sz="1800" dirty="0" smtClean="0"/>
                  <a:t>: P</a:t>
                </a:r>
                <a:r>
                  <a:rPr lang="es-AR" sz="1800" baseline="-25000" dirty="0" smtClean="0"/>
                  <a:t>e</a:t>
                </a:r>
                <a:r>
                  <a:rPr lang="es-AR" sz="1800" dirty="0" smtClean="0"/>
                  <a:t> </a:t>
                </a:r>
                <a:r>
                  <a:rPr lang="es-AR" sz="1800" dirty="0"/>
                  <a:t>=</a:t>
                </a:r>
                <a:r>
                  <a:rPr lang="es-AR" sz="1800" dirty="0" err="1"/>
                  <a:t>k.P</a:t>
                </a:r>
                <a:r>
                  <a:rPr lang="es-AR" sz="1800" baseline="-25000" dirty="0" err="1"/>
                  <a:t>eb</a:t>
                </a:r>
                <a:endParaRPr lang="es-AR" sz="18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617" r="-593" b="-185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338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Cotas de probabilidad de error 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24</a:t>
            </a:fld>
            <a:endParaRPr lang="es-E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59" t="35129" r="32023" b="19397"/>
          <a:stretch/>
        </p:blipFill>
        <p:spPr bwMode="auto">
          <a:xfrm>
            <a:off x="4572000" y="1692001"/>
            <a:ext cx="3933960" cy="350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4716016" y="2420888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smtClean="0">
                <a:solidFill>
                  <a:srgbClr val="FF0000"/>
                </a:solidFill>
              </a:rPr>
              <a:t>2</a:t>
            </a:r>
            <a:endParaRPr lang="es-AR">
              <a:solidFill>
                <a:srgbClr val="FF0000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6795150" y="1556792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smtClean="0">
                <a:solidFill>
                  <a:srgbClr val="FF0000"/>
                </a:solidFill>
              </a:rPr>
              <a:t>3</a:t>
            </a:r>
            <a:endParaRPr lang="es-AR">
              <a:solidFill>
                <a:srgbClr val="FF0000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5940152" y="4654877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smtClean="0">
                <a:solidFill>
                  <a:srgbClr val="FF0000"/>
                </a:solidFill>
              </a:rPr>
              <a:t>3</a:t>
            </a:r>
            <a:endParaRPr lang="es-AR">
              <a:solidFill>
                <a:srgbClr val="FF0000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8235310" y="350274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smtClean="0">
                <a:solidFill>
                  <a:srgbClr val="FF0000"/>
                </a:solidFill>
              </a:rPr>
              <a:t>2</a:t>
            </a:r>
            <a:endParaRPr lang="es-AR">
              <a:solidFill>
                <a:srgbClr val="FF0000"/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539552" y="2124049"/>
            <a:ext cx="3435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&lt; Ne &gt; = 1/4.(2 + 3+ 2 +3) = 5/2</a:t>
            </a:r>
          </a:p>
          <a:p>
            <a:endParaRPr lang="es-AR"/>
          </a:p>
          <a:p>
            <a:r>
              <a:rPr lang="es-AR" smtClean="0"/>
              <a:t>Pe</a:t>
            </a:r>
            <a:r>
              <a:rPr lang="es-AR" baseline="-25000" smtClean="0"/>
              <a:t>UB</a:t>
            </a:r>
            <a:r>
              <a:rPr lang="es-AR" smtClean="0"/>
              <a:t> = 3.Q(  )</a:t>
            </a:r>
          </a:p>
          <a:p>
            <a:endParaRPr lang="es-AR"/>
          </a:p>
          <a:p>
            <a:r>
              <a:rPr lang="es-AR" smtClean="0"/>
              <a:t>Pe</a:t>
            </a:r>
            <a:r>
              <a:rPr lang="es-AR" baseline="-25000" smtClean="0"/>
              <a:t>NNUB</a:t>
            </a:r>
            <a:r>
              <a:rPr lang="es-AR" smtClean="0"/>
              <a:t> = 5/2.Q(  )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3353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Cotas de probabilidad de error 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25</a:t>
            </a:fld>
            <a:endParaRPr lang="es-ES"/>
          </a:p>
        </p:txBody>
      </p:sp>
      <p:pic>
        <p:nvPicPr>
          <p:cNvPr id="15" name="Picture 2" descr="Modulación de amplitud en cuadratura - Wikiwa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48" y="1641698"/>
            <a:ext cx="381000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3176552" y="1785714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2240448" y="1785714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1376352" y="1785714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rot="16200000">
            <a:off x="2306007" y="856060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rot="16200000">
            <a:off x="2306007" y="1774747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rot="16200000">
            <a:off x="2318905" y="2759331"/>
            <a:ext cx="0" cy="38755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CuadroTexto"/>
          <p:cNvSpPr txBox="1"/>
          <p:nvPr/>
        </p:nvSpPr>
        <p:spPr>
          <a:xfrm>
            <a:off x="4427984" y="1844824"/>
            <a:ext cx="409599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smtClean="0"/>
              <a:t>Para una modulación M-QAM cuadrada:</a:t>
            </a:r>
          </a:p>
          <a:p>
            <a:endParaRPr lang="es-AR" sz="1200" smtClean="0"/>
          </a:p>
          <a:p>
            <a:pPr marL="171450" indent="-171450">
              <a:buFont typeface="Wingdings" pitchFamily="2" charset="2"/>
              <a:buChar char="ü"/>
            </a:pPr>
            <a:r>
              <a:rPr lang="es-AR" sz="1200" smtClean="0"/>
              <a:t>La constelación posee M símbolos;</a:t>
            </a:r>
          </a:p>
          <a:p>
            <a:pPr marL="171450" indent="-171450">
              <a:buFont typeface="Wingdings" pitchFamily="2" charset="2"/>
              <a:buChar char="ü"/>
            </a:pPr>
            <a:endParaRPr lang="es-AR" sz="1200" smtClean="0"/>
          </a:p>
          <a:p>
            <a:pPr marL="171450" indent="-171450">
              <a:buFont typeface="Wingdings" pitchFamily="2" charset="2"/>
              <a:buChar char="ü"/>
            </a:pPr>
            <a:r>
              <a:rPr lang="es-AR" sz="1200" smtClean="0"/>
              <a:t>Cada lateral posee M</a:t>
            </a:r>
            <a:r>
              <a:rPr lang="es-AR" sz="1200" baseline="30000" smtClean="0"/>
              <a:t>1/2 </a:t>
            </a:r>
            <a:r>
              <a:rPr lang="es-AR" sz="1200" smtClean="0"/>
              <a:t>símbolos;</a:t>
            </a:r>
          </a:p>
          <a:p>
            <a:pPr marL="171450" indent="-171450">
              <a:buFont typeface="Wingdings" pitchFamily="2" charset="2"/>
              <a:buChar char="ü"/>
            </a:pPr>
            <a:endParaRPr lang="es-AR" sz="1200"/>
          </a:p>
          <a:p>
            <a:pPr marL="171450" indent="-171450">
              <a:buFont typeface="Wingdings" pitchFamily="2" charset="2"/>
              <a:buChar char="ü"/>
            </a:pPr>
            <a:r>
              <a:rPr lang="es-AR" sz="1200" smtClean="0"/>
              <a:t>4 símbolos (vértices) tienen 2 vecinos,</a:t>
            </a:r>
          </a:p>
          <a:p>
            <a:pPr marL="285750" indent="-285750">
              <a:buFont typeface="Wingdings" pitchFamily="2" charset="2"/>
              <a:buChar char="ü"/>
            </a:pPr>
            <a:endParaRPr lang="es-AR" sz="1200" smtClean="0"/>
          </a:p>
          <a:p>
            <a:pPr marL="171450" indent="-171450">
              <a:buFont typeface="Wingdings" pitchFamily="2" charset="2"/>
              <a:buChar char="ü"/>
            </a:pPr>
            <a:r>
              <a:rPr lang="es-AR" sz="1200" smtClean="0"/>
              <a:t>4.(M</a:t>
            </a:r>
            <a:r>
              <a:rPr lang="es-AR" sz="1200" baseline="30000" smtClean="0"/>
              <a:t>1/2</a:t>
            </a:r>
            <a:r>
              <a:rPr lang="es-AR" sz="1200" smtClean="0"/>
              <a:t>-2) símbolos (laterales) tienen 3 vecinos;</a:t>
            </a:r>
          </a:p>
          <a:p>
            <a:pPr marL="285750" indent="-285750">
              <a:buFont typeface="Wingdings" pitchFamily="2" charset="2"/>
              <a:buChar char="ü"/>
            </a:pPr>
            <a:endParaRPr lang="es-AR" sz="1200" smtClean="0"/>
          </a:p>
          <a:p>
            <a:pPr marL="171450" indent="-171450">
              <a:buFont typeface="Wingdings" pitchFamily="2" charset="2"/>
              <a:buChar char="ü"/>
            </a:pPr>
            <a:r>
              <a:rPr lang="es-AR" sz="1200" smtClean="0"/>
              <a:t>M – 4 – 4.(M</a:t>
            </a:r>
            <a:r>
              <a:rPr lang="es-AR" sz="1200" baseline="30000" smtClean="0"/>
              <a:t>1/2</a:t>
            </a:r>
            <a:r>
              <a:rPr lang="es-AR" sz="1200" smtClean="0"/>
              <a:t>-2) símbolos (internos) tienen 4 vecinos.</a:t>
            </a:r>
            <a:endParaRPr lang="es-AR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Rectángulo"/>
              <p:cNvSpPr/>
              <p:nvPr/>
            </p:nvSpPr>
            <p:spPr>
              <a:xfrm>
                <a:off x="4716016" y="4643844"/>
                <a:ext cx="3441840" cy="8712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&gt; =</m:t>
                      </m:r>
                      <m:nary>
                        <m:naryPr>
                          <m:chr m:val="∑"/>
                          <m:ctrlPr>
                            <a:rPr lang="es-AR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i="1">
                              <a:latin typeface="Cambria Math"/>
                            </a:rPr>
                            <m:t>𝑖</m:t>
                          </m:r>
                          <m:r>
                            <a:rPr lang="es-A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s-AR" i="1">
                              <a:latin typeface="Cambria Math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i="1">
                              <a:latin typeface="Cambria Math"/>
                            </a:rPr>
                            <m:t>4−</m:t>
                          </m:r>
                          <m:f>
                            <m:f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i="1">
                                  <a:latin typeface="Cambria Math"/>
                                </a:rPr>
                                <m:t>4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s-AR"/>
              </a:p>
            </p:txBody>
          </p:sp>
        </mc:Choice>
        <mc:Fallback xmlns="">
          <p:sp>
            <p:nvSpPr>
              <p:cNvPr id="3" name="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4643844"/>
                <a:ext cx="3441840" cy="87126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6 Flecha abajo"/>
          <p:cNvSpPr/>
          <p:nvPr/>
        </p:nvSpPr>
        <p:spPr>
          <a:xfrm>
            <a:off x="6156176" y="4283804"/>
            <a:ext cx="504056" cy="4631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CuadroTexto"/>
          <p:cNvSpPr txBox="1"/>
          <p:nvPr/>
        </p:nvSpPr>
        <p:spPr>
          <a:xfrm>
            <a:off x="4991668" y="5795972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Para M = 16 → &lt; Ne &gt; = 3</a:t>
            </a:r>
            <a:endParaRPr lang="es-AR"/>
          </a:p>
        </p:txBody>
      </p:sp>
      <p:sp>
        <p:nvSpPr>
          <p:cNvPr id="22" name="21 CuadroTexto"/>
          <p:cNvSpPr txBox="1"/>
          <p:nvPr/>
        </p:nvSpPr>
        <p:spPr>
          <a:xfrm>
            <a:off x="108928" y="1268760"/>
            <a:ext cx="884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smtClean="0"/>
              <a:t>Ejercicio: Calcular &lt; Ne &gt; para M-QAM cuadrada y obtener su valor para M = 16</a:t>
            </a:r>
            <a:endParaRPr lang="es-AR" b="1"/>
          </a:p>
        </p:txBody>
      </p:sp>
    </p:spTree>
    <p:extLst>
      <p:ext uri="{BB962C8B-B14F-4D97-AF65-F5344CB8AC3E}">
        <p14:creationId xmlns:p14="http://schemas.microsoft.com/office/powerpoint/2010/main" val="216410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mtClean="0"/>
              <a:t>Relación entre Pe y Pe</a:t>
            </a:r>
            <a:r>
              <a:rPr lang="es-AR" baseline="-25000" smtClean="0"/>
              <a:t>b</a:t>
            </a:r>
            <a:r>
              <a:rPr lang="es-AR" smtClean="0"/>
              <a:t> (para cod. Gray)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26</a:t>
            </a:fld>
            <a:endParaRPr lang="es-ES"/>
          </a:p>
        </p:txBody>
      </p:sp>
      <p:sp>
        <p:nvSpPr>
          <p:cNvPr id="9" name="8 CuadroTexto"/>
          <p:cNvSpPr txBox="1"/>
          <p:nvPr/>
        </p:nvSpPr>
        <p:spPr>
          <a:xfrm>
            <a:off x="1259632" y="1700808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smtClean="0">
                <a:solidFill>
                  <a:srgbClr val="00B050"/>
                </a:solidFill>
              </a:rPr>
              <a:t>S</a:t>
            </a:r>
            <a:r>
              <a:rPr lang="es-AR" sz="2000" smtClean="0">
                <a:solidFill>
                  <a:srgbClr val="00B050"/>
                </a:solidFill>
              </a:rPr>
              <a:t>0</a:t>
            </a:r>
            <a:r>
              <a:rPr lang="es-AR" sz="3600" smtClean="0">
                <a:solidFill>
                  <a:srgbClr val="00B050"/>
                </a:solidFill>
              </a:rPr>
              <a:t> S</a:t>
            </a:r>
            <a:r>
              <a:rPr lang="es-AR" sz="2000" smtClean="0">
                <a:solidFill>
                  <a:srgbClr val="00B050"/>
                </a:solidFill>
              </a:rPr>
              <a:t>1</a:t>
            </a:r>
            <a:r>
              <a:rPr lang="es-AR" sz="3600" smtClean="0">
                <a:solidFill>
                  <a:srgbClr val="00B050"/>
                </a:solidFill>
              </a:rPr>
              <a:t> S</a:t>
            </a:r>
            <a:r>
              <a:rPr lang="es-AR" sz="2000" smtClean="0">
                <a:solidFill>
                  <a:srgbClr val="00B050"/>
                </a:solidFill>
              </a:rPr>
              <a:t>1</a:t>
            </a:r>
            <a:r>
              <a:rPr lang="es-AR" sz="3600" smtClean="0">
                <a:solidFill>
                  <a:srgbClr val="00B050"/>
                </a:solidFill>
              </a:rPr>
              <a:t> </a:t>
            </a:r>
            <a:r>
              <a:rPr lang="es-AR" sz="3600" smtClean="0">
                <a:solidFill>
                  <a:srgbClr val="FF0000"/>
                </a:solidFill>
              </a:rPr>
              <a:t>S</a:t>
            </a:r>
            <a:r>
              <a:rPr lang="es-AR" sz="2000" smtClean="0">
                <a:solidFill>
                  <a:srgbClr val="FF0000"/>
                </a:solidFill>
              </a:rPr>
              <a:t>2</a:t>
            </a:r>
            <a:r>
              <a:rPr lang="es-AR" sz="3600" smtClean="0">
                <a:solidFill>
                  <a:srgbClr val="FF0000"/>
                </a:solidFill>
              </a:rPr>
              <a:t> </a:t>
            </a:r>
            <a:r>
              <a:rPr lang="es-AR" sz="3600" smtClean="0">
                <a:solidFill>
                  <a:srgbClr val="00B050"/>
                </a:solidFill>
              </a:rPr>
              <a:t>S</a:t>
            </a:r>
            <a:r>
              <a:rPr lang="es-AR" sz="2000" smtClean="0">
                <a:solidFill>
                  <a:srgbClr val="00B050"/>
                </a:solidFill>
              </a:rPr>
              <a:t>3</a:t>
            </a:r>
            <a:r>
              <a:rPr lang="es-AR" sz="3600" smtClean="0">
                <a:solidFill>
                  <a:srgbClr val="00B050"/>
                </a:solidFill>
              </a:rPr>
              <a:t> S</a:t>
            </a:r>
            <a:r>
              <a:rPr lang="es-AR" sz="2000" smtClean="0">
                <a:solidFill>
                  <a:srgbClr val="00B050"/>
                </a:solidFill>
              </a:rPr>
              <a:t>1</a:t>
            </a:r>
            <a:r>
              <a:rPr lang="es-AR" sz="3600" smtClean="0">
                <a:solidFill>
                  <a:srgbClr val="00B050"/>
                </a:solidFill>
              </a:rPr>
              <a:t> S</a:t>
            </a:r>
            <a:r>
              <a:rPr lang="es-AR" sz="2000" smtClean="0">
                <a:solidFill>
                  <a:srgbClr val="00B050"/>
                </a:solidFill>
              </a:rPr>
              <a:t>0</a:t>
            </a:r>
            <a:r>
              <a:rPr lang="es-AR" sz="3600" smtClean="0">
                <a:solidFill>
                  <a:srgbClr val="00B050"/>
                </a:solidFill>
              </a:rPr>
              <a:t> S</a:t>
            </a:r>
            <a:r>
              <a:rPr lang="es-AR" sz="2000">
                <a:solidFill>
                  <a:srgbClr val="00B050"/>
                </a:solidFill>
              </a:rPr>
              <a:t>2</a:t>
            </a:r>
            <a:endParaRPr lang="es-AR">
              <a:solidFill>
                <a:srgbClr val="00B050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979683" y="3432482"/>
            <a:ext cx="5245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smtClean="0">
                <a:solidFill>
                  <a:srgbClr val="00B050"/>
                </a:solidFill>
              </a:rPr>
              <a:t>00 01 01</a:t>
            </a:r>
            <a:r>
              <a:rPr lang="es-AR" sz="3600" smtClean="0">
                <a:solidFill>
                  <a:srgbClr val="FF0000"/>
                </a:solidFill>
              </a:rPr>
              <a:t> 1</a:t>
            </a:r>
            <a:r>
              <a:rPr lang="es-AR" sz="3600">
                <a:solidFill>
                  <a:srgbClr val="00B050"/>
                </a:solidFill>
              </a:rPr>
              <a:t>1 </a:t>
            </a:r>
            <a:r>
              <a:rPr lang="es-AR" sz="3600" smtClean="0">
                <a:solidFill>
                  <a:srgbClr val="00B050"/>
                </a:solidFill>
              </a:rPr>
              <a:t>10 01 00 11</a:t>
            </a:r>
            <a:r>
              <a:rPr lang="es-AR" sz="3600" smtClean="0">
                <a:solidFill>
                  <a:srgbClr val="FF0000"/>
                </a:solidFill>
              </a:rPr>
              <a:t> </a:t>
            </a:r>
            <a:endParaRPr lang="es-AR">
              <a:solidFill>
                <a:srgbClr val="FF0000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3344741" y="4870901"/>
            <a:ext cx="2454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smtClean="0">
                <a:solidFill>
                  <a:srgbClr val="FF0000"/>
                </a:solidFill>
              </a:rPr>
              <a:t>Pe = k.Peb</a:t>
            </a:r>
            <a:endParaRPr lang="es-AR">
              <a:solidFill>
                <a:srgbClr val="FF0000"/>
              </a:solidFill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6225478" y="1772816"/>
            <a:ext cx="291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1 símbolo errado sobre 8</a:t>
            </a:r>
            <a:endParaRPr lang="es-AR"/>
          </a:p>
        </p:txBody>
      </p:sp>
      <p:sp>
        <p:nvSpPr>
          <p:cNvPr id="15" name="14 CuadroTexto"/>
          <p:cNvSpPr txBox="1"/>
          <p:nvPr/>
        </p:nvSpPr>
        <p:spPr>
          <a:xfrm>
            <a:off x="6496607" y="355841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1 bit errado sobre 16</a:t>
            </a:r>
            <a:endParaRPr lang="es-AR"/>
          </a:p>
        </p:txBody>
      </p:sp>
      <p:sp>
        <p:nvSpPr>
          <p:cNvPr id="16" name="15 CuadroTexto"/>
          <p:cNvSpPr txBox="1"/>
          <p:nvPr/>
        </p:nvSpPr>
        <p:spPr>
          <a:xfrm>
            <a:off x="323528" y="2740858"/>
            <a:ext cx="2821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smtClean="0"/>
              <a:t>Codificación de Gray…</a:t>
            </a:r>
            <a:endParaRPr lang="es-AR" sz="1100"/>
          </a:p>
        </p:txBody>
      </p:sp>
    </p:spTree>
    <p:extLst>
      <p:ext uri="{BB962C8B-B14F-4D97-AF65-F5344CB8AC3E}">
        <p14:creationId xmlns:p14="http://schemas.microsoft.com/office/powerpoint/2010/main" val="255453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16 – QAM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 algn="just">
                  <a:buFont typeface="+mj-lt"/>
                  <a:buAutoNum type="arabicParenR"/>
                </a:pPr>
                <a:r>
                  <a:rPr lang="es-AR" sz="1800" dirty="0" smtClean="0"/>
                  <a:t>Utilice la cota de probabilidad de error de la constelación QAM, asumiendo etiquetamiento de Gray para relacionar </a:t>
                </a:r>
                <a:r>
                  <a:rPr lang="es-AR" sz="1800" dirty="0" err="1" smtClean="0"/>
                  <a:t>P</a:t>
                </a:r>
                <a:r>
                  <a:rPr lang="es-AR" sz="1800" baseline="-25000" dirty="0" err="1" smtClean="0"/>
                  <a:t>eb</a:t>
                </a:r>
                <a:r>
                  <a:rPr lang="es-AR" sz="1800" dirty="0" smtClean="0"/>
                  <a:t> y P</a:t>
                </a:r>
                <a:r>
                  <a:rPr lang="es-AR" sz="1800" baseline="-25000" dirty="0" smtClean="0"/>
                  <a:t>e</a:t>
                </a:r>
                <a:r>
                  <a:rPr lang="es-AR" sz="1800" dirty="0" smtClean="0"/>
                  <a:t>:</a:t>
                </a:r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sz="1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AR" sz="18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AR" sz="1800" b="0" i="1" smtClean="0">
                            <a:latin typeface="Cambria Math"/>
                          </a:rPr>
                          <m:t>𝑒𝑏𝑁𝑁𝑈𝐵</m:t>
                        </m:r>
                      </m:sub>
                    </m:sSub>
                    <m:r>
                      <a:rPr lang="es-AR" sz="1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AR" sz="18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AR" sz="1800" i="1">
                            <a:latin typeface="Cambria Math"/>
                          </a:rPr>
                          <m:t>&lt;</m:t>
                        </m:r>
                        <m:sSub>
                          <m:sSubPr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sz="1800" i="1"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s-AR" sz="1800" i="1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  <m:r>
                          <a:rPr lang="es-AR" sz="1800" i="1">
                            <a:latin typeface="Cambria Math"/>
                          </a:rPr>
                          <m:t>&gt;</m:t>
                        </m:r>
                      </m:num>
                      <m:den>
                        <m:r>
                          <a:rPr lang="es-AR" sz="1800" b="0" i="1" smtClean="0">
                            <a:latin typeface="Cambria Math"/>
                          </a:rPr>
                          <m:t>𝑘</m:t>
                        </m:r>
                      </m:den>
                    </m:f>
                    <m:r>
                      <a:rPr lang="es-AR" sz="1800" b="0" i="1" smtClean="0">
                        <a:latin typeface="Cambria Math"/>
                      </a:rPr>
                      <m:t>.</m:t>
                    </m:r>
                    <m:r>
                      <a:rPr lang="es-AR" sz="1800" b="0" i="1" smtClean="0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s-AR" sz="1800" b="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AR" sz="18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AR" sz="1800" b="0" i="1" smtClean="0">
                                <a:latin typeface="Cambria Math"/>
                              </a:rPr>
                              <m:t>𝑑</m:t>
                            </m:r>
                          </m:num>
                          <m:den>
                            <m:r>
                              <a:rPr lang="es-AR" sz="1800" b="0" i="1" smtClean="0">
                                <a:latin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l-GR" sz="1800" b="0" i="1" smtClean="0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den>
                        </m:f>
                      </m:e>
                    </m:d>
                    <m:r>
                      <a:rPr lang="es-AR" sz="1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AR" sz="1800" b="0" i="1" smtClean="0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AR" sz="1800" i="1">
                                <a:latin typeface="Cambria Math"/>
                              </a:rPr>
                              <m:t>4−</m:t>
                            </m:r>
                            <m:f>
                              <m:fPr>
                                <m:ctrlPr>
                                  <a:rPr lang="es-AR" sz="18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s-AR" sz="1800" i="1">
                                    <a:latin typeface="Cambria Math"/>
                                  </a:rPr>
                                  <m:t>4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s-AR" sz="1800" i="1"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AR" sz="1800" i="1">
                                        <a:latin typeface="Cambria Math"/>
                                      </a:rPr>
                                      <m:t>𝑀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num>
                      <m:den>
                        <m:func>
                          <m:funcPr>
                            <m:ctrlPr>
                              <a:rPr lang="es-AR" sz="1800" b="0" i="1" smtClean="0">
                                <a:latin typeface="Cambria Math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s-AR" sz="18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AR" sz="1800" b="0" i="0" smtClean="0">
                                    <a:latin typeface="Cambria Math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s-AR" sz="18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s-AR" sz="1800" b="0" i="1" smtClean="0">
                                <a:latin typeface="Cambria Math"/>
                              </a:rPr>
                              <m:t>𝑀</m:t>
                            </m:r>
                          </m:e>
                        </m:func>
                      </m:den>
                    </m:f>
                    <m:r>
                      <a:rPr lang="es-AR" sz="1800" b="0" i="1" smtClean="0">
                        <a:latin typeface="Cambria Math"/>
                      </a:rPr>
                      <m:t>.</m:t>
                    </m:r>
                    <m:r>
                      <a:rPr lang="es-AR" sz="1800" b="0" i="1" smtClean="0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s-AR" sz="1800" b="0" i="1" smtClean="0">
                            <a:latin typeface="Cambria Math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AR" sz="18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s-AR" sz="1800" b="0" i="1" smtClean="0">
                                    <a:latin typeface="Cambria Math"/>
                                  </a:rPr>
                                  <m:t>3.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1800" b="0" i="1" smtClean="0">
                                    <a:latin typeface="Cambria Math"/>
                                    <a:ea typeface="Cambria Math"/>
                                  </a:rPr>
                                  <m:t>ε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lang="es-AR" sz="1800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s-AR" sz="1800" b="0" i="1" smtClean="0">
                                        <a:latin typeface="Cambria Math"/>
                                      </a:rPr>
                                      <m:t>𝑀</m:t>
                                    </m:r>
                                    <m:r>
                                      <a:rPr lang="es-AR" sz="18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s-AR" sz="1800" b="0" i="1" smtClean="0">
                                    <a:latin typeface="Cambria Math"/>
                                  </a:rPr>
                                  <m:t>.</m:t>
                                </m:r>
                                <m:sSub>
                                  <m:sSubPr>
                                    <m:ctrlPr>
                                      <a:rPr lang="es-AR" sz="1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AR" sz="1800" i="1">
                                        <a:latin typeface="Cambria Math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AR" sz="1800" i="1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e>
                    </m:d>
                    <m:r>
                      <a:rPr lang="es-AR" sz="1800" i="1" smtClean="0">
                        <a:latin typeface="Cambria Math"/>
                        <a:ea typeface="Cambria Math"/>
                      </a:rPr>
                      <m:t>≤</m:t>
                    </m:r>
                    <m:sSup>
                      <m:sSupPr>
                        <m:ctrlPr>
                          <a:rPr lang="es-AR" sz="180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es-AR" sz="1800" smtClean="0"/>
                  <a:t>	</a:t>
                </a:r>
                <a:endParaRPr lang="es-AR" sz="1800" dirty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dirty="0" smtClean="0"/>
                  <a:t>Con la </a:t>
                </a:r>
                <a:r>
                  <a:rPr lang="es-AR" sz="1800" dirty="0" err="1" smtClean="0"/>
                  <a:t>P</a:t>
                </a:r>
                <a:r>
                  <a:rPr lang="es-AR" sz="1800" baseline="-25000" dirty="0" err="1" smtClean="0"/>
                  <a:t>eb</a:t>
                </a:r>
                <a:r>
                  <a:rPr lang="es-AR" sz="1800" dirty="0" smtClean="0"/>
                  <a:t> objetivo y el dato de SNR = E/N</a:t>
                </a:r>
                <a:r>
                  <a:rPr lang="es-AR" sz="1800" baseline="-25000" dirty="0" smtClean="0"/>
                  <a:t>0</a:t>
                </a:r>
                <a:r>
                  <a:rPr lang="es-AR" sz="1800" smtClean="0"/>
                  <a:t>, calcule en </a:t>
                </a:r>
                <a:r>
                  <a:rPr lang="es-AR" sz="1800" dirty="0" smtClean="0"/>
                  <a:t>forma </a:t>
                </a:r>
                <a:r>
                  <a:rPr lang="es-AR" sz="1800" smtClean="0"/>
                  <a:t>aproximada M (numéricamente) </a:t>
                </a:r>
                <a:r>
                  <a:rPr lang="es-AR" sz="1800" dirty="0" smtClean="0"/>
                  <a:t>y </a:t>
                </a:r>
                <a:r>
                  <a:rPr lang="es-AR" sz="1800" smtClean="0"/>
                  <a:t>determine su valor práctico según </a:t>
                </a:r>
                <a:r>
                  <a:rPr lang="es-AR" sz="1800" dirty="0" smtClean="0"/>
                  <a:t>corresponda (recuerde </a:t>
                </a:r>
                <a:r>
                  <a:rPr lang="es-AR" sz="1800" smtClean="0"/>
                  <a:t>que  debe </a:t>
                </a:r>
                <a:r>
                  <a:rPr lang="es-AR" sz="1800" dirty="0" smtClean="0"/>
                  <a:t>ser potencia de 2</a:t>
                </a:r>
                <a:r>
                  <a:rPr lang="es-AR" sz="1800" smtClean="0"/>
                  <a:t>). Luego, conocido k: </a:t>
                </a:r>
              </a:p>
              <a:p>
                <a:pPr marL="0" indent="0" algn="ctr">
                  <a:buNone/>
                </a:pPr>
                <a:endParaRPr lang="es-AR" sz="1800" smtClean="0"/>
              </a:p>
              <a:p>
                <a:pPr marL="0" indent="0" algn="ctr">
                  <a:buNone/>
                </a:pPr>
                <a:r>
                  <a:rPr lang="es-AR" sz="1800" smtClean="0"/>
                  <a:t>R</a:t>
                </a:r>
                <a:r>
                  <a:rPr lang="es-AR" sz="1800" baseline="-25000" smtClean="0"/>
                  <a:t>b</a:t>
                </a:r>
                <a:r>
                  <a:rPr lang="es-AR" sz="1800" smtClean="0"/>
                  <a:t> = k.R</a:t>
                </a:r>
                <a:r>
                  <a:rPr lang="es-AR" sz="1800" baseline="-25000" smtClean="0"/>
                  <a:t>s</a:t>
                </a:r>
                <a:endParaRPr lang="es-AR" sz="1800" baseline="-250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algn="just"/>
                <a:endParaRPr lang="es-AR" sz="18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494" r="-59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27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Rectángulo"/>
              <p:cNvSpPr/>
              <p:nvPr/>
            </p:nvSpPr>
            <p:spPr>
              <a:xfrm>
                <a:off x="3351724" y="3255661"/>
                <a:ext cx="5626412" cy="524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AR">
                    <a:ea typeface="Cambria Math"/>
                  </a:rPr>
                  <a:t>M</a:t>
                </a:r>
                <a:r>
                  <a:rPr lang="es-AR" smtClean="0">
                    <a:ea typeface="Cambria Math"/>
                  </a:rPr>
                  <a:t>-QAM: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/>
                        <a:ea typeface="Cambria Math"/>
                      </a:rPr>
                      <m:t>ε</m:t>
                    </m:r>
                    <m:r>
                      <a:rPr lang="es-AR" i="1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s-AR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AR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s-AR" b="0" i="1" smtClean="0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e>
                          <m:sup>
                            <m:r>
                              <a:rPr lang="es-AR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AR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den>
                    </m:f>
                    <m:r>
                      <a:rPr lang="es-AR" b="0" i="1" smtClean="0">
                        <a:latin typeface="Cambria Math"/>
                        <a:ea typeface="Cambria Math"/>
                      </a:rPr>
                      <m:t>.</m:t>
                    </m:r>
                    <m:d>
                      <m:dPr>
                        <m:ctrlPr>
                          <a:rPr lang="es-AR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  <a:ea typeface="Cambria Math"/>
                          </a:rPr>
                          <m:t>𝑀</m:t>
                        </m:r>
                        <m:r>
                          <a:rPr lang="es-AR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es-AR" dirty="0" smtClean="0"/>
                  <a:t>; </a:t>
                </a:r>
                <a:r>
                  <a:rPr lang="es-AR" smtClean="0"/>
                  <a:t>&lt;N</a:t>
                </a:r>
                <a:r>
                  <a:rPr lang="es-AR" baseline="-25000" smtClean="0"/>
                  <a:t>e</a:t>
                </a:r>
                <a:r>
                  <a:rPr lang="es-AR" smtClean="0"/>
                  <a:t>&gt; = (4-4/M</a:t>
                </a:r>
                <a:r>
                  <a:rPr lang="es-AR" baseline="30000" smtClean="0"/>
                  <a:t>1/2</a:t>
                </a:r>
                <a:r>
                  <a:rPr lang="es-AR" smtClean="0"/>
                  <a:t>); </a:t>
                </a:r>
                <a:r>
                  <a:rPr lang="el-GR"/>
                  <a:t>σ</a:t>
                </a:r>
                <a:r>
                  <a:rPr lang="es-AR" baseline="30000">
                    <a:latin typeface="Cambria Math"/>
                    <a:ea typeface="Cambria Math"/>
                  </a:rPr>
                  <a:t>2</a:t>
                </a:r>
                <a:r>
                  <a:rPr lang="es-AR">
                    <a:latin typeface="Cambria Math"/>
                    <a:ea typeface="Cambria Math"/>
                  </a:rPr>
                  <a:t> = </a:t>
                </a:r>
                <a:r>
                  <a:rPr lang="es-AR"/>
                  <a:t>N</a:t>
                </a:r>
                <a:r>
                  <a:rPr lang="es-AR" baseline="-25000"/>
                  <a:t>0</a:t>
                </a:r>
                <a:r>
                  <a:rPr lang="es-AR"/>
                  <a:t>/2 </a:t>
                </a:r>
                <a:endParaRPr lang="es-AR" dirty="0"/>
              </a:p>
            </p:txBody>
          </p:sp>
        </mc:Choice>
        <mc:Fallback xmlns=""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724" y="3255661"/>
                <a:ext cx="5626412" cy="524439"/>
              </a:xfrm>
              <a:prstGeom prst="rect">
                <a:avLst/>
              </a:prstGeom>
              <a:blipFill rotWithShape="1">
                <a:blip r:embed="rId3"/>
                <a:stretch>
                  <a:fillRect l="-975" b="-697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7 Conector recto de flecha"/>
          <p:cNvCxnSpPr/>
          <p:nvPr/>
        </p:nvCxnSpPr>
        <p:spPr>
          <a:xfrm flipV="1">
            <a:off x="3817088" y="2716456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48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16 – QAM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smtClean="0"/>
              <a:t>2) Para T</a:t>
            </a:r>
            <a:r>
              <a:rPr lang="es-AR" sz="1800" baseline="-25000" smtClean="0"/>
              <a:t>s</a:t>
            </a:r>
            <a:r>
              <a:rPr lang="es-AR" sz="1800" smtClean="0"/>
              <a:t> = cte. = 10</a:t>
            </a:r>
            <a:r>
              <a:rPr lang="es-AR" sz="1800" baseline="30000" smtClean="0"/>
              <a:t>-6</a:t>
            </a:r>
            <a:r>
              <a:rPr lang="es-AR" sz="1800" smtClean="0"/>
              <a:t> seg., R</a:t>
            </a:r>
            <a:r>
              <a:rPr lang="es-AR" sz="1800" baseline="-25000" smtClean="0"/>
              <a:t>s</a:t>
            </a:r>
            <a:r>
              <a:rPr lang="es-AR" sz="1800" smtClean="0"/>
              <a:t> = cte. = 10 Mbaudios, determine los nuevos valores de k y M </a:t>
            </a:r>
            <a:r>
              <a:rPr lang="es-AR" sz="1800" dirty="0" smtClean="0"/>
              <a:t>para lograr R</a:t>
            </a:r>
            <a:r>
              <a:rPr lang="es-AR" sz="1800" baseline="-25000" dirty="0" smtClean="0"/>
              <a:t>b</a:t>
            </a:r>
            <a:r>
              <a:rPr lang="es-AR" sz="1800" dirty="0" smtClean="0"/>
              <a:t> = 60 Mbps</a:t>
            </a:r>
            <a:r>
              <a:rPr lang="es-AR" sz="1800" smtClean="0"/>
              <a:t>. Utilice la cota </a:t>
            </a:r>
            <a:r>
              <a:rPr lang="es-AR" sz="1800" dirty="0" smtClean="0"/>
              <a:t>de probabilidad de </a:t>
            </a:r>
            <a:r>
              <a:rPr lang="es-AR" sz="1800" smtClean="0"/>
              <a:t>error ya vista y </a:t>
            </a:r>
            <a:r>
              <a:rPr lang="es-AR" sz="1800" dirty="0" smtClean="0"/>
              <a:t>el valor </a:t>
            </a:r>
            <a:r>
              <a:rPr lang="es-AR" sz="1800" err="1" smtClean="0"/>
              <a:t>P</a:t>
            </a:r>
            <a:r>
              <a:rPr lang="es-AR" sz="1800" baseline="-25000" err="1" smtClean="0"/>
              <a:t>eb</a:t>
            </a:r>
            <a:r>
              <a:rPr lang="es-AR" sz="1800" smtClean="0"/>
              <a:t> objetivo para despejar </a:t>
            </a:r>
            <a:r>
              <a:rPr lang="es-AR" sz="1800" dirty="0" smtClean="0"/>
              <a:t>la nueva SNR.</a:t>
            </a:r>
          </a:p>
          <a:p>
            <a:pPr marL="0" indent="0" algn="just">
              <a:buNone/>
            </a:pPr>
            <a:r>
              <a:rPr lang="es-AR" sz="1800" smtClean="0"/>
              <a:t>3) Si </a:t>
            </a:r>
            <a:r>
              <a:rPr lang="es-AR" sz="1800" dirty="0" smtClean="0"/>
              <a:t>el modo de operación segura se activa para SNR &lt; 24 dB, y en dicho modo se admite hasta un incremento de 9 dB en la potencia de ruido blanco, debemos trabajar con SNR &lt; 15 dB. Repita el procedimiento del punto </a:t>
            </a:r>
            <a:r>
              <a:rPr lang="es-AR" sz="1800" smtClean="0"/>
              <a:t>1) para obtener los nuevos valores de M y k, y la nueva tasa de transmisión de bits, sabiendo que se mantiene </a:t>
            </a:r>
            <a:r>
              <a:rPr lang="es-AR" sz="1800"/>
              <a:t>R</a:t>
            </a:r>
            <a:r>
              <a:rPr lang="es-AR" sz="1800" baseline="-25000"/>
              <a:t>s</a:t>
            </a:r>
            <a:r>
              <a:rPr lang="es-AR" sz="1800" smtClean="0"/>
              <a:t> = 10 Mbaudios.</a:t>
            </a: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656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16 – QAM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smtClean="0"/>
              <a:t>Resultados para analizar:</a:t>
            </a:r>
          </a:p>
          <a:p>
            <a:pPr marL="0" indent="0" algn="just">
              <a:buNone/>
            </a:pPr>
            <a:endParaRPr lang="es-AR" sz="1800"/>
          </a:p>
          <a:p>
            <a:pPr marL="342900" indent="-342900" algn="just">
              <a:buFont typeface="+mj-lt"/>
              <a:buAutoNum type="arabicParenR"/>
            </a:pPr>
            <a:r>
              <a:rPr lang="es-AR" sz="1800" smtClean="0"/>
              <a:t>k = 5; M = 32; Rb = 50 Mbps; SNR = 24,5 dB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s-AR" sz="1800" smtClean="0"/>
              <a:t>k = 6; M = 64; Rb = 60 Mbps; SNR = 26,5 dB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s-AR" sz="1800" smtClean="0"/>
              <a:t>k = 2; </a:t>
            </a:r>
            <a:r>
              <a:rPr lang="es-AR" sz="1800"/>
              <a:t>M = </a:t>
            </a:r>
            <a:r>
              <a:rPr lang="es-AR" sz="1800" smtClean="0"/>
              <a:t>4</a:t>
            </a:r>
            <a:r>
              <a:rPr lang="es-AR" sz="1800"/>
              <a:t>; Rb = </a:t>
            </a:r>
            <a:r>
              <a:rPr lang="es-AR" sz="1800" smtClean="0"/>
              <a:t>20 </a:t>
            </a:r>
            <a:r>
              <a:rPr lang="es-AR" sz="1800"/>
              <a:t>Mbps; SNR = </a:t>
            </a:r>
            <a:r>
              <a:rPr lang="es-AR" sz="1800" smtClean="0"/>
              <a:t>15 dB</a:t>
            </a:r>
            <a:endParaRPr lang="es-AR" sz="180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b="1" dirty="0" smtClean="0"/>
              <a:t>En este ejercicio puede observarse la relación de compromiso que existe entre M, SNR, Pe </a:t>
            </a:r>
            <a:r>
              <a:rPr lang="es-AR" sz="1800" b="1" smtClean="0"/>
              <a:t>y R</a:t>
            </a:r>
            <a:r>
              <a:rPr lang="es-AR" sz="1800" b="1" baseline="-25000" smtClean="0"/>
              <a:t>b</a:t>
            </a:r>
            <a:r>
              <a:rPr lang="es-AR" sz="1800" b="1"/>
              <a:t> </a:t>
            </a:r>
            <a:r>
              <a:rPr lang="es-AR" sz="1800" b="1" smtClean="0"/>
              <a:t>→ Modulaciones con mayor M permiten aumentar la tasa de transmisión de bits Rb (para una tasa de transmisión de símbolos Rs fija), a expensas de requerir una mayor SNR.</a:t>
            </a:r>
          </a:p>
          <a:p>
            <a:pPr marL="0" indent="0" algn="just">
              <a:buNone/>
            </a:pPr>
            <a:endParaRPr lang="es-AR" sz="1800" b="1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46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17 – Detectores MAP y ML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Caso binario no </a:t>
            </a:r>
            <a:r>
              <a:rPr lang="es-AR" sz="1800" dirty="0" err="1" smtClean="0"/>
              <a:t>equiprobable</a:t>
            </a:r>
            <a:r>
              <a:rPr lang="es-AR" sz="1800" dirty="0" smtClean="0"/>
              <a:t>:</a:t>
            </a:r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Constelación del ejercicio 9:</a:t>
            </a:r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30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26" t="38433" r="29724" b="37886"/>
          <a:stretch/>
        </p:blipFill>
        <p:spPr bwMode="auto">
          <a:xfrm>
            <a:off x="1863116" y="1844824"/>
            <a:ext cx="5445188" cy="1732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984993" y="3735872"/>
            <a:ext cx="7173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dirty="0" smtClean="0"/>
              <a:t>Corrimiento de la frontera de decisión para el detector óptimo (MAP)</a:t>
            </a:r>
            <a:endParaRPr lang="es-AR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067944" y="5445224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 flipV="1">
            <a:off x="5724000" y="4797152"/>
            <a:ext cx="0" cy="12241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Elipse"/>
          <p:cNvSpPr/>
          <p:nvPr/>
        </p:nvSpPr>
        <p:spPr>
          <a:xfrm>
            <a:off x="107504" y="501317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Elipse"/>
          <p:cNvSpPr/>
          <p:nvPr/>
        </p:nvSpPr>
        <p:spPr>
          <a:xfrm>
            <a:off x="5648368" y="4954816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Elipse"/>
          <p:cNvSpPr/>
          <p:nvPr/>
        </p:nvSpPr>
        <p:spPr>
          <a:xfrm>
            <a:off x="6520000" y="495481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Elipse"/>
          <p:cNvSpPr/>
          <p:nvPr/>
        </p:nvSpPr>
        <p:spPr>
          <a:xfrm>
            <a:off x="4791792" y="494116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Elipse"/>
          <p:cNvSpPr/>
          <p:nvPr/>
        </p:nvSpPr>
        <p:spPr>
          <a:xfrm>
            <a:off x="5648368" y="5805280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Elipse"/>
          <p:cNvSpPr/>
          <p:nvPr/>
        </p:nvSpPr>
        <p:spPr>
          <a:xfrm>
            <a:off x="6520000" y="580528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22 Elipse"/>
          <p:cNvSpPr/>
          <p:nvPr/>
        </p:nvSpPr>
        <p:spPr>
          <a:xfrm>
            <a:off x="4791792" y="579163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Elipse"/>
          <p:cNvSpPr/>
          <p:nvPr/>
        </p:nvSpPr>
        <p:spPr>
          <a:xfrm>
            <a:off x="121152" y="5579360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CuadroTexto"/>
          <p:cNvSpPr txBox="1"/>
          <p:nvPr/>
        </p:nvSpPr>
        <p:spPr>
          <a:xfrm>
            <a:off x="251520" y="4953942"/>
            <a:ext cx="29803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Símbolos menos probables</a:t>
            </a:r>
          </a:p>
          <a:p>
            <a:endParaRPr lang="es-AR" dirty="0"/>
          </a:p>
          <a:p>
            <a:r>
              <a:rPr lang="es-AR" dirty="0" smtClean="0"/>
              <a:t>Símbolos más probables</a:t>
            </a:r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6454166" y="53775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b</a:t>
            </a:r>
            <a:endParaRPr lang="es-AR" dirty="0"/>
          </a:p>
        </p:txBody>
      </p:sp>
      <p:sp>
        <p:nvSpPr>
          <p:cNvPr id="27" name="26 CuadroTexto"/>
          <p:cNvSpPr txBox="1"/>
          <p:nvPr/>
        </p:nvSpPr>
        <p:spPr>
          <a:xfrm>
            <a:off x="5220072" y="484563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b/2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2793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17 – Detectores MAP y ML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 algn="just">
                  <a:buFont typeface="+mj-lt"/>
                  <a:buAutoNum type="arabicParenR"/>
                </a:pPr>
                <a:r>
                  <a:rPr lang="es-AR" sz="1800" dirty="0" smtClean="0"/>
                  <a:t>Obtenga la energía media de la constelación en función de b. Debe tenerse en cuenta que los símbolos poseen distintas probabilidades de entrada.</a:t>
                </a:r>
                <a:endParaRPr lang="es-AR" sz="18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800" i="1">
                          <a:latin typeface="Cambria Math"/>
                          <a:ea typeface="Cambria Math"/>
                        </a:rPr>
                        <m:t>ε</m:t>
                      </m:r>
                      <m:r>
                        <a:rPr lang="es-AR" sz="18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AR" sz="18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1800" i="1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s-AR" sz="1800" i="1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a:rPr lang="es-AR" sz="1800" i="1">
                              <a:latin typeface="Cambria Math"/>
                              <a:ea typeface="Cambria Math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s-AR" sz="1800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s-AR" sz="1800" i="1"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AR" sz="18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s-AR" sz="1800" i="1">
                              <a:latin typeface="Cambria Math"/>
                              <a:ea typeface="Cambria Math"/>
                            </a:rPr>
                            <m:t>.</m:t>
                          </m:r>
                          <m:sSup>
                            <m:sSupPr>
                              <m:ctrlPr>
                                <a:rPr lang="es-AR" sz="18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AR" sz="18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sz="18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800" i="1">
                                          <a:latin typeface="Cambria Math"/>
                                          <a:ea typeface="Cambria Math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s-AR" sz="1800" i="1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AR" sz="18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2"/>
                </a:pPr>
                <a:r>
                  <a:rPr lang="es-AR" sz="1800" dirty="0" smtClean="0"/>
                  <a:t>Para determinar las regiones de decisión del detector MAP, debemos tener en cuenta el corrimiento relativo de las fronteras hacia el símbolo menos probable: </a:t>
                </a:r>
              </a:p>
              <a:p>
                <a:pPr marL="342900" indent="-342900" algn="just">
                  <a:buFont typeface="+mj-lt"/>
                  <a:buAutoNum type="arabicParenR" startAt="2"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smtClean="0"/>
                  <a:t>	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1800" b="0" i="0" smtClean="0">
                        <a:latin typeface="Cambria Math"/>
                      </a:rPr>
                      <m:t>u</m:t>
                    </m:r>
                    <m:r>
                      <a:rPr lang="es-AR" sz="1800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AR" sz="1800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1800" i="1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es-AR" sz="18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AR" sz="1800" i="1">
                            <a:latin typeface="Cambria Math"/>
                          </a:rPr>
                          <m:t>𝑑</m:t>
                        </m:r>
                      </m:den>
                    </m:f>
                    <m:r>
                      <a:rPr lang="es-AR" sz="1800" i="1">
                        <a:latin typeface="Cambria Math"/>
                      </a:rPr>
                      <m:t>.</m:t>
                    </m:r>
                    <m:r>
                      <a:rPr lang="es-AR" sz="1800" i="1">
                        <a:latin typeface="Cambria Math"/>
                      </a:rPr>
                      <m:t>𝑙𝑛</m:t>
                    </m:r>
                    <m:d>
                      <m:dPr>
                        <m:ctrlPr>
                          <a:rPr lang="es-AR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AR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s-AR" sz="1800" i="1"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s-AR" sz="1800" b="0" i="1" smtClean="0">
                                    <a:latin typeface="Cambria Math"/>
                                  </a:rPr>
                                  <m:t>+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AR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s-AR" sz="1800" i="1"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s-AR" sz="1800" b="0" i="1" smtClean="0">
                                    <a:latin typeface="Cambria Math"/>
                                  </a:rPr>
                                  <m:t>−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s-AR" sz="1800" dirty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algn="just"/>
                <a:endParaRPr lang="es-AR" sz="18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494" r="-59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31</a:t>
            </a:fld>
            <a:endParaRPr lang="es-ES"/>
          </a:p>
        </p:txBody>
      </p:sp>
      <p:cxnSp>
        <p:nvCxnSpPr>
          <p:cNvPr id="7" name="6 Conector recto de flecha"/>
          <p:cNvCxnSpPr/>
          <p:nvPr/>
        </p:nvCxnSpPr>
        <p:spPr>
          <a:xfrm>
            <a:off x="899592" y="4941168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 de flecha"/>
          <p:cNvCxnSpPr/>
          <p:nvPr/>
        </p:nvCxnSpPr>
        <p:spPr>
          <a:xfrm flipV="1">
            <a:off x="2555648" y="4293096"/>
            <a:ext cx="0" cy="12241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Elipse"/>
          <p:cNvSpPr/>
          <p:nvPr/>
        </p:nvSpPr>
        <p:spPr>
          <a:xfrm>
            <a:off x="2480016" y="4450760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Elipse"/>
          <p:cNvSpPr/>
          <p:nvPr/>
        </p:nvSpPr>
        <p:spPr>
          <a:xfrm>
            <a:off x="3351648" y="445076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Elipse"/>
          <p:cNvSpPr/>
          <p:nvPr/>
        </p:nvSpPr>
        <p:spPr>
          <a:xfrm>
            <a:off x="1623440" y="443711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Elipse"/>
          <p:cNvSpPr/>
          <p:nvPr/>
        </p:nvSpPr>
        <p:spPr>
          <a:xfrm>
            <a:off x="2480016" y="5301224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3351648" y="530122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1623440" y="528757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7" name="16 Conector recto"/>
          <p:cNvCxnSpPr/>
          <p:nvPr/>
        </p:nvCxnSpPr>
        <p:spPr>
          <a:xfrm flipH="1">
            <a:off x="2166511" y="4232392"/>
            <a:ext cx="1929" cy="127119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H="1">
            <a:off x="3157207" y="4232392"/>
            <a:ext cx="1929" cy="1271192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H="1">
            <a:off x="2985895" y="4221088"/>
            <a:ext cx="1929" cy="127119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H="1">
            <a:off x="2004664" y="4238504"/>
            <a:ext cx="1929" cy="1271192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2919584" y="460610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u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379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17 – Detectores MAP y ML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smtClean="0"/>
              <a:t>3) Para </a:t>
            </a:r>
            <a:r>
              <a:rPr lang="es-AR" sz="1800" dirty="0" smtClean="0"/>
              <a:t>calcular la Pe exacta, debemos proceder como en la </a:t>
            </a:r>
            <a:r>
              <a:rPr lang="es-AR" sz="1800" smtClean="0"/>
              <a:t>diapositiva 17, </a:t>
            </a:r>
            <a:r>
              <a:rPr lang="es-AR" sz="1800" dirty="0" smtClean="0"/>
              <a:t>pero evaluando la función Q en el umbral de detección obtenido en (</a:t>
            </a:r>
            <a:r>
              <a:rPr lang="es-AR" sz="1800" smtClean="0"/>
              <a:t>2), es decir, d/2 + u.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/>
              <a:t>4</a:t>
            </a:r>
            <a:r>
              <a:rPr lang="es-AR" sz="1800" smtClean="0"/>
              <a:t>) </a:t>
            </a:r>
            <a:r>
              <a:rPr lang="es-AR" sz="1800" dirty="0" smtClean="0"/>
              <a:t>Las regiones de decisión y Pe correspondientes al detector ML se obtienen por los métodos ya tratados en los ejercicios anteriores.</a:t>
            </a:r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144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19 – FSK: separación de tonos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342900" indent="-342900" algn="just">
                  <a:buFont typeface="+mj-lt"/>
                  <a:buAutoNum type="arabicParenR"/>
                </a:pPr>
                <a:r>
                  <a:rPr lang="es-AR" sz="1800" smtClean="0"/>
                  <a:t>Sea </a:t>
                </a:r>
                <a:r>
                  <a:rPr lang="es-AR" sz="1800" dirty="0" smtClean="0"/>
                  <a:t>la expresión de un símbolo FSK:</a:t>
                </a:r>
                <a:endParaRPr lang="es-AR" sz="1800" dirty="0"/>
              </a:p>
              <a:p>
                <a:pPr marL="342900" indent="-342900" algn="just">
                  <a:buFont typeface="+mj-lt"/>
                  <a:buAutoNum type="arabicParenR" startAt="2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2"/>
                </a:pPr>
                <a:endParaRPr lang="es-AR" sz="1800" dirty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dirty="0" smtClean="0"/>
                  <a:t>Para obtener la separación de frecuencia que asegure la </a:t>
                </a:r>
                <a:r>
                  <a:rPr lang="es-AR" sz="1800" dirty="0" err="1" smtClean="0"/>
                  <a:t>ortogonalidad</a:t>
                </a:r>
                <a:r>
                  <a:rPr lang="es-AR" sz="1800" dirty="0" smtClean="0"/>
                  <a:t>, debemos plantear la condición &lt;si(t), </a:t>
                </a:r>
                <a:r>
                  <a:rPr lang="es-AR" sz="1800" dirty="0" err="1" smtClean="0"/>
                  <a:t>sj</a:t>
                </a:r>
                <a:r>
                  <a:rPr lang="es-AR" sz="1800" dirty="0" smtClean="0"/>
                  <a:t>(t)&gt; =0, i ≠ j. Demuestre que esto se cumple para </a:t>
                </a:r>
                <a:r>
                  <a:rPr lang="es-AR" sz="1800" dirty="0" err="1"/>
                  <a:t>Δ</a:t>
                </a:r>
                <a:r>
                  <a:rPr lang="es-AR" sz="1800" dirty="0" err="1" smtClean="0"/>
                  <a:t>f</a:t>
                </a:r>
                <a:r>
                  <a:rPr lang="es-AR" sz="1800" dirty="0" smtClean="0"/>
                  <a:t> = n/2T. Observe que por tratarse de FSK coherente, todos los símbolos poseen la misma fase inicial.</a:t>
                </a:r>
              </a:p>
              <a:p>
                <a:pPr marL="342900" indent="-342900" algn="just">
                  <a:buFont typeface="+mj-lt"/>
                  <a:buAutoNum type="arabicParenR" startAt="2"/>
                </a:pPr>
                <a:r>
                  <a:rPr lang="es-AR" sz="1800" dirty="0" smtClean="0"/>
                  <a:t>Al tratarse de una modulación ortogonal, se cumple N = M, por lo que cada símbolo se encuentra en una dimensión ortogonal a los demás y posee M-1 </a:t>
                </a:r>
                <a:r>
                  <a:rPr lang="es-AR" sz="1800" smtClean="0"/>
                  <a:t>vecinos. Plantee la cota UB o NNUB y el hecho de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1800" b="0" i="0" smtClean="0">
                        <a:latin typeface="Cambria Math"/>
                        <a:ea typeface="Cambria Math"/>
                      </a:rPr>
                      <m:t>d</m:t>
                    </m:r>
                    <m:r>
                      <a:rPr lang="es-AR" sz="1800" b="0" i="0" smtClean="0">
                        <a:latin typeface="Cambria Math"/>
                        <a:ea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sz="1800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800" i="1">
                            <a:latin typeface="Cambria Math"/>
                            <a:ea typeface="Cambria Math"/>
                          </a:rPr>
                          <m:t>ε</m:t>
                        </m:r>
                      </m:e>
                    </m:rad>
                  </m:oMath>
                </a14:m>
                <a:r>
                  <a:rPr lang="es-AR" sz="1800" dirty="0" smtClean="0"/>
                  <a:t> </a:t>
                </a:r>
                <a:r>
                  <a:rPr lang="es-AR" sz="1800" smtClean="0"/>
                  <a:t>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1800" i="1" smtClean="0"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800" i="1" smtClean="0">
                            <a:latin typeface="Cambria Math"/>
                            <a:ea typeface="Cambria Math"/>
                          </a:rPr>
                          <m:t>σ</m:t>
                        </m:r>
                      </m:e>
                      <m:sup>
                        <m:r>
                          <a:rPr lang="es-AR" sz="18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s-AR" sz="1800" b="0" i="1" smtClean="0">
                        <a:latin typeface="Cambria Math"/>
                      </a:rPr>
                      <m:t>=2</m:t>
                    </m:r>
                    <m:sSub>
                      <m:sSubPr>
                        <m:ctrlPr>
                          <a:rPr lang="es-AR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AR" sz="1800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s-AR" sz="1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s-AR" sz="18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s-AR" sz="1800" smtClean="0"/>
                  <a:t>para obtener:</a:t>
                </a: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sz="1800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s-AR" sz="1800" i="1">
                              <a:latin typeface="Cambria Math"/>
                            </a:rPr>
                            <m:t>𝑒𝑁𝑁𝑈𝐵</m:t>
                          </m:r>
                        </m:sub>
                      </m:sSub>
                      <m:sSub>
                        <m:sSubPr>
                          <m:ctrlPr>
                            <a:rPr lang="es-AR" sz="1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sz="1800" b="0" i="1" smtClean="0">
                              <a:latin typeface="Cambria Math"/>
                            </a:rPr>
                            <m:t>=</m:t>
                          </m:r>
                          <m:r>
                            <a:rPr lang="es-AR" sz="18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s-AR" sz="1800" b="0" i="1" smtClean="0">
                              <a:latin typeface="Cambria Math"/>
                            </a:rPr>
                            <m:t>𝑒𝑈𝐵</m:t>
                          </m:r>
                        </m:sub>
                      </m:sSub>
                      <m:r>
                        <a:rPr lang="es-AR" sz="1800" i="1">
                          <a:latin typeface="Cambria Math"/>
                        </a:rPr>
                        <m:t>=&lt;</m:t>
                      </m:r>
                      <m:sSub>
                        <m:sSubPr>
                          <m:ctrlPr>
                            <a:rPr lang="es-AR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sz="1800" i="1"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s-AR" sz="1800" i="1">
                              <a:latin typeface="Cambria Math"/>
                            </a:rPr>
                            <m:t>𝑒</m:t>
                          </m:r>
                        </m:sub>
                      </m:sSub>
                      <m:r>
                        <a:rPr lang="es-AR" sz="1800" i="1">
                          <a:latin typeface="Cambria Math"/>
                        </a:rPr>
                        <m:t>&gt;.</m:t>
                      </m:r>
                      <m:r>
                        <a:rPr lang="es-AR" sz="1800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sz="1800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sz="1800" i="1">
                                      <a:latin typeface="Cambria Math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AR" sz="1800" i="1">
                                      <a:latin typeface="Cambria Math"/>
                                    </a:rPr>
                                    <m:t>𝑚𝑖𝑛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sz="1800" i="1">
                                  <a:latin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l-GR" sz="1800" i="1">
                                  <a:latin typeface="Cambria Math"/>
                                  <a:ea typeface="Cambria Math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s-AR" sz="18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s-AR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sz="1800" i="1">
                              <a:latin typeface="Cambria Math"/>
                            </a:rPr>
                            <m:t>𝑀</m:t>
                          </m:r>
                          <m:r>
                            <a:rPr lang="es-AR" sz="1800" i="1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s-AR" sz="1800" i="1">
                          <a:latin typeface="Cambria Math"/>
                        </a:rPr>
                        <m:t>.</m:t>
                      </m:r>
                      <m:r>
                        <a:rPr lang="es-AR" sz="1800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sz="1800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sz="18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sz="1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s-AR" sz="1800" dirty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algn="just"/>
                <a:endParaRPr lang="es-AR" sz="18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59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33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79" t="57649" r="22694" b="29664"/>
          <a:stretch/>
        </p:blipFill>
        <p:spPr bwMode="auto">
          <a:xfrm>
            <a:off x="1187624" y="1616925"/>
            <a:ext cx="6769290" cy="928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239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19 – FSK: separación de tonos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smtClean="0"/>
              <a:t>3) Véase </a:t>
            </a:r>
            <a:r>
              <a:rPr lang="es-AR" sz="1800" dirty="0" smtClean="0"/>
              <a:t>la implementación del detector coherente, con banco de </a:t>
            </a:r>
            <a:r>
              <a:rPr lang="es-AR" sz="1800" dirty="0" err="1" smtClean="0"/>
              <a:t>correladores</a:t>
            </a:r>
            <a:r>
              <a:rPr lang="es-AR" sz="1800" dirty="0" smtClean="0"/>
              <a:t> o FA, en la literatura (</a:t>
            </a:r>
            <a:r>
              <a:rPr lang="es-AR" sz="1800" dirty="0" err="1" smtClean="0"/>
              <a:t>Proakis</a:t>
            </a:r>
            <a:r>
              <a:rPr lang="es-AR" sz="1800" dirty="0" smtClean="0"/>
              <a:t> o </a:t>
            </a:r>
            <a:r>
              <a:rPr lang="es-AR" sz="1800" b="1" u="sng" dirty="0" smtClean="0"/>
              <a:t>[</a:t>
            </a:r>
            <a:r>
              <a:rPr lang="es-AR" sz="1800" b="1" u="sng" dirty="0" err="1" smtClean="0"/>
              <a:t>Xiong</a:t>
            </a:r>
            <a:r>
              <a:rPr lang="es-AR" sz="1800" b="1" u="sng" dirty="0" smtClean="0"/>
              <a:t>, «Digital </a:t>
            </a:r>
            <a:r>
              <a:rPr lang="es-AR" sz="1800" b="1" u="sng" dirty="0" err="1" smtClean="0"/>
              <a:t>Modulation</a:t>
            </a:r>
            <a:r>
              <a:rPr lang="es-AR" sz="1800" b="1" u="sng" dirty="0" smtClean="0"/>
              <a:t> </a:t>
            </a:r>
            <a:r>
              <a:rPr lang="es-AR" sz="1800" b="1" u="sng" dirty="0" err="1" smtClean="0"/>
              <a:t>Techniques</a:t>
            </a:r>
            <a:r>
              <a:rPr lang="es-AR" sz="1800" b="1" u="sng" dirty="0" smtClean="0"/>
              <a:t>»]</a:t>
            </a:r>
            <a:r>
              <a:rPr lang="es-AR" sz="1800" dirty="0" smtClean="0"/>
              <a:t>.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34</a:t>
            </a:fld>
            <a:endParaRPr lang="es-E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47"/>
          <a:stretch/>
        </p:blipFill>
        <p:spPr bwMode="auto">
          <a:xfrm>
            <a:off x="4716016" y="2708920"/>
            <a:ext cx="4176464" cy="2945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Frequency Shift Keying (FSK) signal [5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40" y="3140968"/>
            <a:ext cx="4430260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88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19 – FSK: separación de tonos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 algn="just">
                  <a:buFont typeface="+mj-lt"/>
                  <a:buAutoNum type="arabicParenR" startAt="4"/>
                </a:pPr>
                <a:r>
                  <a:rPr lang="es-AR" sz="1800" dirty="0" smtClean="0"/>
                  <a:t>Para detección no coherente, se acepta que cualquier par de símbolos posean diferentes fases iniciales. Repita (1) para un desfasaje </a:t>
                </a:r>
                <a:r>
                  <a:rPr lang="el-GR" sz="1800" dirty="0" smtClean="0"/>
                  <a:t>φ</a:t>
                </a:r>
                <a:r>
                  <a:rPr lang="es-AR" sz="1800" dirty="0" smtClean="0"/>
                  <a:t> desconocido entre los símbolos y demuestre que </a:t>
                </a:r>
                <a:r>
                  <a:rPr lang="es-AR" sz="1800" smtClean="0"/>
                  <a:t>la ortogonalidad </a:t>
                </a:r>
                <a:r>
                  <a:rPr lang="es-AR" sz="1800" dirty="0" smtClean="0"/>
                  <a:t>se cumple </a:t>
                </a:r>
                <a:r>
                  <a:rPr lang="es-AR" sz="1800" dirty="0"/>
                  <a:t>para </a:t>
                </a:r>
                <a:r>
                  <a:rPr lang="es-AR" sz="1800" dirty="0" err="1"/>
                  <a:t>Δf</a:t>
                </a:r>
                <a:r>
                  <a:rPr lang="es-AR" sz="1800" dirty="0"/>
                  <a:t> </a:t>
                </a:r>
                <a:r>
                  <a:rPr lang="es-AR" sz="1800" dirty="0" smtClean="0"/>
                  <a:t>= n/T. El detector no coherente puede implementarse con detectores de envolvente, y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s-AR" sz="1800" b="0" i="1" smtClean="0">
                        <a:latin typeface="Cambria Math"/>
                      </a:rPr>
                      <m:t>𝑃𝑒</m:t>
                    </m:r>
                    <m:r>
                      <a:rPr lang="es-AR" sz="1800" b="0" i="1" smtClean="0">
                        <a:latin typeface="Cambria Math"/>
                        <a:ea typeface="Cambria Math"/>
                      </a:rPr>
                      <m:t>≤</m:t>
                    </m:r>
                    <m:f>
                      <m:fPr>
                        <m:ctrlPr>
                          <a:rPr lang="es-AR" sz="18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𝑀</m:t>
                        </m:r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num>
                      <m:den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s-AR" sz="1800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𝑒</m:t>
                        </m:r>
                      </m:e>
                      <m:sup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s-AR" sz="1800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sz="1800" b="0" i="1" smtClean="0">
                                <a:latin typeface="Cambria Math"/>
                                <a:ea typeface="Cambria Math"/>
                              </a:rPr>
                              <m:t>ε</m:t>
                            </m:r>
                          </m:num>
                          <m:den>
                            <m:r>
                              <a:rPr lang="es-AR" sz="18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s-AR" sz="18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s-AR" sz="1800" b="0" i="1" smtClean="0">
                                    <a:latin typeface="Cambria Math"/>
                                    <a:ea typeface="Cambria Math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AR" sz="1800" b="0" i="1" smtClean="0"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s-AR" sz="1800" dirty="0" smtClean="0"/>
                  <a:t>	Ver </a:t>
                </a:r>
                <a:r>
                  <a:rPr lang="es-AR" sz="1800" dirty="0" err="1" smtClean="0"/>
                  <a:t>Xiong</a:t>
                </a:r>
                <a:r>
                  <a:rPr lang="es-AR" sz="1800" dirty="0" smtClean="0"/>
                  <a:t>, Ap</a:t>
                </a:r>
                <a:r>
                  <a:rPr lang="es-AR" sz="1800" smtClean="0"/>
                  <a:t>. B.3 (p. 625) </a:t>
                </a:r>
                <a:r>
                  <a:rPr lang="es-AR" sz="1800" dirty="0" smtClean="0"/>
                  <a:t>– </a:t>
                </a:r>
                <a:r>
                  <a:rPr lang="es-AR" sz="1800" dirty="0" err="1" smtClean="0"/>
                  <a:t>Proakis</a:t>
                </a:r>
                <a:r>
                  <a:rPr lang="es-AR" sz="1800" dirty="0" smtClean="0"/>
                  <a:t>, 4.5-3.</a:t>
                </a:r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algn="just"/>
                <a:endParaRPr lang="es-AR" sz="18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494" r="-59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35</a:t>
            </a:fld>
            <a:endParaRPr lang="es-E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008" y="3645024"/>
            <a:ext cx="5124450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981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19 – FSK: separación de tonos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36</a:t>
            </a:fld>
            <a:endParaRPr lang="es-E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39" t="19403" r="14778" b="15578"/>
          <a:stretch/>
        </p:blipFill>
        <p:spPr bwMode="auto">
          <a:xfrm>
            <a:off x="1313829" y="1258880"/>
            <a:ext cx="6516341" cy="4756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251520" y="6032321"/>
            <a:ext cx="75425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200" smtClean="0"/>
              <a:t>Fuente: http</a:t>
            </a:r>
            <a:r>
              <a:rPr lang="es-AR" sz="1200"/>
              <a:t>://www.atlantarf.com/attachments/File/Link_Budget_-_Digital_Modulation_Part_2.pdf</a:t>
            </a:r>
          </a:p>
        </p:txBody>
      </p:sp>
    </p:spTree>
    <p:extLst>
      <p:ext uri="{BB962C8B-B14F-4D97-AF65-F5344CB8AC3E}">
        <p14:creationId xmlns:p14="http://schemas.microsoft.com/office/powerpoint/2010/main" val="87478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19 – FSK: separación de tonos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 algn="just">
                  <a:buFont typeface="+mj-lt"/>
                  <a:buAutoNum type="arabicParenR" startAt="5"/>
                </a:pPr>
                <a:r>
                  <a:rPr lang="es-AR" sz="1800" smtClean="0"/>
                  <a:t>Plantee </a:t>
                </a:r>
                <a:r>
                  <a:rPr lang="es-AR" sz="1800" dirty="0" smtClean="0"/>
                  <a:t>el producto interno entre un par de símbolos FSK y obtenga el valor de </a:t>
                </a:r>
                <a:r>
                  <a:rPr lang="es-AR" sz="1800" dirty="0" err="1"/>
                  <a:t>Δf</a:t>
                </a:r>
                <a:r>
                  <a:rPr lang="es-AR" sz="1800" dirty="0"/>
                  <a:t> </a:t>
                </a:r>
                <a:r>
                  <a:rPr lang="es-AR" sz="1800" dirty="0" smtClean="0"/>
                  <a:t>que minimiza dicho producto.</a:t>
                </a:r>
              </a:p>
              <a:p>
                <a:pPr marL="342900" indent="-342900" algn="just">
                  <a:buFont typeface="+mj-lt"/>
                  <a:buAutoNum type="arabicParenR" startAt="5"/>
                </a:pPr>
                <a:r>
                  <a:rPr lang="es-AR" sz="1800" dirty="0" smtClean="0"/>
                  <a:t>La probabilidad de error, para 2-FSK en tal condición, </a:t>
                </a:r>
                <a:r>
                  <a:rPr lang="es-AR" sz="1800" smtClean="0"/>
                  <a:t>es Pe </a:t>
                </a:r>
                <a:r>
                  <a:rPr lang="es-AR" sz="1800" dirty="0" smtClean="0"/>
                  <a:t>= Q(d/2</a:t>
                </a:r>
                <a:r>
                  <a:rPr lang="el-GR" sz="1800" smtClean="0">
                    <a:latin typeface="Cambria Math"/>
                    <a:ea typeface="Cambria Math"/>
                  </a:rPr>
                  <a:t>σ</a:t>
                </a:r>
                <a:r>
                  <a:rPr lang="es-AR" sz="1800" smtClean="0">
                    <a:latin typeface="Cambria Math"/>
                    <a:ea typeface="Cambria Math"/>
                  </a:rPr>
                  <a:t>), siendo 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la distancia </a:t>
                </a:r>
                <a:r>
                  <a:rPr lang="es-AR" sz="1800" smtClean="0">
                    <a:latin typeface="Cambria Math"/>
                    <a:ea typeface="Cambria Math"/>
                  </a:rPr>
                  <a:t>entre símbolos y el coeficiente de correlación entre ellos:</a:t>
                </a:r>
                <a:endParaRPr lang="es-AR" sz="1800" b="0" i="1" smtClean="0">
                  <a:latin typeface="Cambria Math"/>
                  <a:ea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s-AR" sz="18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s-AR" sz="1800" b="0" i="1" smtClean="0">
                        <a:latin typeface="Cambria Math"/>
                        <a:ea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sz="1800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800" b="0" i="1" smtClean="0">
                            <a:latin typeface="Cambria Math"/>
                            <a:ea typeface="Cambria Math"/>
                          </a:rPr>
                          <m:t>ε</m:t>
                        </m:r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(1−</m:t>
                        </m:r>
                        <m:r>
                          <m:rPr>
                            <m:nor/>
                          </m:rPr>
                          <a:rPr lang="el-GR" sz="1400"/>
                          <m:t>ρ</m:t>
                        </m:r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rad>
                  </m:oMath>
                </a14:m>
                <a:r>
                  <a:rPr lang="es-AR" sz="1800" dirty="0" smtClean="0"/>
                  <a:t>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800" dirty="0"/>
                      <m:t>ρ</m:t>
                    </m:r>
                  </m:oMath>
                </a14:m>
                <a:r>
                  <a:rPr lang="es-AR" sz="1800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180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AR" sz="1800" b="0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s-AR" sz="1800" b="0" i="1" dirty="0" smtClean="0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800" b="0" i="1" dirty="0" smtClean="0">
                            <a:latin typeface="Cambria Math"/>
                          </a:rPr>
                          <m:t>ε</m:t>
                        </m:r>
                      </m:den>
                    </m:f>
                    <m:nary>
                      <m:naryPr>
                        <m:ctrlPr>
                          <a:rPr lang="es-AR" sz="1800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1800" b="0" i="1" dirty="0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s-AR" sz="1800" b="0" i="1" dirty="0" smtClean="0">
                            <a:latin typeface="Cambria Math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s-AR" sz="180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sz="1800" b="0" i="1" dirty="0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s-AR" sz="1800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AR" sz="1800" b="0" i="1" dirty="0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AR" sz="1800" b="0" i="1" dirty="0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s-AR" sz="1800" b="0" i="1" dirty="0" smtClean="0">
                            <a:latin typeface="Cambria Math"/>
                          </a:rPr>
                          <m:t>.</m:t>
                        </m:r>
                        <m:sSup>
                          <m:sSupPr>
                            <m:ctrlPr>
                              <a:rPr lang="es-AR" sz="18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s-AR" sz="1800" i="1" dirty="0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s-AR" sz="1800" i="1" dirty="0">
                                    <a:latin typeface="Cambria Math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s-AR" sz="1800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  <m:sup/>
                            </m:sSubSup>
                          </m:e>
                          <m:sup>
                            <m:r>
                              <a:rPr lang="es-AR" sz="1800" b="0" i="1" dirty="0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s-AR" sz="1800" b="0" i="1" dirty="0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AR" sz="1800" b="0" i="1" dirty="0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s-AR" sz="1800" b="0" i="1" dirty="0" smtClean="0">
                            <a:latin typeface="Cambria Math"/>
                          </a:rPr>
                          <m:t>𝑑𝑡</m:t>
                        </m:r>
                        <m:r>
                          <a:rPr lang="es-AR" sz="1800" b="0" i="1" dirty="0" smtClean="0">
                            <a:latin typeface="Cambria Math"/>
                          </a:rPr>
                          <m:t> </m:t>
                        </m:r>
                      </m:e>
                    </m:nary>
                  </m:oMath>
                </a14:m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algn="just"/>
                <a:endParaRPr lang="es-AR" sz="18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494" r="-59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37</a:t>
            </a:fld>
            <a:endParaRPr lang="es-ES"/>
          </a:p>
        </p:txBody>
      </p:sp>
      <p:grpSp>
        <p:nvGrpSpPr>
          <p:cNvPr id="7" name="6 Grupo"/>
          <p:cNvGrpSpPr/>
          <p:nvPr/>
        </p:nvGrpSpPr>
        <p:grpSpPr>
          <a:xfrm>
            <a:off x="2943112" y="3429634"/>
            <a:ext cx="3262601" cy="2934278"/>
            <a:chOff x="1453415" y="1484784"/>
            <a:chExt cx="6216625" cy="4662470"/>
          </a:xfrm>
        </p:grpSpPr>
        <p:pic>
          <p:nvPicPr>
            <p:cNvPr id="8" name="Picture 2" descr="Figure The signal. - ppt video online download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415" y="1484784"/>
              <a:ext cx="6216625" cy="4662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8 Elipse"/>
            <p:cNvSpPr/>
            <p:nvPr/>
          </p:nvSpPr>
          <p:spPr>
            <a:xfrm>
              <a:off x="2731624" y="3416120"/>
              <a:ext cx="129600" cy="1296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428803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20 – Modulación </a:t>
            </a:r>
            <a:r>
              <a:rPr lang="es-AR" dirty="0" err="1" smtClean="0"/>
              <a:t>biortogonal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AR" sz="1800" dirty="0" smtClean="0"/>
              <a:t>En general, las modulaciones </a:t>
            </a:r>
            <a:r>
              <a:rPr lang="es-AR" sz="1800" dirty="0" err="1" smtClean="0"/>
              <a:t>biortogonales</a:t>
            </a:r>
            <a:r>
              <a:rPr lang="es-AR" sz="1800" dirty="0" smtClean="0"/>
              <a:t> se obtienen a partir de N = M/2 funciones ortogonales, incluyendo sus funciones negativas:</a:t>
            </a:r>
            <a:endParaRPr lang="es-AR" sz="1800" dirty="0"/>
          </a:p>
          <a:p>
            <a:pPr marL="342900" indent="-342900" algn="just">
              <a:buFont typeface="+mj-lt"/>
              <a:buAutoNum type="arabicParenR" startAt="2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2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2"/>
            </a:pPr>
            <a:endParaRPr lang="es-AR" sz="1800" dirty="0"/>
          </a:p>
          <a:p>
            <a:pPr marL="342900" indent="-342900" algn="just">
              <a:buFont typeface="+mj-lt"/>
              <a:buAutoNum type="arabicParenR" startAt="2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2"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smtClean="0"/>
          </a:p>
          <a:p>
            <a:pPr marL="0" indent="0" algn="just">
              <a:buNone/>
            </a:pPr>
            <a:endParaRPr lang="es-AR" sz="1800" smtClean="0"/>
          </a:p>
          <a:p>
            <a:pPr marL="0" indent="0" algn="just">
              <a:buNone/>
            </a:pPr>
            <a:r>
              <a:rPr lang="es-AR" sz="1800" smtClean="0"/>
              <a:t>En </a:t>
            </a:r>
            <a:r>
              <a:rPr lang="es-AR" sz="1800" dirty="0" smtClean="0"/>
              <a:t>este ejemplo, N = 3 y M = 6</a:t>
            </a:r>
            <a:r>
              <a:rPr lang="es-AR" sz="1800" smtClean="0"/>
              <a:t>. Los </a:t>
            </a:r>
            <a:r>
              <a:rPr lang="es-AR" sz="1800" dirty="0" smtClean="0"/>
              <a:t>símbolos tienen energía </a:t>
            </a:r>
            <a:r>
              <a:rPr lang="el-GR" sz="1800" dirty="0" smtClean="0"/>
              <a:t>ε</a:t>
            </a:r>
            <a:r>
              <a:rPr lang="es-AR" sz="1800" dirty="0" smtClean="0"/>
              <a:t> (igual a la energía promedio), y coordenadas (0, 0, …., (</a:t>
            </a:r>
            <a:r>
              <a:rPr lang="el-GR" sz="1800" dirty="0" smtClean="0"/>
              <a:t>ε</a:t>
            </a:r>
            <a:r>
              <a:rPr lang="es-AR" sz="1800" dirty="0" smtClean="0"/>
              <a:t>)</a:t>
            </a:r>
            <a:r>
              <a:rPr lang="es-AR" sz="1800" baseline="30000" dirty="0" smtClean="0"/>
              <a:t>1/2</a:t>
            </a:r>
            <a:r>
              <a:rPr lang="es-AR" sz="1800" dirty="0" smtClean="0"/>
              <a:t>, …, 0, </a:t>
            </a:r>
            <a:r>
              <a:rPr lang="es-AR" sz="1800" smtClean="0"/>
              <a:t>0). Observen que pueden agregarse símbolos sin modificar la energía y sin que se reduzca la distancia mínima.</a:t>
            </a:r>
            <a:endParaRPr lang="es-AR" sz="1800" dirty="0" smtClean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38</a:t>
            </a:fld>
            <a:endParaRPr lang="es-ES"/>
          </a:p>
        </p:txBody>
      </p:sp>
      <p:grpSp>
        <p:nvGrpSpPr>
          <p:cNvPr id="7" name="6 Grupo"/>
          <p:cNvGrpSpPr/>
          <p:nvPr/>
        </p:nvGrpSpPr>
        <p:grpSpPr>
          <a:xfrm>
            <a:off x="5580112" y="1916832"/>
            <a:ext cx="2945506" cy="2592288"/>
            <a:chOff x="2915816" y="1916832"/>
            <a:chExt cx="2945506" cy="2592288"/>
          </a:xfrm>
        </p:grpSpPr>
        <p:grpSp>
          <p:nvGrpSpPr>
            <p:cNvPr id="20" name="19 Grupo"/>
            <p:cNvGrpSpPr/>
            <p:nvPr/>
          </p:nvGrpSpPr>
          <p:grpSpPr>
            <a:xfrm>
              <a:off x="3269034" y="1916832"/>
              <a:ext cx="2592288" cy="2592288"/>
              <a:chOff x="3347864" y="1916832"/>
              <a:chExt cx="1440160" cy="1440160"/>
            </a:xfrm>
          </p:grpSpPr>
          <p:cxnSp>
            <p:nvCxnSpPr>
              <p:cNvPr id="8" name="7 Conector recto de flecha"/>
              <p:cNvCxnSpPr/>
              <p:nvPr/>
            </p:nvCxnSpPr>
            <p:spPr>
              <a:xfrm flipV="1">
                <a:off x="4067944" y="1916832"/>
                <a:ext cx="0" cy="144016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9 Conector recto de flecha"/>
              <p:cNvCxnSpPr/>
              <p:nvPr/>
            </p:nvCxnSpPr>
            <p:spPr>
              <a:xfrm rot="5400000" flipV="1">
                <a:off x="4067944" y="1916832"/>
                <a:ext cx="0" cy="144016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10 Conector recto de flecha"/>
              <p:cNvCxnSpPr/>
              <p:nvPr/>
            </p:nvCxnSpPr>
            <p:spPr>
              <a:xfrm flipH="1">
                <a:off x="3635896" y="2148622"/>
                <a:ext cx="872480" cy="92772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12 Elipse"/>
              <p:cNvSpPr/>
              <p:nvPr/>
            </p:nvSpPr>
            <p:spPr>
              <a:xfrm>
                <a:off x="4434806" y="2564904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4" name="13 Elipse"/>
              <p:cNvSpPr/>
              <p:nvPr/>
            </p:nvSpPr>
            <p:spPr>
              <a:xfrm>
                <a:off x="3491880" y="2564904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5" name="14 Elipse"/>
              <p:cNvSpPr/>
              <p:nvPr/>
            </p:nvSpPr>
            <p:spPr>
              <a:xfrm>
                <a:off x="4004880" y="2173332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6" name="15 Elipse"/>
              <p:cNvSpPr/>
              <p:nvPr/>
            </p:nvSpPr>
            <p:spPr>
              <a:xfrm>
                <a:off x="3995936" y="2996968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16 Elipse"/>
              <p:cNvSpPr/>
              <p:nvPr/>
            </p:nvSpPr>
            <p:spPr>
              <a:xfrm>
                <a:off x="4283968" y="2276872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8" name="17 Elipse"/>
              <p:cNvSpPr/>
              <p:nvPr/>
            </p:nvSpPr>
            <p:spPr>
              <a:xfrm>
                <a:off x="3764146" y="2814598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20 CuadroTexto"/>
                <p:cNvSpPr txBox="1"/>
                <p:nvPr/>
              </p:nvSpPr>
              <p:spPr>
                <a:xfrm>
                  <a:off x="5077154" y="3344429"/>
                  <a:ext cx="502958" cy="3726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ε</m:t>
                            </m:r>
                          </m:e>
                        </m:rad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1" name="2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7154" y="3344429"/>
                  <a:ext cx="502958" cy="37260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22 CuadroTexto"/>
                <p:cNvSpPr txBox="1"/>
                <p:nvPr/>
              </p:nvSpPr>
              <p:spPr>
                <a:xfrm>
                  <a:off x="3939694" y="2308404"/>
                  <a:ext cx="502958" cy="3726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ε</m:t>
                            </m:r>
                          </m:e>
                        </m:rad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3" name="22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9694" y="2308404"/>
                  <a:ext cx="502958" cy="372603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23 CuadroTexto"/>
                <p:cNvSpPr txBox="1"/>
                <p:nvPr/>
              </p:nvSpPr>
              <p:spPr>
                <a:xfrm>
                  <a:off x="3492978" y="3488445"/>
                  <a:ext cx="502958" cy="3726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ε</m:t>
                            </m:r>
                          </m:e>
                        </m:rad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4" name="2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2978" y="3488445"/>
                  <a:ext cx="502958" cy="372603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24 CuadroTexto"/>
                <p:cNvSpPr txBox="1"/>
                <p:nvPr/>
              </p:nvSpPr>
              <p:spPr>
                <a:xfrm>
                  <a:off x="2915816" y="3200413"/>
                  <a:ext cx="676083" cy="3726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b="0" i="1" smtClean="0">
                            <a:latin typeface="Cambria Math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ε</m:t>
                            </m:r>
                          </m:e>
                        </m:rad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5" name="24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5816" y="3200413"/>
                  <a:ext cx="676083" cy="37260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25 CuadroTexto"/>
                <p:cNvSpPr txBox="1"/>
                <p:nvPr/>
              </p:nvSpPr>
              <p:spPr>
                <a:xfrm>
                  <a:off x="3779912" y="3992501"/>
                  <a:ext cx="676083" cy="3726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b="0" i="1" smtClean="0">
                            <a:latin typeface="Cambria Math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ε</m:t>
                            </m:r>
                          </m:e>
                        </m:rad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6" name="25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9912" y="3992501"/>
                  <a:ext cx="676083" cy="372603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26 CuadroTexto"/>
                <p:cNvSpPr txBox="1"/>
                <p:nvPr/>
              </p:nvSpPr>
              <p:spPr>
                <a:xfrm>
                  <a:off x="5056989" y="2380412"/>
                  <a:ext cx="676083" cy="3726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b="0" i="1" smtClean="0">
                            <a:latin typeface="Cambria Math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ε</m:t>
                            </m:r>
                          </m:e>
                        </m:rad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7" name="26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989" y="2380412"/>
                  <a:ext cx="676083" cy="372603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8 Grupo"/>
          <p:cNvGrpSpPr/>
          <p:nvPr/>
        </p:nvGrpSpPr>
        <p:grpSpPr>
          <a:xfrm>
            <a:off x="683568" y="1916832"/>
            <a:ext cx="2592288" cy="2592288"/>
            <a:chOff x="1396826" y="1916832"/>
            <a:chExt cx="2592288" cy="2592288"/>
          </a:xfrm>
        </p:grpSpPr>
        <p:cxnSp>
          <p:nvCxnSpPr>
            <p:cNvPr id="36" name="35 Conector recto de flecha"/>
            <p:cNvCxnSpPr/>
            <p:nvPr/>
          </p:nvCxnSpPr>
          <p:spPr>
            <a:xfrm flipV="1">
              <a:off x="2692970" y="1916832"/>
              <a:ext cx="0" cy="25922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36 Conector recto de flecha"/>
            <p:cNvCxnSpPr/>
            <p:nvPr/>
          </p:nvCxnSpPr>
          <p:spPr>
            <a:xfrm rot="5400000" flipV="1">
              <a:off x="2692970" y="1916832"/>
              <a:ext cx="0" cy="25922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37 Conector recto de flecha"/>
            <p:cNvCxnSpPr/>
            <p:nvPr/>
          </p:nvCxnSpPr>
          <p:spPr>
            <a:xfrm flipH="1">
              <a:off x="1915284" y="2334054"/>
              <a:ext cx="1570464" cy="166989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38 Elipse"/>
            <p:cNvSpPr/>
            <p:nvPr/>
          </p:nvSpPr>
          <p:spPr>
            <a:xfrm>
              <a:off x="3353322" y="3083362"/>
              <a:ext cx="259200" cy="259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1" name="40 Elipse"/>
            <p:cNvSpPr/>
            <p:nvPr/>
          </p:nvSpPr>
          <p:spPr>
            <a:xfrm>
              <a:off x="2579455" y="2378532"/>
              <a:ext cx="259200" cy="259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4" name="43 Elipse"/>
            <p:cNvSpPr/>
            <p:nvPr/>
          </p:nvSpPr>
          <p:spPr>
            <a:xfrm>
              <a:off x="2146134" y="3532811"/>
              <a:ext cx="259200" cy="259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29 CuadroTexto"/>
                <p:cNvSpPr txBox="1"/>
                <p:nvPr/>
              </p:nvSpPr>
              <p:spPr>
                <a:xfrm>
                  <a:off x="3204946" y="3344429"/>
                  <a:ext cx="502958" cy="3726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ε</m:t>
                            </m:r>
                          </m:e>
                        </m:rad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30" name="29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4946" y="3344429"/>
                  <a:ext cx="502958" cy="372603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30 CuadroTexto"/>
                <p:cNvSpPr txBox="1"/>
                <p:nvPr/>
              </p:nvSpPr>
              <p:spPr>
                <a:xfrm>
                  <a:off x="2067486" y="2308404"/>
                  <a:ext cx="502958" cy="3726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ε</m:t>
                            </m:r>
                          </m:e>
                        </m:rad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31" name="3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7486" y="2308404"/>
                  <a:ext cx="502958" cy="372603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31 CuadroTexto"/>
                <p:cNvSpPr txBox="1"/>
                <p:nvPr/>
              </p:nvSpPr>
              <p:spPr>
                <a:xfrm>
                  <a:off x="1620770" y="3488445"/>
                  <a:ext cx="502958" cy="3726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ε</m:t>
                            </m:r>
                          </m:e>
                        </m:rad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32" name="31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770" y="3488445"/>
                  <a:ext cx="502958" cy="372603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11 Flecha derecha"/>
          <p:cNvSpPr/>
          <p:nvPr/>
        </p:nvSpPr>
        <p:spPr>
          <a:xfrm>
            <a:off x="3951224" y="2874368"/>
            <a:ext cx="1224136" cy="719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44 CuadroTexto"/>
              <p:cNvSpPr txBox="1"/>
              <p:nvPr/>
            </p:nvSpPr>
            <p:spPr>
              <a:xfrm>
                <a:off x="2987824" y="1935801"/>
                <a:ext cx="13565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𝑁</m:t>
                      </m:r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𝑀</m:t>
                      </m:r>
                      <m:r>
                        <a:rPr lang="es-AR" b="0" i="1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5" name="4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1935801"/>
                <a:ext cx="1356525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45 CuadroTexto"/>
              <p:cNvSpPr txBox="1"/>
              <p:nvPr/>
            </p:nvSpPr>
            <p:spPr>
              <a:xfrm>
                <a:off x="5148064" y="1930480"/>
                <a:ext cx="1598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𝑁</m:t>
                      </m:r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𝑀</m:t>
                      </m:r>
                      <m:r>
                        <a:rPr lang="es-AR" b="0" i="1" smtClean="0">
                          <a:latin typeface="Cambria Math"/>
                        </a:rPr>
                        <m:t>/2=3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6" name="4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1930480"/>
                <a:ext cx="1598579" cy="369332"/>
              </a:xfrm>
              <a:prstGeom prst="rect">
                <a:avLst/>
              </a:prstGeom>
              <a:blipFill rotWithShape="1">
                <a:blip r:embed="rId1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18 CuadroTexto"/>
          <p:cNvSpPr txBox="1"/>
          <p:nvPr/>
        </p:nvSpPr>
        <p:spPr>
          <a:xfrm>
            <a:off x="1380106" y="442782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Ortogonal</a:t>
            </a:r>
            <a:endParaRPr lang="es-AR"/>
          </a:p>
        </p:txBody>
      </p:sp>
      <p:sp>
        <p:nvSpPr>
          <p:cNvPr id="40" name="39 CuadroTexto"/>
          <p:cNvSpPr txBox="1"/>
          <p:nvPr/>
        </p:nvSpPr>
        <p:spPr>
          <a:xfrm>
            <a:off x="6519154" y="443711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Bi-ortogonal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86021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20 – Modulación </a:t>
            </a:r>
            <a:r>
              <a:rPr lang="es-AR" dirty="0" err="1" smtClean="0"/>
              <a:t>biortogonal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 algn="just">
                  <a:buFont typeface="+mj-lt"/>
                  <a:buAutoNum type="arabicParenR"/>
                </a:pPr>
                <a:r>
                  <a:rPr lang="es-AR" sz="1800" dirty="0" smtClean="0"/>
                  <a:t>Para computar la cota NNUB, cada símbolo tendrá M-2 vecinos, todos ellos ortogonales. En este ejercicio, M = 4. Exprese la distancia en función de </a:t>
                </a:r>
                <a:r>
                  <a:rPr lang="el-GR" sz="1800" dirty="0" smtClean="0"/>
                  <a:t>ε</a:t>
                </a:r>
                <a:r>
                  <a:rPr lang="es-AR" sz="1800" dirty="0" smtClean="0"/>
                  <a:t>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sz="1800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s-AR" sz="1800" i="1">
                              <a:latin typeface="Cambria Math"/>
                            </a:rPr>
                            <m:t>𝑒𝑁𝑁𝑈𝐵</m:t>
                          </m:r>
                        </m:sub>
                      </m:sSub>
                      <m:r>
                        <a:rPr lang="es-AR" sz="1800" i="1">
                          <a:latin typeface="Cambria Math"/>
                        </a:rPr>
                        <m:t>=&lt;</m:t>
                      </m:r>
                      <m:sSub>
                        <m:sSubPr>
                          <m:ctrlPr>
                            <a:rPr lang="es-AR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sz="1800" i="1"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s-AR" sz="1800" i="1">
                              <a:latin typeface="Cambria Math"/>
                            </a:rPr>
                            <m:t>𝑒</m:t>
                          </m:r>
                        </m:sub>
                      </m:sSub>
                      <m:r>
                        <a:rPr lang="es-AR" sz="1800" i="1">
                          <a:latin typeface="Cambria Math"/>
                        </a:rPr>
                        <m:t>&gt;.</m:t>
                      </m:r>
                      <m:r>
                        <a:rPr lang="es-AR" sz="1800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sz="18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sz="1800" i="1">
                                      <a:latin typeface="Cambria Math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AR" sz="1800" i="1">
                                      <a:latin typeface="Cambria Math"/>
                                    </a:rPr>
                                    <m:t>𝑚𝑖𝑛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sz="18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l-GR" sz="1800" b="0" i="1" smtClean="0">
                                  <a:latin typeface="Cambria Math"/>
                                  <a:ea typeface="Cambria Math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s-AR" sz="1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s-AR" sz="1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sz="1800" b="0" i="1" smtClean="0">
                              <a:latin typeface="Cambria Math"/>
                            </a:rPr>
                            <m:t>𝑀</m:t>
                          </m:r>
                          <m:r>
                            <a:rPr lang="es-AR" sz="1800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s-AR" sz="1800" b="0" i="1" smtClean="0">
                          <a:latin typeface="Cambria Math"/>
                        </a:rPr>
                        <m:t>.</m:t>
                      </m:r>
                      <m:r>
                        <a:rPr lang="es-AR" sz="1800" b="0" i="1" smtClean="0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sz="1800" b="0" i="1" smtClean="0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sz="1800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sz="18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1800" b="0" i="1" smtClean="0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sz="1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  <m:r>
                        <a:rPr lang="es-AR" sz="1800" b="0" i="1" smtClean="0">
                          <a:latin typeface="Cambria Math"/>
                        </a:rPr>
                        <m:t>=2.</m:t>
                      </m:r>
                      <m:r>
                        <a:rPr lang="es-AR" sz="1800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sz="1800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sz="18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sz="1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algn="just"/>
                <a:endParaRPr lang="es-AR" sz="18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t="-494" r="-59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39</a:t>
            </a:fld>
            <a:endParaRPr lang="es-ES"/>
          </a:p>
        </p:txBody>
      </p:sp>
      <p:cxnSp>
        <p:nvCxnSpPr>
          <p:cNvPr id="15" name="14 Conector recto de flecha"/>
          <p:cNvCxnSpPr/>
          <p:nvPr/>
        </p:nvCxnSpPr>
        <p:spPr>
          <a:xfrm flipV="1">
            <a:off x="4565178" y="3645024"/>
            <a:ext cx="0" cy="2592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/>
          <p:nvPr/>
        </p:nvCxnSpPr>
        <p:spPr>
          <a:xfrm rot="5400000" flipV="1">
            <a:off x="4565178" y="3645024"/>
            <a:ext cx="0" cy="2592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Elipse"/>
          <p:cNvSpPr/>
          <p:nvPr/>
        </p:nvSpPr>
        <p:spPr>
          <a:xfrm>
            <a:off x="5225530" y="4811554"/>
            <a:ext cx="259200" cy="259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Elipse"/>
          <p:cNvSpPr/>
          <p:nvPr/>
        </p:nvSpPr>
        <p:spPr>
          <a:xfrm>
            <a:off x="3528263" y="4811554"/>
            <a:ext cx="259200" cy="259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Elipse"/>
          <p:cNvSpPr/>
          <p:nvPr/>
        </p:nvSpPr>
        <p:spPr>
          <a:xfrm>
            <a:off x="4451663" y="4106724"/>
            <a:ext cx="259200" cy="259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Elipse"/>
          <p:cNvSpPr/>
          <p:nvPr/>
        </p:nvSpPr>
        <p:spPr>
          <a:xfrm>
            <a:off x="4435564" y="5589269"/>
            <a:ext cx="259200" cy="259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CuadroTexto"/>
              <p:cNvSpPr txBox="1"/>
              <p:nvPr/>
            </p:nvSpPr>
            <p:spPr>
              <a:xfrm>
                <a:off x="5077154" y="5072621"/>
                <a:ext cx="502958" cy="372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ε</m:t>
                          </m:r>
                        </m:e>
                      </m:ra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154" y="5072621"/>
                <a:ext cx="502958" cy="37260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CuadroTexto"/>
              <p:cNvSpPr txBox="1"/>
              <p:nvPr/>
            </p:nvSpPr>
            <p:spPr>
              <a:xfrm>
                <a:off x="3939694" y="4036596"/>
                <a:ext cx="502958" cy="372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ε</m:t>
                          </m:r>
                        </m:e>
                      </m:ra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694" y="4036596"/>
                <a:ext cx="502958" cy="37260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11 CuadroTexto"/>
              <p:cNvSpPr txBox="1"/>
              <p:nvPr/>
            </p:nvSpPr>
            <p:spPr>
              <a:xfrm>
                <a:off x="2915816" y="4928605"/>
                <a:ext cx="676083" cy="372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s-AR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ε</m:t>
                          </m:r>
                        </m:e>
                      </m:ra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4928605"/>
                <a:ext cx="676083" cy="37260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CuadroTexto"/>
              <p:cNvSpPr txBox="1"/>
              <p:nvPr/>
            </p:nvSpPr>
            <p:spPr>
              <a:xfrm>
                <a:off x="3779912" y="5720693"/>
                <a:ext cx="676083" cy="372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s-AR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ε</m:t>
                          </m:r>
                        </m:e>
                      </m:ra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5720693"/>
                <a:ext cx="676083" cy="37260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6 Rectángulo"/>
          <p:cNvSpPr/>
          <p:nvPr/>
        </p:nvSpPr>
        <p:spPr>
          <a:xfrm>
            <a:off x="3024207" y="3244334"/>
            <a:ext cx="2494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/>
              <a:t>d = (2.ε)</a:t>
            </a:r>
            <a:r>
              <a:rPr lang="es-AR" baseline="30000"/>
              <a:t>1/2</a:t>
            </a:r>
            <a:r>
              <a:rPr lang="es-AR"/>
              <a:t> </a:t>
            </a:r>
            <a:r>
              <a:rPr lang="es-AR" smtClean="0"/>
              <a:t> ;  </a:t>
            </a:r>
            <a:r>
              <a:rPr lang="el-GR"/>
              <a:t>σ</a:t>
            </a:r>
            <a:r>
              <a:rPr lang="es-AR" baseline="30000" smtClean="0">
                <a:latin typeface="Cambria Math"/>
                <a:ea typeface="Cambria Math"/>
              </a:rPr>
              <a:t>2</a:t>
            </a:r>
            <a:r>
              <a:rPr lang="es-AR" smtClean="0">
                <a:latin typeface="Cambria Math"/>
                <a:ea typeface="Cambria Math"/>
              </a:rPr>
              <a:t> = </a:t>
            </a:r>
            <a:r>
              <a:rPr lang="es-AR"/>
              <a:t>N</a:t>
            </a:r>
            <a:r>
              <a:rPr lang="es-AR" baseline="-25000"/>
              <a:t>0</a:t>
            </a:r>
            <a:r>
              <a:rPr lang="es-AR"/>
              <a:t>/2</a:t>
            </a:r>
          </a:p>
        </p:txBody>
      </p:sp>
      <p:cxnSp>
        <p:nvCxnSpPr>
          <p:cNvPr id="22" name="21 Conector recto de flecha"/>
          <p:cNvCxnSpPr/>
          <p:nvPr/>
        </p:nvCxnSpPr>
        <p:spPr>
          <a:xfrm flipV="1">
            <a:off x="4261610" y="2668270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7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20 – Modulación </a:t>
            </a:r>
            <a:r>
              <a:rPr lang="es-AR" dirty="0" err="1" smtClean="0"/>
              <a:t>biortogonal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smtClean="0"/>
              <a:t>2) Para </a:t>
            </a:r>
            <a:r>
              <a:rPr lang="es-AR" sz="1800" dirty="0" smtClean="0"/>
              <a:t>M </a:t>
            </a:r>
            <a:r>
              <a:rPr lang="es-AR" sz="1800" smtClean="0"/>
              <a:t>= 4 y k = 2, </a:t>
            </a:r>
            <a:r>
              <a:rPr lang="es-AR" sz="1800" dirty="0" smtClean="0"/>
              <a:t>aplicar el código de Gray y resolver conforme a </a:t>
            </a:r>
            <a:r>
              <a:rPr lang="es-AR" sz="1800" dirty="0" err="1" smtClean="0"/>
              <a:t>Pe</a:t>
            </a:r>
            <a:r>
              <a:rPr lang="es-AR" sz="1800" baseline="-25000" dirty="0" err="1" smtClean="0"/>
              <a:t>b</a:t>
            </a:r>
            <a:r>
              <a:rPr lang="es-AR" sz="1800" dirty="0" smtClean="0"/>
              <a:t> = Pe/k.</a:t>
            </a:r>
          </a:p>
          <a:p>
            <a:pPr marL="0" indent="0" algn="just">
              <a:buNone/>
            </a:pPr>
            <a:r>
              <a:rPr lang="es-AR" sz="1800" smtClean="0"/>
              <a:t>3) Para </a:t>
            </a:r>
            <a:r>
              <a:rPr lang="es-AR" sz="1800" dirty="0" smtClean="0"/>
              <a:t>el cálculo exacto de Pe, proceder como en la </a:t>
            </a:r>
            <a:r>
              <a:rPr lang="es-AR" sz="1800" smtClean="0"/>
              <a:t>diapositiva 17.</a:t>
            </a:r>
            <a:endParaRPr lang="es-AR" sz="1800" dirty="0" smtClean="0"/>
          </a:p>
          <a:p>
            <a:pPr marL="0" indent="0" algn="just">
              <a:buNone/>
            </a:pPr>
            <a:r>
              <a:rPr lang="es-AR" sz="1800" smtClean="0"/>
              <a:t>4) La </a:t>
            </a:r>
            <a:r>
              <a:rPr lang="es-AR" sz="1800" dirty="0" smtClean="0"/>
              <a:t>comparación con QPSK es simple ya que ambas constelaciones son iguales.</a:t>
            </a:r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542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22 – FSK de fase continua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Sea la expresión de un símbolo FSK de </a:t>
            </a:r>
            <a:r>
              <a:rPr lang="es-AR" sz="1800" smtClean="0"/>
              <a:t>fase continua, de duración 2T</a:t>
            </a:r>
            <a:r>
              <a:rPr lang="es-AR" sz="1800" baseline="-25000" smtClean="0"/>
              <a:t>b</a:t>
            </a:r>
            <a:r>
              <a:rPr lang="es-AR" sz="1800" smtClean="0"/>
              <a:t>:</a:t>
            </a:r>
            <a:endParaRPr lang="es-AR" sz="1800" dirty="0"/>
          </a:p>
          <a:p>
            <a:pPr marL="342900" indent="-342900" algn="just">
              <a:buFont typeface="+mj-lt"/>
              <a:buAutoNum type="arabicParenR" startAt="2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2"/>
            </a:pPr>
            <a:endParaRPr lang="es-AR" sz="1800" dirty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smtClean="0"/>
              <a:t>1) Planteamos </a:t>
            </a:r>
            <a:r>
              <a:rPr lang="es-AR" sz="1800" dirty="0" smtClean="0"/>
              <a:t>su equivalente de banda base para obtener su envolvente.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2"/>
            </a:pPr>
            <a:r>
              <a:rPr lang="es-AR" sz="1800" dirty="0" smtClean="0"/>
              <a:t>3) Implementar en un diagrama en bloques la expresión del </a:t>
            </a:r>
            <a:r>
              <a:rPr lang="es-AR" sz="1800" dirty="0"/>
              <a:t>s</a:t>
            </a:r>
            <a:r>
              <a:rPr lang="es-AR" sz="1800" dirty="0" smtClean="0"/>
              <a:t>ímbolo CPFSK, considerando que los bits de entrada controlan la polaridad del término en fase y en cuadratura:</a:t>
            </a:r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41</a:t>
            </a:fld>
            <a:endParaRPr lang="es-E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9" t="51306" r="17120" b="32276"/>
          <a:stretch/>
        </p:blipFill>
        <p:spPr bwMode="auto">
          <a:xfrm>
            <a:off x="187094" y="1693986"/>
            <a:ext cx="8777394" cy="1201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9" t="51306" r="17120" b="32276"/>
          <a:stretch/>
        </p:blipFill>
        <p:spPr bwMode="auto">
          <a:xfrm>
            <a:off x="179512" y="4604261"/>
            <a:ext cx="8777394" cy="1201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Elipse"/>
          <p:cNvSpPr/>
          <p:nvPr/>
        </p:nvSpPr>
        <p:spPr>
          <a:xfrm>
            <a:off x="1331640" y="4869160"/>
            <a:ext cx="288032" cy="33560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CuadroTexto"/>
          <p:cNvSpPr txBox="1"/>
          <p:nvPr/>
        </p:nvSpPr>
        <p:spPr>
          <a:xfrm>
            <a:off x="1743700" y="5877272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Primer bit</a:t>
            </a:r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4644008" y="5883746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Segundo bit</a:t>
            </a:r>
            <a:endParaRPr lang="es-AR" dirty="0"/>
          </a:p>
        </p:txBody>
      </p:sp>
      <p:cxnSp>
        <p:nvCxnSpPr>
          <p:cNvPr id="13" name="12 Conector angular"/>
          <p:cNvCxnSpPr>
            <a:stCxn id="7" idx="4"/>
            <a:endCxn id="9" idx="1"/>
          </p:cNvCxnSpPr>
          <p:nvPr/>
        </p:nvCxnSpPr>
        <p:spPr>
          <a:xfrm rot="16200000" flipH="1">
            <a:off x="1181090" y="5499328"/>
            <a:ext cx="857176" cy="268044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Elipse"/>
          <p:cNvSpPr/>
          <p:nvPr/>
        </p:nvSpPr>
        <p:spPr>
          <a:xfrm>
            <a:off x="4256658" y="4869160"/>
            <a:ext cx="288032" cy="33560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7" name="16 Conector angular"/>
          <p:cNvCxnSpPr>
            <a:stCxn id="16" idx="4"/>
            <a:endCxn id="12" idx="1"/>
          </p:cNvCxnSpPr>
          <p:nvPr/>
        </p:nvCxnSpPr>
        <p:spPr>
          <a:xfrm rot="16200000" flipH="1">
            <a:off x="4090516" y="5514920"/>
            <a:ext cx="863650" cy="243334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47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22 – FSK de fase continua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42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886" y="1437112"/>
            <a:ext cx="5328592" cy="1847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970" y="3705864"/>
            <a:ext cx="5476422" cy="195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969693" y="2132856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Modulador</a:t>
            </a:r>
            <a:endParaRPr lang="es-AR"/>
          </a:p>
        </p:txBody>
      </p:sp>
      <p:sp>
        <p:nvSpPr>
          <p:cNvPr id="19" name="18 CuadroTexto"/>
          <p:cNvSpPr txBox="1"/>
          <p:nvPr/>
        </p:nvSpPr>
        <p:spPr>
          <a:xfrm>
            <a:off x="969693" y="449889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Demodulador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6390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23 – Rotación y traslación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AR" sz="1800" dirty="0" smtClean="0"/>
              <a:t>Obsérvese que la constelación de la derecha corresponde a una versión trasladada y rotada de la constelación de la izquierda, es decir: x’ = </a:t>
            </a:r>
            <a:r>
              <a:rPr lang="es-AR" sz="1800" dirty="0" err="1" smtClean="0"/>
              <a:t>Q.x+v</a:t>
            </a:r>
            <a:r>
              <a:rPr lang="es-AR" sz="1800" dirty="0" smtClean="0"/>
              <a:t>, siendo Q una matriz de rotación y v un vector de traslación.</a:t>
            </a:r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La constelación de la izquierda es la constelación de energía mínima.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s-AR" sz="1800" dirty="0" smtClean="0"/>
              <a:t>Analizar si la rotación y traslación afectan la distancia entre símbolos, y con ello Pe. ¿Y la energía?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s-AR" sz="1800" dirty="0" smtClean="0"/>
              <a:t>En base a lo anterior, calcular la probabilidad de error exacta, según la </a:t>
            </a:r>
            <a:r>
              <a:rPr lang="es-AR" sz="1800" smtClean="0"/>
              <a:t>diapositiva 17.</a:t>
            </a: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r>
              <a:rPr lang="es-AR" sz="1800" dirty="0" smtClean="0"/>
              <a:t>Ídem para la cota NNUB.</a:t>
            </a:r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43</a:t>
            </a:fld>
            <a:endParaRPr lang="es-ES"/>
          </a:p>
        </p:txBody>
      </p:sp>
      <p:pic>
        <p:nvPicPr>
          <p:cNvPr id="7" name="Picture 2" descr="Modulación de amplitud en cuadratura - Wikiw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412" y="2427337"/>
            <a:ext cx="1495476" cy="157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8 Conector recto de flecha"/>
          <p:cNvCxnSpPr/>
          <p:nvPr/>
        </p:nvCxnSpPr>
        <p:spPr>
          <a:xfrm flipV="1">
            <a:off x="5652120" y="2348880"/>
            <a:ext cx="0" cy="16561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>
            <a:off x="5508104" y="3933056"/>
            <a:ext cx="28803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Modulación de amplitud en cuadratura - Wikiw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89716">
            <a:off x="6463104" y="2378376"/>
            <a:ext cx="1495476" cy="157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14 Conector recto de flecha"/>
          <p:cNvCxnSpPr/>
          <p:nvPr/>
        </p:nvCxnSpPr>
        <p:spPr>
          <a:xfrm flipV="1">
            <a:off x="5652120" y="3217168"/>
            <a:ext cx="1558722" cy="7158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Arco"/>
          <p:cNvSpPr/>
          <p:nvPr/>
        </p:nvSpPr>
        <p:spPr>
          <a:xfrm rot="16200000" flipV="1">
            <a:off x="7523280" y="3718080"/>
            <a:ext cx="216024" cy="357944"/>
          </a:xfrm>
          <a:prstGeom prst="arc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CuadroTexto"/>
          <p:cNvSpPr txBox="1"/>
          <p:nvPr/>
        </p:nvSpPr>
        <p:spPr>
          <a:xfrm>
            <a:off x="6072118" y="32849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v</a:t>
            </a:r>
            <a:endParaRPr lang="es-AR" dirty="0"/>
          </a:p>
        </p:txBody>
      </p:sp>
      <p:sp>
        <p:nvSpPr>
          <p:cNvPr id="20" name="19 CuadroTexto"/>
          <p:cNvSpPr txBox="1"/>
          <p:nvPr/>
        </p:nvSpPr>
        <p:spPr>
          <a:xfrm>
            <a:off x="7798712" y="3604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 smtClean="0"/>
              <a:t>θ</a:t>
            </a:r>
            <a:endParaRPr lang="es-AR" dirty="0"/>
          </a:p>
        </p:txBody>
      </p:sp>
      <p:sp>
        <p:nvSpPr>
          <p:cNvPr id="21" name="20 CuadroTexto"/>
          <p:cNvSpPr txBox="1"/>
          <p:nvPr/>
        </p:nvSpPr>
        <p:spPr>
          <a:xfrm>
            <a:off x="7020272" y="285293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E[C]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1550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Ejercicio 24 – Modulación ortogonal usando la matriz de </a:t>
            </a:r>
            <a:r>
              <a:rPr lang="es-AR" dirty="0" err="1" smtClean="0"/>
              <a:t>Hadamard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Se propone construir las señales mediante la siguiente expresión. </a:t>
            </a:r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r>
              <a:rPr lang="es-AR" sz="1800" dirty="0"/>
              <a:t>p</a:t>
            </a:r>
            <a:r>
              <a:rPr lang="es-AR" sz="1800" dirty="0" smtClean="0"/>
              <a:t>(t) es un pulso de duración T</a:t>
            </a:r>
            <a:r>
              <a:rPr lang="es-AR" sz="1800" baseline="-25000" dirty="0" smtClean="0"/>
              <a:t>c</a:t>
            </a:r>
            <a:r>
              <a:rPr lang="es-AR" sz="1800" dirty="0" smtClean="0"/>
              <a:t> = T/n, y c</a:t>
            </a:r>
            <a:r>
              <a:rPr lang="es-AR" sz="1800" baseline="-25000" dirty="0" smtClean="0"/>
              <a:t>i</a:t>
            </a:r>
            <a:r>
              <a:rPr lang="es-AR" sz="1800" dirty="0" smtClean="0"/>
              <a:t> es la i-</a:t>
            </a:r>
            <a:r>
              <a:rPr lang="es-AR" sz="1800" dirty="0" err="1" smtClean="0"/>
              <a:t>ésima</a:t>
            </a:r>
            <a:r>
              <a:rPr lang="es-AR" sz="1800" dirty="0" smtClean="0"/>
              <a:t> fila de la matriz de </a:t>
            </a:r>
            <a:r>
              <a:rPr lang="es-AR" sz="1800" dirty="0" err="1" smtClean="0"/>
              <a:t>Hadamard</a:t>
            </a:r>
            <a:r>
              <a:rPr lang="es-AR" sz="1800" dirty="0" smtClean="0"/>
              <a:t> de n x n. Las filas/columnas de dicha matriz son ortogonales.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44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5" t="40972" r="28497" b="46939"/>
          <a:stretch/>
        </p:blipFill>
        <p:spPr bwMode="auto">
          <a:xfrm>
            <a:off x="1910686" y="4632897"/>
            <a:ext cx="5322628" cy="88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8" t="68073" r="24513" b="19427"/>
          <a:stretch/>
        </p:blipFill>
        <p:spPr bwMode="auto">
          <a:xfrm>
            <a:off x="1910686" y="1772816"/>
            <a:ext cx="521344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967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Ejercicio 24 – Modulación ortogonal usando la matriz de </a:t>
            </a:r>
            <a:r>
              <a:rPr lang="es-AR" dirty="0" err="1" smtClean="0"/>
              <a:t>Hadamard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smtClean="0"/>
              <a:t>		BON </a:t>
            </a:r>
            <a:r>
              <a:rPr lang="es-AR" sz="1800"/>
              <a:t>= {</a:t>
            </a:r>
            <a:r>
              <a:rPr lang="es-AR" sz="1800">
                <a:solidFill>
                  <a:srgbClr val="00B050"/>
                </a:solidFill>
              </a:rPr>
              <a:t>p(t)</a:t>
            </a:r>
            <a:r>
              <a:rPr lang="es-AR" sz="1800"/>
              <a:t>, </a:t>
            </a:r>
            <a:r>
              <a:rPr lang="es-AR" sz="1800">
                <a:solidFill>
                  <a:srgbClr val="0070C0"/>
                </a:solidFill>
              </a:rPr>
              <a:t>p(t-T</a:t>
            </a:r>
            <a:r>
              <a:rPr lang="es-AR" sz="1800" baseline="-25000">
                <a:solidFill>
                  <a:srgbClr val="0070C0"/>
                </a:solidFill>
              </a:rPr>
              <a:t>c</a:t>
            </a:r>
            <a:r>
              <a:rPr lang="es-AR" sz="1800">
                <a:solidFill>
                  <a:srgbClr val="0070C0"/>
                </a:solidFill>
              </a:rPr>
              <a:t>)</a:t>
            </a:r>
            <a:r>
              <a:rPr lang="es-AR" sz="1800"/>
              <a:t>, </a:t>
            </a:r>
            <a:r>
              <a:rPr lang="es-AR" sz="1800">
                <a:solidFill>
                  <a:srgbClr val="7030A0"/>
                </a:solidFill>
              </a:rPr>
              <a:t>p(t-2T</a:t>
            </a:r>
            <a:r>
              <a:rPr lang="es-AR" sz="1800" baseline="-25000">
                <a:solidFill>
                  <a:srgbClr val="7030A0"/>
                </a:solidFill>
              </a:rPr>
              <a:t>c</a:t>
            </a:r>
            <a:r>
              <a:rPr lang="es-AR" sz="1800">
                <a:solidFill>
                  <a:srgbClr val="7030A0"/>
                </a:solidFill>
              </a:rPr>
              <a:t>)</a:t>
            </a:r>
            <a:r>
              <a:rPr lang="es-AR" sz="1800"/>
              <a:t>, </a:t>
            </a:r>
            <a:r>
              <a:rPr lang="es-AR" sz="1800">
                <a:solidFill>
                  <a:srgbClr val="FF0000"/>
                </a:solidFill>
              </a:rPr>
              <a:t>p(t-3T</a:t>
            </a:r>
            <a:r>
              <a:rPr lang="es-AR" sz="1800" baseline="-25000">
                <a:solidFill>
                  <a:srgbClr val="FF0000"/>
                </a:solidFill>
              </a:rPr>
              <a:t>c</a:t>
            </a:r>
            <a:r>
              <a:rPr lang="es-AR" sz="1800"/>
              <a:t>)}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45</a:t>
            </a:fld>
            <a:endParaRPr lang="es-ES"/>
          </a:p>
        </p:txBody>
      </p:sp>
      <p:grpSp>
        <p:nvGrpSpPr>
          <p:cNvPr id="15" name="14 Grupo"/>
          <p:cNvGrpSpPr/>
          <p:nvPr/>
        </p:nvGrpSpPr>
        <p:grpSpPr>
          <a:xfrm>
            <a:off x="107504" y="1355675"/>
            <a:ext cx="8797440" cy="4665613"/>
            <a:chOff x="107504" y="1355675"/>
            <a:chExt cx="8797440" cy="4665613"/>
          </a:xfrm>
        </p:grpSpPr>
        <p:sp>
          <p:nvSpPr>
            <p:cNvPr id="24" name="23 CuadroTexto"/>
            <p:cNvSpPr txBox="1"/>
            <p:nvPr/>
          </p:nvSpPr>
          <p:spPr>
            <a:xfrm>
              <a:off x="395536" y="1403484"/>
              <a:ext cx="248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dirty="0" smtClean="0"/>
                <a:t>Ejemplo utilizando H</a:t>
              </a:r>
              <a:r>
                <a:rPr lang="es-AR" baseline="-25000" dirty="0" smtClean="0"/>
                <a:t>4</a:t>
              </a:r>
              <a:r>
                <a:rPr lang="es-AR" dirty="0" smtClean="0"/>
                <a:t>:</a:t>
              </a:r>
              <a:endParaRPr lang="es-AR" dirty="0"/>
            </a:p>
          </p:txBody>
        </p:sp>
        <p:grpSp>
          <p:nvGrpSpPr>
            <p:cNvPr id="8" name="7 Grupo"/>
            <p:cNvGrpSpPr/>
            <p:nvPr/>
          </p:nvGrpSpPr>
          <p:grpSpPr>
            <a:xfrm>
              <a:off x="3068004" y="1355675"/>
              <a:ext cx="3264879" cy="1800200"/>
              <a:chOff x="467544" y="1844824"/>
              <a:chExt cx="3264879" cy="1800200"/>
            </a:xfrm>
          </p:grpSpPr>
          <p:grpSp>
            <p:nvGrpSpPr>
              <p:cNvPr id="21" name="20 Grupo"/>
              <p:cNvGrpSpPr/>
              <p:nvPr/>
            </p:nvGrpSpPr>
            <p:grpSpPr>
              <a:xfrm>
                <a:off x="1187624" y="1844824"/>
                <a:ext cx="2544799" cy="1800200"/>
                <a:chOff x="251520" y="1340768"/>
                <a:chExt cx="2544799" cy="1800200"/>
              </a:xfrm>
            </p:grpSpPr>
            <p:cxnSp>
              <p:nvCxnSpPr>
                <p:cNvPr id="10" name="9 Conector recto de flecha"/>
                <p:cNvCxnSpPr/>
                <p:nvPr/>
              </p:nvCxnSpPr>
              <p:spPr>
                <a:xfrm flipV="1">
                  <a:off x="395536" y="1556792"/>
                  <a:ext cx="0" cy="1296144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11 Conector recto de flecha"/>
                <p:cNvCxnSpPr/>
                <p:nvPr/>
              </p:nvCxnSpPr>
              <p:spPr>
                <a:xfrm>
                  <a:off x="251520" y="2708920"/>
                  <a:ext cx="2512108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16 Conector recto"/>
                <p:cNvCxnSpPr/>
                <p:nvPr/>
              </p:nvCxnSpPr>
              <p:spPr>
                <a:xfrm>
                  <a:off x="395536" y="2060848"/>
                  <a:ext cx="504056" cy="0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18 Conector recto"/>
                <p:cNvCxnSpPr/>
                <p:nvPr/>
              </p:nvCxnSpPr>
              <p:spPr>
                <a:xfrm>
                  <a:off x="899592" y="2060848"/>
                  <a:ext cx="0" cy="648072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19 CuadroTexto"/>
                <p:cNvSpPr txBox="1"/>
                <p:nvPr/>
              </p:nvSpPr>
              <p:spPr>
                <a:xfrm>
                  <a:off x="395536" y="1340768"/>
                  <a:ext cx="5309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AR" dirty="0" smtClean="0"/>
                    <a:t>p(t)</a:t>
                  </a:r>
                  <a:endParaRPr lang="es-AR" dirty="0"/>
                </a:p>
              </p:txBody>
            </p:sp>
            <p:sp>
              <p:nvSpPr>
                <p:cNvPr id="23" name="22 CuadroTexto"/>
                <p:cNvSpPr txBox="1"/>
                <p:nvPr/>
              </p:nvSpPr>
              <p:spPr>
                <a:xfrm>
                  <a:off x="251520" y="2771636"/>
                  <a:ext cx="25447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AR"/>
                    <a:t>0     Tc    2Tc   3Tc  T   t</a:t>
                  </a:r>
                  <a:endParaRPr lang="es-AR" dirty="0"/>
                </a:p>
              </p:txBody>
            </p:sp>
          </p:grpSp>
          <p:sp>
            <p:nvSpPr>
              <p:cNvPr id="32" name="31 CuadroTexto"/>
              <p:cNvSpPr txBox="1"/>
              <p:nvPr/>
            </p:nvSpPr>
            <p:spPr>
              <a:xfrm>
                <a:off x="467544" y="2339588"/>
                <a:ext cx="9365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dirty="0" smtClean="0"/>
                  <a:t>(1/T</a:t>
                </a:r>
                <a:r>
                  <a:rPr lang="es-AR" baseline="-25000" dirty="0" smtClean="0"/>
                  <a:t>c</a:t>
                </a:r>
                <a:r>
                  <a:rPr lang="es-AR" dirty="0" smtClean="0"/>
                  <a:t>)</a:t>
                </a:r>
                <a:r>
                  <a:rPr lang="es-AR" baseline="30000" dirty="0" smtClean="0"/>
                  <a:t>1/2</a:t>
                </a:r>
                <a:endParaRPr lang="es-AR" baseline="30000" dirty="0"/>
              </a:p>
            </p:txBody>
          </p:sp>
        </p:grpSp>
        <p:grpSp>
          <p:nvGrpSpPr>
            <p:cNvPr id="27" name="26 Grupo"/>
            <p:cNvGrpSpPr/>
            <p:nvPr/>
          </p:nvGrpSpPr>
          <p:grpSpPr>
            <a:xfrm>
              <a:off x="827584" y="4221088"/>
              <a:ext cx="2544799" cy="1800200"/>
              <a:chOff x="251520" y="1340768"/>
              <a:chExt cx="2544799" cy="1800200"/>
            </a:xfrm>
          </p:grpSpPr>
          <p:cxnSp>
            <p:nvCxnSpPr>
              <p:cNvPr id="29" name="28 Conector recto de flecha"/>
              <p:cNvCxnSpPr/>
              <p:nvPr/>
            </p:nvCxnSpPr>
            <p:spPr>
              <a:xfrm flipV="1">
                <a:off x="395536" y="1556792"/>
                <a:ext cx="0" cy="12961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29 Conector recto de flecha"/>
              <p:cNvCxnSpPr/>
              <p:nvPr/>
            </p:nvCxnSpPr>
            <p:spPr>
              <a:xfrm>
                <a:off x="251520" y="2708920"/>
                <a:ext cx="244827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30 Conector recto"/>
              <p:cNvCxnSpPr/>
              <p:nvPr/>
            </p:nvCxnSpPr>
            <p:spPr>
              <a:xfrm>
                <a:off x="899592" y="2060848"/>
                <a:ext cx="504056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32 Conector recto"/>
              <p:cNvCxnSpPr/>
              <p:nvPr/>
            </p:nvCxnSpPr>
            <p:spPr>
              <a:xfrm>
                <a:off x="899592" y="2060848"/>
                <a:ext cx="0" cy="648072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33 CuadroTexto"/>
              <p:cNvSpPr txBox="1"/>
              <p:nvPr/>
            </p:nvSpPr>
            <p:spPr>
              <a:xfrm>
                <a:off x="395536" y="1340768"/>
                <a:ext cx="8387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mtClean="0"/>
                  <a:t>p(t-Tc)</a:t>
                </a:r>
                <a:endParaRPr lang="es-AR" dirty="0"/>
              </a:p>
            </p:txBody>
          </p:sp>
          <p:sp>
            <p:nvSpPr>
              <p:cNvPr id="35" name="34 CuadroTexto"/>
              <p:cNvSpPr txBox="1"/>
              <p:nvPr/>
            </p:nvSpPr>
            <p:spPr>
              <a:xfrm>
                <a:off x="251520" y="2771636"/>
                <a:ext cx="2544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/>
                  <a:t>0     Tc    2Tc   3Tc  T   t</a:t>
                </a:r>
                <a:endParaRPr lang="es-AR" dirty="0"/>
              </a:p>
            </p:txBody>
          </p:sp>
        </p:grpSp>
        <p:sp>
          <p:nvSpPr>
            <p:cNvPr id="28" name="27 CuadroTexto"/>
            <p:cNvSpPr txBox="1"/>
            <p:nvPr/>
          </p:nvSpPr>
          <p:spPr>
            <a:xfrm>
              <a:off x="107504" y="4715852"/>
              <a:ext cx="9365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dirty="0" smtClean="0"/>
                <a:t>(1/T</a:t>
              </a:r>
              <a:r>
                <a:rPr lang="es-AR" baseline="-25000" dirty="0" smtClean="0"/>
                <a:t>c</a:t>
              </a:r>
              <a:r>
                <a:rPr lang="es-AR" dirty="0" smtClean="0"/>
                <a:t>)</a:t>
              </a:r>
              <a:r>
                <a:rPr lang="es-AR" baseline="30000" dirty="0" smtClean="0"/>
                <a:t>1/2</a:t>
              </a:r>
              <a:endParaRPr lang="es-AR" baseline="30000" dirty="0"/>
            </a:p>
          </p:txBody>
        </p:sp>
        <p:cxnSp>
          <p:nvCxnSpPr>
            <p:cNvPr id="54" name="53 Conector recto"/>
            <p:cNvCxnSpPr/>
            <p:nvPr/>
          </p:nvCxnSpPr>
          <p:spPr>
            <a:xfrm>
              <a:off x="1979712" y="4941168"/>
              <a:ext cx="0" cy="64807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54 Grupo"/>
            <p:cNvGrpSpPr/>
            <p:nvPr/>
          </p:nvGrpSpPr>
          <p:grpSpPr>
            <a:xfrm>
              <a:off x="3414393" y="4221088"/>
              <a:ext cx="2540632" cy="1800200"/>
              <a:chOff x="251520" y="1340768"/>
              <a:chExt cx="2540632" cy="1800200"/>
            </a:xfrm>
          </p:grpSpPr>
          <p:cxnSp>
            <p:nvCxnSpPr>
              <p:cNvPr id="56" name="55 Conector recto de flecha"/>
              <p:cNvCxnSpPr/>
              <p:nvPr/>
            </p:nvCxnSpPr>
            <p:spPr>
              <a:xfrm flipV="1">
                <a:off x="395536" y="1556792"/>
                <a:ext cx="0" cy="12961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56 Conector recto de flecha"/>
              <p:cNvCxnSpPr/>
              <p:nvPr/>
            </p:nvCxnSpPr>
            <p:spPr>
              <a:xfrm>
                <a:off x="251520" y="2708920"/>
                <a:ext cx="2533931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57 Conector recto"/>
              <p:cNvCxnSpPr/>
              <p:nvPr/>
            </p:nvCxnSpPr>
            <p:spPr>
              <a:xfrm>
                <a:off x="1408369" y="2060848"/>
                <a:ext cx="504056" cy="0"/>
              </a:xfrm>
              <a:prstGeom prst="line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58 Conector recto"/>
              <p:cNvCxnSpPr/>
              <p:nvPr/>
            </p:nvCxnSpPr>
            <p:spPr>
              <a:xfrm>
                <a:off x="1913183" y="2060848"/>
                <a:ext cx="0" cy="648072"/>
              </a:xfrm>
              <a:prstGeom prst="line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59 CuadroTexto"/>
              <p:cNvSpPr txBox="1"/>
              <p:nvPr/>
            </p:nvSpPr>
            <p:spPr>
              <a:xfrm>
                <a:off x="395536" y="1340768"/>
                <a:ext cx="966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mtClean="0"/>
                  <a:t>p(t-2Tc)</a:t>
                </a:r>
                <a:endParaRPr lang="es-AR" dirty="0"/>
              </a:p>
            </p:txBody>
          </p:sp>
          <p:sp>
            <p:nvSpPr>
              <p:cNvPr id="61" name="60 CuadroTexto"/>
              <p:cNvSpPr txBox="1"/>
              <p:nvPr/>
            </p:nvSpPr>
            <p:spPr>
              <a:xfrm>
                <a:off x="251520" y="2771636"/>
                <a:ext cx="25406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mtClean="0"/>
                  <a:t>0     </a:t>
                </a:r>
                <a:r>
                  <a:rPr lang="es-AR"/>
                  <a:t>Tc    </a:t>
                </a:r>
                <a:r>
                  <a:rPr lang="es-AR" smtClean="0"/>
                  <a:t>2Tc   3Tc  T  </a:t>
                </a:r>
                <a:r>
                  <a:rPr lang="es-AR" dirty="0" err="1" smtClean="0"/>
                  <a:t>t</a:t>
                </a:r>
                <a:endParaRPr lang="es-AR" dirty="0"/>
              </a:p>
            </p:txBody>
          </p:sp>
        </p:grpSp>
        <p:sp>
          <p:nvSpPr>
            <p:cNvPr id="62" name="61 CuadroTexto"/>
            <p:cNvSpPr txBox="1"/>
            <p:nvPr/>
          </p:nvSpPr>
          <p:spPr>
            <a:xfrm>
              <a:off x="2694313" y="4715852"/>
              <a:ext cx="9365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dirty="0" smtClean="0"/>
                <a:t>(1/T</a:t>
              </a:r>
              <a:r>
                <a:rPr lang="es-AR" baseline="-25000" dirty="0" smtClean="0"/>
                <a:t>c</a:t>
              </a:r>
              <a:r>
                <a:rPr lang="es-AR" dirty="0" smtClean="0"/>
                <a:t>)</a:t>
              </a:r>
              <a:r>
                <a:rPr lang="es-AR" baseline="30000" dirty="0" smtClean="0"/>
                <a:t>1/2</a:t>
              </a:r>
              <a:endParaRPr lang="es-AR" baseline="30000" dirty="0"/>
            </a:p>
          </p:txBody>
        </p:sp>
        <p:cxnSp>
          <p:nvCxnSpPr>
            <p:cNvPr id="63" name="62 Conector recto"/>
            <p:cNvCxnSpPr/>
            <p:nvPr/>
          </p:nvCxnSpPr>
          <p:spPr>
            <a:xfrm>
              <a:off x="4566521" y="4941168"/>
              <a:ext cx="0" cy="648072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63 Grupo"/>
            <p:cNvGrpSpPr/>
            <p:nvPr/>
          </p:nvGrpSpPr>
          <p:grpSpPr>
            <a:xfrm>
              <a:off x="6300192" y="4221088"/>
              <a:ext cx="2604752" cy="1800200"/>
              <a:chOff x="251520" y="1340768"/>
              <a:chExt cx="2604752" cy="1800200"/>
            </a:xfrm>
          </p:grpSpPr>
          <p:cxnSp>
            <p:nvCxnSpPr>
              <p:cNvPr id="65" name="64 Conector recto de flecha"/>
              <p:cNvCxnSpPr/>
              <p:nvPr/>
            </p:nvCxnSpPr>
            <p:spPr>
              <a:xfrm flipV="1">
                <a:off x="395536" y="1556792"/>
                <a:ext cx="0" cy="12961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65 Conector recto de flecha"/>
              <p:cNvCxnSpPr/>
              <p:nvPr/>
            </p:nvCxnSpPr>
            <p:spPr>
              <a:xfrm>
                <a:off x="251520" y="2708920"/>
                <a:ext cx="244827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66 Conector recto"/>
              <p:cNvCxnSpPr/>
              <p:nvPr/>
            </p:nvCxnSpPr>
            <p:spPr>
              <a:xfrm>
                <a:off x="1907704" y="2060848"/>
                <a:ext cx="504056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67 Conector recto"/>
              <p:cNvCxnSpPr/>
              <p:nvPr/>
            </p:nvCxnSpPr>
            <p:spPr>
              <a:xfrm>
                <a:off x="1913183" y="2060848"/>
                <a:ext cx="0" cy="64807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68 CuadroTexto"/>
              <p:cNvSpPr txBox="1"/>
              <p:nvPr/>
            </p:nvSpPr>
            <p:spPr>
              <a:xfrm>
                <a:off x="395536" y="1340768"/>
                <a:ext cx="966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mtClean="0"/>
                  <a:t>p(t-3Tc)</a:t>
                </a:r>
                <a:endParaRPr lang="es-AR" dirty="0"/>
              </a:p>
            </p:txBody>
          </p:sp>
          <p:sp>
            <p:nvSpPr>
              <p:cNvPr id="70" name="69 CuadroTexto"/>
              <p:cNvSpPr txBox="1"/>
              <p:nvPr/>
            </p:nvSpPr>
            <p:spPr>
              <a:xfrm>
                <a:off x="251520" y="2771636"/>
                <a:ext cx="26047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mtClean="0"/>
                  <a:t>0     </a:t>
                </a:r>
                <a:r>
                  <a:rPr lang="es-AR"/>
                  <a:t>Tc    </a:t>
                </a:r>
                <a:r>
                  <a:rPr lang="es-AR" smtClean="0"/>
                  <a:t>2Tc   3Tc  T   </a:t>
                </a:r>
                <a:r>
                  <a:rPr lang="es-AR" dirty="0" err="1" smtClean="0"/>
                  <a:t>t</a:t>
                </a:r>
                <a:endParaRPr lang="es-AR" dirty="0"/>
              </a:p>
            </p:txBody>
          </p:sp>
        </p:grpSp>
        <p:sp>
          <p:nvSpPr>
            <p:cNvPr id="71" name="70 CuadroTexto"/>
            <p:cNvSpPr txBox="1"/>
            <p:nvPr/>
          </p:nvSpPr>
          <p:spPr>
            <a:xfrm>
              <a:off x="5580112" y="4715852"/>
              <a:ext cx="9365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dirty="0" smtClean="0"/>
                <a:t>(1/T</a:t>
              </a:r>
              <a:r>
                <a:rPr lang="es-AR" baseline="-25000" dirty="0" smtClean="0"/>
                <a:t>c</a:t>
              </a:r>
              <a:r>
                <a:rPr lang="es-AR" dirty="0" smtClean="0"/>
                <a:t>)</a:t>
              </a:r>
              <a:r>
                <a:rPr lang="es-AR" baseline="30000" dirty="0" smtClean="0"/>
                <a:t>1/2</a:t>
              </a:r>
              <a:endParaRPr lang="es-AR" baseline="30000" dirty="0"/>
            </a:p>
          </p:txBody>
        </p:sp>
        <p:cxnSp>
          <p:nvCxnSpPr>
            <p:cNvPr id="72" name="71 Conector recto"/>
            <p:cNvCxnSpPr/>
            <p:nvPr/>
          </p:nvCxnSpPr>
          <p:spPr>
            <a:xfrm>
              <a:off x="8460432" y="4941168"/>
              <a:ext cx="0" cy="64807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122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Ejercicio 24 – Modulación ortogonal usando la matriz de </a:t>
            </a:r>
            <a:r>
              <a:rPr lang="es-AR" dirty="0" err="1" smtClean="0"/>
              <a:t>Hadamard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46</a:t>
            </a:fld>
            <a:endParaRPr lang="es-ES"/>
          </a:p>
        </p:txBody>
      </p:sp>
      <p:pic>
        <p:nvPicPr>
          <p:cNvPr id="2050" name="Picture 2" descr="Acceso múltiple por división de código - Wikipedia, la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723799"/>
            <a:ext cx="3312368" cy="460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5912856" y="1507776"/>
            <a:ext cx="2948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0      T</a:t>
            </a:r>
            <a:r>
              <a:rPr lang="es-AR" baseline="-25000" dirty="0" smtClean="0"/>
              <a:t>c</a:t>
            </a:r>
            <a:r>
              <a:rPr lang="es-AR" dirty="0" smtClean="0"/>
              <a:t>     2T</a:t>
            </a:r>
            <a:r>
              <a:rPr lang="es-AR" baseline="-25000" dirty="0" smtClean="0"/>
              <a:t>c</a:t>
            </a:r>
            <a:r>
              <a:rPr lang="es-AR" dirty="0" smtClean="0"/>
              <a:t>   </a:t>
            </a:r>
            <a:r>
              <a:rPr lang="es-AR" smtClean="0"/>
              <a:t>3T</a:t>
            </a:r>
            <a:r>
              <a:rPr lang="es-AR" baseline="-25000" smtClean="0"/>
              <a:t>c</a:t>
            </a:r>
            <a:r>
              <a:rPr lang="es-AR" smtClean="0"/>
              <a:t>   T = 4T</a:t>
            </a:r>
            <a:r>
              <a:rPr lang="es-AR" baseline="-25000" smtClean="0"/>
              <a:t>c</a:t>
            </a:r>
            <a:endParaRPr lang="es-AR" baseline="-25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1" t="50000" r="69224" b="36875"/>
          <a:stretch/>
        </p:blipFill>
        <p:spPr bwMode="auto">
          <a:xfrm>
            <a:off x="107504" y="1732166"/>
            <a:ext cx="2883784" cy="1408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21 Elipse"/>
          <p:cNvSpPr/>
          <p:nvPr/>
        </p:nvSpPr>
        <p:spPr>
          <a:xfrm>
            <a:off x="1317992" y="1700808"/>
            <a:ext cx="504056" cy="13367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6" name="25 Conector angular"/>
          <p:cNvCxnSpPr>
            <a:stCxn id="22" idx="4"/>
          </p:cNvCxnSpPr>
          <p:nvPr/>
        </p:nvCxnSpPr>
        <p:spPr>
          <a:xfrm rot="16200000" flipH="1">
            <a:off x="2292925" y="2314696"/>
            <a:ext cx="2407622" cy="3853433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/>
          <p:cNvSpPr txBox="1"/>
          <p:nvPr/>
        </p:nvSpPr>
        <p:spPr>
          <a:xfrm>
            <a:off x="1822048" y="3140968"/>
            <a:ext cx="1741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mtClean="0"/>
              <a:t>Coordenadas de S</a:t>
            </a:r>
            <a:r>
              <a:rPr lang="es-AR" baseline="-25000" smtClean="0"/>
              <a:t>i</a:t>
            </a:r>
            <a:r>
              <a:rPr lang="es-AR" smtClean="0"/>
              <a:t>(t) en la BON</a:t>
            </a:r>
            <a:endParaRPr lang="es-AR"/>
          </a:p>
        </p:txBody>
      </p:sp>
      <p:sp>
        <p:nvSpPr>
          <p:cNvPr id="25" name="24 CuadroTexto"/>
          <p:cNvSpPr txBox="1"/>
          <p:nvPr/>
        </p:nvSpPr>
        <p:spPr>
          <a:xfrm>
            <a:off x="5877546" y="1124744"/>
            <a:ext cx="265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Formas de onda de </a:t>
            </a:r>
            <a:r>
              <a:rPr lang="es-AR"/>
              <a:t>S</a:t>
            </a:r>
            <a:r>
              <a:rPr lang="es-AR" baseline="-25000"/>
              <a:t>i</a:t>
            </a:r>
            <a:r>
              <a:rPr lang="es-AR"/>
              <a:t>(t)</a:t>
            </a: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8" t="68073" r="24513" b="19427"/>
          <a:stretch/>
        </p:blipFill>
        <p:spPr bwMode="auto">
          <a:xfrm>
            <a:off x="1704323" y="4365104"/>
            <a:ext cx="3719130" cy="652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633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Ejercicio 24 – Modulación ortogonal usando la matriz de </a:t>
            </a:r>
            <a:r>
              <a:rPr lang="es-AR" dirty="0" err="1" smtClean="0"/>
              <a:t>Hadamard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47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 algn="just">
                  <a:buFont typeface="+mj-lt"/>
                  <a:buAutoNum type="arabicParenR"/>
                </a:pPr>
                <a:r>
                  <a:rPr lang="es-AR" dirty="0" smtClean="0"/>
                  <a:t>Plantee el producto interno entre cualquier par de símbolos y utilice el hecho de que las filas/columnas de la matriz son ortogonales.</a:t>
                </a:r>
              </a:p>
              <a:p>
                <a:pPr marL="514350" indent="-514350" algn="just">
                  <a:buFont typeface="+mj-lt"/>
                  <a:buAutoNum type="arabicParenR"/>
                </a:pPr>
                <a:r>
                  <a:rPr lang="es-AR" dirty="0" smtClean="0"/>
                  <a:t>Cada símbolo puede </a:t>
                </a:r>
                <a:r>
                  <a:rPr lang="es-AR" smtClean="0"/>
                  <a:t>re-escribirse como</a:t>
                </a:r>
                <a:endParaRPr lang="es-AR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∗</m:t>
                      </m:r>
                      <m:nary>
                        <m:naryPr>
                          <m:chr m:val="∑"/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s-A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𝑖𝑘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δ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𝑘</m:t>
                          </m:r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AR" dirty="0" smtClean="0"/>
              </a:p>
              <a:p>
                <a:pPr marL="0" indent="0" algn="just">
                  <a:buNone/>
                </a:pPr>
                <a:endParaRPr lang="es-AR" dirty="0" smtClean="0"/>
              </a:p>
              <a:p>
                <a:pPr marL="0" indent="0" algn="just">
                  <a:buNone/>
                </a:pPr>
                <a:r>
                  <a:rPr lang="es-AR" dirty="0" smtClean="0"/>
                  <a:t>Obtenga entonces el FA a </a:t>
                </a:r>
                <a:r>
                  <a:rPr lang="es-AR" smtClean="0"/>
                  <a:t>este símbolo en el dominio de la frecuencia.</a:t>
                </a:r>
                <a:endParaRPr lang="es-AR" dirty="0" smtClean="0"/>
              </a:p>
              <a:p>
                <a:pPr lvl="1"/>
                <a:endParaRPr lang="es-AR" dirty="0" smtClean="0"/>
              </a:p>
              <a:p>
                <a:pPr lvl="1"/>
                <a:endParaRPr lang="es-AR" dirty="0"/>
              </a:p>
            </p:txBody>
          </p:sp>
        </mc:Choice>
        <mc:Fallback xmlns="">
          <p:sp>
            <p:nvSpPr>
              <p:cNvPr id="8" name="7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59" t="-1111" r="-1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458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Ejercicio 24 – Modulación ortogonal usando la matriz de </a:t>
            </a:r>
            <a:r>
              <a:rPr lang="es-AR" dirty="0" err="1" smtClean="0"/>
              <a:t>Hadamard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48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 algn="just">
                  <a:buFont typeface="+mj-lt"/>
                  <a:buAutoNum type="arabicParenR" startAt="3"/>
                </a:pPr>
                <a:r>
                  <a:rPr lang="es-AR" smtClean="0"/>
                  <a:t>4</a:t>
                </a:r>
                <a:r>
                  <a:rPr lang="es-AR" dirty="0" smtClean="0"/>
                  <a:t>) Por tratarse de una modulación ortogonal, aplicamos los conceptos y procedimientos ya vistos para obtener la cota de probabilidad de error:</a:t>
                </a:r>
              </a:p>
              <a:p>
                <a:pPr lvl="1" algn="just"/>
                <a:r>
                  <a:rPr lang="es-AR" smtClean="0"/>
                  <a:t>Existen n dimensiones </a:t>
                </a:r>
                <a:r>
                  <a:rPr lang="es-AR" dirty="0" smtClean="0"/>
                  <a:t>y M </a:t>
                </a:r>
                <a:r>
                  <a:rPr lang="es-AR" smtClean="0"/>
                  <a:t>= n símbolos</a:t>
                </a:r>
                <a:r>
                  <a:rPr lang="es-AR" dirty="0" smtClean="0"/>
                  <a:t>;</a:t>
                </a:r>
              </a:p>
              <a:p>
                <a:pPr lvl="1" algn="just"/>
                <a:r>
                  <a:rPr lang="es-AR" dirty="0" smtClean="0"/>
                  <a:t>Cada símbolo posee M-1 vecinos.</a:t>
                </a:r>
              </a:p>
              <a:p>
                <a:pPr lvl="1" algn="just"/>
                <a:r>
                  <a:rPr lang="es-AR" dirty="0" smtClean="0"/>
                  <a:t>Es necesario obtener la energía de cada símbolo a partir de su definición, y relacionarla con </a:t>
                </a:r>
                <a:r>
                  <a:rPr lang="es-AR" smtClean="0"/>
                  <a:t>la distancia. Resultado: </a:t>
                </a:r>
                <a:r>
                  <a:rPr lang="el-GR" smtClean="0">
                    <a:latin typeface="Cambria Math"/>
                    <a:ea typeface="Cambria Math"/>
                  </a:rPr>
                  <a:t>ε</a:t>
                </a:r>
                <a:r>
                  <a:rPr lang="es-AR" baseline="-25000" smtClean="0">
                    <a:latin typeface="Cambria Math"/>
                    <a:ea typeface="Cambria Math"/>
                  </a:rPr>
                  <a:t>i</a:t>
                </a:r>
                <a:r>
                  <a:rPr lang="es-AR" smtClean="0">
                    <a:latin typeface="Cambria Math"/>
                    <a:ea typeface="Cambria Math"/>
                  </a:rPr>
                  <a:t> = </a:t>
                </a:r>
                <a:r>
                  <a:rPr lang="el-GR">
                    <a:latin typeface="Cambria Math"/>
                    <a:ea typeface="Cambria Math"/>
                  </a:rPr>
                  <a:t>ε </a:t>
                </a:r>
                <a:r>
                  <a:rPr lang="es-AR" smtClean="0">
                    <a:latin typeface="Cambria Math"/>
                    <a:ea typeface="Cambria Math"/>
                  </a:rPr>
                  <a:t>= n ; d = (2n)</a:t>
                </a:r>
                <a:r>
                  <a:rPr lang="es-AR" baseline="30000" smtClean="0">
                    <a:latin typeface="Cambria Math"/>
                    <a:ea typeface="Cambria Math"/>
                  </a:rPr>
                  <a:t>1/2</a:t>
                </a:r>
                <a:endParaRPr lang="es-AR" dirty="0" smtClean="0"/>
              </a:p>
              <a:p>
                <a:pPr lvl="1" algn="just"/>
                <a:r>
                  <a:rPr lang="es-AR" smtClean="0"/>
                  <a:t>Para modulaciones ortogonales (no es posible aplicar la codificación de Gray):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𝑃𝑒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s-AR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AR" b="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AR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s-AR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es-AR" b="0" i="1" smtClean="0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AR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s-AR" b="0" i="1" smtClean="0">
                                <a:latin typeface="Cambria Math"/>
                              </a:rPr>
                              <m:t>𝑘</m:t>
                            </m:r>
                          </m:sup>
                        </m:sSup>
                        <m:r>
                          <a:rPr lang="es-AR" b="0" i="1" smtClean="0">
                            <a:latin typeface="Cambria Math"/>
                          </a:rPr>
                          <m:t>−1</m:t>
                        </m:r>
                      </m:den>
                    </m:f>
                    <m:r>
                      <a:rPr lang="es-AR" b="0" i="1" smtClean="0">
                        <a:latin typeface="Cambria Math"/>
                      </a:rPr>
                      <m:t>𝑃𝑒</m:t>
                    </m:r>
                  </m:oMath>
                </a14:m>
                <a:endParaRPr lang="es-AR" dirty="0" smtClean="0"/>
              </a:p>
              <a:p>
                <a:pPr lvl="1"/>
                <a:endParaRPr lang="es-AR" dirty="0" smtClean="0"/>
              </a:p>
              <a:p>
                <a:pPr lvl="1"/>
                <a:endParaRPr lang="es-AR" dirty="0"/>
              </a:p>
            </p:txBody>
          </p:sp>
        </mc:Choice>
        <mc:Fallback xmlns="">
          <p:sp>
            <p:nvSpPr>
              <p:cNvPr id="8" name="7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47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mtClean="0"/>
              <a:t>DEP de señales moduladas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49</a:t>
            </a:fld>
            <a:endParaRPr lang="es-ES"/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2" t="3483" r="16477" b="3483"/>
          <a:stretch/>
        </p:blipFill>
        <p:spPr bwMode="auto">
          <a:xfrm>
            <a:off x="1691680" y="2012616"/>
            <a:ext cx="2043796" cy="165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CuadroTexto"/>
          <p:cNvSpPr txBox="1"/>
          <p:nvPr/>
        </p:nvSpPr>
        <p:spPr>
          <a:xfrm>
            <a:off x="3229588" y="2862327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 smtClean="0"/>
              <a:t>0</a:t>
            </a:r>
            <a:endParaRPr lang="es-AR" baseline="-25000" dirty="0"/>
          </a:p>
        </p:txBody>
      </p:sp>
      <p:sp>
        <p:nvSpPr>
          <p:cNvPr id="16" name="15 CuadroTexto"/>
          <p:cNvSpPr txBox="1"/>
          <p:nvPr/>
        </p:nvSpPr>
        <p:spPr>
          <a:xfrm>
            <a:off x="2195736" y="1863507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/>
              <a:t>1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1827486" y="2871619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/>
              <a:t>2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2267744" y="3279978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 smtClean="0"/>
              <a:t>s</a:t>
            </a:r>
            <a:r>
              <a:rPr lang="es-AR" baseline="-25000" dirty="0"/>
              <a:t>3</a:t>
            </a:r>
          </a:p>
        </p:txBody>
      </p:sp>
      <p:sp>
        <p:nvSpPr>
          <p:cNvPr id="19" name="18 CuadroTexto"/>
          <p:cNvSpPr txBox="1"/>
          <p:nvPr/>
        </p:nvSpPr>
        <p:spPr>
          <a:xfrm>
            <a:off x="3707904" y="2799611"/>
            <a:ext cx="92365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 err="1" smtClean="0"/>
              <a:t>A.cos</a:t>
            </a:r>
            <a:r>
              <a:rPr lang="es-AR" sz="1200" dirty="0" smtClean="0"/>
              <a:t>(</a:t>
            </a:r>
            <a:r>
              <a:rPr lang="el-GR" sz="1200" dirty="0" smtClean="0"/>
              <a:t>ω</a:t>
            </a:r>
            <a:r>
              <a:rPr lang="es-AR" sz="1200" baseline="-25000" dirty="0" smtClean="0"/>
              <a:t>0</a:t>
            </a:r>
            <a:r>
              <a:rPr lang="es-AR" sz="1200" dirty="0" smtClean="0"/>
              <a:t> t)</a:t>
            </a:r>
            <a:endParaRPr lang="es-AR" sz="1200" dirty="0"/>
          </a:p>
        </p:txBody>
      </p:sp>
      <p:sp>
        <p:nvSpPr>
          <p:cNvPr id="20" name="19 CuadroTexto"/>
          <p:cNvSpPr txBox="1"/>
          <p:nvPr/>
        </p:nvSpPr>
        <p:spPr>
          <a:xfrm>
            <a:off x="2555776" y="1772816"/>
            <a:ext cx="93166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 err="1" smtClean="0"/>
              <a:t>A.sen</a:t>
            </a:r>
            <a:r>
              <a:rPr lang="es-AR" sz="1200" dirty="0" smtClean="0"/>
              <a:t>(</a:t>
            </a:r>
            <a:r>
              <a:rPr lang="el-GR" sz="1200" dirty="0" smtClean="0"/>
              <a:t>ω</a:t>
            </a:r>
            <a:r>
              <a:rPr lang="es-AR" sz="1200" baseline="-25000" dirty="0" smtClean="0"/>
              <a:t>0</a:t>
            </a:r>
            <a:r>
              <a:rPr lang="es-AR" sz="1200" dirty="0" smtClean="0"/>
              <a:t> t)</a:t>
            </a:r>
            <a:endParaRPr lang="es-AR" sz="1200" dirty="0"/>
          </a:p>
        </p:txBody>
      </p:sp>
      <p:sp>
        <p:nvSpPr>
          <p:cNvPr id="7" name="6 CuadroTexto"/>
          <p:cNvSpPr txBox="1"/>
          <p:nvPr/>
        </p:nvSpPr>
        <p:spPr>
          <a:xfrm>
            <a:off x="4499992" y="2677856"/>
            <a:ext cx="105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smtClean="0">
                <a:solidFill>
                  <a:srgbClr val="FF0000"/>
                </a:solidFill>
              </a:rPr>
              <a:t>.1</a:t>
            </a:r>
            <a:r>
              <a:rPr lang="es-AR" smtClean="0">
                <a:solidFill>
                  <a:srgbClr val="FF0000"/>
                </a:solidFill>
              </a:rPr>
              <a:t>[0, Ts]</a:t>
            </a:r>
            <a:endParaRPr lang="es-AR">
              <a:solidFill>
                <a:srgbClr val="FF0000"/>
              </a:solidFill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3316800" y="1628800"/>
            <a:ext cx="105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smtClean="0">
                <a:solidFill>
                  <a:srgbClr val="FF0000"/>
                </a:solidFill>
              </a:rPr>
              <a:t>.1</a:t>
            </a:r>
            <a:r>
              <a:rPr lang="es-AR" smtClean="0">
                <a:solidFill>
                  <a:srgbClr val="FF0000"/>
                </a:solidFill>
              </a:rPr>
              <a:t>[0, Ts]</a:t>
            </a:r>
            <a:endParaRPr lang="es-AR">
              <a:solidFill>
                <a:srgbClr val="FF0000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6012160" y="2090465"/>
            <a:ext cx="2332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>
                <a:solidFill>
                  <a:srgbClr val="FF0000"/>
                </a:solidFill>
              </a:rPr>
              <a:t>g(t) = pulso formador</a:t>
            </a:r>
            <a:endParaRPr lang="es-AR">
              <a:solidFill>
                <a:srgbClr val="FF0000"/>
              </a:solidFill>
            </a:endParaRPr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369396" y="2012616"/>
            <a:ext cx="1570756" cy="2625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 de flecha"/>
          <p:cNvCxnSpPr>
            <a:stCxn id="7" idx="3"/>
          </p:cNvCxnSpPr>
          <p:nvPr/>
        </p:nvCxnSpPr>
        <p:spPr>
          <a:xfrm flipV="1">
            <a:off x="5552588" y="2459797"/>
            <a:ext cx="459572" cy="44889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5" t="45897" r="15561" b="22851"/>
          <a:stretch/>
        </p:blipFill>
        <p:spPr bwMode="auto">
          <a:xfrm>
            <a:off x="1637110" y="3717032"/>
            <a:ext cx="5859922" cy="1494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27 Rectángulo redondeado"/>
          <p:cNvSpPr/>
          <p:nvPr/>
        </p:nvSpPr>
        <p:spPr>
          <a:xfrm>
            <a:off x="872296" y="5530880"/>
            <a:ext cx="7399676" cy="7297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mtClean="0"/>
              <a:t>En la Guía 4 veremos que existen otros pulsos formadores…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770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mtClean="0"/>
              <a:t>DEP de señales moduladas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50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27432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s-AR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i="1" smtClean="0">
                        <a:latin typeface="Cambria Math"/>
                        <a:ea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AR" i="1" smtClean="0">
                            <a:latin typeface="Cambria Math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s-AR" b="0" i="1" smtClean="0">
                            <a:latin typeface="Cambria Math"/>
                            <a:ea typeface="Cambria Math"/>
                          </a:rPr>
                          <m:t>=−∞</m:t>
                        </m:r>
                      </m:sub>
                      <m:sup>
                        <m:r>
                          <a:rPr lang="es-AR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s-AR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s-AR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es-AR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s-AR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𝑔</m:t>
                    </m:r>
                    <m:d>
                      <m:dPr>
                        <m:ctrlPr>
                          <a:rPr lang="es-AR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s-AR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𝑡</m:t>
                        </m:r>
                        <m:r>
                          <a:rPr lang="es-AR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s-AR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𝑛𝑇</m:t>
                        </m:r>
                      </m:e>
                    </m:d>
                  </m:oMath>
                </a14:m>
                <a:r>
                  <a:rPr lang="es-AR" b="0" smtClean="0">
                    <a:ea typeface="Cambria Math"/>
                  </a:rPr>
                  <a:t> </a:t>
                </a:r>
                <a:r>
                  <a:rPr lang="es-AR" sz="2000" b="0" smtClean="0">
                    <a:ea typeface="Cambria Math"/>
                  </a:rPr>
                  <a:t>= eq.BB de la señal modulada</a:t>
                </a:r>
              </a:p>
              <a:p>
                <a:pPr marL="274320" lvl="1" indent="0" algn="ctr">
                  <a:buNone/>
                </a:pPr>
                <a:endParaRPr lang="es-AR">
                  <a:ea typeface="Cambria Math"/>
                </a:endParaRPr>
              </a:p>
              <a:p>
                <a:pPr marL="274320" lvl="1" indent="0" algn="ctr">
                  <a:buNone/>
                </a:pPr>
                <a:endParaRPr lang="es-AR" i="1" smtClean="0">
                  <a:latin typeface="Cambria Math"/>
                </a:endParaRPr>
              </a:p>
              <a:p>
                <a:pPr marL="27432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s-AR" i="1">
                            <a:latin typeface="Cambria Math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s-AR" i="1">
                            <a:latin typeface="Cambria Math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𝑡</m:t>
                        </m:r>
                        <m:r>
                          <a:rPr lang="es-AR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s-AR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  <a:ea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AR" i="1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s-AR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es-AR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s-AR" i="1">
                        <a:latin typeface="Cambria Math"/>
                        <a:ea typeface="Cambria Math"/>
                      </a:rPr>
                      <m:t>𝑔</m:t>
                    </m:r>
                    <m:d>
                      <m:dPr>
                        <m:ctrlPr>
                          <a:rPr lang="es-AR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s-AR" b="0" smtClean="0">
                    <a:ea typeface="Cambria Math"/>
                  </a:rPr>
                  <a:t> </a:t>
                </a:r>
                <a:r>
                  <a:rPr lang="es-AR" sz="2000" b="0" smtClean="0">
                    <a:ea typeface="Cambria Math"/>
                  </a:rPr>
                  <a:t>= eq.BB del n-ésimo símbolo</a:t>
                </a:r>
              </a:p>
              <a:p>
                <a:pPr marL="274320" lvl="1" indent="0">
                  <a:buNone/>
                </a:pPr>
                <a:endParaRPr lang="es-AR"/>
              </a:p>
              <a:p>
                <a:pPr marL="274320" lvl="1" indent="0">
                  <a:buNone/>
                </a:pPr>
                <a:r>
                  <a:rPr lang="es-AR" smtClean="0"/>
                  <a:t>Calculando R</a:t>
                </a:r>
                <a:r>
                  <a:rPr lang="es-AR" baseline="-25000" smtClean="0"/>
                  <a:t>vl</a:t>
                </a:r>
                <a:r>
                  <a:rPr lang="es-AR" smtClean="0"/>
                  <a:t>(</a:t>
                </a:r>
                <a:r>
                  <a:rPr lang="el-GR" smtClean="0"/>
                  <a:t>τ</a:t>
                </a:r>
                <a:r>
                  <a:rPr lang="es-AR" smtClean="0"/>
                  <a:t>) y su transformada de Fourier: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sz="18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𝑣𝑙</m:t>
                        </m:r>
                      </m:sub>
                    </m:sSub>
                    <m:d>
                      <m:dPr>
                        <m:ctrlP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s-AR" sz="18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𝑇</m:t>
                        </m:r>
                      </m:den>
                    </m:f>
                    <m:sSup>
                      <m:sSupPr>
                        <m:ctrlP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AR" sz="18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AR" sz="18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s-AR" sz="18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s-AR" sz="18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𝑓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s-AR" sz="18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.</m:t>
                    </m:r>
                    <m:sSub>
                      <m:sSubPr>
                        <m:ctrlP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s-AR" sz="1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𝐼</m:t>
                        </m:r>
                      </m:sub>
                    </m:sSub>
                    <m:d>
                      <m:dPr>
                        <m:ctrlP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AR" sz="1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e>
                    </m:d>
                  </m:oMath>
                </a14:m>
                <a:r>
                  <a:rPr lang="es-AR" sz="1800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r>
                  <a:rPr lang="es-AR" sz="2000">
                    <a:solidFill>
                      <a:schemeClr val="accent2">
                        <a:lumMod val="50000"/>
                      </a:schemeClr>
                    </a:solidFill>
                    <a:ea typeface="Cambria Math"/>
                  </a:rPr>
                  <a:t>= DEP de </a:t>
                </a:r>
                <a:r>
                  <a:rPr lang="es-AR" sz="2000" smtClean="0">
                    <a:solidFill>
                      <a:schemeClr val="accent2">
                        <a:lumMod val="50000"/>
                      </a:schemeClr>
                    </a:solidFill>
                    <a:ea typeface="Cambria Math"/>
                  </a:rPr>
                  <a:t>la señal modulada (su eq. BB</a:t>
                </a:r>
                <a:r>
                  <a:rPr lang="es-AR" sz="2000" smtClean="0">
                    <a:solidFill>
                      <a:srgbClr val="00B050"/>
                    </a:solidFill>
                    <a:ea typeface="Cambria Math"/>
                  </a:rPr>
                  <a:t>)</a:t>
                </a:r>
                <a:endParaRPr lang="es-AR" sz="2000" dirty="0">
                  <a:solidFill>
                    <a:srgbClr val="00B050"/>
                  </a:solidFill>
                  <a:ea typeface="Cambria Math"/>
                </a:endParaRPr>
              </a:p>
              <a:p>
                <a:pPr marL="0" indent="0" algn="ctr">
                  <a:buNone/>
                </a:pPr>
                <a:endParaRPr lang="es-AR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s-AR" sz="1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s-AR" sz="1800" i="1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s-AR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s-AR" sz="1800" i="1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s-AR" sz="18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AR" sz="1800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1800" i="1">
                            <a:latin typeface="Cambria Math"/>
                          </a:rPr>
                          <m:t>𝑘</m:t>
                        </m:r>
                        <m:r>
                          <a:rPr lang="es-AR" sz="1800" i="1">
                            <a:latin typeface="Cambria Math"/>
                          </a:rPr>
                          <m:t>=−∞</m:t>
                        </m:r>
                      </m:sub>
                      <m:sup>
                        <m:r>
                          <a:rPr lang="es-AR" sz="1800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sz="1800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s-AR" sz="1800" i="1">
                                <a:latin typeface="Cambria Math"/>
                              </a:rPr>
                              <m:t>𝐼</m:t>
                            </m:r>
                          </m:sub>
                        </m:sSub>
                        <m:d>
                          <m:dPr>
                            <m:ctrlPr>
                              <a:rPr lang="es-AR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AR" sz="1800" i="1">
                                <a:latin typeface="Cambria Math"/>
                              </a:rPr>
                              <m:t>𝑘</m:t>
                            </m:r>
                          </m:e>
                        </m:d>
                      </m:e>
                    </m:nary>
                    <m:sSup>
                      <m:sSupPr>
                        <m:ctrlPr>
                          <a:rPr lang="es-AR" sz="1800" i="1">
                            <a:latin typeface="Cambria Math"/>
                          </a:rPr>
                        </m:ctrlPr>
                      </m:sSupPr>
                      <m:e>
                        <m:r>
                          <a:rPr lang="es-AR" sz="18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s-AR" sz="1800" i="1">
                            <a:latin typeface="Cambria Math"/>
                          </a:rPr>
                          <m:t>−</m:t>
                        </m:r>
                        <m:r>
                          <a:rPr lang="es-AR" sz="1800" i="1">
                            <a:latin typeface="Cambria Math"/>
                          </a:rPr>
                          <m:t>𝑗</m:t>
                        </m:r>
                        <m:r>
                          <a:rPr lang="es-AR" sz="18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800" i="1">
                            <a:latin typeface="Cambria Math"/>
                          </a:rPr>
                          <m:t>π</m:t>
                        </m:r>
                        <m:r>
                          <a:rPr lang="es-AR" sz="1800" i="1">
                            <a:latin typeface="Cambria Math"/>
                          </a:rPr>
                          <m:t>𝑘𝑓𝑇</m:t>
                        </m:r>
                      </m:sup>
                    </m:sSup>
                  </m:oMath>
                </a14:m>
                <a:r>
                  <a:rPr lang="es-AR" sz="2000">
                    <a:ea typeface="Cambria Math"/>
                  </a:rPr>
                  <a:t>= DEP de la </a:t>
                </a:r>
                <a:r>
                  <a:rPr lang="es-AR" sz="2000" smtClean="0">
                    <a:ea typeface="Cambria Math"/>
                  </a:rPr>
                  <a:t>información</a:t>
                </a:r>
              </a:p>
              <a:p>
                <a:pPr marL="0" indent="0" algn="ctr">
                  <a:buNone/>
                </a:pPr>
                <a:endParaRPr lang="es-AR" sz="2000">
                  <a:ea typeface="Cambria Math"/>
                </a:endParaRPr>
              </a:p>
              <a:p>
                <a:pPr marL="0" indent="0" algn="ctr">
                  <a:buNone/>
                </a:pPr>
                <a:r>
                  <a:rPr lang="es-AR" sz="2000" smtClean="0">
                    <a:ea typeface="Cambria Math"/>
                  </a:rPr>
                  <a:t>La densidad de espectral de potencia de una señal modulada depende del </a:t>
                </a:r>
                <a:r>
                  <a:rPr lang="es-AR" sz="2000" smtClean="0">
                    <a:solidFill>
                      <a:srgbClr val="FF0000"/>
                    </a:solidFill>
                    <a:ea typeface="Cambria Math"/>
                  </a:rPr>
                  <a:t>pulso formador </a:t>
                </a:r>
                <a:r>
                  <a:rPr lang="es-AR" sz="2000" smtClean="0">
                    <a:ea typeface="Cambria Math"/>
                  </a:rPr>
                  <a:t>y de la </a:t>
                </a:r>
                <a:r>
                  <a:rPr lang="es-AR" sz="2000" smtClean="0">
                    <a:solidFill>
                      <a:srgbClr val="00B050"/>
                    </a:solidFill>
                    <a:ea typeface="Cambria Math"/>
                  </a:rPr>
                  <a:t>secuencia de información</a:t>
                </a:r>
                <a:r>
                  <a:rPr lang="es-AR" sz="2000" smtClean="0">
                    <a:ea typeface="Cambria Math"/>
                  </a:rPr>
                  <a:t>.</a:t>
                </a:r>
                <a:endParaRPr lang="es-AR" sz="2000" dirty="0">
                  <a:ea typeface="Cambria Math"/>
                </a:endParaRPr>
              </a:p>
              <a:p>
                <a:pPr lvl="1"/>
                <a:endParaRPr lang="es-AR" dirty="0"/>
              </a:p>
            </p:txBody>
          </p:sp>
        </mc:Choice>
        <mc:Fallback xmlns="">
          <p:sp>
            <p:nvSpPr>
              <p:cNvPr id="8" name="7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114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8 CuadroTexto"/>
          <p:cNvSpPr txBox="1"/>
          <p:nvPr/>
        </p:nvSpPr>
        <p:spPr>
          <a:xfrm>
            <a:off x="2339752" y="198884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Información</a:t>
            </a:r>
            <a:endParaRPr lang="es-AR"/>
          </a:p>
        </p:txBody>
      </p:sp>
      <p:sp>
        <p:nvSpPr>
          <p:cNvPr id="10" name="9 CuadroTexto"/>
          <p:cNvSpPr txBox="1"/>
          <p:nvPr/>
        </p:nvSpPr>
        <p:spPr>
          <a:xfrm>
            <a:off x="4126835" y="1988840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Pulso formador </a:t>
            </a:r>
            <a:endParaRPr lang="es-AR"/>
          </a:p>
        </p:txBody>
      </p:sp>
      <p:cxnSp>
        <p:nvCxnSpPr>
          <p:cNvPr id="12" name="11 Conector recto de flecha"/>
          <p:cNvCxnSpPr>
            <a:endCxn id="9" idx="0"/>
          </p:cNvCxnSpPr>
          <p:nvPr/>
        </p:nvCxnSpPr>
        <p:spPr>
          <a:xfrm>
            <a:off x="3034814" y="1700808"/>
            <a:ext cx="0" cy="2880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>
            <a:off x="3995936" y="1700808"/>
            <a:ext cx="720080" cy="2880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00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smtClean="0"/>
              <a:t>DEP de señales moduladas lineales (ASK, PSK, QAM)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51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1"/>
                <a:r>
                  <a:rPr lang="es-AR" smtClean="0"/>
                  <a:t>Para símbolos reales y descorrelacionados, la autocorrelación de In es:</a:t>
                </a:r>
              </a:p>
              <a:p>
                <a:pPr lvl="1"/>
                <a:endParaRPr lang="es-AR" smtClean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es-AR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s-AR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/>
                                  <a:ea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e>
                        <m:sup>
                          <m:r>
                            <a:rPr lang="es-AR" i="1">
                              <a:latin typeface="Cambria Math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s-AR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e>
                        <m:sup>
                          <m:r>
                            <a:rPr lang="es-AR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i="1">
                          <a:latin typeface="Cambria Math"/>
                        </a:rPr>
                        <m:t>    </m:t>
                      </m:r>
                      <m:r>
                        <a:rPr lang="es-AR" i="1">
                          <a:latin typeface="Cambria Math"/>
                        </a:rPr>
                        <m:t>𝑚</m:t>
                      </m:r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es-AR"/>
              </a:p>
              <a:p>
                <a:pPr marL="27432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</a:rPr>
                          <m:t>𝐼</m:t>
                        </m:r>
                      </m:sub>
                    </m:sSub>
                    <m:d>
                      <m:dPr>
                        <m:ctrlPr>
                          <a:rPr lang="es-AR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𝑚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s-AR" b="0" i="1" smtClean="0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s-AR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/>
                                <a:ea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/>
                              </a:rPr>
                              <m:t>𝐼</m:t>
                            </m:r>
                          </m:sub>
                        </m:sSub>
                      </m:e>
                      <m:sup>
                        <m:r>
                          <a:rPr lang="es-AR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s-AR" b="0" i="1" smtClean="0">
                        <a:latin typeface="Cambria Math"/>
                      </a:rPr>
                      <m:t>    </m:t>
                    </m:r>
                    <m:r>
                      <a:rPr lang="es-AR" b="0" i="1" smtClean="0">
                        <a:latin typeface="Cambria Math"/>
                      </a:rPr>
                      <m:t>𝑚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s-AR" smtClean="0"/>
                  <a:t>	</a:t>
                </a:r>
              </a:p>
              <a:p>
                <a:pPr marL="274320" lvl="1" indent="0" algn="ctr">
                  <a:buNone/>
                </a:pPr>
                <a:endParaRPr lang="es-AR"/>
              </a:p>
              <a:p>
                <a:pPr lvl="1"/>
                <a:r>
                  <a:rPr lang="es-AR" smtClean="0"/>
                  <a:t>Y su transformada de Fourier: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i="1"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a:rPr lang="es-AR" i="1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s-AR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e>
                        <m:sup>
                          <m:r>
                            <a:rPr lang="es-AR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b="0" i="1" smtClean="0">
                              <a:latin typeface="Cambria Math"/>
                            </a:rPr>
                            <m:t>𝑚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s-AR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s-AR" b="0" i="1" smtClean="0">
                              <a:latin typeface="Cambria Math"/>
                              <a:ea typeface="Cambria Math"/>
                            </a:rPr>
                            <m:t>𝛿</m:t>
                          </m:r>
                        </m:e>
                      </m:nary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𝑓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s-AR" b="0" i="1" smtClean="0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AR" smtClean="0"/>
              </a:p>
              <a:p>
                <a:pPr lvl="1"/>
                <a:r>
                  <a:rPr lang="es-AR"/>
                  <a:t>F</a:t>
                </a:r>
                <a:r>
                  <a:rPr lang="es-AR" smtClean="0"/>
                  <a:t>inalmente,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𝑣𝑙</m:t>
                          </m:r>
                        </m:sub>
                      </m:sSub>
                      <m:d>
                        <m:dPr>
                          <m:ctrlPr>
                            <a:rPr lang="es-AR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a:rPr lang="es-AR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s-AR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AR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AR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s-AR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s-AR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𝑇</m:t>
                          </m:r>
                        </m:den>
                      </m:f>
                      <m:sSup>
                        <m:sSupPr>
                          <m:ctrlPr>
                            <a:rPr lang="es-AR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AR" i="1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s-AR" i="1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s-AR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AR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AR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AR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es-AR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s-AR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AR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s-AR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s-AR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s-AR" i="1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AR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AR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s-AR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AR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s-AR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𝑚</m:t>
                                          </m:r>
                                        </m:num>
                                        <m:den>
                                          <m:r>
                                            <a:rPr lang="es-AR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s-AR" i="1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.</m:t>
                          </m:r>
                          <m:r>
                            <a:rPr lang="es-AR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𝛿</m:t>
                          </m:r>
                        </m:e>
                      </m:nary>
                      <m:d>
                        <m:dPr>
                          <m:ctrlPr>
                            <a:rPr lang="es-AR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s-AR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s-AR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s-AR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AR"/>
              </a:p>
              <a:p>
                <a:pPr marL="274320" lvl="1" indent="0" algn="ctr">
                  <a:buNone/>
                </a:pPr>
                <a:endParaRPr lang="es-AR" dirty="0"/>
              </a:p>
            </p:txBody>
          </p:sp>
        </mc:Choice>
        <mc:Fallback xmlns="">
          <p:sp>
            <p:nvSpPr>
              <p:cNvPr id="8" name="7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160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10 Grupo"/>
          <p:cNvGrpSpPr/>
          <p:nvPr/>
        </p:nvGrpSpPr>
        <p:grpSpPr>
          <a:xfrm>
            <a:off x="2555776" y="4797152"/>
            <a:ext cx="6509836" cy="1224136"/>
            <a:chOff x="2555776" y="4797152"/>
            <a:chExt cx="6509836" cy="1224136"/>
          </a:xfrm>
        </p:grpSpPr>
        <p:sp>
          <p:nvSpPr>
            <p:cNvPr id="3" name="2 Elipse"/>
            <p:cNvSpPr/>
            <p:nvPr/>
          </p:nvSpPr>
          <p:spPr>
            <a:xfrm>
              <a:off x="2555776" y="5229200"/>
              <a:ext cx="1224136" cy="7920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4" name="13 Elipse"/>
            <p:cNvSpPr/>
            <p:nvPr/>
          </p:nvSpPr>
          <p:spPr>
            <a:xfrm>
              <a:off x="5148064" y="5229200"/>
              <a:ext cx="2808312" cy="7920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3167844" y="4797152"/>
              <a:ext cx="5897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mtClean="0"/>
                <a:t>Espectro contiguo	Líneas espectrales (Típ. = 0)</a:t>
              </a:r>
              <a:endParaRPr lang="es-AR"/>
            </a:p>
          </p:txBody>
        </p:sp>
      </p:grpSp>
      <p:sp>
        <p:nvSpPr>
          <p:cNvPr id="12" name="11 Rectángulo redondeado"/>
          <p:cNvSpPr/>
          <p:nvPr/>
        </p:nvSpPr>
        <p:spPr>
          <a:xfrm>
            <a:off x="6732240" y="2521263"/>
            <a:ext cx="1800200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mtClean="0"/>
              <a:t>Típicamente, </a:t>
            </a:r>
            <a:r>
              <a:rPr lang="el-GR" smtClean="0">
                <a:latin typeface="Cambria Math"/>
                <a:ea typeface="Cambria Math"/>
              </a:rPr>
              <a:t>μ</a:t>
            </a:r>
            <a:r>
              <a:rPr lang="es-AR" baseline="-25000" smtClean="0">
                <a:latin typeface="Cambria Math"/>
                <a:ea typeface="Cambria Math"/>
              </a:rPr>
              <a:t>I</a:t>
            </a:r>
            <a:r>
              <a:rPr lang="es-AR" smtClean="0">
                <a:latin typeface="Cambria Math"/>
                <a:ea typeface="Cambria Math"/>
              </a:rPr>
              <a:t> = 0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327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mtClean="0"/>
              <a:t>DEP de FSK (ortogonal)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52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lvl="1"/>
                <a:r>
                  <a:rPr lang="es-AR" smtClean="0"/>
                  <a:t>Sea un símbolo FSK (eq. BB) y su TF:</a:t>
                </a:r>
              </a:p>
              <a:p>
                <a:pPr marL="274320" lvl="1" indent="0">
                  <a:buNone/>
                </a:pPr>
                <a:endParaRPr lang="es-AR" smtClean="0"/>
              </a:p>
              <a:p>
                <a:pPr marL="27432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s-AR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𝑡</m:t>
                        </m:r>
                        <m:r>
                          <a:rPr lang="es-AR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s-AR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AR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AR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AR" b="0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s-AR" b="0" i="1" smtClean="0">
                                <a:latin typeface="Cambria Math"/>
                              </a:rPr>
                              <m:t>𝐸</m:t>
                            </m:r>
                          </m:num>
                          <m:den>
                            <m:r>
                              <a:rPr lang="es-AR" b="0" i="1" smtClean="0">
                                <a:latin typeface="Cambria Math"/>
                              </a:rPr>
                              <m:t>𝑇</m:t>
                            </m:r>
                          </m:den>
                        </m:f>
                      </m:e>
                    </m:rad>
                    <m:sSup>
                      <m:sSupPr>
                        <m:ctrlPr>
                          <a:rPr lang="es-AR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s-AR" b="0" i="1" smtClean="0">
                            <a:latin typeface="Cambria Math"/>
                          </a:rPr>
                          <m:t>𝑗</m:t>
                        </m:r>
                        <m:r>
                          <a:rPr lang="es-AR" b="0" i="1" smtClean="0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/>
                          </a:rPr>
                          <m:t>π</m:t>
                        </m:r>
                        <m:sSub>
                          <m:sSubPr>
                            <m:ctrlPr>
                              <a:rPr lang="es-AR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s-AR" b="0" i="1" smtClean="0">
                            <a:latin typeface="Cambria Math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/>
                          </a:rPr>
                          <m:t>Δ</m:t>
                        </m:r>
                        <m:r>
                          <a:rPr lang="es-AR" b="0" i="1" smtClean="0">
                            <a:latin typeface="Cambria Math"/>
                          </a:rPr>
                          <m:t>𝑓</m:t>
                        </m:r>
                        <m:r>
                          <a:rPr lang="es-AR" b="0" i="1" smtClean="0">
                            <a:latin typeface="Cambria Math"/>
                          </a:rPr>
                          <m:t>.</m:t>
                        </m:r>
                        <m:r>
                          <a:rPr lang="es-AR" b="0" i="1" smtClean="0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s-AR" b="0" i="1" smtClean="0">
                        <a:latin typeface="Cambria Math"/>
                      </a:rPr>
                      <m:t>.1[0,</m:t>
                    </m:r>
                    <m:r>
                      <a:rPr lang="es-AR" b="0" i="1" smtClean="0">
                        <a:latin typeface="Cambria Math"/>
                      </a:rPr>
                      <m:t>𝑇</m:t>
                    </m:r>
                    <m:r>
                      <a:rPr lang="es-AR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es-AR" smtClean="0"/>
                  <a:t>	I</a:t>
                </a:r>
                <a:r>
                  <a:rPr lang="es-AR" baseline="-25000" smtClean="0"/>
                  <a:t>n</a:t>
                </a:r>
                <a:r>
                  <a:rPr lang="es-AR" smtClean="0"/>
                  <a:t> = 1…M</a:t>
                </a:r>
              </a:p>
              <a:p>
                <a:pPr marL="274320" lvl="1" indent="0">
                  <a:buNone/>
                </a:pPr>
                <a:r>
                  <a:rPr lang="es-AR" smtClean="0"/>
                  <a:t>	</a:t>
                </a:r>
              </a:p>
              <a:p>
                <a:pPr marL="27432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s-AR" i="1">
                            <a:latin typeface="Cambria Math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s-AR" i="1">
                            <a:latin typeface="Cambria Math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𝑓</m:t>
                        </m:r>
                        <m:r>
                          <a:rPr lang="es-AR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s-AR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AR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s-AR" b="0" i="1" smtClean="0">
                            <a:latin typeface="Cambria Math"/>
                          </a:rPr>
                          <m:t>2</m:t>
                        </m:r>
                        <m:r>
                          <a:rPr lang="es-AR" b="0" i="1" smtClean="0">
                            <a:latin typeface="Cambria Math"/>
                          </a:rPr>
                          <m:t>𝐸</m:t>
                        </m:r>
                        <m:r>
                          <a:rPr lang="es-AR" b="0" i="1" smtClean="0">
                            <a:latin typeface="Cambria Math"/>
                          </a:rPr>
                          <m:t>.</m:t>
                        </m:r>
                        <m:r>
                          <a:rPr lang="es-AR" b="0" i="1" smtClean="0">
                            <a:latin typeface="Cambria Math"/>
                          </a:rPr>
                          <m:t>𝑇</m:t>
                        </m:r>
                      </m:e>
                    </m:rad>
                    <m:r>
                      <a:rPr lang="es-AR" b="0" i="1" smtClean="0">
                        <a:latin typeface="Cambria Math"/>
                      </a:rPr>
                      <m:t>𝑠𝑖𝑛𝑐</m:t>
                    </m:r>
                    <m:r>
                      <a:rPr lang="es-AR" b="0" i="1" smtClean="0">
                        <a:latin typeface="Cambria Math"/>
                      </a:rPr>
                      <m:t>[(</m:t>
                    </m:r>
                    <m:r>
                      <a:rPr lang="es-AR" b="0" i="1" smtClean="0">
                        <a:latin typeface="Cambria Math"/>
                      </a:rPr>
                      <m:t>𝑓</m:t>
                    </m:r>
                    <m:r>
                      <a:rPr lang="es-AR" b="0" i="1" smtClean="0">
                        <a:latin typeface="Cambria Math"/>
                      </a:rPr>
                      <m:t>−</m:t>
                    </m:r>
                  </m:oMath>
                </a14:m>
                <a:r>
                  <a:rPr lang="es-AR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s-AR" i="1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l-GR" i="1">
                        <a:latin typeface="Cambria Math"/>
                      </a:rPr>
                      <m:t>Δ</m:t>
                    </m:r>
                    <m:r>
                      <a:rPr lang="es-AR" i="1">
                        <a:latin typeface="Cambria Math"/>
                      </a:rPr>
                      <m:t>𝑓</m:t>
                    </m:r>
                    <m:r>
                      <a:rPr lang="es-AR" b="0" i="1" smtClean="0">
                        <a:latin typeface="Cambria Math"/>
                      </a:rPr>
                      <m:t>)</m:t>
                    </m:r>
                    <m:r>
                      <a:rPr lang="es-AR" b="0" i="1" smtClean="0">
                        <a:latin typeface="Cambria Math"/>
                      </a:rPr>
                      <m:t>𝑇</m:t>
                    </m:r>
                    <m:r>
                      <a:rPr lang="es-AR" b="0" i="1" smtClean="0">
                        <a:latin typeface="Cambria Math"/>
                      </a:rPr>
                      <m:t>].</m:t>
                    </m:r>
                    <m:sSup>
                      <m:sSupPr>
                        <m:ctrlPr>
                          <a:rPr lang="es-AR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s-AR" b="0" i="1" smtClean="0">
                            <a:latin typeface="Cambria Math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/>
                          </a:rPr>
                          <m:t>π</m:t>
                        </m:r>
                        <m:d>
                          <m:dPr>
                            <m:ctrlPr>
                              <a:rPr lang="es-AR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𝑓</m:t>
                            </m:r>
                            <m:r>
                              <a:rPr lang="es-AR" b="0" i="1" smtClean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AR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s-AR" i="1">
                                    <a:latin typeface="Cambria Math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s-AR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s-AR" i="1">
                                <a:latin typeface="Cambria Math"/>
                              </a:rPr>
                              <m:t>.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Δ</m:t>
                            </m:r>
                            <m:r>
                              <a:rPr lang="es-AR" i="1">
                                <a:latin typeface="Cambria Math"/>
                              </a:rPr>
                              <m:t>𝑓</m:t>
                            </m:r>
                          </m:e>
                        </m:d>
                        <m:r>
                          <a:rPr lang="es-AR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s-AR" i="1">
                        <a:latin typeface="Cambria Math"/>
                      </a:rPr>
                      <m:t> </m:t>
                    </m:r>
                  </m:oMath>
                </a14:m>
                <a:endParaRPr lang="es-AR" smtClean="0"/>
              </a:p>
              <a:p>
                <a:pPr marL="274320" lvl="1" indent="0">
                  <a:buNone/>
                </a:pPr>
                <a:endParaRPr lang="es-AR" smtClean="0"/>
              </a:p>
              <a:p>
                <a:pPr marL="274320" lvl="1" indent="0">
                  <a:buNone/>
                </a:pPr>
                <a:r>
                  <a:rPr lang="es-AR" smtClean="0"/>
                  <a:t>Calculamos </a:t>
                </a:r>
                <a:r>
                  <a:rPr lang="es-AR"/>
                  <a:t>R</a:t>
                </a:r>
                <a:r>
                  <a:rPr lang="es-AR" baseline="-25000"/>
                  <a:t>vl</a:t>
                </a:r>
                <a:r>
                  <a:rPr lang="es-AR"/>
                  <a:t>(</a:t>
                </a:r>
                <a:r>
                  <a:rPr lang="el-GR"/>
                  <a:t>τ</a:t>
                </a:r>
                <a:r>
                  <a:rPr lang="es-AR"/>
                  <a:t>) y su transformada de </a:t>
                </a:r>
                <a:r>
                  <a:rPr lang="es-AR" smtClean="0"/>
                  <a:t>Fourier, S</a:t>
                </a:r>
                <a:r>
                  <a:rPr lang="es-AR" baseline="-25000" smtClean="0"/>
                  <a:t>vl</a:t>
                </a:r>
                <a:r>
                  <a:rPr lang="es-AR" smtClean="0"/>
                  <a:t>(f) :</a:t>
                </a:r>
                <a:endParaRPr lang="es-AR"/>
              </a:p>
              <a:p>
                <a:pPr marL="274320" lvl="1" indent="0" algn="ctr">
                  <a:buNone/>
                </a:pPr>
                <a:endParaRPr lang="es-AR" smtClean="0"/>
              </a:p>
              <a:p>
                <a:pPr marL="27432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0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𝑣𝑙</m:t>
                          </m:r>
                        </m:sub>
                      </m:sSub>
                      <m:d>
                        <m:dPr>
                          <m:ctrlP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a:rPr lang="es-AR" sz="2000" i="1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s-AR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s-AR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</m:d>
                        </m:e>
                      </m:nary>
                      <m:sSup>
                        <m:sSupPr>
                          <m:ctrlP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π</m:t>
                          </m:r>
                          <m:r>
                            <a:rPr lang="es-AR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𝑘𝑓𝑇</m:t>
                          </m:r>
                        </m:sup>
                      </m:sSup>
                      <m:r>
                        <a:rPr lang="es-AR" sz="2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s-AR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𝐸</m:t>
                          </m:r>
                        </m:num>
                        <m:den>
                          <m:r>
                            <a:rPr lang="es-AR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AR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s-AR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s-AR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es-AR" sz="20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AR" sz="20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𝑠𝑖𝑛𝑐</m:t>
                              </m:r>
                            </m:e>
                            <m:sup>
                              <m:r>
                                <a:rPr lang="es-AR" sz="20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s-AR" sz="20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A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A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𝑓</m:t>
                                  </m:r>
                                  <m:r>
                                    <a:rPr lang="es-A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s-A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s-A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.∆</m:t>
                                  </m:r>
                                  <m:r>
                                    <a:rPr lang="es-A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𝑓</m:t>
                                  </m:r>
                                </m:e>
                              </m:d>
                              <m:r>
                                <a:rPr lang="es-AR" sz="20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e>
                          </m:d>
                          <m:r>
                            <a:rPr lang="es-AR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s-AR" sz="20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A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s-AR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𝜇</m:t>
                                      </m:r>
                                      <m:d>
                                        <m:dPr>
                                          <m:ctrlPr>
                                            <a:rPr lang="es-AR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AR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𝑓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s-A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AR" sz="20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r>
                            <a:rPr lang="es-AR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s-AR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AR" sz="2000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s-AR" sz="2000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2000" i="1">
                                          <a:solidFill>
                                            <a:srgbClr val="00B05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𝜇</m:t>
                                      </m:r>
                                      <m:d>
                                        <m:dPr>
                                          <m:ctrlPr>
                                            <a:rPr lang="es-AR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AR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𝑓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s-AR" sz="2000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AR" sz="20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A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s-A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AR" sz="24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s-AR" sz="24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𝑘</m:t>
                              </m:r>
                              <m:r>
                                <a:rPr lang="es-AR" sz="24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s-AR" sz="2400" i="1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s-AR" sz="2400" i="1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𝛿</m:t>
                              </m:r>
                            </m:e>
                          </m:nary>
                          <m:d>
                            <m:dPr>
                              <m:ctrlPr>
                                <a:rPr lang="es-AR" sz="24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sz="24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𝑓</m:t>
                              </m:r>
                              <m:r>
                                <a:rPr lang="es-AR" sz="24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AR" sz="2400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sz="2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s-AR" sz="2400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s-AR" sz="2400" dirty="0"/>
              </a:p>
              <a:p>
                <a:pPr marL="274320" lvl="1" indent="0" algn="ctr">
                  <a:buNone/>
                </a:pPr>
                <a:endParaRPr lang="es-AR" smtClean="0"/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r>
                      <a:rPr lang="es-AR" i="1" smtClean="0">
                        <a:latin typeface="Cambria Math"/>
                        <a:ea typeface="Cambria Math"/>
                      </a:rPr>
                      <m:t>𝜇</m:t>
                    </m:r>
                    <m:d>
                      <m:dPr>
                        <m:ctrlPr>
                          <a:rPr lang="es-AR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</m:d>
                    <m:r>
                      <a:rPr lang="es-AR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s-AR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s-AR" b="0" i="1" smtClean="0">
                            <a:latin typeface="Cambria Math"/>
                            <a:ea typeface="Cambria Math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AR" b="0" i="1" smtClean="0">
                            <a:latin typeface="Cambria Math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  <m:r>
                          <a:rPr lang="es-AR" b="0" i="1" smtClean="0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r>
                          <a:rPr lang="es-AR" b="0" i="1" smtClean="0">
                            <a:latin typeface="Cambria Math"/>
                            <a:ea typeface="Cambria Math"/>
                          </a:rPr>
                          <m:t>𝑀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s-AR" i="1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s-AR" i="1">
                                <a:latin typeface="Cambria Math"/>
                              </a:rPr>
                              <m:t>2</m:t>
                            </m:r>
                            <m:r>
                              <a:rPr lang="es-AR" i="1">
                                <a:latin typeface="Cambria Math"/>
                              </a:rPr>
                              <m:t>𝐸</m:t>
                            </m:r>
                            <m:r>
                              <a:rPr lang="es-AR" i="1">
                                <a:latin typeface="Cambria Math"/>
                              </a:rPr>
                              <m:t>.</m:t>
                            </m:r>
                            <m:r>
                              <a:rPr lang="es-AR" i="1">
                                <a:latin typeface="Cambria Math"/>
                              </a:rPr>
                              <m:t>𝑇</m:t>
                            </m:r>
                          </m:e>
                        </m:rad>
                        <m:r>
                          <a:rPr lang="es-AR" i="1">
                            <a:latin typeface="Cambria Math"/>
                          </a:rPr>
                          <m:t>𝑠𝑖𝑛𝑐</m:t>
                        </m:r>
                        <m:r>
                          <a:rPr lang="es-AR" i="1">
                            <a:latin typeface="Cambria Math"/>
                          </a:rPr>
                          <m:t>[(</m:t>
                        </m:r>
                        <m:r>
                          <a:rPr lang="es-AR" i="1">
                            <a:latin typeface="Cambria Math"/>
                          </a:rPr>
                          <m:t>𝑓</m:t>
                        </m:r>
                        <m:r>
                          <a:rPr lang="es-AR" i="1">
                            <a:latin typeface="Cambria Math"/>
                          </a:rPr>
                          <m:t>−</m:t>
                        </m:r>
                        <m:r>
                          <a:rPr lang="es-AR" b="0" i="1" smtClean="0">
                            <a:latin typeface="Cambria Math"/>
                          </a:rPr>
                          <m:t>𝑚</m:t>
                        </m:r>
                        <m:r>
                          <a:rPr lang="es-AR" i="1">
                            <a:latin typeface="Cambria Math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</a:rPr>
                          <m:t>Δ</m:t>
                        </m:r>
                        <m:r>
                          <a:rPr lang="es-AR" i="1">
                            <a:latin typeface="Cambria Math"/>
                          </a:rPr>
                          <m:t>𝑓</m:t>
                        </m:r>
                        <m:r>
                          <a:rPr lang="es-AR" i="1">
                            <a:latin typeface="Cambria Math"/>
                          </a:rPr>
                          <m:t>)</m:t>
                        </m:r>
                        <m:r>
                          <a:rPr lang="es-AR" i="1">
                            <a:latin typeface="Cambria Math"/>
                          </a:rPr>
                          <m:t>𝑇</m:t>
                        </m:r>
                        <m:r>
                          <a:rPr lang="es-AR" i="1">
                            <a:latin typeface="Cambria Math"/>
                          </a:rPr>
                          <m:t>].</m:t>
                        </m:r>
                        <m:sSup>
                          <m:sSupPr>
                            <m:ctrlPr>
                              <a:rPr lang="es-AR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AR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s-AR" i="1">
                                <a:latin typeface="Cambria Math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π</m:t>
                            </m:r>
                            <m:d>
                              <m:dPr>
                                <m:ctrlPr>
                                  <a:rPr lang="es-AR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s-AR" i="1">
                                    <a:latin typeface="Cambria Math"/>
                                  </a:rPr>
                                  <m:t>𝑓</m:t>
                                </m:r>
                                <m:r>
                                  <a:rPr lang="es-AR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s-AR" b="0" i="1" smtClean="0"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s-AR" i="1">
                                    <a:latin typeface="Cambria Math"/>
                                  </a:rPr>
                                  <m:t>.</m:t>
                                </m:r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/>
                                  </a:rPr>
                                  <m:t>Δ</m:t>
                                </m:r>
                                <m:r>
                                  <a:rPr lang="es-AR" i="1">
                                    <a:latin typeface="Cambria Math"/>
                                  </a:rPr>
                                  <m:t>𝑓</m:t>
                                </m:r>
                              </m:e>
                            </m:d>
                            <m:r>
                              <a:rPr lang="es-AR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</m:e>
                    </m:nary>
                  </m:oMath>
                </a14:m>
                <a:r>
                  <a:rPr lang="es-AR" smtClean="0"/>
                  <a:t> </a:t>
                </a:r>
                <a:endParaRPr lang="es-AR"/>
              </a:p>
              <a:p>
                <a:pPr marL="274320" lvl="1" indent="0" algn="ctr">
                  <a:buNone/>
                </a:pPr>
                <a:endParaRPr lang="es-AR" dirty="0"/>
              </a:p>
            </p:txBody>
          </p:sp>
        </mc:Choice>
        <mc:Fallback xmlns="">
          <p:sp>
            <p:nvSpPr>
              <p:cNvPr id="8" name="7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1605" b="-679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8 CuadroTexto"/>
          <p:cNvSpPr txBox="1"/>
          <p:nvPr/>
        </p:nvSpPr>
        <p:spPr>
          <a:xfrm>
            <a:off x="4932040" y="3645024"/>
            <a:ext cx="410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/>
              <a:t>g</a:t>
            </a:r>
            <a:r>
              <a:rPr lang="es-AR" baseline="-25000" smtClean="0"/>
              <a:t>k</a:t>
            </a:r>
            <a:r>
              <a:rPr lang="es-AR" smtClean="0"/>
              <a:t> = autocorrelación del símbolo</a:t>
            </a:r>
          </a:p>
          <a:p>
            <a:r>
              <a:rPr lang="es-AR" smtClean="0"/>
              <a:t>G</a:t>
            </a:r>
            <a:r>
              <a:rPr lang="es-AR" baseline="-25000" smtClean="0"/>
              <a:t>k</a:t>
            </a:r>
            <a:r>
              <a:rPr lang="es-AR" smtClean="0"/>
              <a:t> = F{g</a:t>
            </a:r>
            <a:r>
              <a:rPr lang="es-AR" baseline="-25000" smtClean="0"/>
              <a:t>k</a:t>
            </a:r>
            <a:r>
              <a:rPr lang="es-AR" smtClean="0"/>
              <a:t>}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172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Ejercicio 28 – Elección de una modulación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s-AR" sz="1800" dirty="0" smtClean="0"/>
              <a:t>Sabiendo que, para un esquema PCM (muestreo + cuantificación + codificación), la tasa de bits a su salida es:</a:t>
            </a:r>
          </a:p>
          <a:p>
            <a:pPr marL="0" indent="0" algn="ctr">
              <a:buNone/>
            </a:pPr>
            <a:r>
              <a:rPr lang="es-AR" sz="1800" dirty="0" smtClean="0"/>
              <a:t>R</a:t>
            </a:r>
            <a:r>
              <a:rPr lang="es-AR" sz="1800" baseline="-25000" dirty="0" smtClean="0"/>
              <a:t>b</a:t>
            </a:r>
            <a:r>
              <a:rPr lang="es-AR" sz="1800" dirty="0" smtClean="0"/>
              <a:t> [kbps] = </a:t>
            </a:r>
            <a:r>
              <a:rPr lang="es-AR" sz="1800" dirty="0" err="1" smtClean="0"/>
              <a:t>f</a:t>
            </a:r>
            <a:r>
              <a:rPr lang="es-AR" sz="1800" baseline="-25000" dirty="0" err="1" smtClean="0"/>
              <a:t>muestreo</a:t>
            </a:r>
            <a:r>
              <a:rPr lang="es-AR" sz="1800" dirty="0" smtClean="0"/>
              <a:t> [kHz]. N [bits/muestra]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Y es seguido de un modulador, que transmite símbolos a tasa </a:t>
            </a:r>
          </a:p>
          <a:p>
            <a:pPr marL="0" indent="0" algn="ctr">
              <a:buNone/>
            </a:pPr>
            <a:r>
              <a:rPr lang="es-AR" sz="1800" dirty="0" err="1" smtClean="0"/>
              <a:t>R</a:t>
            </a:r>
            <a:r>
              <a:rPr lang="es-AR" sz="1800" baseline="-25000" dirty="0" err="1" smtClean="0"/>
              <a:t>s</a:t>
            </a:r>
            <a:r>
              <a:rPr lang="es-AR" sz="1800" dirty="0" smtClean="0"/>
              <a:t> [</a:t>
            </a:r>
            <a:r>
              <a:rPr lang="es-AR" sz="1800" dirty="0" err="1" smtClean="0"/>
              <a:t>kbaudios</a:t>
            </a:r>
            <a:r>
              <a:rPr lang="es-AR" sz="1800" dirty="0" smtClean="0"/>
              <a:t>] = R</a:t>
            </a:r>
            <a:r>
              <a:rPr lang="es-AR" sz="1800" baseline="-25000" dirty="0" smtClean="0"/>
              <a:t>b</a:t>
            </a:r>
            <a:r>
              <a:rPr lang="es-AR" sz="1800" dirty="0" smtClean="0"/>
              <a:t> [kbps]/k [bits/símbolo]</a:t>
            </a:r>
          </a:p>
          <a:p>
            <a:pPr marL="0" indent="0" algn="ctr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A partir de la densidad espectral de potencia, calculamos el ancho de banda considerando el lóbulo principal del espectro continuo, el cual depende de </a:t>
            </a:r>
            <a:r>
              <a:rPr lang="es-AR" sz="1800" dirty="0" err="1"/>
              <a:t>R</a:t>
            </a:r>
            <a:r>
              <a:rPr lang="es-AR" sz="1800" baseline="-25000" dirty="0" err="1"/>
              <a:t>s</a:t>
            </a:r>
            <a:r>
              <a:rPr lang="es-AR" sz="1800" dirty="0" smtClean="0"/>
              <a:t>. Ejemplo:</a:t>
            </a:r>
          </a:p>
          <a:p>
            <a:pPr marL="342900" indent="-342900" algn="just">
              <a:buFont typeface="+mj-lt"/>
              <a:buAutoNum type="arabicParenR" startAt="2"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53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5" t="45897" r="15561" b="22851"/>
          <a:stretch/>
        </p:blipFill>
        <p:spPr bwMode="auto">
          <a:xfrm>
            <a:off x="1642039" y="4703725"/>
            <a:ext cx="5859922" cy="1494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529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Ejercicio 28 – Elección de una modulación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arenR" startAt="2"/>
            </a:pPr>
            <a:r>
              <a:rPr lang="es-AR" sz="1800" dirty="0" smtClean="0"/>
              <a:t>La eficiencia espectral mide, para una modulación, cuántos bps permiten ser transmitidos con cada Hz del canal.</a:t>
            </a:r>
          </a:p>
          <a:p>
            <a:pPr marL="0" indent="0" algn="ctr">
              <a:buNone/>
            </a:pPr>
            <a:r>
              <a:rPr lang="es-AR" sz="1800" dirty="0" smtClean="0"/>
              <a:t>η [bps/</a:t>
            </a:r>
            <a:r>
              <a:rPr lang="es-AR" sz="1800" dirty="0"/>
              <a:t>H</a:t>
            </a:r>
            <a:r>
              <a:rPr lang="es-AR" sz="1800" dirty="0" smtClean="0"/>
              <a:t>z] = R</a:t>
            </a:r>
            <a:r>
              <a:rPr lang="es-AR" sz="1800" baseline="-25000" dirty="0" smtClean="0"/>
              <a:t>b</a:t>
            </a:r>
            <a:r>
              <a:rPr lang="es-AR" sz="1800" dirty="0" smtClean="0"/>
              <a:t> [bps] / AB [Hz]</a:t>
            </a:r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3"/>
            </a:pPr>
            <a:r>
              <a:rPr lang="es-AR" sz="1800" dirty="0" smtClean="0"/>
              <a:t>Calcule la SNR empleando la expresión exacta o la cota de Pe según convenga.</a:t>
            </a:r>
          </a:p>
          <a:p>
            <a:pPr marL="342900" indent="-342900" algn="just">
              <a:buFont typeface="+mj-lt"/>
              <a:buAutoNum type="arabicParenR" startAt="3"/>
            </a:pPr>
            <a:r>
              <a:rPr lang="es-AR" sz="1800" dirty="0" smtClean="0"/>
              <a:t>Realice una tabla comparativa para </a:t>
            </a:r>
            <a:r>
              <a:rPr lang="es-AR" sz="1800" smtClean="0"/>
              <a:t>cada modulación (QPSK se muestra resuelta a modo de ejemplo). </a:t>
            </a:r>
            <a:r>
              <a:rPr lang="es-AR" sz="1800" dirty="0" smtClean="0"/>
              <a:t>Algunos criterios posibles de selección: </a:t>
            </a:r>
          </a:p>
          <a:p>
            <a:pPr algn="just"/>
            <a:r>
              <a:rPr lang="es-AR" sz="1800" dirty="0" smtClean="0"/>
              <a:t>Medio de transmisión;</a:t>
            </a:r>
          </a:p>
          <a:p>
            <a:pPr algn="just"/>
            <a:r>
              <a:rPr lang="es-AR" sz="1800" dirty="0" smtClean="0"/>
              <a:t>Ancho de banda escaso o costoso;</a:t>
            </a:r>
          </a:p>
          <a:p>
            <a:pPr algn="just"/>
            <a:r>
              <a:rPr lang="es-AR" sz="1800" dirty="0" smtClean="0"/>
              <a:t>Potencia limitada;</a:t>
            </a:r>
          </a:p>
          <a:p>
            <a:pPr algn="just"/>
            <a:r>
              <a:rPr lang="es-AR" sz="1800" dirty="0" smtClean="0"/>
              <a:t>Canal ruidoso.</a:t>
            </a:r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388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Ejercicio 28 – Elección de una modulación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55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1236602"/>
                  </p:ext>
                </p:extLst>
              </p:nvPr>
            </p:nvGraphicFramePr>
            <p:xfrm>
              <a:off x="164105" y="2532168"/>
              <a:ext cx="8906577" cy="2409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862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24299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24299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39519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2141385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1242992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60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dirty="0" smtClean="0"/>
                            <a:t>MOD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dirty="0" smtClean="0"/>
                            <a:t>R</a:t>
                          </a:r>
                          <a:r>
                            <a:rPr lang="es-AR" sz="1400" baseline="-25000" dirty="0" smtClean="0"/>
                            <a:t>b</a:t>
                          </a:r>
                          <a:endParaRPr lang="es-AR" sz="1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dirty="0" err="1" smtClean="0"/>
                            <a:t>R</a:t>
                          </a:r>
                          <a:r>
                            <a:rPr lang="es-AR" sz="1400" baseline="-25000" dirty="0" err="1" smtClean="0"/>
                            <a:t>s</a:t>
                          </a:r>
                          <a:endParaRPr lang="es-AR" sz="1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AB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400" smtClean="0"/>
                            <a:t>η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Peb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dirty="0" smtClean="0"/>
                            <a:t>SNR </a:t>
                          </a:r>
                          <a:r>
                            <a:rPr lang="es-AR" sz="1400" smtClean="0"/>
                            <a:t>@Peb&lt;10</a:t>
                          </a:r>
                          <a:r>
                            <a:rPr lang="es-AR" sz="1400" baseline="30000" smtClean="0"/>
                            <a:t>-5</a:t>
                          </a:r>
                          <a:endParaRPr lang="es-AR" sz="14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mtClean="0"/>
                            <a:t>2-PAM (BB)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mtClean="0"/>
                            <a:t>2-ASK (BP)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QPSK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72 kbps</a:t>
                          </a:r>
                          <a:endParaRPr lang="es-AR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36 kbaudios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72 kHz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1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sz="140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AR" sz="1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s-AR" sz="14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den>
                                </m:f>
                                <m:r>
                                  <a:rPr lang="es-AR" sz="1400" b="0" i="1" smtClean="0">
                                    <a:latin typeface="Cambria Math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s-AR" sz="1400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s-AR" sz="1400" b="0" i="1" smtClean="0">
                                            <a:latin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s-AR" sz="1400" b="0" i="1" smtClean="0">
                                                <a:latin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AR" sz="1400" b="0" i="1" smtClean="0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  <m:r>
                                              <a:rPr lang="es-AR" sz="1400" b="0" i="1" smtClean="0">
                                                <a:latin typeface="Cambria Math"/>
                                                <a:ea typeface="Cambria Math"/>
                                              </a:rPr>
                                              <m:t>𝜀</m:t>
                                            </m:r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s-AR" sz="1400" b="0" i="1" smtClean="0">
                                                    <a:latin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AR" sz="1400" b="0" i="1" smtClean="0">
                                                    <a:latin typeface="Cambria Math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AR" sz="1400" b="0" i="1" smtClean="0">
                                                    <a:latin typeface="Cambria Math"/>
                                                  </a:rPr>
                                                  <m:t>𝑜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rad>
                                    <m:r>
                                      <a:rPr lang="es-AR" sz="1400" b="0" i="1" smtClean="0">
                                        <a:latin typeface="Cambria Math"/>
                                      </a:rPr>
                                      <m:t>.</m:t>
                                    </m:r>
                                    <m:r>
                                      <a:rPr lang="es-AR" sz="1400" b="0" i="1" smtClean="0">
                                        <a:latin typeface="Cambria Math"/>
                                      </a:rPr>
                                      <m:t>𝑠𝑒𝑛</m:t>
                                    </m:r>
                                    <m:r>
                                      <a:rPr lang="es-AR" sz="1400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s-AR" sz="1400" b="0" i="1" smtClean="0">
                                        <a:latin typeface="Cambria Math"/>
                                        <a:ea typeface="Cambria Math"/>
                                      </a:rPr>
                                      <m:t>𝜋</m:t>
                                    </m:r>
                                    <m:r>
                                      <a:rPr lang="es-AR" sz="1400" b="0" i="1" smtClean="0">
                                        <a:latin typeface="Cambria Math"/>
                                        <a:ea typeface="Cambria Math"/>
                                      </a:rPr>
                                      <m:t>/</m:t>
                                    </m:r>
                                    <m:r>
                                      <a:rPr lang="es-AR" sz="1400" b="0" i="1" smtClean="0">
                                        <a:latin typeface="Cambria Math"/>
                                        <a:ea typeface="Cambria Math"/>
                                      </a:rPr>
                                      <m:t>𝑀</m:t>
                                    </m:r>
                                    <m:r>
                                      <a:rPr lang="es-AR" sz="1400" b="0" i="1" smtClean="0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AR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18</a:t>
                          </a:r>
                          <a:endParaRPr lang="es-AR" sz="14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16-QAM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1236602"/>
                  </p:ext>
                </p:extLst>
              </p:nvPr>
            </p:nvGraphicFramePr>
            <p:xfrm>
              <a:off x="164105" y="2532168"/>
              <a:ext cx="8906577" cy="2409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8625"/>
                    <a:gridCol w="1242992"/>
                    <a:gridCol w="1242992"/>
                    <a:gridCol w="939519"/>
                    <a:gridCol w="648072"/>
                    <a:gridCol w="2141385"/>
                    <a:gridCol w="1242992"/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dirty="0" smtClean="0"/>
                            <a:t>MOD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dirty="0" smtClean="0"/>
                            <a:t>R</a:t>
                          </a:r>
                          <a:r>
                            <a:rPr lang="es-AR" sz="1400" baseline="-25000" dirty="0" smtClean="0"/>
                            <a:t>b</a:t>
                          </a:r>
                          <a:endParaRPr lang="es-AR" sz="1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dirty="0" err="1" smtClean="0"/>
                            <a:t>R</a:t>
                          </a:r>
                          <a:r>
                            <a:rPr lang="es-AR" sz="1400" baseline="-25000" dirty="0" err="1" smtClean="0"/>
                            <a:t>s</a:t>
                          </a:r>
                          <a:endParaRPr lang="es-AR" sz="1400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AB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400" smtClean="0"/>
                            <a:t>η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Peb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dirty="0" smtClean="0"/>
                            <a:t>SNR </a:t>
                          </a:r>
                          <a:r>
                            <a:rPr lang="es-AR" sz="1400" smtClean="0"/>
                            <a:t>@Peb&lt;10</a:t>
                          </a:r>
                          <a:r>
                            <a:rPr lang="es-AR" sz="1400" baseline="30000" smtClean="0"/>
                            <a:t>-5</a:t>
                          </a:r>
                          <a:endParaRPr lang="es-AR" sz="1400" baseline="30000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mtClean="0"/>
                            <a:t>2-PAM (BB)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mtClean="0"/>
                            <a:t>2-ASK (BP)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</a:tr>
                  <a:tr h="778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QPSK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72 kbps</a:t>
                          </a:r>
                          <a:endParaRPr lang="es-AR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36 kbaudios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72 kHz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1</a:t>
                          </a:r>
                          <a:endParaRPr lang="es-A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258405" t="-162500" r="-58120" b="-60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400" smtClean="0"/>
                            <a:t>18</a:t>
                          </a:r>
                          <a:endParaRPr lang="es-AR" sz="140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16-QAM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7 CuadroTexto"/>
          <p:cNvSpPr txBox="1"/>
          <p:nvPr/>
        </p:nvSpPr>
        <p:spPr>
          <a:xfrm>
            <a:off x="2530383" y="1412776"/>
            <a:ext cx="4083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Considerar el AB en banda base (Rs)</a:t>
            </a:r>
          </a:p>
        </p:txBody>
      </p:sp>
      <p:cxnSp>
        <p:nvCxnSpPr>
          <p:cNvPr id="10" name="9 Conector recto de flecha"/>
          <p:cNvCxnSpPr/>
          <p:nvPr/>
        </p:nvCxnSpPr>
        <p:spPr>
          <a:xfrm flipV="1">
            <a:off x="4383354" y="1916832"/>
            <a:ext cx="188646" cy="129614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/>
          <p:nvPr/>
        </p:nvCxnSpPr>
        <p:spPr>
          <a:xfrm>
            <a:off x="4383354" y="3645024"/>
            <a:ext cx="1196758" cy="15841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9 Rectángulo"/>
          <p:cNvSpPr/>
          <p:nvPr/>
        </p:nvSpPr>
        <p:spPr>
          <a:xfrm>
            <a:off x="4157206" y="5229200"/>
            <a:ext cx="4519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/>
              <a:t>Considerar el AB en banda pasante (</a:t>
            </a:r>
            <a:r>
              <a:rPr lang="es-AR" smtClean="0"/>
              <a:t>2.Rs)</a:t>
            </a:r>
            <a:endParaRPr lang="es-AR"/>
          </a:p>
        </p:txBody>
      </p:sp>
      <p:sp>
        <p:nvSpPr>
          <p:cNvPr id="23" name="22 Rectángulo redondeado"/>
          <p:cNvSpPr/>
          <p:nvPr/>
        </p:nvSpPr>
        <p:spPr>
          <a:xfrm>
            <a:off x="467812" y="5863232"/>
            <a:ext cx="8208644" cy="446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smtClean="0"/>
              <a:t>La modulación a seleccionar dependerá del contexto: medio a emplear, limitaciones de potencia, de ancho de banda, costo del espectro, etc.</a:t>
            </a:r>
            <a:endParaRPr lang="es-AR" sz="1400"/>
          </a:p>
        </p:txBody>
      </p:sp>
      <p:cxnSp>
        <p:nvCxnSpPr>
          <p:cNvPr id="25" name="24 Conector recto de flecha"/>
          <p:cNvCxnSpPr/>
          <p:nvPr/>
        </p:nvCxnSpPr>
        <p:spPr>
          <a:xfrm>
            <a:off x="4477677" y="4293096"/>
            <a:ext cx="886411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/>
          <p:nvPr/>
        </p:nvCxnSpPr>
        <p:spPr>
          <a:xfrm>
            <a:off x="4572000" y="4761148"/>
            <a:ext cx="472244" cy="4680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81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30 – Repetidor digital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AR" sz="1800" dirty="0" smtClean="0"/>
                  <a:t>Los regeneradores de señal, distribuidos a lo largo del trayecto del enlace, </a:t>
                </a:r>
                <a:r>
                  <a:rPr lang="es-AR" sz="1800" dirty="0" err="1" smtClean="0"/>
                  <a:t>demodulan</a:t>
                </a:r>
                <a:r>
                  <a:rPr lang="es-AR" sz="1800" dirty="0" smtClean="0"/>
                  <a:t> la señal proveniente del transmisor previo, regeneran la información binaria y la vuelven a </a:t>
                </a:r>
                <a:r>
                  <a:rPr lang="es-AR" sz="1800" dirty="0" err="1" smtClean="0"/>
                  <a:t>demodular</a:t>
                </a:r>
                <a:r>
                  <a:rPr lang="es-AR" sz="1800" dirty="0" smtClean="0"/>
                  <a:t> y transmitir al siguiente receptor.</a:t>
                </a:r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r>
                  <a:rPr lang="es-AR" sz="1800" dirty="0" smtClean="0"/>
                  <a:t>Para n regeneradores en cascada (incluido el receptor), modele la probabilidad de que m regeneradores produzcan error en él símbolo transmitido como una distribución binomial y considere el caso en que se produce un número impar de errores en la </a:t>
                </a:r>
                <a:r>
                  <a:rPr lang="es-AR" sz="1800" smtClean="0"/>
                  <a:t>cadena.</a:t>
                </a: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r>
                  <a:rPr lang="es-AR" sz="1800" dirty="0" smtClean="0"/>
                  <a:t>Utilice </a:t>
                </a:r>
                <a:r>
                  <a:rPr lang="es-AR" sz="1800" dirty="0"/>
                  <a:t>la aproximación </a:t>
                </a:r>
                <a:r>
                  <a:rPr lang="es-AR" sz="1800" dirty="0" err="1"/>
                  <a:t>Pe</a:t>
                </a:r>
                <a:r>
                  <a:rPr lang="es-AR" sz="1800" baseline="-25000" dirty="0" err="1"/>
                  <a:t>T</a:t>
                </a:r>
                <a:r>
                  <a:rPr lang="es-AR" sz="1800" baseline="-25000" dirty="0"/>
                  <a:t> </a:t>
                </a:r>
                <a:r>
                  <a:rPr lang="es-AR" sz="1800" baseline="-25000" dirty="0" smtClean="0"/>
                  <a:t> </a:t>
                </a:r>
                <a:r>
                  <a:rPr lang="es-AR" sz="1800" dirty="0" smtClean="0"/>
                  <a:t>= </a:t>
                </a:r>
                <a:r>
                  <a:rPr lang="es-AR" sz="1800" dirty="0" err="1"/>
                  <a:t>n</a:t>
                </a:r>
                <a:r>
                  <a:rPr lang="es-AR" sz="1800" dirty="0" err="1" smtClean="0"/>
                  <a:t>.Pe</a:t>
                </a:r>
                <a:r>
                  <a:rPr lang="es-AR" sz="1800" dirty="0" smtClean="0"/>
                  <a:t>.</a:t>
                </a:r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i="1">
                          <a:latin typeface="Cambria Math"/>
                        </a:rPr>
                        <m:t>𝑃𝑒</m:t>
                      </m:r>
                      <m:r>
                        <a:rPr lang="es-AR" sz="1800" i="1">
                          <a:latin typeface="Cambria Math"/>
                        </a:rPr>
                        <m:t>=</m:t>
                      </m:r>
                      <m:r>
                        <a:rPr lang="es-AR" sz="1800" b="0" i="1" smtClean="0">
                          <a:latin typeface="Cambria Math"/>
                        </a:rPr>
                        <m:t>𝑛</m:t>
                      </m:r>
                      <m:r>
                        <a:rPr lang="es-AR" sz="1800" b="0" i="1" smtClean="0">
                          <a:latin typeface="Cambria Math"/>
                        </a:rPr>
                        <m:t>.</m:t>
                      </m:r>
                      <m:r>
                        <a:rPr lang="es-AR" sz="1800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sz="1800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sz="18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sz="1800" i="1">
                                      <a:latin typeface="Cambria Math"/>
                                    </a:rPr>
                                    <m:t>2.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sz="1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smtClean="0"/>
                  <a:t>Calcule Pe para n = 100 sabiendo que, en una etapa, Pe </a:t>
                </a:r>
                <a:r>
                  <a:rPr lang="es-AR" sz="1800"/>
                  <a:t>= </a:t>
                </a:r>
                <a:r>
                  <a:rPr lang="es-AR" sz="1800" smtClean="0"/>
                  <a:t>10</a:t>
                </a:r>
                <a:r>
                  <a:rPr lang="es-AR" sz="1800" baseline="30000" smtClean="0"/>
                  <a:t>-6</a:t>
                </a:r>
                <a:r>
                  <a:rPr lang="es-AR" sz="1800" smtClean="0"/>
                  <a:t>.</a:t>
                </a: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algn="just"/>
                <a:endParaRPr lang="es-AR" sz="18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494" r="-59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390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31 – Repetidor analógico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Los repetidores analógicos, distribuidos a lo largo del trayecto del enlace, amplifican la señal atenuada proveniente del transmisor previo, y la vuelven a transmitir al siguiente receptor. En cada etapa amplificadora se incrementa también el nivel de ruido, por lo que al último receptor llega una señal de baja SNR.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57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075" y="2636912"/>
            <a:ext cx="7587850" cy="3400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20 Grupo"/>
          <p:cNvGrpSpPr/>
          <p:nvPr/>
        </p:nvGrpSpPr>
        <p:grpSpPr>
          <a:xfrm>
            <a:off x="1763688" y="5661248"/>
            <a:ext cx="5544616" cy="448370"/>
            <a:chOff x="1763688" y="4725144"/>
            <a:chExt cx="5544616" cy="1600498"/>
          </a:xfrm>
        </p:grpSpPr>
        <p:cxnSp>
          <p:nvCxnSpPr>
            <p:cNvPr id="12" name="11 Conector recto"/>
            <p:cNvCxnSpPr/>
            <p:nvPr/>
          </p:nvCxnSpPr>
          <p:spPr>
            <a:xfrm flipV="1">
              <a:off x="1763688" y="6093296"/>
              <a:ext cx="1872208" cy="23234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 flipV="1">
              <a:off x="3635896" y="5661248"/>
              <a:ext cx="0" cy="43204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 flipV="1">
              <a:off x="3635896" y="5373216"/>
              <a:ext cx="1872208" cy="28803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 flipV="1">
              <a:off x="5508104" y="5013176"/>
              <a:ext cx="0" cy="36004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 flipV="1">
              <a:off x="5508104" y="4725144"/>
              <a:ext cx="1800200" cy="28803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21 CuadroTexto"/>
          <p:cNvSpPr txBox="1"/>
          <p:nvPr/>
        </p:nvSpPr>
        <p:spPr>
          <a:xfrm>
            <a:off x="2123728" y="573325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FF0000"/>
                </a:solidFill>
              </a:rPr>
              <a:t>Ruido</a:t>
            </a:r>
            <a:endParaRPr lang="es-A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64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31 – Repetidor analógico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s-AR" sz="1800" dirty="0"/>
          </a:p>
          <a:p>
            <a:pPr marL="342900" indent="-342900" algn="just">
              <a:buFont typeface="+mj-lt"/>
              <a:buAutoNum type="arabicParenR" startAt="3"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58</a:t>
            </a:fld>
            <a:endParaRPr lang="es-ES"/>
          </a:p>
        </p:txBody>
      </p:sp>
      <p:pic>
        <p:nvPicPr>
          <p:cNvPr id="2050" name="Picture 2" descr="https://www.fiberlabs.com/wp/wp-content/uploads/2016/08/about-telecom-ban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7" y="1196752"/>
            <a:ext cx="4896546" cy="246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lectronic Warfare and Radar Systems Engineering Handbook - RF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342" y="3717032"/>
            <a:ext cx="4494906" cy="2597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90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31 – Repetidor analógico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 algn="just">
                  <a:buFont typeface="+mj-lt"/>
                  <a:buAutoNum type="arabicParenR"/>
                </a:pPr>
                <a:r>
                  <a:rPr lang="es-AR" sz="1800" dirty="0" smtClean="0"/>
                  <a:t>2) Calcule la Pe de una constelación BPSK, considerando que en la última etapa la energía recibida es </a:t>
                </a:r>
                <a:r>
                  <a:rPr lang="el-GR" sz="1800" dirty="0" smtClean="0"/>
                  <a:t>ε</a:t>
                </a:r>
                <a:r>
                  <a:rPr lang="es-AR" sz="1800" dirty="0" smtClean="0"/>
                  <a:t>, mientras que el ruido N</a:t>
                </a:r>
                <a:r>
                  <a:rPr lang="es-AR" sz="1800" baseline="-25000" dirty="0" smtClean="0"/>
                  <a:t>0</a:t>
                </a:r>
                <a:r>
                  <a:rPr lang="es-AR" sz="1800" dirty="0" smtClean="0"/>
                  <a:t> se ha visto amplificado </a:t>
                </a:r>
                <a:r>
                  <a:rPr lang="es-AR" sz="1800" smtClean="0"/>
                  <a:t>n veces. </a:t>
                </a:r>
                <a:endParaRPr lang="es-AR" sz="180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i="1">
                          <a:latin typeface="Cambria Math"/>
                        </a:rPr>
                        <m:t>𝑃𝑒</m:t>
                      </m:r>
                      <m:r>
                        <a:rPr lang="es-AR" sz="1800" i="1">
                          <a:latin typeface="Cambria Math"/>
                        </a:rPr>
                        <m:t>=</m:t>
                      </m:r>
                      <m:r>
                        <a:rPr lang="es-AR" sz="1800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sz="1800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sz="18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sz="1800" i="1">
                                      <a:latin typeface="Cambria Math"/>
                                    </a:rPr>
                                    <m:t>2.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sz="1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800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es-AR" sz="1800" b="0" i="1" smtClean="0">
                                          <a:latin typeface="Cambria Math"/>
                                        </a:rPr>
                                        <m:t>.</m:t>
                                      </m:r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sz="18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s-AR" sz="1800"/>
              </a:p>
              <a:p>
                <a:pPr marL="0" indent="0" algn="just">
                  <a:buNone/>
                </a:pPr>
                <a:r>
                  <a:rPr lang="es-AR" sz="1800"/>
                  <a:t>Para n = 1 y Pe = 10</a:t>
                </a:r>
                <a:r>
                  <a:rPr lang="es-AR" sz="1800" baseline="30000"/>
                  <a:t>-6</a:t>
                </a:r>
                <a:r>
                  <a:rPr lang="es-AR" sz="1800"/>
                  <a:t>, obtenga </a:t>
                </a:r>
                <a:r>
                  <a:rPr lang="es-AR" sz="1800" smtClean="0">
                    <a:latin typeface="Cambria Math"/>
                    <a:ea typeface="Cambria Math"/>
                  </a:rPr>
                  <a:t>ε/N</a:t>
                </a:r>
                <a:r>
                  <a:rPr lang="es-AR" sz="1800" baseline="-25000" smtClean="0">
                    <a:latin typeface="Cambria Math"/>
                    <a:ea typeface="Cambria Math"/>
                  </a:rPr>
                  <a:t>0</a:t>
                </a:r>
                <a:r>
                  <a:rPr lang="es-AR" sz="1800" smtClean="0">
                    <a:latin typeface="Cambria Math"/>
                    <a:ea typeface="Cambria Math"/>
                  </a:rPr>
                  <a:t> </a:t>
                </a:r>
                <a:r>
                  <a:rPr lang="es-AR" sz="1800" smtClean="0"/>
                  <a:t>en </a:t>
                </a:r>
                <a:r>
                  <a:rPr lang="es-AR" sz="1800"/>
                  <a:t>una etapa. Luego calcule Pe para n = </a:t>
                </a:r>
                <a:r>
                  <a:rPr lang="es-AR" sz="1800" smtClean="0"/>
                  <a:t>100 y el dato de SNR obtenido en una etapa.</a:t>
                </a:r>
                <a:endParaRPr lang="es-AR" sz="180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3"/>
                </a:pPr>
                <a:r>
                  <a:rPr lang="es-AR" sz="1800" dirty="0" smtClean="0"/>
                  <a:t>Compare las expresiones y resultados de los ejercicios 20 </a:t>
                </a:r>
                <a:r>
                  <a:rPr lang="es-AR" sz="1800" smtClean="0"/>
                  <a:t>y 21</a:t>
                </a:r>
                <a:r>
                  <a:rPr lang="es-AR" sz="1800"/>
                  <a:t>:</a:t>
                </a:r>
                <a:endParaRPr lang="es-AR" sz="1800" smtClean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/>
              </a:p>
              <a:p>
                <a:pPr marL="0" indent="0" algn="just">
                  <a:buNone/>
                </a:pPr>
                <a:r>
                  <a:rPr lang="es-AR" sz="1800" smtClean="0"/>
                  <a:t>Para el regenerador digital: Pe = 10</a:t>
                </a:r>
                <a:r>
                  <a:rPr lang="es-AR" sz="1800" baseline="30000" smtClean="0"/>
                  <a:t>-4</a:t>
                </a:r>
              </a:p>
              <a:p>
                <a:pPr marL="0" indent="0" algn="just">
                  <a:buNone/>
                </a:pPr>
                <a:r>
                  <a:rPr lang="es-AR" sz="1800"/>
                  <a:t>Para el </a:t>
                </a:r>
                <a:r>
                  <a:rPr lang="es-AR" sz="1800" smtClean="0"/>
                  <a:t>repetidor analógico: </a:t>
                </a:r>
                <a:r>
                  <a:rPr lang="es-AR" sz="1800"/>
                  <a:t>Pe = </a:t>
                </a:r>
                <a:r>
                  <a:rPr lang="es-AR" sz="1800" smtClean="0"/>
                  <a:t>0,32</a:t>
                </a:r>
                <a:endParaRPr lang="es-AR" sz="1800"/>
              </a:p>
              <a:p>
                <a:pPr marL="0" indent="0" algn="just">
                  <a:buNone/>
                </a:pPr>
                <a:endParaRPr lang="es-AR" sz="1800" smtClean="0"/>
              </a:p>
              <a:p>
                <a:pPr marL="0" indent="0" algn="just">
                  <a:buNone/>
                </a:pPr>
                <a:r>
                  <a:rPr lang="es-AR" sz="1800" smtClean="0"/>
                  <a:t> </a:t>
                </a: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/>
              </a:p>
              <a:p>
                <a:pPr marL="342900" indent="-342900" algn="just">
                  <a:buFont typeface="+mj-lt"/>
                  <a:buAutoNum type="arabicParenR" startAt="3"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algn="just"/>
                <a:endParaRPr lang="es-AR" sz="18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494" r="-59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54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60</a:t>
            </a:fld>
            <a:endParaRPr lang="es-ES"/>
          </a:p>
        </p:txBody>
      </p:sp>
      <p:sp>
        <p:nvSpPr>
          <p:cNvPr id="9" name="8 Título"/>
          <p:cNvSpPr>
            <a:spLocks noGrp="1"/>
          </p:cNvSpPr>
          <p:nvPr>
            <p:ph type="title" idx="4294967295"/>
          </p:nvPr>
        </p:nvSpPr>
        <p:spPr>
          <a:xfrm>
            <a:off x="446856" y="2925134"/>
            <a:ext cx="82296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 smtClean="0"/>
              <a:t>¿Dudas?</a:t>
            </a:r>
            <a:br>
              <a:rPr lang="es-AR" dirty="0" smtClean="0"/>
            </a:br>
            <a:r>
              <a:rPr lang="es-AR" dirty="0" smtClean="0"/>
              <a:t>¿Consultas?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2764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61</a:t>
            </a:fld>
            <a:endParaRPr lang="es-ES"/>
          </a:p>
        </p:txBody>
      </p:sp>
      <p:sp>
        <p:nvSpPr>
          <p:cNvPr id="9" name="8 Título"/>
          <p:cNvSpPr>
            <a:spLocks noGrp="1"/>
          </p:cNvSpPr>
          <p:nvPr>
            <p:ph type="title" idx="4294967295"/>
          </p:nvPr>
        </p:nvSpPr>
        <p:spPr>
          <a:xfrm>
            <a:off x="446856" y="2420888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s-AR" dirty="0" smtClean="0"/>
              <a:t>Muchas gracias por su atención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2652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2810</TotalTime>
  <Words>5060</Words>
  <Application>Microsoft Office PowerPoint</Application>
  <PresentationFormat>Presentación en pantalla (4:3)</PresentationFormat>
  <Paragraphs>911</Paragraphs>
  <Slides>61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61</vt:i4>
      </vt:variant>
    </vt:vector>
  </HeadingPairs>
  <TitlesOfParts>
    <vt:vector size="62" baseType="lpstr">
      <vt:lpstr>Origen</vt:lpstr>
      <vt:lpstr>G3 – Modulaciones Digitales  Orientación para la resolución de ejercicios seleccionados</vt:lpstr>
      <vt:lpstr>Introducción a las modulaciones digitales</vt:lpstr>
      <vt:lpstr>Introducción a las modulaciones digitales</vt:lpstr>
      <vt:lpstr>Reglas y regiones de decisión</vt:lpstr>
      <vt:lpstr>Receptor óptimo</vt:lpstr>
      <vt:lpstr>Receptor óptimo</vt:lpstr>
      <vt:lpstr>Receptor óptimo</vt:lpstr>
      <vt:lpstr>Probabilidad de error</vt:lpstr>
      <vt:lpstr>Probabilidad de error</vt:lpstr>
      <vt:lpstr>Probabilidad de error</vt:lpstr>
      <vt:lpstr>Probabilidad de error</vt:lpstr>
      <vt:lpstr>Ejercicio 11 – 2-PAM</vt:lpstr>
      <vt:lpstr>Ejercicio 11 – 2-PAM</vt:lpstr>
      <vt:lpstr>Ejercicio 11 – 2-PAM</vt:lpstr>
      <vt:lpstr>Ejercicio 12 – Laplace vs. Gauss</vt:lpstr>
      <vt:lpstr>Ejercicio 12 – Laplace vs. Gauss</vt:lpstr>
      <vt:lpstr>Ejercicio 13 – Una QAM diferente</vt:lpstr>
      <vt:lpstr>Ejercicio 14 – Teorema de Parseval</vt:lpstr>
      <vt:lpstr>Ejercicio 14 – Teorema de Parseval</vt:lpstr>
      <vt:lpstr>Ejercicio 14 – Teorema de Parseval</vt:lpstr>
      <vt:lpstr>Cotas de probabilidad de error </vt:lpstr>
      <vt:lpstr>Cotas de probabilidad de error </vt:lpstr>
      <vt:lpstr>Cotas de probabilidad de error </vt:lpstr>
      <vt:lpstr>Cotas de probabilidad de error </vt:lpstr>
      <vt:lpstr>Cotas de probabilidad de error </vt:lpstr>
      <vt:lpstr>Relación entre Pe y Peb (para cod. Gray)</vt:lpstr>
      <vt:lpstr>Ejercicio 16 – QAM</vt:lpstr>
      <vt:lpstr>Ejercicio 16 – QAM</vt:lpstr>
      <vt:lpstr>Ejercicio 16 – QAM</vt:lpstr>
      <vt:lpstr>Ejercicio 17 – Detectores MAP y ML</vt:lpstr>
      <vt:lpstr>Ejercicio 17 – Detectores MAP y ML</vt:lpstr>
      <vt:lpstr>Ejercicio 17 – Detectores MAP y ML</vt:lpstr>
      <vt:lpstr>Ejercicio 19 – FSK: separación de tonos</vt:lpstr>
      <vt:lpstr>Ejercicio 19 – FSK: separación de tonos</vt:lpstr>
      <vt:lpstr>Ejercicio 19 – FSK: separación de tonos</vt:lpstr>
      <vt:lpstr>Ejercicio 19 – FSK: separación de tonos</vt:lpstr>
      <vt:lpstr>Ejercicio 19 – FSK: separación de tonos</vt:lpstr>
      <vt:lpstr>Ejercicio 20 – Modulación biortogonal</vt:lpstr>
      <vt:lpstr>Ejercicio 20 – Modulación biortogonal</vt:lpstr>
      <vt:lpstr>Ejercicio 20 – Modulación biortogonal</vt:lpstr>
      <vt:lpstr>Ejercicio 22 – FSK de fase continua</vt:lpstr>
      <vt:lpstr>Ejercicio 22 – FSK de fase continua</vt:lpstr>
      <vt:lpstr>Ejercicio 23 – Rotación y traslación</vt:lpstr>
      <vt:lpstr>Ejercicio 24 – Modulación ortogonal usando la matriz de Hadamard</vt:lpstr>
      <vt:lpstr>Ejercicio 24 – Modulación ortogonal usando la matriz de Hadamard</vt:lpstr>
      <vt:lpstr>Ejercicio 24 – Modulación ortogonal usando la matriz de Hadamard</vt:lpstr>
      <vt:lpstr>Ejercicio 24 – Modulación ortogonal usando la matriz de Hadamard</vt:lpstr>
      <vt:lpstr>Ejercicio 24 – Modulación ortogonal usando la matriz de Hadamard</vt:lpstr>
      <vt:lpstr>DEP de señales moduladas</vt:lpstr>
      <vt:lpstr>DEP de señales moduladas</vt:lpstr>
      <vt:lpstr>DEP de señales moduladas lineales (ASK, PSK, QAM)</vt:lpstr>
      <vt:lpstr>DEP de FSK (ortogonal)</vt:lpstr>
      <vt:lpstr>Ejercicio 28 – Elección de una modulación</vt:lpstr>
      <vt:lpstr>Ejercicio 28 – Elección de una modulación</vt:lpstr>
      <vt:lpstr>Ejercicio 28 – Elección de una modulación</vt:lpstr>
      <vt:lpstr>Ejercicio 30 – Repetidor digital</vt:lpstr>
      <vt:lpstr>Ejercicio 31 – Repetidor analógico</vt:lpstr>
      <vt:lpstr>Ejercicio 31 – Repetidor analógico</vt:lpstr>
      <vt:lpstr>Ejercicio 31 – Repetidor analógico</vt:lpstr>
      <vt:lpstr>¿Dudas? ¿Consultas?</vt:lpstr>
      <vt:lpstr>Muchas gracias por su atención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Cálculo de probabilidad de error en sistemas M-PSK</dc:title>
  <dc:creator>Leonel Hochman</dc:creator>
  <cp:lastModifiedBy>Hochman Leonel Enrique</cp:lastModifiedBy>
  <cp:revision>640</cp:revision>
  <dcterms:created xsi:type="dcterms:W3CDTF">2014-11-17T01:34:56Z</dcterms:created>
  <dcterms:modified xsi:type="dcterms:W3CDTF">2024-04-10T16:50:07Z</dcterms:modified>
</cp:coreProperties>
</file>