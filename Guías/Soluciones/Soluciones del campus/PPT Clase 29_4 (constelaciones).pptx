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8"/>
  </p:notesMasterIdLst>
  <p:sldIdLst>
    <p:sldId id="256" r:id="rId2"/>
    <p:sldId id="291" r:id="rId3"/>
    <p:sldId id="259" r:id="rId4"/>
    <p:sldId id="293" r:id="rId5"/>
    <p:sldId id="294" r:id="rId6"/>
    <p:sldId id="345" r:id="rId7"/>
    <p:sldId id="346" r:id="rId8"/>
    <p:sldId id="286" r:id="rId9"/>
    <p:sldId id="350" r:id="rId10"/>
    <p:sldId id="288" r:id="rId11"/>
    <p:sldId id="276" r:id="rId12"/>
    <p:sldId id="352" r:id="rId13"/>
    <p:sldId id="349" r:id="rId14"/>
    <p:sldId id="348" r:id="rId15"/>
    <p:sldId id="262" r:id="rId16"/>
    <p:sldId id="263" r:id="rId17"/>
  </p:sldIdLst>
  <p:sldSz cx="9144000" cy="6858000" type="screen4x3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88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60" autoAdjust="0"/>
    <p:restoredTop sz="94662" autoAdjust="0"/>
  </p:normalViewPr>
  <p:slideViewPr>
    <p:cSldViewPr>
      <p:cViewPr varScale="1">
        <p:scale>
          <a:sx n="78" d="100"/>
          <a:sy n="78" d="100"/>
        </p:scale>
        <p:origin x="1598" y="62"/>
      </p:cViewPr>
      <p:guideLst>
        <p:guide orient="horz" pos="1888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21C4CD-45E9-4654-9E96-A5B26A1F05EF}" type="datetimeFigureOut">
              <a:rPr lang="es-AR" smtClean="0"/>
              <a:t>3/5/2026</a:t>
            </a:fld>
            <a:endParaRPr lang="es-AR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DFAB1A-2EE0-4230-85AB-72E46B3362B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4664361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Título"/>
          <p:cNvSpPr>
            <a:spLocks noGrp="1"/>
          </p:cNvSpPr>
          <p:nvPr>
            <p:ph type="ctrTitle"/>
          </p:nvPr>
        </p:nvSpPr>
        <p:spPr>
          <a:xfrm>
            <a:off x="1219200" y="1938933"/>
            <a:ext cx="6858000" cy="1671614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s-ES" dirty="0"/>
              <a:t>Haga clic para modificar el estilo de título del patrón</a:t>
            </a:r>
            <a:endParaRPr kumimoji="0" lang="en-US" dirty="0"/>
          </a:p>
        </p:txBody>
      </p:sp>
      <p:sp>
        <p:nvSpPr>
          <p:cNvPr id="9" name="8 Subtítulo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s-ES"/>
              <a:t>Haga clic para modificar el estilo de subtítulo del patrón</a:t>
            </a:r>
            <a:endParaRPr kumimoji="0" lang="en-US"/>
          </a:p>
        </p:txBody>
      </p:sp>
      <p:sp>
        <p:nvSpPr>
          <p:cNvPr id="28" name="27 Marcador de fecha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r>
              <a:rPr lang="es-ES" dirty="0"/>
              <a:t>Abril 2024</a:t>
            </a:r>
          </a:p>
        </p:txBody>
      </p:sp>
      <p:sp>
        <p:nvSpPr>
          <p:cNvPr id="17" name="16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r>
              <a:rPr lang="es-ES"/>
              <a:t>Ing. Leonel E. Hochman</a:t>
            </a:r>
          </a:p>
        </p:txBody>
      </p:sp>
      <p:sp>
        <p:nvSpPr>
          <p:cNvPr id="29" name="28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  <p:sp>
        <p:nvSpPr>
          <p:cNvPr id="21" name="20 Rectángulo"/>
          <p:cNvSpPr/>
          <p:nvPr/>
        </p:nvSpPr>
        <p:spPr>
          <a:xfrm>
            <a:off x="904875" y="1700808"/>
            <a:ext cx="7315200" cy="216024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32 Rectángulo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21 Rectángulo"/>
          <p:cNvSpPr/>
          <p:nvPr/>
        </p:nvSpPr>
        <p:spPr>
          <a:xfrm>
            <a:off x="904875" y="1700808"/>
            <a:ext cx="228600" cy="216024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31 Rectángulo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 dirty="0"/>
              <a:t>Abril 2024</a:t>
            </a: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Ing. Leonel E. Hochman</a:t>
            </a: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  <p:sp>
        <p:nvSpPr>
          <p:cNvPr id="8" name="7 Marcador de contenido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s-ES" dirty="0"/>
              <a:t>Haga clic para modificar el estilo de texto del patrón</a:t>
            </a:r>
          </a:p>
          <a:p>
            <a:pPr lvl="1" eaLnBrk="1" latinLnBrk="0" hangingPunct="1"/>
            <a:r>
              <a:rPr lang="es-ES" dirty="0"/>
              <a:t>Segundo nivel</a:t>
            </a:r>
          </a:p>
          <a:p>
            <a:pPr lvl="2" eaLnBrk="1" latinLnBrk="0" hangingPunct="1"/>
            <a:r>
              <a:rPr lang="es-ES" dirty="0"/>
              <a:t>Tercer nivel</a:t>
            </a:r>
          </a:p>
          <a:p>
            <a:pPr lvl="3" eaLnBrk="1" latinLnBrk="0" hangingPunct="1"/>
            <a:r>
              <a:rPr lang="es-ES" dirty="0"/>
              <a:t>Cuarto nivel</a:t>
            </a:r>
          </a:p>
          <a:p>
            <a:pPr lvl="4" eaLnBrk="1" latinLnBrk="0" hangingPunct="1"/>
            <a:r>
              <a:rPr lang="es-ES" dirty="0"/>
              <a:t>Quinto nivel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es-ES" dirty="0"/>
              <a:t>Abril 2024</a:t>
            </a:r>
          </a:p>
          <a:p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r>
              <a:rPr lang="es-ES"/>
              <a:t>Ing. Leonel E. Hochman</a:t>
            </a: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  <p:sp>
        <p:nvSpPr>
          <p:cNvPr id="7" name="6 Rectángulo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7 Rectángulo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es-ES" dirty="0"/>
              <a:t>Abril 2024</a:t>
            </a:r>
          </a:p>
          <a:p>
            <a:endParaRPr lang="es-ES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Ing. Leonel E. Hochman</a:t>
            </a: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  <p:sp>
        <p:nvSpPr>
          <p:cNvPr id="9" name="8 Marcador de contenido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11" name="10 Marcador de contenido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es-ES" dirty="0"/>
              <a:t>Abril 2024</a:t>
            </a:r>
          </a:p>
          <a:p>
            <a:endParaRPr lang="es-ES" dirty="0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Ing. Leonel E. Hochman</a:t>
            </a:r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  <p:sp>
        <p:nvSpPr>
          <p:cNvPr id="11" name="10 Marcador de contenido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13" name="12 Marcador de contenido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es-ES" dirty="0"/>
              <a:t>Abril 2024</a:t>
            </a:r>
          </a:p>
          <a:p>
            <a:endParaRPr lang="es-ES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Ing. Leonel E. Hochman</a:t>
            </a: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  <p:sp>
        <p:nvSpPr>
          <p:cNvPr id="6" name="5 Triángulo isósceles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es-ES" dirty="0"/>
              <a:t>Abril 2024</a:t>
            </a:r>
          </a:p>
          <a:p>
            <a:endParaRPr lang="es-ES" dirty="0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Ing. Leonel E. Hochman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  <p:sp>
        <p:nvSpPr>
          <p:cNvPr id="5" name="4 Conector recto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5 Triángulo isósceles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es-ES" dirty="0"/>
              <a:t>Abril 2024</a:t>
            </a:r>
          </a:p>
          <a:p>
            <a:endParaRPr lang="es-ES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Ing. Leonel E. Hochman</a:t>
            </a: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  <p:sp>
        <p:nvSpPr>
          <p:cNvPr id="8" name="7 Conector recto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9 Conector recto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8 Triángulo isósceles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11 Marcador de contenido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s-ES"/>
              <a:t>Haga clic en el icono para agregar una imagen</a:t>
            </a:r>
            <a:endParaRPr kumimoji="0" lang="en-US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es-ES" dirty="0"/>
              <a:t>Abril 2024</a:t>
            </a:r>
          </a:p>
          <a:p>
            <a:endParaRPr lang="es-ES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Ing. Leonel E. Hochman</a:t>
            </a: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  <p:sp>
        <p:nvSpPr>
          <p:cNvPr id="8" name="7 Conector recto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8 Triángulo isósceles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9 Rectángulo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es-ES" dirty="0"/>
              <a:t>Abril 2024</a:t>
            </a:r>
          </a:p>
          <a:p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Ing. Leonel E. Hochman</a:t>
            </a: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es-ES" dirty="0"/>
              <a:t>Abril 2024</a:t>
            </a:r>
          </a:p>
          <a:p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Ing. Leonel E. Hochman</a:t>
            </a: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  <p:sp>
        <p:nvSpPr>
          <p:cNvPr id="7" name="6 Conector recto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7 Triángulo isósceles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8 Conector recto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21 Marcador de título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s-ES" dirty="0"/>
              <a:t>Haga clic para modificar el estilo de título del patrón</a:t>
            </a:r>
            <a:endParaRPr kumimoji="0" lang="en-US" dirty="0"/>
          </a:p>
        </p:txBody>
      </p:sp>
      <p:sp>
        <p:nvSpPr>
          <p:cNvPr id="13" name="12 Marcador de texto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s-ES" dirty="0"/>
              <a:t>Haga clic para modificar el estilo de texto del patrón</a:t>
            </a:r>
          </a:p>
          <a:p>
            <a:pPr lvl="1" eaLnBrk="1" latinLnBrk="0" hangingPunct="1"/>
            <a:r>
              <a:rPr kumimoji="0" lang="es-ES" dirty="0"/>
              <a:t>Segundo nivel</a:t>
            </a:r>
          </a:p>
          <a:p>
            <a:pPr lvl="2" eaLnBrk="1" latinLnBrk="0" hangingPunct="1"/>
            <a:r>
              <a:rPr kumimoji="0" lang="es-ES" dirty="0"/>
              <a:t>Tercer nivel</a:t>
            </a:r>
          </a:p>
          <a:p>
            <a:pPr lvl="3" eaLnBrk="1" latinLnBrk="0" hangingPunct="1"/>
            <a:r>
              <a:rPr kumimoji="0" lang="es-ES" dirty="0"/>
              <a:t>Cuarto nivel</a:t>
            </a:r>
          </a:p>
          <a:p>
            <a:pPr lvl="4" eaLnBrk="1" latinLnBrk="0" hangingPunct="1"/>
            <a:r>
              <a:rPr kumimoji="0" lang="es-ES" dirty="0"/>
              <a:t>Quinto nivel</a:t>
            </a:r>
            <a:endParaRPr kumimoji="0" lang="en-US" dirty="0"/>
          </a:p>
        </p:txBody>
      </p:sp>
      <p:sp>
        <p:nvSpPr>
          <p:cNvPr id="14" name="13 Marcador de fecha"/>
          <p:cNvSpPr>
            <a:spLocks noGrp="1"/>
          </p:cNvSpPr>
          <p:nvPr>
            <p:ph type="dt" sz="half" idx="2"/>
          </p:nvPr>
        </p:nvSpPr>
        <p:spPr>
          <a:xfrm>
            <a:off x="539552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es-ES"/>
              <a:t>19/11/2014</a:t>
            </a:r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ct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es-ES"/>
              <a:t>Ing. Leonel E. Hochman</a:t>
            </a:r>
            <a:endParaRPr lang="es-ES" dirty="0"/>
          </a:p>
        </p:txBody>
      </p:sp>
      <p:sp>
        <p:nvSpPr>
          <p:cNvPr id="23" name="22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695256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28" name="27 Conector recto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28 Conector recto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9 Triángulo isósceles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accent2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accent2">
              <a:lumMod val="50000"/>
            </a:schemeClr>
          </a:solidFill>
          <a:latin typeface="+mj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accent2">
              <a:lumMod val="50000"/>
            </a:schemeClr>
          </a:solidFill>
          <a:latin typeface="+mj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accent2">
              <a:lumMod val="50000"/>
            </a:schemeClr>
          </a:solidFill>
          <a:latin typeface="+mj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accent2">
              <a:lumMod val="50000"/>
            </a:schemeClr>
          </a:solidFill>
          <a:latin typeface="+mj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accent2">
              <a:lumMod val="50000"/>
            </a:schemeClr>
          </a:solidFill>
          <a:latin typeface="+mj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0.png"/><Relationship Id="rId5" Type="http://schemas.openxmlformats.org/officeDocument/2006/relationships/image" Target="../media/image190.png"/><Relationship Id="rId4" Type="http://schemas.openxmlformats.org/officeDocument/2006/relationships/image" Target="../media/image22.emf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s-AR" dirty="0"/>
              <a:t>G3 – Modulaciones Digitales</a:t>
            </a:r>
            <a:br>
              <a:rPr lang="es-AR" dirty="0"/>
            </a:br>
            <a:br>
              <a:rPr lang="es-AR" dirty="0"/>
            </a:br>
            <a:r>
              <a:rPr lang="es-AR" dirty="0"/>
              <a:t>Orientación para la resolución de ejercicios seleccionados</a:t>
            </a:r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pPr algn="ctr"/>
            <a:endParaRPr lang="es-AR" dirty="0"/>
          </a:p>
          <a:p>
            <a:pPr algn="ctr"/>
            <a:r>
              <a:rPr lang="es-AR" dirty="0"/>
              <a:t>Ing. Leonel E. Hochman			Abril de 2024</a:t>
            </a:r>
          </a:p>
        </p:txBody>
      </p:sp>
      <p:pic>
        <p:nvPicPr>
          <p:cNvPr id="1026" name="Picture 2" descr="Inicio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2200" y="417513"/>
            <a:ext cx="2381250" cy="790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logo Universidad de Buenos Aires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BFBFB"/>
              </a:clrFrom>
              <a:clrTo>
                <a:srgbClr val="FBFBFB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288926"/>
            <a:ext cx="3038475" cy="1047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498936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AR" dirty="0"/>
              <a:t>Introducción a las modulaciones digitales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 dirty="0"/>
              <a:t>Abril 2024</a:t>
            </a: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Ing. Leonel E. Hochman</a:t>
            </a: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2</a:t>
            </a:fld>
            <a:endParaRPr lang="es-ES"/>
          </a:p>
        </p:txBody>
      </p:sp>
      <p:sp>
        <p:nvSpPr>
          <p:cNvPr id="9" name="8 Rectángulo"/>
          <p:cNvSpPr/>
          <p:nvPr/>
        </p:nvSpPr>
        <p:spPr>
          <a:xfrm>
            <a:off x="1907704" y="1760406"/>
            <a:ext cx="1080120" cy="6480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400" dirty="0"/>
              <a:t>A/D</a:t>
            </a:r>
          </a:p>
        </p:txBody>
      </p:sp>
      <p:sp>
        <p:nvSpPr>
          <p:cNvPr id="11" name="10 Rectángulo"/>
          <p:cNvSpPr/>
          <p:nvPr/>
        </p:nvSpPr>
        <p:spPr>
          <a:xfrm>
            <a:off x="6228184" y="1760406"/>
            <a:ext cx="1080120" cy="6480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400" dirty="0"/>
              <a:t>Modulador</a:t>
            </a:r>
          </a:p>
        </p:txBody>
      </p:sp>
      <p:sp>
        <p:nvSpPr>
          <p:cNvPr id="13" name="12 Rectángulo"/>
          <p:cNvSpPr/>
          <p:nvPr/>
        </p:nvSpPr>
        <p:spPr>
          <a:xfrm>
            <a:off x="3345983" y="1760406"/>
            <a:ext cx="1080120" cy="64807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AR" sz="1400" dirty="0"/>
              <a:t>Codificador de fuente</a:t>
            </a:r>
          </a:p>
        </p:txBody>
      </p:sp>
      <p:sp>
        <p:nvSpPr>
          <p:cNvPr id="14" name="13 Rectángulo"/>
          <p:cNvSpPr/>
          <p:nvPr/>
        </p:nvSpPr>
        <p:spPr>
          <a:xfrm>
            <a:off x="4781423" y="1760406"/>
            <a:ext cx="1080120" cy="64807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AR" sz="1400" dirty="0"/>
              <a:t>Codificador de canal</a:t>
            </a:r>
          </a:p>
        </p:txBody>
      </p:sp>
      <p:cxnSp>
        <p:nvCxnSpPr>
          <p:cNvPr id="30" name="29 Conector recto de flecha"/>
          <p:cNvCxnSpPr>
            <a:stCxn id="9" idx="3"/>
            <a:endCxn id="13" idx="1"/>
          </p:cNvCxnSpPr>
          <p:nvPr/>
        </p:nvCxnSpPr>
        <p:spPr>
          <a:xfrm>
            <a:off x="2987824" y="2084442"/>
            <a:ext cx="358159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32 Conector recto de flecha"/>
          <p:cNvCxnSpPr>
            <a:stCxn id="13" idx="3"/>
            <a:endCxn id="14" idx="1"/>
          </p:cNvCxnSpPr>
          <p:nvPr/>
        </p:nvCxnSpPr>
        <p:spPr>
          <a:xfrm>
            <a:off x="4426103" y="2084442"/>
            <a:ext cx="35532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35 Conector recto de flecha"/>
          <p:cNvCxnSpPr>
            <a:stCxn id="14" idx="3"/>
            <a:endCxn id="11" idx="1"/>
          </p:cNvCxnSpPr>
          <p:nvPr/>
        </p:nvCxnSpPr>
        <p:spPr>
          <a:xfrm>
            <a:off x="5861543" y="2084442"/>
            <a:ext cx="366641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37 Flecha derecha"/>
          <p:cNvSpPr/>
          <p:nvPr/>
        </p:nvSpPr>
        <p:spPr>
          <a:xfrm>
            <a:off x="7524328" y="1916832"/>
            <a:ext cx="576064" cy="3600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41" name="40 Flecha derecha"/>
          <p:cNvSpPr/>
          <p:nvPr/>
        </p:nvSpPr>
        <p:spPr>
          <a:xfrm>
            <a:off x="1115616" y="1916832"/>
            <a:ext cx="576064" cy="3600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42" name="41 CuadroTexto"/>
          <p:cNvSpPr txBox="1"/>
          <p:nvPr/>
        </p:nvSpPr>
        <p:spPr>
          <a:xfrm>
            <a:off x="35497" y="1484784"/>
            <a:ext cx="108012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1600" dirty="0"/>
              <a:t>FUENTE</a:t>
            </a:r>
          </a:p>
          <a:p>
            <a:pPr algn="ctr"/>
            <a:r>
              <a:rPr lang="es-AR" sz="1600" dirty="0"/>
              <a:t>(Voz, texto, imagen, video, etc.)</a:t>
            </a:r>
          </a:p>
        </p:txBody>
      </p:sp>
      <p:sp>
        <p:nvSpPr>
          <p:cNvPr id="40" name="39 Rectángulo"/>
          <p:cNvSpPr/>
          <p:nvPr/>
        </p:nvSpPr>
        <p:spPr>
          <a:xfrm>
            <a:off x="3034922" y="1340768"/>
            <a:ext cx="66479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/>
              <a:t>1010110101110100	</a:t>
            </a:r>
            <a:r>
              <a:rPr lang="es-AR" sz="1400" dirty="0"/>
              <a:t>      s</a:t>
            </a:r>
            <a:r>
              <a:rPr lang="es-AR" sz="1400" baseline="-25000" dirty="0"/>
              <a:t>3</a:t>
            </a:r>
            <a:r>
              <a:rPr lang="es-AR" sz="1400" dirty="0"/>
              <a:t>(t) s</a:t>
            </a:r>
            <a:r>
              <a:rPr lang="es-AR" sz="1400" baseline="-25000" dirty="0"/>
              <a:t>3</a:t>
            </a:r>
            <a:r>
              <a:rPr lang="es-AR" sz="1400" dirty="0"/>
              <a:t>(t) s</a:t>
            </a:r>
            <a:r>
              <a:rPr lang="es-AR" sz="1400" baseline="-25000" dirty="0"/>
              <a:t>2</a:t>
            </a:r>
            <a:r>
              <a:rPr lang="es-AR" sz="1400" dirty="0"/>
              <a:t>(t) s</a:t>
            </a:r>
            <a:r>
              <a:rPr lang="es-AR" sz="1400" baseline="-25000" dirty="0"/>
              <a:t>1</a:t>
            </a:r>
            <a:r>
              <a:rPr lang="es-AR" sz="1400" dirty="0"/>
              <a:t>(t) s</a:t>
            </a:r>
            <a:r>
              <a:rPr lang="es-AR" sz="1400" baseline="-25000" dirty="0"/>
              <a:t>1</a:t>
            </a:r>
            <a:r>
              <a:rPr lang="es-AR" sz="1400" dirty="0"/>
              <a:t>(t) s</a:t>
            </a:r>
            <a:r>
              <a:rPr lang="es-AR" sz="1400" baseline="-25000" dirty="0"/>
              <a:t>2</a:t>
            </a:r>
            <a:r>
              <a:rPr lang="es-AR" sz="1400" dirty="0"/>
              <a:t>(t) s</a:t>
            </a:r>
            <a:r>
              <a:rPr lang="es-AR" sz="1400" baseline="-25000" dirty="0"/>
              <a:t>1</a:t>
            </a:r>
            <a:r>
              <a:rPr lang="es-AR" sz="1400" dirty="0"/>
              <a:t>(t) s</a:t>
            </a:r>
            <a:r>
              <a:rPr lang="es-AR" sz="1400" baseline="-25000" dirty="0"/>
              <a:t>0</a:t>
            </a:r>
            <a:r>
              <a:rPr lang="es-AR" sz="1400" dirty="0"/>
              <a:t>(t)</a:t>
            </a:r>
            <a:r>
              <a:rPr lang="es-AR" dirty="0"/>
              <a:t>	</a:t>
            </a:r>
          </a:p>
        </p:txBody>
      </p:sp>
      <p:grpSp>
        <p:nvGrpSpPr>
          <p:cNvPr id="45" name="44 Grupo"/>
          <p:cNvGrpSpPr/>
          <p:nvPr/>
        </p:nvGrpSpPr>
        <p:grpSpPr>
          <a:xfrm>
            <a:off x="343321" y="3637473"/>
            <a:ext cx="2860527" cy="1015663"/>
            <a:chOff x="1763688" y="3277433"/>
            <a:chExt cx="2860527" cy="1015663"/>
          </a:xfrm>
        </p:grpSpPr>
        <p:sp>
          <p:nvSpPr>
            <p:cNvPr id="10" name="9 CuadroTexto"/>
            <p:cNvSpPr txBox="1"/>
            <p:nvPr/>
          </p:nvSpPr>
          <p:spPr>
            <a:xfrm>
              <a:off x="1763688" y="3277433"/>
              <a:ext cx="2860527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AR" sz="2400" dirty="0"/>
                <a:t>1010110101110100</a:t>
              </a:r>
            </a:p>
            <a:p>
              <a:endParaRPr lang="es-AR" dirty="0"/>
            </a:p>
            <a:p>
              <a:r>
                <a:rPr lang="es-AR" dirty="0"/>
                <a:t> s</a:t>
              </a:r>
              <a:r>
                <a:rPr lang="es-AR" baseline="-25000" dirty="0"/>
                <a:t>3</a:t>
              </a:r>
              <a:r>
                <a:rPr lang="es-AR" dirty="0"/>
                <a:t>  </a:t>
              </a:r>
              <a:r>
                <a:rPr lang="es-AR" dirty="0" err="1"/>
                <a:t>s</a:t>
              </a:r>
              <a:r>
                <a:rPr lang="es-AR" baseline="-25000" dirty="0" err="1"/>
                <a:t>3</a:t>
              </a:r>
              <a:r>
                <a:rPr lang="es-AR" dirty="0"/>
                <a:t>  s</a:t>
              </a:r>
              <a:r>
                <a:rPr lang="es-AR" baseline="-25000" dirty="0"/>
                <a:t>2</a:t>
              </a:r>
              <a:r>
                <a:rPr lang="es-AR" dirty="0"/>
                <a:t>  s</a:t>
              </a:r>
              <a:r>
                <a:rPr lang="es-AR" baseline="-25000" dirty="0"/>
                <a:t>1</a:t>
              </a:r>
              <a:r>
                <a:rPr lang="es-AR" dirty="0"/>
                <a:t>  </a:t>
              </a:r>
              <a:r>
                <a:rPr lang="es-AR" dirty="0" err="1"/>
                <a:t>s</a:t>
              </a:r>
              <a:r>
                <a:rPr lang="es-AR" baseline="-25000" dirty="0" err="1"/>
                <a:t>1</a:t>
              </a:r>
              <a:r>
                <a:rPr lang="es-AR" dirty="0"/>
                <a:t>  s</a:t>
              </a:r>
              <a:r>
                <a:rPr lang="es-AR" baseline="-25000" dirty="0"/>
                <a:t>2</a:t>
              </a:r>
              <a:r>
                <a:rPr lang="es-AR" dirty="0"/>
                <a:t>  s</a:t>
              </a:r>
              <a:r>
                <a:rPr lang="es-AR" baseline="-25000" dirty="0"/>
                <a:t>1</a:t>
              </a:r>
              <a:r>
                <a:rPr lang="es-AR" dirty="0"/>
                <a:t>  s</a:t>
              </a:r>
              <a:r>
                <a:rPr lang="es-AR" baseline="-25000" dirty="0"/>
                <a:t>0</a:t>
              </a:r>
              <a:r>
                <a:rPr lang="es-AR" dirty="0"/>
                <a:t> </a:t>
              </a:r>
            </a:p>
          </p:txBody>
        </p:sp>
        <p:sp>
          <p:nvSpPr>
            <p:cNvPr id="44" name="43 Cerrar llave"/>
            <p:cNvSpPr/>
            <p:nvPr/>
          </p:nvSpPr>
          <p:spPr>
            <a:xfrm rot="5400000">
              <a:off x="2015798" y="3734142"/>
              <a:ext cx="45719" cy="180019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46" name="45 Cerrar llave"/>
            <p:cNvSpPr/>
            <p:nvPr/>
          </p:nvSpPr>
          <p:spPr>
            <a:xfrm rot="5400000">
              <a:off x="2343603" y="3734142"/>
              <a:ext cx="45719" cy="180019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47" name="46 Cerrar llave"/>
            <p:cNvSpPr/>
            <p:nvPr/>
          </p:nvSpPr>
          <p:spPr>
            <a:xfrm rot="5400000">
              <a:off x="2658931" y="3734142"/>
              <a:ext cx="45719" cy="180019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48" name="47 Cerrar llave"/>
            <p:cNvSpPr/>
            <p:nvPr/>
          </p:nvSpPr>
          <p:spPr>
            <a:xfrm rot="5400000">
              <a:off x="2941400" y="3734142"/>
              <a:ext cx="45719" cy="180019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49" name="48 Cerrar llave"/>
            <p:cNvSpPr/>
            <p:nvPr/>
          </p:nvSpPr>
          <p:spPr>
            <a:xfrm rot="5400000">
              <a:off x="3294375" y="3734142"/>
              <a:ext cx="45719" cy="180019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50" name="49 Cerrar llave"/>
            <p:cNvSpPr/>
            <p:nvPr/>
          </p:nvSpPr>
          <p:spPr>
            <a:xfrm rot="5400000">
              <a:off x="3618787" y="3734142"/>
              <a:ext cx="45719" cy="180019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51" name="50 Cerrar llave"/>
            <p:cNvSpPr/>
            <p:nvPr/>
          </p:nvSpPr>
          <p:spPr>
            <a:xfrm rot="5400000">
              <a:off x="3901256" y="3734142"/>
              <a:ext cx="45719" cy="180019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52" name="51 Cerrar llave"/>
            <p:cNvSpPr/>
            <p:nvPr/>
          </p:nvSpPr>
          <p:spPr>
            <a:xfrm rot="5400000">
              <a:off x="4260921" y="3734142"/>
              <a:ext cx="45719" cy="180019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</p:grpSp>
      <p:sp>
        <p:nvSpPr>
          <p:cNvPr id="53" name="52 CuadroTexto"/>
          <p:cNvSpPr txBox="1"/>
          <p:nvPr/>
        </p:nvSpPr>
        <p:spPr>
          <a:xfrm>
            <a:off x="2411608" y="2987660"/>
            <a:ext cx="4320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u="sng" dirty="0"/>
              <a:t>Modulador (Ej. 4-PSK: M=4, k=2)</a:t>
            </a: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22" t="3483" r="16477" b="3483"/>
          <a:stretch/>
        </p:blipFill>
        <p:spPr bwMode="auto">
          <a:xfrm>
            <a:off x="5363168" y="3650117"/>
            <a:ext cx="2043796" cy="16510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4" name="53 CuadroTexto"/>
          <p:cNvSpPr txBox="1"/>
          <p:nvPr/>
        </p:nvSpPr>
        <p:spPr>
          <a:xfrm>
            <a:off x="3203847" y="3717032"/>
            <a:ext cx="26929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R</a:t>
            </a:r>
            <a:r>
              <a:rPr lang="es-AR" baseline="-25000" dirty="0"/>
              <a:t>b</a:t>
            </a:r>
            <a:r>
              <a:rPr lang="es-AR" dirty="0"/>
              <a:t> [bps]</a:t>
            </a:r>
          </a:p>
          <a:p>
            <a:endParaRPr lang="es-AR" dirty="0"/>
          </a:p>
          <a:p>
            <a:r>
              <a:rPr lang="es-AR" dirty="0" err="1"/>
              <a:t>R</a:t>
            </a:r>
            <a:r>
              <a:rPr lang="es-AR" baseline="-25000" dirty="0" err="1"/>
              <a:t>s</a:t>
            </a:r>
            <a:r>
              <a:rPr lang="es-AR" dirty="0"/>
              <a:t> [</a:t>
            </a:r>
            <a:r>
              <a:rPr lang="es-AR" dirty="0" err="1"/>
              <a:t>simb</a:t>
            </a:r>
            <a:r>
              <a:rPr lang="es-AR" dirty="0"/>
              <a:t>/</a:t>
            </a:r>
            <a:r>
              <a:rPr lang="es-AR" dirty="0" err="1"/>
              <a:t>seg</a:t>
            </a:r>
            <a:r>
              <a:rPr lang="es-AR" dirty="0"/>
              <a:t>] = R</a:t>
            </a:r>
            <a:r>
              <a:rPr lang="es-AR" baseline="-25000" dirty="0"/>
              <a:t>b</a:t>
            </a:r>
            <a:r>
              <a:rPr lang="es-AR" dirty="0"/>
              <a:t>/2</a:t>
            </a:r>
          </a:p>
        </p:txBody>
      </p:sp>
      <p:sp>
        <p:nvSpPr>
          <p:cNvPr id="55" name="54 CuadroTexto"/>
          <p:cNvSpPr txBox="1"/>
          <p:nvPr/>
        </p:nvSpPr>
        <p:spPr>
          <a:xfrm>
            <a:off x="6901076" y="4499828"/>
            <a:ext cx="385042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s-AR" dirty="0"/>
              <a:t>s</a:t>
            </a:r>
            <a:r>
              <a:rPr lang="es-AR" baseline="-25000" dirty="0"/>
              <a:t>0</a:t>
            </a:r>
          </a:p>
        </p:txBody>
      </p:sp>
      <p:sp>
        <p:nvSpPr>
          <p:cNvPr id="58" name="57 CuadroTexto"/>
          <p:cNvSpPr txBox="1"/>
          <p:nvPr/>
        </p:nvSpPr>
        <p:spPr>
          <a:xfrm>
            <a:off x="5867224" y="3501008"/>
            <a:ext cx="385042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s-AR" dirty="0"/>
              <a:t>s</a:t>
            </a:r>
            <a:r>
              <a:rPr lang="es-AR" baseline="-25000" dirty="0"/>
              <a:t>1</a:t>
            </a:r>
          </a:p>
        </p:txBody>
      </p:sp>
      <p:sp>
        <p:nvSpPr>
          <p:cNvPr id="59" name="58 CuadroTexto"/>
          <p:cNvSpPr txBox="1"/>
          <p:nvPr/>
        </p:nvSpPr>
        <p:spPr>
          <a:xfrm>
            <a:off x="5498974" y="4509120"/>
            <a:ext cx="385042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s-AR" dirty="0"/>
              <a:t>s</a:t>
            </a:r>
            <a:r>
              <a:rPr lang="es-AR" baseline="-25000" dirty="0"/>
              <a:t>2</a:t>
            </a:r>
          </a:p>
        </p:txBody>
      </p:sp>
      <p:sp>
        <p:nvSpPr>
          <p:cNvPr id="60" name="59 CuadroTexto"/>
          <p:cNvSpPr txBox="1"/>
          <p:nvPr/>
        </p:nvSpPr>
        <p:spPr>
          <a:xfrm>
            <a:off x="5939232" y="4917479"/>
            <a:ext cx="385042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s-AR" dirty="0"/>
              <a:t>s</a:t>
            </a:r>
            <a:r>
              <a:rPr lang="es-AR" baseline="-25000" dirty="0"/>
              <a:t>3</a:t>
            </a:r>
          </a:p>
        </p:txBody>
      </p:sp>
      <p:sp>
        <p:nvSpPr>
          <p:cNvPr id="56" name="AutoShape 6" descr="QPSK modulated waveform: the signal on the in-phase arm is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AR"/>
          </a:p>
        </p:txBody>
      </p:sp>
      <p:pic>
        <p:nvPicPr>
          <p:cNvPr id="2058" name="Picture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7744" y="4941168"/>
            <a:ext cx="3629025" cy="1257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6" name="65 CuadroTexto"/>
          <p:cNvSpPr txBox="1"/>
          <p:nvPr/>
        </p:nvSpPr>
        <p:spPr>
          <a:xfrm>
            <a:off x="5476876" y="5609540"/>
            <a:ext cx="28007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AR" dirty="0"/>
              <a:t>Constelación</a:t>
            </a:r>
          </a:p>
          <a:p>
            <a:pPr algn="ctr"/>
            <a:r>
              <a:rPr lang="es-AR" dirty="0"/>
              <a:t>(M símbolos, k bits/</a:t>
            </a:r>
            <a:r>
              <a:rPr lang="es-AR" dirty="0" err="1"/>
              <a:t>simb</a:t>
            </a:r>
            <a:r>
              <a:rPr lang="es-AR" dirty="0"/>
              <a:t>.)</a:t>
            </a:r>
          </a:p>
        </p:txBody>
      </p:sp>
      <p:sp>
        <p:nvSpPr>
          <p:cNvPr id="67" name="66 CuadroTexto"/>
          <p:cNvSpPr txBox="1"/>
          <p:nvPr/>
        </p:nvSpPr>
        <p:spPr>
          <a:xfrm>
            <a:off x="539552" y="5373216"/>
            <a:ext cx="1749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AR" dirty="0"/>
              <a:t>Forma de onda</a:t>
            </a:r>
          </a:p>
        </p:txBody>
      </p:sp>
      <p:sp>
        <p:nvSpPr>
          <p:cNvPr id="68" name="67 CuadroTexto"/>
          <p:cNvSpPr txBox="1"/>
          <p:nvPr/>
        </p:nvSpPr>
        <p:spPr>
          <a:xfrm>
            <a:off x="7379392" y="4437112"/>
            <a:ext cx="923651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s-AR" sz="1200" dirty="0" err="1"/>
              <a:t>A.cos</a:t>
            </a:r>
            <a:r>
              <a:rPr lang="es-AR" sz="1200" dirty="0"/>
              <a:t>(</a:t>
            </a:r>
            <a:r>
              <a:rPr lang="el-GR" sz="1200" dirty="0"/>
              <a:t>ω</a:t>
            </a:r>
            <a:r>
              <a:rPr lang="es-AR" sz="1200" baseline="-25000" dirty="0"/>
              <a:t>0</a:t>
            </a:r>
            <a:r>
              <a:rPr lang="es-AR" sz="1200" dirty="0"/>
              <a:t> t)</a:t>
            </a:r>
          </a:p>
        </p:txBody>
      </p:sp>
      <p:sp>
        <p:nvSpPr>
          <p:cNvPr id="69" name="68 CuadroTexto"/>
          <p:cNvSpPr txBox="1"/>
          <p:nvPr/>
        </p:nvSpPr>
        <p:spPr>
          <a:xfrm>
            <a:off x="6227264" y="3410317"/>
            <a:ext cx="931665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s-AR" sz="1200" dirty="0" err="1"/>
              <a:t>A.sen</a:t>
            </a:r>
            <a:r>
              <a:rPr lang="es-AR" sz="1200" dirty="0"/>
              <a:t>(</a:t>
            </a:r>
            <a:r>
              <a:rPr lang="el-GR" sz="1200" dirty="0"/>
              <a:t>ω</a:t>
            </a:r>
            <a:r>
              <a:rPr lang="es-AR" sz="1200" baseline="-25000" dirty="0"/>
              <a:t>0</a:t>
            </a:r>
            <a:r>
              <a:rPr lang="es-AR" sz="1200" dirty="0"/>
              <a:t> t)</a:t>
            </a:r>
          </a:p>
        </p:txBody>
      </p:sp>
      <p:sp>
        <p:nvSpPr>
          <p:cNvPr id="70" name="69 CuadroTexto"/>
          <p:cNvSpPr txBox="1"/>
          <p:nvPr/>
        </p:nvSpPr>
        <p:spPr>
          <a:xfrm>
            <a:off x="8100392" y="1715324"/>
            <a:ext cx="108012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1600" dirty="0"/>
              <a:t>CANAL</a:t>
            </a:r>
          </a:p>
          <a:p>
            <a:pPr algn="ctr"/>
            <a:r>
              <a:rPr lang="es-AR" sz="1600" dirty="0"/>
              <a:t>(Espacio libre, cable, FO, etc.)</a:t>
            </a:r>
          </a:p>
        </p:txBody>
      </p:sp>
      <p:sp>
        <p:nvSpPr>
          <p:cNvPr id="3" name="2 CuadroTexto"/>
          <p:cNvSpPr txBox="1"/>
          <p:nvPr/>
        </p:nvSpPr>
        <p:spPr>
          <a:xfrm>
            <a:off x="2267744" y="6021288"/>
            <a:ext cx="27058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1400" dirty="0"/>
              <a:t>0             </a:t>
            </a:r>
            <a:r>
              <a:rPr lang="es-AR" sz="1400" dirty="0" err="1"/>
              <a:t>Ts</a:t>
            </a:r>
            <a:r>
              <a:rPr lang="es-AR" sz="1400" dirty="0"/>
              <a:t>        2.Ts           3.Ts</a:t>
            </a:r>
          </a:p>
        </p:txBody>
      </p:sp>
      <p:sp>
        <p:nvSpPr>
          <p:cNvPr id="43" name="42 CuadroTexto"/>
          <p:cNvSpPr txBox="1"/>
          <p:nvPr/>
        </p:nvSpPr>
        <p:spPr>
          <a:xfrm>
            <a:off x="8164172" y="4293096"/>
            <a:ext cx="10525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400" b="1">
                <a:solidFill>
                  <a:srgbClr val="FF0000"/>
                </a:solidFill>
              </a:rPr>
              <a:t>.1</a:t>
            </a:r>
            <a:r>
              <a:rPr lang="es-AR">
                <a:solidFill>
                  <a:srgbClr val="FF0000"/>
                </a:solidFill>
              </a:rPr>
              <a:t>[0, Ts]</a:t>
            </a:r>
          </a:p>
        </p:txBody>
      </p:sp>
      <p:sp>
        <p:nvSpPr>
          <p:cNvPr id="57" name="56 CuadroTexto"/>
          <p:cNvSpPr txBox="1"/>
          <p:nvPr/>
        </p:nvSpPr>
        <p:spPr>
          <a:xfrm>
            <a:off x="6980980" y="3244040"/>
            <a:ext cx="10525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400" b="1">
                <a:solidFill>
                  <a:srgbClr val="FF0000"/>
                </a:solidFill>
              </a:rPr>
              <a:t>.1</a:t>
            </a:r>
            <a:r>
              <a:rPr lang="es-AR">
                <a:solidFill>
                  <a:srgbClr val="FF0000"/>
                </a:solidFill>
              </a:rPr>
              <a:t>[0, Ts]</a:t>
            </a:r>
          </a:p>
        </p:txBody>
      </p:sp>
    </p:spTree>
    <p:extLst>
      <p:ext uri="{BB962C8B-B14F-4D97-AF65-F5344CB8AC3E}">
        <p14:creationId xmlns:p14="http://schemas.microsoft.com/office/powerpoint/2010/main" val="39930999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AR" dirty="0"/>
              <a:t>Introducción a las modulaciones digitales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 dirty="0"/>
              <a:t>Abril 2024</a:t>
            </a: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Ing. Leonel E. Hochman</a:t>
            </a: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3</a:t>
            </a:fld>
            <a:endParaRPr lang="es-ES"/>
          </a:p>
        </p:txBody>
      </p:sp>
      <p:sp>
        <p:nvSpPr>
          <p:cNvPr id="9" name="8 Rectángulo"/>
          <p:cNvSpPr/>
          <p:nvPr/>
        </p:nvSpPr>
        <p:spPr>
          <a:xfrm>
            <a:off x="1907704" y="1760406"/>
            <a:ext cx="1080120" cy="6480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100" dirty="0"/>
              <a:t>Demodulador</a:t>
            </a:r>
            <a:endParaRPr lang="es-AR" sz="1400" dirty="0"/>
          </a:p>
        </p:txBody>
      </p:sp>
      <p:sp>
        <p:nvSpPr>
          <p:cNvPr id="11" name="10 Rectángulo"/>
          <p:cNvSpPr/>
          <p:nvPr/>
        </p:nvSpPr>
        <p:spPr>
          <a:xfrm>
            <a:off x="6228184" y="1760406"/>
            <a:ext cx="1080120" cy="6480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400" dirty="0"/>
              <a:t>D/A</a:t>
            </a:r>
          </a:p>
        </p:txBody>
      </p:sp>
      <p:cxnSp>
        <p:nvCxnSpPr>
          <p:cNvPr id="30" name="29 Conector recto de flecha"/>
          <p:cNvCxnSpPr>
            <a:stCxn id="9" idx="3"/>
          </p:cNvCxnSpPr>
          <p:nvPr/>
        </p:nvCxnSpPr>
        <p:spPr>
          <a:xfrm>
            <a:off x="2987824" y="2084442"/>
            <a:ext cx="358159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32 Conector recto de flecha"/>
          <p:cNvCxnSpPr/>
          <p:nvPr/>
        </p:nvCxnSpPr>
        <p:spPr>
          <a:xfrm>
            <a:off x="4426103" y="2084442"/>
            <a:ext cx="35532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35 Conector recto de flecha"/>
          <p:cNvCxnSpPr>
            <a:endCxn id="11" idx="1"/>
          </p:cNvCxnSpPr>
          <p:nvPr/>
        </p:nvCxnSpPr>
        <p:spPr>
          <a:xfrm>
            <a:off x="5861543" y="2084442"/>
            <a:ext cx="366641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37 Flecha derecha"/>
          <p:cNvSpPr/>
          <p:nvPr/>
        </p:nvSpPr>
        <p:spPr>
          <a:xfrm>
            <a:off x="7524328" y="1916832"/>
            <a:ext cx="576064" cy="3600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41" name="40 Flecha derecha"/>
          <p:cNvSpPr/>
          <p:nvPr/>
        </p:nvSpPr>
        <p:spPr>
          <a:xfrm>
            <a:off x="1115616" y="1916832"/>
            <a:ext cx="576064" cy="3600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42" name="41 CuadroTexto"/>
          <p:cNvSpPr txBox="1"/>
          <p:nvPr/>
        </p:nvSpPr>
        <p:spPr>
          <a:xfrm>
            <a:off x="8028384" y="1385481"/>
            <a:ext cx="108012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1600" dirty="0"/>
              <a:t>Voz, texto, imagen, video, etc.</a:t>
            </a:r>
          </a:p>
        </p:txBody>
      </p:sp>
      <p:sp>
        <p:nvSpPr>
          <p:cNvPr id="40" name="39 Rectángulo"/>
          <p:cNvSpPr/>
          <p:nvPr/>
        </p:nvSpPr>
        <p:spPr>
          <a:xfrm>
            <a:off x="395536" y="1268760"/>
            <a:ext cx="5724644" cy="147732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/>
              <a:t> s</a:t>
            </a:r>
            <a:r>
              <a:rPr lang="es-AR" baseline="-25000" dirty="0"/>
              <a:t>3</a:t>
            </a:r>
            <a:r>
              <a:rPr lang="es-AR" dirty="0"/>
              <a:t>(t) s</a:t>
            </a:r>
            <a:r>
              <a:rPr lang="es-AR" baseline="-25000" dirty="0"/>
              <a:t>3</a:t>
            </a:r>
            <a:r>
              <a:rPr lang="es-AR" dirty="0"/>
              <a:t>(t) s</a:t>
            </a:r>
            <a:r>
              <a:rPr lang="es-AR" baseline="-25000" dirty="0"/>
              <a:t>2</a:t>
            </a:r>
            <a:r>
              <a:rPr lang="es-AR" dirty="0"/>
              <a:t>(t) s</a:t>
            </a:r>
            <a:r>
              <a:rPr lang="es-AR" baseline="-25000" dirty="0"/>
              <a:t>1</a:t>
            </a:r>
            <a:r>
              <a:rPr lang="es-AR" dirty="0"/>
              <a:t>(t) s</a:t>
            </a:r>
            <a:r>
              <a:rPr lang="es-AR" baseline="-25000" dirty="0"/>
              <a:t>1</a:t>
            </a:r>
            <a:r>
              <a:rPr lang="es-AR" dirty="0"/>
              <a:t>(t) s</a:t>
            </a:r>
            <a:r>
              <a:rPr lang="es-AR" baseline="-25000" dirty="0"/>
              <a:t>2</a:t>
            </a:r>
            <a:r>
              <a:rPr lang="es-AR" dirty="0"/>
              <a:t>(t) s</a:t>
            </a:r>
            <a:r>
              <a:rPr lang="es-AR" baseline="-25000" dirty="0"/>
              <a:t>1</a:t>
            </a:r>
            <a:r>
              <a:rPr lang="es-AR" dirty="0"/>
              <a:t>(t) s</a:t>
            </a:r>
            <a:r>
              <a:rPr lang="es-AR" baseline="-25000" dirty="0"/>
              <a:t>0</a:t>
            </a:r>
            <a:r>
              <a:rPr lang="es-AR" dirty="0"/>
              <a:t>(t) + RUIDO</a:t>
            </a:r>
          </a:p>
          <a:p>
            <a:endParaRPr lang="es-AR" dirty="0"/>
          </a:p>
          <a:p>
            <a:endParaRPr lang="es-AR" dirty="0"/>
          </a:p>
          <a:p>
            <a:endParaRPr lang="es-AR" dirty="0"/>
          </a:p>
          <a:p>
            <a:r>
              <a:rPr lang="es-AR" dirty="0"/>
              <a:t>                                         1010110101110100	</a:t>
            </a:r>
          </a:p>
        </p:txBody>
      </p:sp>
      <p:grpSp>
        <p:nvGrpSpPr>
          <p:cNvPr id="45" name="44 Grupo"/>
          <p:cNvGrpSpPr/>
          <p:nvPr/>
        </p:nvGrpSpPr>
        <p:grpSpPr>
          <a:xfrm>
            <a:off x="343321" y="3637473"/>
            <a:ext cx="2860527" cy="1015663"/>
            <a:chOff x="1763688" y="3277433"/>
            <a:chExt cx="2860527" cy="1015663"/>
          </a:xfrm>
        </p:grpSpPr>
        <p:sp>
          <p:nvSpPr>
            <p:cNvPr id="10" name="9 CuadroTexto"/>
            <p:cNvSpPr txBox="1"/>
            <p:nvPr/>
          </p:nvSpPr>
          <p:spPr>
            <a:xfrm>
              <a:off x="1763688" y="3277433"/>
              <a:ext cx="2860527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AR" sz="2400" dirty="0"/>
                <a:t>1010110101110100</a:t>
              </a:r>
            </a:p>
            <a:p>
              <a:endParaRPr lang="es-AR" dirty="0"/>
            </a:p>
            <a:p>
              <a:r>
                <a:rPr lang="es-AR" dirty="0"/>
                <a:t> s</a:t>
              </a:r>
              <a:r>
                <a:rPr lang="es-AR" baseline="-25000" dirty="0"/>
                <a:t>3</a:t>
              </a:r>
              <a:r>
                <a:rPr lang="es-AR" dirty="0"/>
                <a:t>  </a:t>
              </a:r>
              <a:r>
                <a:rPr lang="es-AR" dirty="0" err="1"/>
                <a:t>s</a:t>
              </a:r>
              <a:r>
                <a:rPr lang="es-AR" baseline="-25000" dirty="0" err="1"/>
                <a:t>3</a:t>
              </a:r>
              <a:r>
                <a:rPr lang="es-AR" dirty="0"/>
                <a:t>  s</a:t>
              </a:r>
              <a:r>
                <a:rPr lang="es-AR" baseline="-25000" dirty="0"/>
                <a:t>2</a:t>
              </a:r>
              <a:r>
                <a:rPr lang="es-AR" dirty="0"/>
                <a:t>  s</a:t>
              </a:r>
              <a:r>
                <a:rPr lang="es-AR" baseline="-25000" dirty="0"/>
                <a:t>1</a:t>
              </a:r>
              <a:r>
                <a:rPr lang="es-AR" dirty="0"/>
                <a:t>  </a:t>
              </a:r>
              <a:r>
                <a:rPr lang="es-AR" dirty="0" err="1"/>
                <a:t>s</a:t>
              </a:r>
              <a:r>
                <a:rPr lang="es-AR" baseline="-25000" dirty="0" err="1"/>
                <a:t>1</a:t>
              </a:r>
              <a:r>
                <a:rPr lang="es-AR" dirty="0"/>
                <a:t>  s</a:t>
              </a:r>
              <a:r>
                <a:rPr lang="es-AR" baseline="-25000" dirty="0"/>
                <a:t>2</a:t>
              </a:r>
              <a:r>
                <a:rPr lang="es-AR" dirty="0"/>
                <a:t>  s</a:t>
              </a:r>
              <a:r>
                <a:rPr lang="es-AR" baseline="-25000" dirty="0"/>
                <a:t>1</a:t>
              </a:r>
              <a:r>
                <a:rPr lang="es-AR" dirty="0"/>
                <a:t>  s</a:t>
              </a:r>
              <a:r>
                <a:rPr lang="es-AR" baseline="-25000" dirty="0"/>
                <a:t>0</a:t>
              </a:r>
              <a:r>
                <a:rPr lang="es-AR" dirty="0"/>
                <a:t> </a:t>
              </a:r>
            </a:p>
          </p:txBody>
        </p:sp>
        <p:sp>
          <p:nvSpPr>
            <p:cNvPr id="44" name="43 Cerrar llave"/>
            <p:cNvSpPr/>
            <p:nvPr/>
          </p:nvSpPr>
          <p:spPr>
            <a:xfrm rot="5400000">
              <a:off x="2015798" y="3734142"/>
              <a:ext cx="45719" cy="180019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46" name="45 Cerrar llave"/>
            <p:cNvSpPr/>
            <p:nvPr/>
          </p:nvSpPr>
          <p:spPr>
            <a:xfrm rot="5400000">
              <a:off x="2343603" y="3734142"/>
              <a:ext cx="45719" cy="180019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47" name="46 Cerrar llave"/>
            <p:cNvSpPr/>
            <p:nvPr/>
          </p:nvSpPr>
          <p:spPr>
            <a:xfrm rot="5400000">
              <a:off x="2658931" y="3734142"/>
              <a:ext cx="45719" cy="180019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48" name="47 Cerrar llave"/>
            <p:cNvSpPr/>
            <p:nvPr/>
          </p:nvSpPr>
          <p:spPr>
            <a:xfrm rot="5400000">
              <a:off x="2941400" y="3734142"/>
              <a:ext cx="45719" cy="180019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49" name="48 Cerrar llave"/>
            <p:cNvSpPr/>
            <p:nvPr/>
          </p:nvSpPr>
          <p:spPr>
            <a:xfrm rot="5400000">
              <a:off x="3294375" y="3734142"/>
              <a:ext cx="45719" cy="180019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50" name="49 Cerrar llave"/>
            <p:cNvSpPr/>
            <p:nvPr/>
          </p:nvSpPr>
          <p:spPr>
            <a:xfrm rot="5400000">
              <a:off x="3618787" y="3734142"/>
              <a:ext cx="45719" cy="180019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51" name="50 Cerrar llave"/>
            <p:cNvSpPr/>
            <p:nvPr/>
          </p:nvSpPr>
          <p:spPr>
            <a:xfrm rot="5400000">
              <a:off x="3901256" y="3734142"/>
              <a:ext cx="45719" cy="180019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52" name="51 Cerrar llave"/>
            <p:cNvSpPr/>
            <p:nvPr/>
          </p:nvSpPr>
          <p:spPr>
            <a:xfrm rot="5400000">
              <a:off x="4260921" y="3734142"/>
              <a:ext cx="45719" cy="180019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</p:grpSp>
      <p:sp>
        <p:nvSpPr>
          <p:cNvPr id="53" name="52 CuadroTexto"/>
          <p:cNvSpPr txBox="1"/>
          <p:nvPr/>
        </p:nvSpPr>
        <p:spPr>
          <a:xfrm>
            <a:off x="2411608" y="2987660"/>
            <a:ext cx="4320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u="sng" dirty="0"/>
              <a:t>Modulador (Ej. 4-PSK: M=4, k=2)</a:t>
            </a: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22" t="3483" r="16477" b="3483"/>
          <a:stretch/>
        </p:blipFill>
        <p:spPr bwMode="auto">
          <a:xfrm>
            <a:off x="5363380" y="3650117"/>
            <a:ext cx="2043796" cy="16510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4" name="53 CuadroTexto"/>
          <p:cNvSpPr txBox="1"/>
          <p:nvPr/>
        </p:nvSpPr>
        <p:spPr>
          <a:xfrm>
            <a:off x="3121959" y="3717032"/>
            <a:ext cx="26929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R</a:t>
            </a:r>
            <a:r>
              <a:rPr lang="es-AR" baseline="-25000" dirty="0"/>
              <a:t>b</a:t>
            </a:r>
            <a:r>
              <a:rPr lang="es-AR" dirty="0"/>
              <a:t> [bps]</a:t>
            </a:r>
          </a:p>
          <a:p>
            <a:endParaRPr lang="es-AR" dirty="0"/>
          </a:p>
          <a:p>
            <a:r>
              <a:rPr lang="es-AR" dirty="0" err="1"/>
              <a:t>R</a:t>
            </a:r>
            <a:r>
              <a:rPr lang="es-AR" baseline="-25000" dirty="0" err="1"/>
              <a:t>s</a:t>
            </a:r>
            <a:r>
              <a:rPr lang="es-AR" dirty="0"/>
              <a:t> [</a:t>
            </a:r>
            <a:r>
              <a:rPr lang="es-AR" dirty="0" err="1"/>
              <a:t>simb</a:t>
            </a:r>
            <a:r>
              <a:rPr lang="es-AR" dirty="0"/>
              <a:t>/</a:t>
            </a:r>
            <a:r>
              <a:rPr lang="es-AR" dirty="0" err="1"/>
              <a:t>seg</a:t>
            </a:r>
            <a:r>
              <a:rPr lang="es-AR" dirty="0"/>
              <a:t>] = R</a:t>
            </a:r>
            <a:r>
              <a:rPr lang="es-AR" baseline="-25000" dirty="0"/>
              <a:t>b</a:t>
            </a:r>
            <a:r>
              <a:rPr lang="es-AR" dirty="0"/>
              <a:t>/2</a:t>
            </a:r>
          </a:p>
        </p:txBody>
      </p:sp>
      <p:sp>
        <p:nvSpPr>
          <p:cNvPr id="55" name="54 CuadroTexto"/>
          <p:cNvSpPr txBox="1"/>
          <p:nvPr/>
        </p:nvSpPr>
        <p:spPr>
          <a:xfrm>
            <a:off x="6901288" y="4499828"/>
            <a:ext cx="385042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s-AR" dirty="0"/>
              <a:t>s</a:t>
            </a:r>
            <a:r>
              <a:rPr lang="es-AR" baseline="-25000" dirty="0"/>
              <a:t>0</a:t>
            </a:r>
          </a:p>
        </p:txBody>
      </p:sp>
      <p:sp>
        <p:nvSpPr>
          <p:cNvPr id="58" name="57 CuadroTexto"/>
          <p:cNvSpPr txBox="1"/>
          <p:nvPr/>
        </p:nvSpPr>
        <p:spPr>
          <a:xfrm>
            <a:off x="5867436" y="3501008"/>
            <a:ext cx="385042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s-AR" dirty="0"/>
              <a:t>s</a:t>
            </a:r>
            <a:r>
              <a:rPr lang="es-AR" baseline="-25000" dirty="0"/>
              <a:t>1</a:t>
            </a:r>
          </a:p>
        </p:txBody>
      </p:sp>
      <p:sp>
        <p:nvSpPr>
          <p:cNvPr id="59" name="58 CuadroTexto"/>
          <p:cNvSpPr txBox="1"/>
          <p:nvPr/>
        </p:nvSpPr>
        <p:spPr>
          <a:xfrm>
            <a:off x="5499186" y="4509120"/>
            <a:ext cx="385042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s-AR" dirty="0"/>
              <a:t>s</a:t>
            </a:r>
            <a:r>
              <a:rPr lang="es-AR" baseline="-25000" dirty="0"/>
              <a:t>2</a:t>
            </a:r>
          </a:p>
        </p:txBody>
      </p:sp>
      <p:sp>
        <p:nvSpPr>
          <p:cNvPr id="60" name="59 CuadroTexto"/>
          <p:cNvSpPr txBox="1"/>
          <p:nvPr/>
        </p:nvSpPr>
        <p:spPr>
          <a:xfrm>
            <a:off x="5939444" y="4917479"/>
            <a:ext cx="385042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s-AR" dirty="0"/>
              <a:t>s</a:t>
            </a:r>
            <a:r>
              <a:rPr lang="es-AR" baseline="-25000" dirty="0"/>
              <a:t>3</a:t>
            </a:r>
          </a:p>
        </p:txBody>
      </p:sp>
      <p:sp>
        <p:nvSpPr>
          <p:cNvPr id="56" name="AutoShape 6" descr="QPSK modulated waveform: the signal on the in-phase arm is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AR"/>
          </a:p>
        </p:txBody>
      </p:sp>
      <p:pic>
        <p:nvPicPr>
          <p:cNvPr id="2058" name="Picture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7744" y="4941168"/>
            <a:ext cx="3629025" cy="1257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6" name="65 CuadroTexto"/>
          <p:cNvSpPr txBox="1"/>
          <p:nvPr/>
        </p:nvSpPr>
        <p:spPr>
          <a:xfrm>
            <a:off x="5476876" y="5609540"/>
            <a:ext cx="28007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AR" dirty="0"/>
              <a:t>Constelación</a:t>
            </a:r>
          </a:p>
          <a:p>
            <a:pPr algn="ctr"/>
            <a:r>
              <a:rPr lang="es-AR" dirty="0"/>
              <a:t>(M símbolos, k bits/</a:t>
            </a:r>
            <a:r>
              <a:rPr lang="es-AR" dirty="0" err="1"/>
              <a:t>simb</a:t>
            </a:r>
            <a:r>
              <a:rPr lang="es-AR" dirty="0"/>
              <a:t>.)</a:t>
            </a:r>
          </a:p>
        </p:txBody>
      </p:sp>
      <p:sp>
        <p:nvSpPr>
          <p:cNvPr id="67" name="66 CuadroTexto"/>
          <p:cNvSpPr txBox="1"/>
          <p:nvPr/>
        </p:nvSpPr>
        <p:spPr>
          <a:xfrm>
            <a:off x="539552" y="5373216"/>
            <a:ext cx="1749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AR" dirty="0"/>
              <a:t>Forma de onda</a:t>
            </a:r>
          </a:p>
        </p:txBody>
      </p:sp>
      <p:sp>
        <p:nvSpPr>
          <p:cNvPr id="68" name="67 CuadroTexto"/>
          <p:cNvSpPr txBox="1"/>
          <p:nvPr/>
        </p:nvSpPr>
        <p:spPr>
          <a:xfrm>
            <a:off x="7379604" y="4437112"/>
            <a:ext cx="923651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s-AR" sz="1200" dirty="0" err="1"/>
              <a:t>A.cos</a:t>
            </a:r>
            <a:r>
              <a:rPr lang="es-AR" sz="1200" dirty="0"/>
              <a:t>(</a:t>
            </a:r>
            <a:r>
              <a:rPr lang="el-GR" sz="1200" dirty="0"/>
              <a:t>ω</a:t>
            </a:r>
            <a:r>
              <a:rPr lang="es-AR" sz="1200" baseline="-25000" dirty="0"/>
              <a:t>0</a:t>
            </a:r>
            <a:r>
              <a:rPr lang="es-AR" sz="1200" dirty="0"/>
              <a:t> t)</a:t>
            </a:r>
          </a:p>
        </p:txBody>
      </p:sp>
      <p:sp>
        <p:nvSpPr>
          <p:cNvPr id="69" name="68 CuadroTexto"/>
          <p:cNvSpPr txBox="1"/>
          <p:nvPr/>
        </p:nvSpPr>
        <p:spPr>
          <a:xfrm>
            <a:off x="6227476" y="3410317"/>
            <a:ext cx="931665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s-AR" sz="1200" dirty="0" err="1"/>
              <a:t>A.sen</a:t>
            </a:r>
            <a:r>
              <a:rPr lang="es-AR" sz="1200" dirty="0"/>
              <a:t>(</a:t>
            </a:r>
            <a:r>
              <a:rPr lang="el-GR" sz="1200" dirty="0"/>
              <a:t>ω</a:t>
            </a:r>
            <a:r>
              <a:rPr lang="es-AR" sz="1200" baseline="-25000" dirty="0"/>
              <a:t>0</a:t>
            </a:r>
            <a:r>
              <a:rPr lang="es-AR" sz="1200" dirty="0"/>
              <a:t> t)</a:t>
            </a:r>
          </a:p>
        </p:txBody>
      </p:sp>
      <p:sp>
        <p:nvSpPr>
          <p:cNvPr id="70" name="69 CuadroTexto"/>
          <p:cNvSpPr txBox="1"/>
          <p:nvPr/>
        </p:nvSpPr>
        <p:spPr>
          <a:xfrm>
            <a:off x="35496" y="1687411"/>
            <a:ext cx="108012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1600" dirty="0"/>
              <a:t>CANAL</a:t>
            </a:r>
          </a:p>
          <a:p>
            <a:pPr algn="ctr"/>
            <a:r>
              <a:rPr lang="es-AR" sz="1600" dirty="0"/>
              <a:t>(Espacio libre, cable, FO, etc.)</a:t>
            </a:r>
          </a:p>
        </p:txBody>
      </p:sp>
      <p:sp>
        <p:nvSpPr>
          <p:cNvPr id="3" name="2 CuadroTexto"/>
          <p:cNvSpPr txBox="1"/>
          <p:nvPr/>
        </p:nvSpPr>
        <p:spPr>
          <a:xfrm>
            <a:off x="2267744" y="6021288"/>
            <a:ext cx="27058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1400" dirty="0"/>
              <a:t>0             </a:t>
            </a:r>
            <a:r>
              <a:rPr lang="es-AR" sz="1400" dirty="0" err="1"/>
              <a:t>Ts</a:t>
            </a:r>
            <a:r>
              <a:rPr lang="es-AR" sz="1400" dirty="0"/>
              <a:t>        2.Ts           3.Ts</a:t>
            </a:r>
          </a:p>
        </p:txBody>
      </p:sp>
      <p:sp>
        <p:nvSpPr>
          <p:cNvPr id="7" name="6 Elipse"/>
          <p:cNvSpPr/>
          <p:nvPr/>
        </p:nvSpPr>
        <p:spPr>
          <a:xfrm>
            <a:off x="5313264" y="4058488"/>
            <a:ext cx="738664" cy="738664"/>
          </a:xfrm>
          <a:prstGeom prst="ellipse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  <a:alpha val="2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43" name="42 Elipse"/>
          <p:cNvSpPr/>
          <p:nvPr/>
        </p:nvSpPr>
        <p:spPr>
          <a:xfrm>
            <a:off x="6697182" y="4077072"/>
            <a:ext cx="738664" cy="738664"/>
          </a:xfrm>
          <a:prstGeom prst="ellipse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  <a:alpha val="2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57" name="56 Elipse"/>
          <p:cNvSpPr/>
          <p:nvPr/>
        </p:nvSpPr>
        <p:spPr>
          <a:xfrm>
            <a:off x="5983924" y="4747036"/>
            <a:ext cx="738664" cy="738664"/>
          </a:xfrm>
          <a:prstGeom prst="ellipse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  <a:alpha val="2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61" name="60 Elipse"/>
          <p:cNvSpPr/>
          <p:nvPr/>
        </p:nvSpPr>
        <p:spPr>
          <a:xfrm>
            <a:off x="5992868" y="3413234"/>
            <a:ext cx="738664" cy="738664"/>
          </a:xfrm>
          <a:prstGeom prst="ellipse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  <a:alpha val="2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12" name="11 Conector recto"/>
          <p:cNvCxnSpPr/>
          <p:nvPr/>
        </p:nvCxnSpPr>
        <p:spPr>
          <a:xfrm>
            <a:off x="5507396" y="3637473"/>
            <a:ext cx="1764188" cy="1649338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61 Conector recto"/>
          <p:cNvCxnSpPr/>
          <p:nvPr/>
        </p:nvCxnSpPr>
        <p:spPr>
          <a:xfrm flipV="1">
            <a:off x="5435388" y="3651870"/>
            <a:ext cx="1764188" cy="1649338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62 Rectángulo"/>
          <p:cNvSpPr/>
          <p:nvPr/>
        </p:nvSpPr>
        <p:spPr>
          <a:xfrm>
            <a:off x="3345983" y="1760406"/>
            <a:ext cx="1080120" cy="64807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AR" sz="1100" dirty="0"/>
              <a:t>Decodificador de canal</a:t>
            </a:r>
          </a:p>
        </p:txBody>
      </p:sp>
      <p:sp>
        <p:nvSpPr>
          <p:cNvPr id="64" name="63 Rectángulo"/>
          <p:cNvSpPr/>
          <p:nvPr/>
        </p:nvSpPr>
        <p:spPr>
          <a:xfrm>
            <a:off x="4781423" y="1760406"/>
            <a:ext cx="1080120" cy="64807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AR" sz="1100" dirty="0"/>
              <a:t>Decodificador de fuente</a:t>
            </a:r>
          </a:p>
        </p:txBody>
      </p:sp>
      <p:sp>
        <p:nvSpPr>
          <p:cNvPr id="65" name="64 CuadroTexto"/>
          <p:cNvSpPr txBox="1"/>
          <p:nvPr/>
        </p:nvSpPr>
        <p:spPr>
          <a:xfrm>
            <a:off x="8164172" y="4293096"/>
            <a:ext cx="10525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400" b="1">
                <a:solidFill>
                  <a:srgbClr val="FF0000"/>
                </a:solidFill>
              </a:rPr>
              <a:t>.1</a:t>
            </a:r>
            <a:r>
              <a:rPr lang="es-AR">
                <a:solidFill>
                  <a:srgbClr val="FF0000"/>
                </a:solidFill>
              </a:rPr>
              <a:t>[0, Ts]</a:t>
            </a:r>
          </a:p>
        </p:txBody>
      </p:sp>
      <p:sp>
        <p:nvSpPr>
          <p:cNvPr id="71" name="70 CuadroTexto"/>
          <p:cNvSpPr txBox="1"/>
          <p:nvPr/>
        </p:nvSpPr>
        <p:spPr>
          <a:xfrm>
            <a:off x="6980980" y="3244040"/>
            <a:ext cx="10525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400" b="1">
                <a:solidFill>
                  <a:srgbClr val="FF0000"/>
                </a:solidFill>
              </a:rPr>
              <a:t>.1</a:t>
            </a:r>
            <a:r>
              <a:rPr lang="es-AR">
                <a:solidFill>
                  <a:srgbClr val="FF0000"/>
                </a:solidFill>
              </a:rPr>
              <a:t>[0, Ts]</a:t>
            </a:r>
          </a:p>
        </p:txBody>
      </p:sp>
    </p:spTree>
    <p:extLst>
      <p:ext uri="{BB962C8B-B14F-4D97-AF65-F5344CB8AC3E}">
        <p14:creationId xmlns:p14="http://schemas.microsoft.com/office/powerpoint/2010/main" val="38894985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dirty="0"/>
              <a:t>Reglas y regiones de decisión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 dirty="0"/>
              <a:t>Abril 2024</a:t>
            </a: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Ing. Leonel E. Hochman</a:t>
            </a: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4</a:t>
            </a:fld>
            <a:endParaRPr lang="es-ES"/>
          </a:p>
        </p:txBody>
      </p:sp>
      <p:sp>
        <p:nvSpPr>
          <p:cNvPr id="56" name="AutoShape 6" descr="QPSK modulated waveform: the signal on the in-phase arm is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AR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259" t="35129" r="32023" b="19397"/>
          <a:stretch/>
        </p:blipFill>
        <p:spPr bwMode="auto">
          <a:xfrm>
            <a:off x="4860032" y="2837170"/>
            <a:ext cx="3933960" cy="3502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3" name="62 CuadroTexto"/>
          <p:cNvSpPr txBox="1"/>
          <p:nvPr/>
        </p:nvSpPr>
        <p:spPr>
          <a:xfrm>
            <a:off x="323528" y="1412776"/>
            <a:ext cx="8280920" cy="2929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AR" dirty="0"/>
              <a:t>MAP (óptimo): Tiene en cuenta símbolos con diferentes probabilidades.</a:t>
            </a:r>
          </a:p>
          <a:p>
            <a:pPr algn="just"/>
            <a:endParaRPr lang="es-AR" dirty="0"/>
          </a:p>
          <a:p>
            <a:pPr algn="just"/>
            <a:endParaRPr lang="es-AR" dirty="0"/>
          </a:p>
          <a:p>
            <a:pPr algn="just"/>
            <a:endParaRPr lang="es-AR" dirty="0"/>
          </a:p>
          <a:p>
            <a:pPr algn="just"/>
            <a:r>
              <a:rPr lang="es-AR" dirty="0"/>
              <a:t>ML (no óptimo): Para símbolos </a:t>
            </a:r>
            <a:r>
              <a:rPr lang="es-AR" dirty="0" err="1"/>
              <a:t>equiprobables</a:t>
            </a:r>
            <a:r>
              <a:rPr lang="es-AR" dirty="0"/>
              <a:t> o con distribución desconocida.</a:t>
            </a:r>
          </a:p>
          <a:p>
            <a:pPr algn="just"/>
            <a:endParaRPr lang="es-AR" dirty="0"/>
          </a:p>
          <a:p>
            <a:pPr algn="just"/>
            <a:endParaRPr lang="es-AR" dirty="0"/>
          </a:p>
          <a:p>
            <a:pPr algn="just"/>
            <a:endParaRPr lang="es-AR" dirty="0"/>
          </a:p>
          <a:p>
            <a:pPr algn="just"/>
            <a:endParaRPr lang="es-AR" dirty="0"/>
          </a:p>
          <a:p>
            <a:pPr algn="just"/>
            <a:r>
              <a:rPr lang="es-AR" dirty="0"/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7 CuadroTexto"/>
              <p:cNvSpPr txBox="1"/>
              <p:nvPr/>
            </p:nvSpPr>
            <p:spPr>
              <a:xfrm>
                <a:off x="1817463" y="1916832"/>
                <a:ext cx="2652008" cy="4547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s-AR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AR" b="0" i="1" smtClean="0">
                              <a:latin typeface="Cambria Math"/>
                            </a:rPr>
                            <m:t>𝑚</m:t>
                          </m:r>
                        </m:e>
                      </m:acc>
                      <m:r>
                        <a:rPr lang="es-AR" b="0" i="1" smtClean="0">
                          <a:latin typeface="Cambria Math"/>
                        </a:rPr>
                        <m:t>=</m:t>
                      </m:r>
                      <m:func>
                        <m:funcPr>
                          <m:ctrlPr>
                            <a:rPr lang="es-AR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s-AR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s-AR" b="0" i="0" smtClean="0">
                                  <a:latin typeface="Cambria Math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s-AR" b="0" i="1" smtClean="0">
                                  <a:latin typeface="Cambria Math"/>
                                </a:rPr>
                                <m:t>1≤</m:t>
                              </m:r>
                              <m:r>
                                <a:rPr lang="es-AR" b="0" i="1" smtClean="0">
                                  <a:latin typeface="Cambria Math"/>
                                </a:rPr>
                                <m:t>𝑚</m:t>
                              </m:r>
                              <m:r>
                                <a:rPr lang="es-AR" b="0" i="1" smtClean="0">
                                  <a:latin typeface="Cambria Math"/>
                                </a:rPr>
                                <m:t>≤</m:t>
                              </m:r>
                              <m:r>
                                <a:rPr lang="es-AR" b="0" i="1" smtClean="0">
                                  <a:latin typeface="Cambria Math"/>
                                </a:rPr>
                                <m:t>𝑀</m:t>
                              </m:r>
                            </m:lim>
                          </m:limLow>
                        </m:fName>
                        <m:e>
                          <m:r>
                            <a:rPr lang="es-AR" i="1">
                              <a:latin typeface="Cambria Math"/>
                            </a:rPr>
                            <m:t>𝑃𝑚</m:t>
                          </m:r>
                          <m:r>
                            <a:rPr lang="es-AR" i="1">
                              <a:latin typeface="Cambria Math"/>
                            </a:rPr>
                            <m:t>.</m:t>
                          </m:r>
                          <m:r>
                            <a:rPr lang="es-AR" i="1">
                              <a:latin typeface="Cambria Math"/>
                            </a:rPr>
                            <m:t>𝑝</m:t>
                          </m:r>
                          <m:d>
                            <m:dPr>
                              <m:ctrlPr>
                                <a:rPr lang="es-A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AR" i="1">
                                  <a:latin typeface="Cambria Math"/>
                                </a:rPr>
                                <m:t>𝑟</m:t>
                              </m:r>
                              <m:r>
                                <a:rPr lang="es-AR" i="1">
                                  <a:latin typeface="Cambria Math"/>
                                </a:rPr>
                                <m:t>/</m:t>
                              </m:r>
                              <m:sSub>
                                <m:sSubPr>
                                  <m:ctrlPr>
                                    <a:rPr lang="es-A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AR" i="1">
                                      <a:latin typeface="Cambria Math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s-AR" i="1">
                                      <a:latin typeface="Cambria Math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8" name="7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7463" y="1916832"/>
                <a:ext cx="2652008" cy="454740"/>
              </a:xfrm>
              <a:prstGeom prst="rect">
                <a:avLst/>
              </a:prstGeom>
              <a:blipFill rotWithShape="1">
                <a:blip r:embed="rId3"/>
                <a:stretch>
                  <a:fillRect t="-4000" b="-1333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63 CuadroTexto"/>
              <p:cNvSpPr txBox="1"/>
              <p:nvPr/>
            </p:nvSpPr>
            <p:spPr>
              <a:xfrm>
                <a:off x="1835696" y="3068960"/>
                <a:ext cx="2224840" cy="4547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s-AR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AR" i="1">
                              <a:latin typeface="Cambria Math"/>
                            </a:rPr>
                            <m:t>𝑚</m:t>
                          </m:r>
                        </m:e>
                      </m:acc>
                      <m:r>
                        <a:rPr lang="es-AR" b="0" i="1" smtClean="0">
                          <a:latin typeface="Cambria Math"/>
                        </a:rPr>
                        <m:t>=</m:t>
                      </m:r>
                      <m:func>
                        <m:funcPr>
                          <m:ctrlPr>
                            <a:rPr lang="es-AR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s-AR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s-AR" b="0" i="0" smtClean="0">
                                  <a:latin typeface="Cambria Math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s-AR" b="0" i="1" smtClean="0">
                                  <a:latin typeface="Cambria Math"/>
                                </a:rPr>
                                <m:t>1≤</m:t>
                              </m:r>
                              <m:r>
                                <a:rPr lang="es-AR" b="0" i="1" smtClean="0">
                                  <a:latin typeface="Cambria Math"/>
                                </a:rPr>
                                <m:t>𝑚</m:t>
                              </m:r>
                              <m:r>
                                <a:rPr lang="es-AR" b="0" i="1" smtClean="0">
                                  <a:latin typeface="Cambria Math"/>
                                </a:rPr>
                                <m:t>≤</m:t>
                              </m:r>
                              <m:r>
                                <a:rPr lang="es-AR" b="0" i="1" smtClean="0">
                                  <a:latin typeface="Cambria Math"/>
                                </a:rPr>
                                <m:t>𝑀</m:t>
                              </m:r>
                            </m:lim>
                          </m:limLow>
                        </m:fName>
                        <m:e>
                          <m:r>
                            <a:rPr lang="es-AR" i="1">
                              <a:latin typeface="Cambria Math"/>
                            </a:rPr>
                            <m:t>𝑝</m:t>
                          </m:r>
                          <m:d>
                            <m:dPr>
                              <m:ctrlPr>
                                <a:rPr lang="es-A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AR" i="1">
                                  <a:latin typeface="Cambria Math"/>
                                </a:rPr>
                                <m:t>𝑟</m:t>
                              </m:r>
                              <m:r>
                                <a:rPr lang="es-AR" i="1">
                                  <a:latin typeface="Cambria Math"/>
                                </a:rPr>
                                <m:t>/</m:t>
                              </m:r>
                              <m:sSub>
                                <m:sSubPr>
                                  <m:ctrlPr>
                                    <a:rPr lang="es-A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AR" i="1">
                                      <a:latin typeface="Cambria Math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s-AR" i="1">
                                      <a:latin typeface="Cambria Math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64" name="63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5696" y="3068960"/>
                <a:ext cx="2224840" cy="454740"/>
              </a:xfrm>
              <a:prstGeom prst="rect">
                <a:avLst/>
              </a:prstGeom>
              <a:blipFill rotWithShape="1">
                <a:blip r:embed="rId4"/>
                <a:stretch>
                  <a:fillRect t="-4000" b="-1333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15 CuadroTexto"/>
              <p:cNvSpPr txBox="1"/>
              <p:nvPr/>
            </p:nvSpPr>
            <p:spPr>
              <a:xfrm>
                <a:off x="107504" y="4067780"/>
                <a:ext cx="599016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A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b="0" i="1" smtClean="0">
                            <a:latin typeface="Cambria Math"/>
                          </a:rPr>
                          <m:t>𝐷</m:t>
                        </m:r>
                      </m:e>
                      <m:sub>
                        <m:r>
                          <a:rPr lang="es-AR" b="0" i="1" smtClean="0">
                            <a:latin typeface="Cambria Math"/>
                          </a:rPr>
                          <m:t>𝑚𝑀𝐴𝑃</m:t>
                        </m:r>
                      </m:sub>
                    </m:sSub>
                    <m:r>
                      <a:rPr lang="es-AR" b="0" i="1" smtClean="0">
                        <a:latin typeface="Cambria Math"/>
                      </a:rPr>
                      <m:t>={</m:t>
                    </m:r>
                    <m:r>
                      <a:rPr lang="es-AR" b="0" i="1" smtClean="0">
                        <a:latin typeface="Cambria Math"/>
                      </a:rPr>
                      <m:t>𝑟</m:t>
                    </m:r>
                    <m:r>
                      <a:rPr lang="es-AR" b="0" i="1" smtClean="0">
                        <a:latin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el-GR" b="0" i="1" smtClean="0">
                        <a:latin typeface="Cambria Math"/>
                      </a:rPr>
                      <m:t>ε</m:t>
                    </m:r>
                    <m:r>
                      <a:rPr lang="es-AR" b="0" i="1" smtClean="0">
                        <a:latin typeface="Cambria Math"/>
                      </a:rPr>
                      <m:t> </m:t>
                    </m:r>
                    <m:sSup>
                      <m:sSupPr>
                        <m:ctrlPr>
                          <a:rPr lang="es-A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AR" b="0" i="1" smtClean="0">
                            <a:latin typeface="Cambria Math"/>
                          </a:rPr>
                          <m:t>𝑅</m:t>
                        </m:r>
                      </m:e>
                      <m:sup>
                        <m:r>
                          <a:rPr lang="es-AR" b="0" i="1" smtClean="0">
                            <a:latin typeface="Cambria Math"/>
                          </a:rPr>
                          <m:t>𝑁</m:t>
                        </m:r>
                      </m:sup>
                    </m:sSup>
                    <m:r>
                      <a:rPr lang="es-AR" b="0" i="1" smtClean="0">
                        <a:latin typeface="Cambria Math"/>
                      </a:rPr>
                      <m:t>/</m:t>
                    </m:r>
                    <m:r>
                      <a:rPr lang="es-AR" i="1">
                        <a:latin typeface="Cambria Math"/>
                      </a:rPr>
                      <m:t>𝑃𝑚</m:t>
                    </m:r>
                    <m:r>
                      <a:rPr lang="es-AR" i="1">
                        <a:latin typeface="Cambria Math"/>
                      </a:rPr>
                      <m:t>.</m:t>
                    </m:r>
                    <m:r>
                      <a:rPr lang="es-AR" i="1">
                        <a:latin typeface="Cambria Math"/>
                      </a:rPr>
                      <m:t>𝑝</m:t>
                    </m:r>
                    <m:d>
                      <m:dPr>
                        <m:ctrlPr>
                          <a:rPr lang="es-A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AR" i="1">
                            <a:latin typeface="Cambria Math"/>
                          </a:rPr>
                          <m:t>𝑟</m:t>
                        </m:r>
                        <m:r>
                          <a:rPr lang="es-AR" i="1">
                            <a:latin typeface="Cambria Math"/>
                          </a:rPr>
                          <m:t>/</m:t>
                        </m:r>
                        <m:sSub>
                          <m:sSubPr>
                            <m:ctrlPr>
                              <a:rPr lang="es-A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AR" i="1">
                                <a:latin typeface="Cambria Math"/>
                              </a:rPr>
                              <m:t>𝑠</m:t>
                            </m:r>
                          </m:e>
                          <m:sub>
                            <m:r>
                              <a:rPr lang="es-AR" i="1">
                                <a:latin typeface="Cambria Math"/>
                              </a:rPr>
                              <m:t>𝑚</m:t>
                            </m:r>
                          </m:sub>
                        </m:sSub>
                      </m:e>
                    </m:d>
                  </m:oMath>
                </a14:m>
                <a:r>
                  <a:rPr lang="es-AR" dirty="0"/>
                  <a:t> &gt; </a:t>
                </a:r>
                <a14:m>
                  <m:oMath xmlns:m="http://schemas.openxmlformats.org/officeDocument/2006/math">
                    <m:r>
                      <a:rPr lang="es-AR" i="1">
                        <a:latin typeface="Cambria Math"/>
                      </a:rPr>
                      <m:t>𝑃𝑚</m:t>
                    </m:r>
                    <m:r>
                      <a:rPr lang="es-AR" b="0" i="1" smtClean="0">
                        <a:latin typeface="Cambria Math"/>
                      </a:rPr>
                      <m:t>′</m:t>
                    </m:r>
                    <m:r>
                      <a:rPr lang="es-AR" i="1">
                        <a:latin typeface="Cambria Math"/>
                      </a:rPr>
                      <m:t>.</m:t>
                    </m:r>
                    <m:r>
                      <a:rPr lang="es-AR" i="1">
                        <a:latin typeface="Cambria Math"/>
                      </a:rPr>
                      <m:t>𝑝</m:t>
                    </m:r>
                    <m:d>
                      <m:dPr>
                        <m:ctrlPr>
                          <a:rPr lang="es-A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AR" i="1">
                            <a:latin typeface="Cambria Math"/>
                          </a:rPr>
                          <m:t>𝑟</m:t>
                        </m:r>
                        <m:r>
                          <a:rPr lang="es-AR" i="1">
                            <a:latin typeface="Cambria Math"/>
                          </a:rPr>
                          <m:t>/</m:t>
                        </m:r>
                        <m:sSub>
                          <m:sSubPr>
                            <m:ctrlPr>
                              <a:rPr lang="es-A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AR" i="1">
                                <a:latin typeface="Cambria Math"/>
                              </a:rPr>
                              <m:t>𝑠</m:t>
                            </m:r>
                          </m:e>
                          <m:sub>
                            <m:r>
                              <a:rPr lang="es-AR" i="1">
                                <a:latin typeface="Cambria Math"/>
                              </a:rPr>
                              <m:t>𝑚</m:t>
                            </m:r>
                            <m:r>
                              <a:rPr lang="es-AR" b="0" i="1" smtClean="0">
                                <a:latin typeface="Cambria Math"/>
                              </a:rPr>
                              <m:t>′</m:t>
                            </m:r>
                          </m:sub>
                        </m:sSub>
                      </m:e>
                    </m:d>
                    <m:r>
                      <a:rPr lang="es-AR" b="0" i="1" smtClean="0">
                        <a:latin typeface="Cambria Math"/>
                      </a:rPr>
                      <m:t>, </m:t>
                    </m:r>
                    <m:r>
                      <a:rPr lang="es-AR" b="0" i="1" smtClean="0">
                        <a:latin typeface="Cambria Math"/>
                        <a:ea typeface="Cambria Math"/>
                      </a:rPr>
                      <m:t>∀</m:t>
                    </m:r>
                    <m:r>
                      <a:rPr lang="es-AR" b="0" i="1" smtClean="0">
                        <a:latin typeface="Cambria Math"/>
                      </a:rPr>
                      <m:t>𝑚</m:t>
                    </m:r>
                    <m:r>
                      <a:rPr lang="es-AR" b="0" i="1" smtClean="0">
                        <a:latin typeface="Cambria Math"/>
                      </a:rPr>
                      <m:t>′≠</m:t>
                    </m:r>
                    <m:r>
                      <a:rPr lang="es-AR" b="0" i="1" smtClean="0">
                        <a:latin typeface="Cambria Math"/>
                        <a:ea typeface="Cambria Math"/>
                      </a:rPr>
                      <m:t>𝑚</m:t>
                    </m:r>
                    <m:r>
                      <a:rPr lang="es-AR" b="0" i="1" smtClean="0">
                        <a:latin typeface="Cambria Math"/>
                        <a:ea typeface="Cambria Math"/>
                      </a:rPr>
                      <m:t>}</m:t>
                    </m:r>
                  </m:oMath>
                </a14:m>
                <a:r>
                  <a:rPr lang="es-AR" dirty="0"/>
                  <a:t> </a:t>
                </a:r>
              </a:p>
            </p:txBody>
          </p:sp>
        </mc:Choice>
        <mc:Fallback xmlns="">
          <p:sp>
            <p:nvSpPr>
              <p:cNvPr id="16" name="15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4067780"/>
                <a:ext cx="5990166" cy="369332"/>
              </a:xfrm>
              <a:prstGeom prst="rect">
                <a:avLst/>
              </a:prstGeom>
              <a:blipFill rotWithShape="1">
                <a:blip r:embed="rId5"/>
                <a:stretch>
                  <a:fillRect t="-6557" b="-26230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64 CuadroTexto"/>
              <p:cNvSpPr txBox="1"/>
              <p:nvPr/>
            </p:nvSpPr>
            <p:spPr>
              <a:xfrm>
                <a:off x="107504" y="5363924"/>
                <a:ext cx="49512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A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b="0" i="1" smtClean="0">
                            <a:latin typeface="Cambria Math"/>
                          </a:rPr>
                          <m:t>𝐷</m:t>
                        </m:r>
                      </m:e>
                      <m:sub>
                        <m:r>
                          <a:rPr lang="es-AR" b="0" i="1" smtClean="0">
                            <a:latin typeface="Cambria Math"/>
                          </a:rPr>
                          <m:t>𝑚𝑀𝐿</m:t>
                        </m:r>
                      </m:sub>
                    </m:sSub>
                    <m:r>
                      <a:rPr lang="es-AR" b="0" i="1" smtClean="0">
                        <a:latin typeface="Cambria Math"/>
                      </a:rPr>
                      <m:t>={</m:t>
                    </m:r>
                    <m:r>
                      <a:rPr lang="es-AR" b="0" i="1" smtClean="0">
                        <a:latin typeface="Cambria Math"/>
                      </a:rPr>
                      <m:t>𝑟</m:t>
                    </m:r>
                    <m:r>
                      <a:rPr lang="es-AR" b="0" i="1" smtClean="0">
                        <a:latin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el-GR" b="0" i="1" smtClean="0">
                        <a:latin typeface="Cambria Math"/>
                      </a:rPr>
                      <m:t>ε</m:t>
                    </m:r>
                    <m:r>
                      <a:rPr lang="es-AR" b="0" i="1" smtClean="0">
                        <a:latin typeface="Cambria Math"/>
                      </a:rPr>
                      <m:t> </m:t>
                    </m:r>
                    <m:sSup>
                      <m:sSupPr>
                        <m:ctrlPr>
                          <a:rPr lang="es-A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AR" b="0" i="1" smtClean="0">
                            <a:latin typeface="Cambria Math"/>
                          </a:rPr>
                          <m:t>𝑅</m:t>
                        </m:r>
                      </m:e>
                      <m:sup>
                        <m:r>
                          <a:rPr lang="es-AR" b="0" i="1" smtClean="0">
                            <a:latin typeface="Cambria Math"/>
                          </a:rPr>
                          <m:t>𝑁</m:t>
                        </m:r>
                      </m:sup>
                    </m:sSup>
                    <m:r>
                      <a:rPr lang="es-AR" b="0" i="1" smtClean="0">
                        <a:latin typeface="Cambria Math"/>
                      </a:rPr>
                      <m:t>/</m:t>
                    </m:r>
                    <m:r>
                      <a:rPr lang="es-AR" i="1">
                        <a:latin typeface="Cambria Math"/>
                      </a:rPr>
                      <m:t>𝑝</m:t>
                    </m:r>
                    <m:d>
                      <m:dPr>
                        <m:ctrlPr>
                          <a:rPr lang="es-A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AR" i="1">
                            <a:latin typeface="Cambria Math"/>
                          </a:rPr>
                          <m:t>𝑟</m:t>
                        </m:r>
                        <m:r>
                          <a:rPr lang="es-AR" i="1">
                            <a:latin typeface="Cambria Math"/>
                          </a:rPr>
                          <m:t>/</m:t>
                        </m:r>
                        <m:sSub>
                          <m:sSubPr>
                            <m:ctrlPr>
                              <a:rPr lang="es-A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AR" i="1">
                                <a:latin typeface="Cambria Math"/>
                              </a:rPr>
                              <m:t>𝑠</m:t>
                            </m:r>
                          </m:e>
                          <m:sub>
                            <m:r>
                              <a:rPr lang="es-AR" i="1">
                                <a:latin typeface="Cambria Math"/>
                              </a:rPr>
                              <m:t>𝑚</m:t>
                            </m:r>
                          </m:sub>
                        </m:sSub>
                      </m:e>
                    </m:d>
                  </m:oMath>
                </a14:m>
                <a:r>
                  <a:rPr lang="es-AR" dirty="0"/>
                  <a:t> &gt; </a:t>
                </a:r>
                <a14:m>
                  <m:oMath xmlns:m="http://schemas.openxmlformats.org/officeDocument/2006/math">
                    <m:r>
                      <a:rPr lang="es-AR" i="1">
                        <a:latin typeface="Cambria Math"/>
                      </a:rPr>
                      <m:t>𝑝</m:t>
                    </m:r>
                    <m:d>
                      <m:dPr>
                        <m:ctrlPr>
                          <a:rPr lang="es-A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AR" i="1">
                            <a:latin typeface="Cambria Math"/>
                          </a:rPr>
                          <m:t>𝑟</m:t>
                        </m:r>
                        <m:r>
                          <a:rPr lang="es-AR" i="1">
                            <a:latin typeface="Cambria Math"/>
                          </a:rPr>
                          <m:t>/</m:t>
                        </m:r>
                        <m:sSub>
                          <m:sSubPr>
                            <m:ctrlPr>
                              <a:rPr lang="es-A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AR" i="1">
                                <a:latin typeface="Cambria Math"/>
                              </a:rPr>
                              <m:t>𝑠</m:t>
                            </m:r>
                          </m:e>
                          <m:sub>
                            <m:r>
                              <a:rPr lang="es-AR" i="1">
                                <a:latin typeface="Cambria Math"/>
                              </a:rPr>
                              <m:t>𝑚</m:t>
                            </m:r>
                            <m:r>
                              <a:rPr lang="es-AR" b="0" i="1" smtClean="0">
                                <a:latin typeface="Cambria Math"/>
                              </a:rPr>
                              <m:t>′</m:t>
                            </m:r>
                          </m:sub>
                        </m:sSub>
                      </m:e>
                    </m:d>
                    <m:r>
                      <a:rPr lang="es-AR" b="0" i="1" smtClean="0">
                        <a:latin typeface="Cambria Math"/>
                      </a:rPr>
                      <m:t>, </m:t>
                    </m:r>
                    <m:r>
                      <a:rPr lang="es-AR" b="0" i="1" smtClean="0">
                        <a:latin typeface="Cambria Math"/>
                        <a:ea typeface="Cambria Math"/>
                      </a:rPr>
                      <m:t>∀</m:t>
                    </m:r>
                    <m:r>
                      <a:rPr lang="es-AR" b="0" i="1" smtClean="0">
                        <a:latin typeface="Cambria Math"/>
                      </a:rPr>
                      <m:t>𝑚</m:t>
                    </m:r>
                    <m:r>
                      <a:rPr lang="es-AR" b="0" i="1" smtClean="0">
                        <a:latin typeface="Cambria Math"/>
                      </a:rPr>
                      <m:t>′≠</m:t>
                    </m:r>
                    <m:r>
                      <a:rPr lang="es-AR" b="0" i="1" smtClean="0">
                        <a:latin typeface="Cambria Math"/>
                        <a:ea typeface="Cambria Math"/>
                      </a:rPr>
                      <m:t>𝑚</m:t>
                    </m:r>
                    <m:r>
                      <a:rPr lang="es-AR" b="0" i="1" smtClean="0">
                        <a:latin typeface="Cambria Math"/>
                        <a:ea typeface="Cambria Math"/>
                      </a:rPr>
                      <m:t>}</m:t>
                    </m:r>
                  </m:oMath>
                </a14:m>
                <a:r>
                  <a:rPr lang="es-AR" dirty="0"/>
                  <a:t> </a:t>
                </a:r>
              </a:p>
            </p:txBody>
          </p:sp>
        </mc:Choice>
        <mc:Fallback xmlns="">
          <p:sp>
            <p:nvSpPr>
              <p:cNvPr id="65" name="64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5363924"/>
                <a:ext cx="4951227" cy="369332"/>
              </a:xfrm>
              <a:prstGeom prst="rect">
                <a:avLst/>
              </a:prstGeom>
              <a:blipFill rotWithShape="1">
                <a:blip r:embed="rId6"/>
                <a:stretch>
                  <a:fillRect t="-6667" b="-28333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855173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dirty="0"/>
              <a:t>Receptor óptimo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 dirty="0"/>
              <a:t>Abril 2024</a:t>
            </a: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Ing. Leonel E. Hochman</a:t>
            </a: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5</a:t>
            </a:fld>
            <a:endParaRPr lang="es-ES"/>
          </a:p>
        </p:txBody>
      </p:sp>
      <p:sp>
        <p:nvSpPr>
          <p:cNvPr id="56" name="AutoShape 6" descr="QPSK modulated waveform: the signal on the in-phase arm is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AR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20" t="34052" r="25641" b="21983"/>
          <a:stretch/>
        </p:blipFill>
        <p:spPr bwMode="auto">
          <a:xfrm>
            <a:off x="155575" y="1628800"/>
            <a:ext cx="5472715" cy="2736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393" t="33728" r="39193" b="24246"/>
          <a:stretch/>
        </p:blipFill>
        <p:spPr bwMode="auto">
          <a:xfrm>
            <a:off x="5703153" y="1660332"/>
            <a:ext cx="3405351" cy="2645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503129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dirty="0"/>
              <a:t>Receptor óptimo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 dirty="0"/>
              <a:t>Abril 2024</a:t>
            </a: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Ing. Leonel E. Hochman</a:t>
            </a: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6</a:t>
            </a:fld>
            <a:endParaRPr lang="es-ES"/>
          </a:p>
        </p:txBody>
      </p:sp>
      <p:sp>
        <p:nvSpPr>
          <p:cNvPr id="56" name="AutoShape 6" descr="QPSK modulated waveform: the signal on the in-phase arm is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AR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78" t="33955" r="33115" b="53525"/>
          <a:stretch/>
        </p:blipFill>
        <p:spPr bwMode="auto">
          <a:xfrm>
            <a:off x="263857" y="1433053"/>
            <a:ext cx="4021384" cy="9158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78" t="54531" r="33115" b="28227"/>
          <a:stretch/>
        </p:blipFill>
        <p:spPr bwMode="auto">
          <a:xfrm>
            <a:off x="307975" y="2585181"/>
            <a:ext cx="4021384" cy="12612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78" t="76072" r="33115" b="13798"/>
          <a:stretch/>
        </p:blipFill>
        <p:spPr bwMode="auto">
          <a:xfrm>
            <a:off x="155575" y="4059620"/>
            <a:ext cx="4021384" cy="7409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2 CuadroTexto"/>
          <p:cNvSpPr txBox="1"/>
          <p:nvPr/>
        </p:nvSpPr>
        <p:spPr>
          <a:xfrm>
            <a:off x="5004048" y="1196752"/>
            <a:ext cx="36817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i="1" dirty="0"/>
              <a:t>h(t</a:t>
            </a:r>
            <a:r>
              <a:rPr lang="es-AR" dirty="0"/>
              <a:t>) es la respuesta impulsiva del filtro adaptado</a:t>
            </a:r>
          </a:p>
          <a:p>
            <a:pPr algn="ctr"/>
            <a:endParaRPr lang="es-AR" dirty="0"/>
          </a:p>
          <a:p>
            <a:pPr algn="ctr"/>
            <a:r>
              <a:rPr lang="es-AR" i="1" dirty="0"/>
              <a:t>h(t) = </a:t>
            </a:r>
            <a:r>
              <a:rPr lang="es-AR" i="1" dirty="0" err="1"/>
              <a:t>k.s</a:t>
            </a:r>
            <a:r>
              <a:rPr lang="es-AR" i="1" dirty="0"/>
              <a:t>(T–t)	0 ≤ t ≤ T</a:t>
            </a:r>
          </a:p>
        </p:txBody>
      </p:sp>
      <p:sp>
        <p:nvSpPr>
          <p:cNvPr id="13" name="12 CuadroTexto"/>
          <p:cNvSpPr txBox="1"/>
          <p:nvPr/>
        </p:nvSpPr>
        <p:spPr>
          <a:xfrm>
            <a:off x="5156448" y="3933056"/>
            <a:ext cx="36817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b="1" dirty="0"/>
              <a:t>En </a:t>
            </a:r>
            <a:r>
              <a:rPr lang="es-AR" b="1" i="1" dirty="0"/>
              <a:t>t = T</a:t>
            </a:r>
            <a:r>
              <a:rPr lang="es-AR" b="1" dirty="0"/>
              <a:t>, la salida del filtro adaptado coincide con la correlación entre la señal recibida y el símbolo esperado</a:t>
            </a:r>
          </a:p>
        </p:txBody>
      </p:sp>
      <p:sp>
        <p:nvSpPr>
          <p:cNvPr id="7" name="6 Flecha derecha"/>
          <p:cNvSpPr/>
          <p:nvPr/>
        </p:nvSpPr>
        <p:spPr>
          <a:xfrm>
            <a:off x="3779912" y="4221088"/>
            <a:ext cx="1080120" cy="37049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5" name="14 CuadroTexto"/>
          <p:cNvSpPr txBox="1"/>
          <p:nvPr/>
        </p:nvSpPr>
        <p:spPr>
          <a:xfrm>
            <a:off x="481192" y="5589240"/>
            <a:ext cx="8158277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AR" dirty="0"/>
              <a:t>El receptor óptimo puede implementarse con un banco de </a:t>
            </a:r>
            <a:r>
              <a:rPr lang="es-AR" dirty="0" err="1"/>
              <a:t>FAs</a:t>
            </a:r>
            <a:r>
              <a:rPr lang="es-AR" dirty="0"/>
              <a:t> o de </a:t>
            </a:r>
            <a:r>
              <a:rPr lang="es-AR" dirty="0" err="1"/>
              <a:t>correladores</a:t>
            </a:r>
            <a:r>
              <a:rPr lang="es-AR" dirty="0"/>
              <a:t>.</a:t>
            </a:r>
            <a:endParaRPr lang="es-AR" baseline="30000" dirty="0"/>
          </a:p>
        </p:txBody>
      </p:sp>
    </p:spTree>
    <p:extLst>
      <p:ext uri="{BB962C8B-B14F-4D97-AF65-F5344CB8AC3E}">
        <p14:creationId xmlns:p14="http://schemas.microsoft.com/office/powerpoint/2010/main" val="26795393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dirty="0"/>
              <a:t>Receptor óptimo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 dirty="0"/>
              <a:t>Abril 2024</a:t>
            </a: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Ing. Leonel E. Hochman</a:t>
            </a: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7</a:t>
            </a:fld>
            <a:endParaRPr lang="es-ES"/>
          </a:p>
        </p:txBody>
      </p:sp>
      <p:sp>
        <p:nvSpPr>
          <p:cNvPr id="56" name="AutoShape 6" descr="QPSK modulated waveform: the signal on the in-phase arm is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AR"/>
          </a:p>
        </p:txBody>
      </p:sp>
      <p:sp>
        <p:nvSpPr>
          <p:cNvPr id="15" name="14 CuadroTexto"/>
          <p:cNvSpPr txBox="1"/>
          <p:nvPr/>
        </p:nvSpPr>
        <p:spPr>
          <a:xfrm>
            <a:off x="481192" y="5589240"/>
            <a:ext cx="8158277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AR" dirty="0"/>
              <a:t>El receptor óptimo puede implementarse con un banco de </a:t>
            </a:r>
            <a:r>
              <a:rPr lang="es-AR" dirty="0" err="1"/>
              <a:t>FAs</a:t>
            </a:r>
            <a:r>
              <a:rPr lang="es-AR" dirty="0"/>
              <a:t> o de </a:t>
            </a:r>
            <a:r>
              <a:rPr lang="es-AR" dirty="0" err="1"/>
              <a:t>correladores</a:t>
            </a:r>
            <a:r>
              <a:rPr lang="es-AR" dirty="0"/>
              <a:t>.</a:t>
            </a:r>
            <a:endParaRPr lang="es-AR" baseline="300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656" t="33865" r="26034" b="24538"/>
          <a:stretch/>
        </p:blipFill>
        <p:spPr bwMode="auto">
          <a:xfrm>
            <a:off x="5772148" y="2320120"/>
            <a:ext cx="2908925" cy="19903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18" t="30604" r="41960" b="23594"/>
          <a:stretch/>
        </p:blipFill>
        <p:spPr bwMode="auto">
          <a:xfrm>
            <a:off x="268563" y="1640009"/>
            <a:ext cx="5155324" cy="3350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749809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dirty="0"/>
              <a:t>Ejercicio 6 – 2-PAM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 dirty="0"/>
              <a:t>Abril 2024</a:t>
            </a: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Ing. Leonel E. Hochman</a:t>
            </a: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8</a:t>
            </a:fld>
            <a:endParaRPr lang="es-ES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0A7B51C0-D793-748A-F898-8CDE689518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547" y="1866682"/>
            <a:ext cx="8106906" cy="3124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7198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F1DE0E-64F4-E407-9002-C39B339BB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>
            <a:extLst>
              <a:ext uri="{FF2B5EF4-FFF2-40B4-BE49-F238E27FC236}">
                <a16:creationId xmlns:a16="http://schemas.microsoft.com/office/drawing/2014/main" id="{EF2A9E61-A07D-CAB6-BD3A-DE2C25FBC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dirty="0"/>
              <a:t>Ejercicio 6 – 2-PAM</a:t>
            </a:r>
          </a:p>
        </p:txBody>
      </p:sp>
      <p:sp>
        <p:nvSpPr>
          <p:cNvPr id="4" name="3 Marcador de fecha">
            <a:extLst>
              <a:ext uri="{FF2B5EF4-FFF2-40B4-BE49-F238E27FC236}">
                <a16:creationId xmlns:a16="http://schemas.microsoft.com/office/drawing/2014/main" id="{D0F8C0DD-2F7F-48B4-FCA2-74E055D24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 dirty="0"/>
              <a:t>Abril 2024</a:t>
            </a:r>
          </a:p>
        </p:txBody>
      </p:sp>
      <p:sp>
        <p:nvSpPr>
          <p:cNvPr id="5" name="4 Marcador de pie de página">
            <a:extLst>
              <a:ext uri="{FF2B5EF4-FFF2-40B4-BE49-F238E27FC236}">
                <a16:creationId xmlns:a16="http://schemas.microsoft.com/office/drawing/2014/main" id="{25417FBC-5C6F-27E3-AAC1-35B911234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Ing. Leonel E. Hochman</a:t>
            </a:r>
          </a:p>
        </p:txBody>
      </p:sp>
      <p:sp>
        <p:nvSpPr>
          <p:cNvPr id="6" name="5 Marcador de número de diapositiva">
            <a:extLst>
              <a:ext uri="{FF2B5EF4-FFF2-40B4-BE49-F238E27FC236}">
                <a16:creationId xmlns:a16="http://schemas.microsoft.com/office/drawing/2014/main" id="{31017AF2-3E3B-15DD-5701-4A116CA4F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9</a:t>
            </a:fld>
            <a:endParaRPr lang="es-ES"/>
          </a:p>
        </p:txBody>
      </p:sp>
      <p:sp>
        <p:nvSpPr>
          <p:cNvPr id="8" name="2 Marcador de contenido">
            <a:extLst>
              <a:ext uri="{FF2B5EF4-FFF2-40B4-BE49-F238E27FC236}">
                <a16:creationId xmlns:a16="http://schemas.microsoft.com/office/drawing/2014/main" id="{DE8EA8A6-9E1A-A5DE-A1E0-40B1F7CB84F4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251520" y="1219200"/>
            <a:ext cx="8640960" cy="4937760"/>
          </a:xfrm>
        </p:spPr>
        <p:txBody>
          <a:bodyPr>
            <a:normAutofit/>
          </a:bodyPr>
          <a:lstStyle/>
          <a:p>
            <a:pPr marL="342900" indent="-342900" algn="just">
              <a:buFont typeface="+mj-lt"/>
              <a:buAutoNum type="arabicParenR"/>
            </a:pPr>
            <a:r>
              <a:rPr lang="es-AR" sz="1800" dirty="0"/>
              <a:t>Utilice las relaciones entre tasa bits, símbolos y tiempos ya vistas.</a:t>
            </a:r>
          </a:p>
          <a:p>
            <a:pPr marL="342900" indent="-342900" algn="just">
              <a:buFont typeface="+mj-lt"/>
              <a:buAutoNum type="arabicParenR" startAt="2"/>
            </a:pPr>
            <a:r>
              <a:rPr lang="es-AR" sz="1800" dirty="0"/>
              <a:t>Exprese la probabilidad de error de símbolo para una constelación 2-PAM, símbolos </a:t>
            </a:r>
            <a:r>
              <a:rPr lang="es-AR" sz="1800" dirty="0" err="1"/>
              <a:t>equiprobables</a:t>
            </a:r>
            <a:r>
              <a:rPr lang="es-AR" sz="1800" dirty="0"/>
              <a:t> y AWGN:</a:t>
            </a:r>
          </a:p>
          <a:p>
            <a:pPr marL="0" indent="0" algn="ctr">
              <a:buNone/>
            </a:pPr>
            <a:r>
              <a:rPr lang="es-AR" sz="1800" b="1" dirty="0"/>
              <a:t>P</a:t>
            </a:r>
            <a:r>
              <a:rPr lang="es-AR" sz="1800" b="1" baseline="-25000" dirty="0"/>
              <a:t>e</a:t>
            </a:r>
            <a:r>
              <a:rPr lang="es-AR" sz="1800" b="1" dirty="0"/>
              <a:t> </a:t>
            </a:r>
            <a:r>
              <a:rPr lang="es-AR" sz="1800" dirty="0"/>
              <a:t>= </a:t>
            </a:r>
            <a:r>
              <a:rPr lang="es-AR" sz="1800" dirty="0">
                <a:solidFill>
                  <a:srgbClr val="0070C0"/>
                </a:solidFill>
              </a:rPr>
              <a:t>p(s</a:t>
            </a:r>
            <a:r>
              <a:rPr lang="es-AR" sz="1800" baseline="-25000" dirty="0">
                <a:solidFill>
                  <a:srgbClr val="0070C0"/>
                </a:solidFill>
              </a:rPr>
              <a:t>0</a:t>
            </a:r>
            <a:r>
              <a:rPr lang="es-AR" sz="1800" dirty="0">
                <a:solidFill>
                  <a:srgbClr val="0070C0"/>
                </a:solidFill>
              </a:rPr>
              <a:t>/s</a:t>
            </a:r>
            <a:r>
              <a:rPr lang="es-AR" sz="1800" baseline="-25000" dirty="0">
                <a:solidFill>
                  <a:srgbClr val="0070C0"/>
                </a:solidFill>
              </a:rPr>
              <a:t>1</a:t>
            </a:r>
            <a:r>
              <a:rPr lang="es-AR" sz="1800" dirty="0">
                <a:solidFill>
                  <a:srgbClr val="0070C0"/>
                </a:solidFill>
              </a:rPr>
              <a:t>)</a:t>
            </a:r>
            <a:r>
              <a:rPr lang="es-AR" sz="1800" dirty="0"/>
              <a:t>.p(s</a:t>
            </a:r>
            <a:r>
              <a:rPr lang="es-AR" sz="1800" baseline="-25000" dirty="0"/>
              <a:t>1</a:t>
            </a:r>
            <a:r>
              <a:rPr lang="es-AR" sz="1800" dirty="0"/>
              <a:t>) + </a:t>
            </a:r>
            <a:r>
              <a:rPr lang="es-AR" sz="1800" dirty="0">
                <a:solidFill>
                  <a:srgbClr val="00B050"/>
                </a:solidFill>
              </a:rPr>
              <a:t>p(s</a:t>
            </a:r>
            <a:r>
              <a:rPr lang="es-AR" sz="1800" baseline="-25000" dirty="0">
                <a:solidFill>
                  <a:srgbClr val="00B050"/>
                </a:solidFill>
              </a:rPr>
              <a:t>1</a:t>
            </a:r>
            <a:r>
              <a:rPr lang="es-AR" sz="1800" dirty="0">
                <a:solidFill>
                  <a:srgbClr val="00B050"/>
                </a:solidFill>
              </a:rPr>
              <a:t>/s</a:t>
            </a:r>
            <a:r>
              <a:rPr lang="es-AR" sz="1800" baseline="-25000" dirty="0">
                <a:solidFill>
                  <a:srgbClr val="00B050"/>
                </a:solidFill>
              </a:rPr>
              <a:t>0</a:t>
            </a:r>
            <a:r>
              <a:rPr lang="es-AR" sz="1800" dirty="0">
                <a:solidFill>
                  <a:srgbClr val="00B050"/>
                </a:solidFill>
              </a:rPr>
              <a:t>)</a:t>
            </a:r>
            <a:r>
              <a:rPr lang="es-AR" sz="1800" dirty="0"/>
              <a:t>.p(s</a:t>
            </a:r>
            <a:r>
              <a:rPr lang="es-AR" sz="1800" baseline="-25000" dirty="0"/>
              <a:t>0</a:t>
            </a:r>
            <a:r>
              <a:rPr lang="es-AR" sz="1800" dirty="0"/>
              <a:t>) = 0,5.Q(d/2</a:t>
            </a:r>
            <a:r>
              <a:rPr lang="el-GR" sz="1800" dirty="0">
                <a:latin typeface="Cambria Math"/>
                <a:ea typeface="Cambria Math"/>
              </a:rPr>
              <a:t>σ</a:t>
            </a:r>
            <a:r>
              <a:rPr lang="es-AR" sz="1800" dirty="0"/>
              <a:t> ) + 0,5.Q(d/2</a:t>
            </a:r>
            <a:r>
              <a:rPr lang="el-GR" sz="1800" dirty="0">
                <a:latin typeface="Cambria Math"/>
                <a:ea typeface="Cambria Math"/>
              </a:rPr>
              <a:t>σ</a:t>
            </a:r>
            <a:r>
              <a:rPr lang="es-AR" sz="1800" dirty="0"/>
              <a:t> ) = </a:t>
            </a:r>
            <a:r>
              <a:rPr lang="es-AR" sz="1800" b="1" dirty="0"/>
              <a:t>Q(d/2</a:t>
            </a:r>
            <a:r>
              <a:rPr lang="el-GR" sz="1800" b="1" dirty="0">
                <a:latin typeface="Cambria Math"/>
                <a:ea typeface="Cambria Math"/>
              </a:rPr>
              <a:t>σ</a:t>
            </a:r>
            <a:r>
              <a:rPr lang="es-AR" sz="1800" b="1" dirty="0"/>
              <a:t> ) </a:t>
            </a:r>
          </a:p>
          <a:p>
            <a:pPr marL="0" indent="0" algn="ctr">
              <a:buNone/>
            </a:pPr>
            <a:endParaRPr lang="es-AR" sz="1800" dirty="0"/>
          </a:p>
          <a:p>
            <a:pPr marL="0" indent="0" algn="ctr">
              <a:buNone/>
            </a:pPr>
            <a:endParaRPr lang="es-AR" sz="1800" dirty="0"/>
          </a:p>
          <a:p>
            <a:pPr marL="0" indent="0" algn="ctr">
              <a:buNone/>
            </a:pPr>
            <a:endParaRPr lang="es-AR" sz="180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506C9D3F-FDEF-BCB8-4881-B5BF3EE6F8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1978" y="3238524"/>
            <a:ext cx="4272020" cy="24227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2 Abrir llave">
            <a:extLst>
              <a:ext uri="{FF2B5EF4-FFF2-40B4-BE49-F238E27FC236}">
                <a16:creationId xmlns:a16="http://schemas.microsoft.com/office/drawing/2014/main" id="{394F14E2-84AF-3C08-C410-900DA260A954}"/>
              </a:ext>
            </a:extLst>
          </p:cNvPr>
          <p:cNvSpPr/>
          <p:nvPr/>
        </p:nvSpPr>
        <p:spPr>
          <a:xfrm rot="16200000">
            <a:off x="4346597" y="5010619"/>
            <a:ext cx="432048" cy="1859434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7" name="6 CuadroTexto">
            <a:extLst>
              <a:ext uri="{FF2B5EF4-FFF2-40B4-BE49-F238E27FC236}">
                <a16:creationId xmlns:a16="http://schemas.microsoft.com/office/drawing/2014/main" id="{860EA302-2EDF-EA6D-D4D8-BAE23057732C}"/>
              </a:ext>
            </a:extLst>
          </p:cNvPr>
          <p:cNvSpPr txBox="1"/>
          <p:nvPr/>
        </p:nvSpPr>
        <p:spPr>
          <a:xfrm>
            <a:off x="4403274" y="6068238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d</a:t>
            </a:r>
          </a:p>
        </p:txBody>
      </p:sp>
      <p:cxnSp>
        <p:nvCxnSpPr>
          <p:cNvPr id="16" name="15 Conector recto">
            <a:extLst>
              <a:ext uri="{FF2B5EF4-FFF2-40B4-BE49-F238E27FC236}">
                <a16:creationId xmlns:a16="http://schemas.microsoft.com/office/drawing/2014/main" id="{ADEDD3C9-039D-156D-B3BE-33697717EE36}"/>
              </a:ext>
            </a:extLst>
          </p:cNvPr>
          <p:cNvCxnSpPr/>
          <p:nvPr/>
        </p:nvCxnSpPr>
        <p:spPr>
          <a:xfrm flipH="1">
            <a:off x="4560692" y="4581128"/>
            <a:ext cx="1929" cy="1271192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56616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dirty="0"/>
              <a:t>Ejercicio 6 – 2-PAM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 dirty="0"/>
              <a:t>Abril 2024</a:t>
            </a: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Ing. Leonel E. Hochman</a:t>
            </a: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10</a:t>
            </a:fld>
            <a:endParaRPr lang="es-E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2 Marcador de contenido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algn="just">
                  <a:buFont typeface="Wingdings" pitchFamily="2" charset="2"/>
                  <a:buChar char="Ø"/>
                </a:pPr>
                <a:r>
                  <a:rPr lang="es-AR" sz="1800" dirty="0"/>
                  <a:t>Exprese la distancia en función de la energía de la constelación y reemplácela en la probabilidad de error. </a:t>
                </a:r>
              </a:p>
              <a:p>
                <a:pPr marL="0" indent="0" algn="just">
                  <a:buNone/>
                </a:pPr>
                <a:r>
                  <a:rPr lang="es-AR" sz="1800" dirty="0"/>
                  <a:t>	M =2; k = 1; </a:t>
                </a:r>
                <a:r>
                  <a:rPr lang="es-AR" sz="1800" dirty="0" err="1"/>
                  <a:t>R</a:t>
                </a:r>
                <a:r>
                  <a:rPr lang="es-AR" sz="1800" baseline="-25000" dirty="0" err="1"/>
                  <a:t>s</a:t>
                </a:r>
                <a:r>
                  <a:rPr lang="es-AR" sz="1800" dirty="0"/>
                  <a:t> = R</a:t>
                </a:r>
                <a:r>
                  <a:rPr lang="es-AR" sz="1800" baseline="-25000" dirty="0"/>
                  <a:t>b</a:t>
                </a:r>
                <a:r>
                  <a:rPr lang="es-AR" sz="1800" dirty="0"/>
                  <a:t> = 7200 </a:t>
                </a:r>
                <a:r>
                  <a:rPr lang="es-AR" sz="1800" dirty="0" err="1"/>
                  <a:t>kbaudios</a:t>
                </a:r>
                <a:r>
                  <a:rPr lang="es-AR" sz="1800" dirty="0"/>
                  <a:t>; </a:t>
                </a:r>
                <a:r>
                  <a:rPr lang="es-AR" sz="1800" dirty="0" err="1"/>
                  <a:t>T</a:t>
                </a:r>
                <a:r>
                  <a:rPr lang="es-AR" sz="1800" baseline="-25000" dirty="0" err="1"/>
                  <a:t>s</a:t>
                </a:r>
                <a:r>
                  <a:rPr lang="es-AR" sz="1800" dirty="0"/>
                  <a:t> = 1/</a:t>
                </a:r>
                <a:r>
                  <a:rPr lang="es-AR" sz="1800" dirty="0" err="1"/>
                  <a:t>R</a:t>
                </a:r>
                <a:r>
                  <a:rPr lang="es-AR" sz="1800" baseline="-25000" dirty="0" err="1"/>
                  <a:t>s</a:t>
                </a:r>
                <a:r>
                  <a:rPr lang="es-AR" sz="1800" dirty="0"/>
                  <a:t> = 138 </a:t>
                </a:r>
                <a:r>
                  <a:rPr lang="es-AR" sz="1800" dirty="0" err="1"/>
                  <a:t>nseg</a:t>
                </a:r>
                <a:endParaRPr lang="es-AR" sz="1800" dirty="0"/>
              </a:p>
              <a:p>
                <a:pPr algn="just">
                  <a:buFont typeface="Wingdings" pitchFamily="2" charset="2"/>
                  <a:buChar char="Ø"/>
                </a:pPr>
                <a:endParaRPr lang="es-AR" sz="1800" dirty="0"/>
              </a:p>
              <a:p>
                <a:pPr algn="just">
                  <a:buFont typeface="Wingdings" pitchFamily="2" charset="2"/>
                  <a:buChar char="Ø"/>
                </a:pPr>
                <a:r>
                  <a:rPr lang="es-AR" sz="1800" dirty="0"/>
                  <a:t>Relacione la probabilidad de error de símbolo, P</a:t>
                </a:r>
                <a:r>
                  <a:rPr lang="es-AR" sz="1800" baseline="-25000" dirty="0"/>
                  <a:t>e</a:t>
                </a:r>
                <a:r>
                  <a:rPr lang="es-AR" sz="1800" dirty="0"/>
                  <a:t>, con la probabilidad de error de bit, </a:t>
                </a:r>
                <a:r>
                  <a:rPr lang="es-AR" sz="1800" dirty="0" err="1"/>
                  <a:t>P</a:t>
                </a:r>
                <a:r>
                  <a:rPr lang="es-AR" sz="1800" baseline="-25000" dirty="0" err="1"/>
                  <a:t>eb</a:t>
                </a:r>
                <a:r>
                  <a:rPr lang="es-AR" sz="1800" dirty="0"/>
                  <a:t>. En general, si podemos etiquetar los símbolos según el código de Gray, la relación es </a:t>
                </a:r>
                <a:r>
                  <a:rPr lang="es-AR" sz="1800" dirty="0" err="1"/>
                  <a:t>P</a:t>
                </a:r>
                <a:r>
                  <a:rPr lang="es-AR" sz="1800" baseline="-25000" dirty="0" err="1"/>
                  <a:t>eb</a:t>
                </a:r>
                <a:r>
                  <a:rPr lang="es-AR" sz="1800" dirty="0"/>
                  <a:t> = Pe/k. ¿Por qué? En este caso, k = 1.</a:t>
                </a:r>
              </a:p>
              <a:p>
                <a:pPr algn="just">
                  <a:buFont typeface="Wingdings" pitchFamily="2" charset="2"/>
                  <a:buChar char="Ø"/>
                </a:pPr>
                <a:r>
                  <a:rPr lang="es-AR" sz="1800" dirty="0"/>
                  <a:t>Con la </a:t>
                </a:r>
                <a:r>
                  <a:rPr lang="es-AR" sz="1800" dirty="0" err="1"/>
                  <a:t>P</a:t>
                </a:r>
                <a:r>
                  <a:rPr lang="es-AR" sz="1800" baseline="-25000" dirty="0" err="1"/>
                  <a:t>eb</a:t>
                </a:r>
                <a:r>
                  <a:rPr lang="es-AR" sz="1800" dirty="0"/>
                  <a:t> objetivo del problema y la densidad de potencia de ruido, N</a:t>
                </a:r>
                <a:r>
                  <a:rPr lang="es-AR" sz="1800" baseline="-25000" dirty="0"/>
                  <a:t>0</a:t>
                </a:r>
                <a:r>
                  <a:rPr lang="es-AR" sz="1800" dirty="0"/>
                  <a:t>, obtenga la energía promedio de la constelación. Deberán utilizar la tabla de la función Q, que podrán encontrar en el Campus.</a:t>
                </a:r>
              </a:p>
              <a:p>
                <a:pPr algn="just">
                  <a:buFont typeface="Wingdings" pitchFamily="2" charset="2"/>
                  <a:buChar char="Ø"/>
                </a:pPr>
                <a:endParaRPr lang="es-AR" sz="1800" dirty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1800" b="0" i="1" smtClean="0">
                          <a:latin typeface="Cambria Math"/>
                        </a:rPr>
                        <m:t>𝑃𝑒𝑏</m:t>
                      </m:r>
                      <m:r>
                        <a:rPr lang="es-AR" sz="1800" b="0" i="1" smtClean="0">
                          <a:latin typeface="Cambria Math"/>
                        </a:rPr>
                        <m:t>=</m:t>
                      </m:r>
                      <m:r>
                        <a:rPr lang="es-AR" sz="1800" b="0" i="1" smtClean="0">
                          <a:latin typeface="Cambria Math"/>
                        </a:rPr>
                        <m:t>𝑃𝑒</m:t>
                      </m:r>
                      <m:r>
                        <a:rPr lang="es-AR" sz="1800" b="0" i="1" smtClean="0">
                          <a:latin typeface="Cambria Math"/>
                        </a:rPr>
                        <m:t>=</m:t>
                      </m:r>
                      <m:r>
                        <a:rPr lang="es-AR" sz="1800" b="0" i="1" smtClean="0">
                          <a:latin typeface="Cambria Math"/>
                        </a:rPr>
                        <m:t>𝑄</m:t>
                      </m:r>
                      <m:d>
                        <m:dPr>
                          <m:ctrlPr>
                            <a:rPr lang="es-AR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ad>
                            <m:radPr>
                              <m:degHide m:val="on"/>
                              <m:ctrlPr>
                                <a:rPr lang="es-AR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s-AR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s-AR" sz="1800" b="0" i="1" smtClean="0">
                                      <a:latin typeface="Cambria Math"/>
                                    </a:rPr>
                                    <m:t>2.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l-GR" sz="1800" b="0" i="1" smtClean="0">
                                      <a:latin typeface="Cambria Math"/>
                                      <a:ea typeface="Cambria Math"/>
                                    </a:rPr>
                                    <m:t>ε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s-AR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AR" sz="1800" b="0" i="1" smtClean="0">
                                          <a:latin typeface="Cambria Math"/>
                                        </a:rPr>
                                        <m:t>𝑁</m:t>
                                      </m:r>
                                    </m:e>
                                    <m:sub>
                                      <m:r>
                                        <a:rPr lang="es-AR" sz="1800" b="0" i="1" smtClean="0">
                                          <a:latin typeface="Cambria Math"/>
                                        </a:rPr>
                                        <m:t>0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rad>
                        </m:e>
                      </m:d>
                      <m:r>
                        <a:rPr lang="es-AR" sz="1800" b="0" i="1" smtClean="0">
                          <a:latin typeface="Cambria Math"/>
                          <a:ea typeface="Cambria Math"/>
                        </a:rPr>
                        <m:t>≤</m:t>
                      </m:r>
                      <m:sSup>
                        <m:sSupPr>
                          <m:ctrlPr>
                            <a:rPr lang="es-AR" sz="1800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s-AR" sz="1800" b="0" i="1" smtClean="0">
                              <a:latin typeface="Cambria Math"/>
                              <a:ea typeface="Cambria Math"/>
                            </a:rPr>
                            <m:t>10</m:t>
                          </m:r>
                        </m:e>
                        <m:sup>
                          <m:r>
                            <a:rPr lang="es-AR" sz="1800" b="0" i="1" smtClean="0">
                              <a:latin typeface="Cambria Math"/>
                              <a:ea typeface="Cambria Math"/>
                            </a:rPr>
                            <m:t>−4</m:t>
                          </m:r>
                        </m:sup>
                      </m:sSup>
                      <m:r>
                        <a:rPr lang="es-AR" sz="1800" b="0" i="1" smtClean="0">
                          <a:latin typeface="Cambria Math"/>
                          <a:ea typeface="Cambria Math"/>
                        </a:rPr>
                        <m:t>→</m:t>
                      </m:r>
                      <m:r>
                        <m:rPr>
                          <m:sty m:val="p"/>
                        </m:rPr>
                        <a:rPr lang="el-GR" sz="1800" i="1">
                          <a:latin typeface="Cambria Math"/>
                          <a:ea typeface="Cambria Math"/>
                        </a:rPr>
                        <m:t>ε</m:t>
                      </m:r>
                      <m:r>
                        <a:rPr lang="es-AR" sz="1800" b="0" i="1" smtClean="0">
                          <a:latin typeface="Cambria Math"/>
                          <a:ea typeface="Cambria Math"/>
                        </a:rPr>
                        <m:t>≥</m:t>
                      </m:r>
                      <m:r>
                        <a:rPr lang="es-AR" sz="1800" b="0" i="1" smtClean="0">
                          <a:latin typeface="Cambria Math" panose="02040503050406030204" pitchFamily="18" charset="0"/>
                          <a:ea typeface="Cambria Math"/>
                        </a:rPr>
                        <m:t>1,37.</m:t>
                      </m:r>
                      <m:sSup>
                        <m:sSupPr>
                          <m:ctrlPr>
                            <a:rPr lang="es-AR" sz="1800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s-AR" sz="1800" b="0" i="1" smtClean="0">
                              <a:latin typeface="Cambria Math" panose="02040503050406030204" pitchFamily="18" charset="0"/>
                              <a:ea typeface="Cambria Math"/>
                            </a:rPr>
                            <m:t>10</m:t>
                          </m:r>
                        </m:e>
                        <m:sup>
                          <m:r>
                            <a:rPr lang="es-AR" sz="1800" b="0" i="1" smtClean="0">
                              <a:latin typeface="Cambria Math" panose="02040503050406030204" pitchFamily="18" charset="0"/>
                              <a:ea typeface="Cambria Math"/>
                            </a:rPr>
                            <m:t>−9</m:t>
                          </m:r>
                        </m:sup>
                      </m:sSup>
                      <m:r>
                        <a:rPr lang="es-AR" sz="1800" b="0" i="1" smtClean="0">
                          <a:latin typeface="Cambria Math" panose="02040503050406030204" pitchFamily="18" charset="0"/>
                          <a:ea typeface="Cambria Math"/>
                        </a:rPr>
                        <m:t>𝐽𝑜𝑢𝑙𝑒𝑠</m:t>
                      </m:r>
                    </m:oMath>
                  </m:oMathPara>
                </a14:m>
                <a:endParaRPr lang="es-AR" sz="1800" dirty="0"/>
              </a:p>
              <a:p>
                <a:pPr algn="just">
                  <a:buFont typeface="Wingdings" pitchFamily="2" charset="2"/>
                  <a:buChar char="Ø"/>
                </a:pPr>
                <a:endParaRPr lang="es-AR" sz="1800" dirty="0"/>
              </a:p>
              <a:p>
                <a:pPr algn="just">
                  <a:buFont typeface="Wingdings" pitchFamily="2" charset="2"/>
                  <a:buChar char="Ø"/>
                </a:pPr>
                <a:r>
                  <a:rPr lang="es-AR" sz="1800" dirty="0"/>
                  <a:t>Calcule la potencia necesaria a la entrada del receptor:</a:t>
                </a:r>
              </a:p>
              <a:p>
                <a:pPr marL="0" indent="0" algn="ctr">
                  <a:buNone/>
                </a:pPr>
                <a:endParaRPr lang="es-AR" sz="1800" dirty="0"/>
              </a:p>
              <a:p>
                <a:pPr marL="0" indent="0" algn="ctr">
                  <a:buNone/>
                </a:pPr>
                <a:r>
                  <a:rPr lang="es-AR" sz="1800" dirty="0" err="1"/>
                  <a:t>P</a:t>
                </a:r>
                <a:r>
                  <a:rPr lang="es-AR" sz="1800" baseline="-25000" dirty="0" err="1"/>
                  <a:t>Rx</a:t>
                </a:r>
                <a:r>
                  <a:rPr lang="es-AR" sz="1800" dirty="0"/>
                  <a:t> = </a:t>
                </a:r>
                <a:r>
                  <a:rPr lang="el-GR" sz="1800" dirty="0"/>
                  <a:t>ε</a:t>
                </a:r>
                <a:r>
                  <a:rPr lang="es-AR" sz="1800" dirty="0"/>
                  <a:t> / </a:t>
                </a:r>
                <a:r>
                  <a:rPr lang="es-AR" sz="1800" baseline="-25000" dirty="0" err="1"/>
                  <a:t>Ts</a:t>
                </a:r>
                <a:r>
                  <a:rPr lang="es-AR" sz="1800" baseline="-25000" dirty="0"/>
                  <a:t> </a:t>
                </a:r>
                <a:r>
                  <a:rPr lang="es-AR" sz="1800" dirty="0"/>
                  <a:t>= 10 </a:t>
                </a:r>
                <a:r>
                  <a:rPr lang="es-AR" sz="1800" dirty="0" err="1"/>
                  <a:t>mW</a:t>
                </a:r>
                <a:endParaRPr lang="es-AR" sz="1800" dirty="0"/>
              </a:p>
            </p:txBody>
          </p:sp>
        </mc:Choice>
        <mc:Fallback>
          <p:sp>
            <p:nvSpPr>
              <p:cNvPr id="8" name="2 Marcador de contenido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t="-1235" r="-444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10 CuadroTexto">
            <a:extLst>
              <a:ext uri="{FF2B5EF4-FFF2-40B4-BE49-F238E27FC236}">
                <a16:creationId xmlns:a16="http://schemas.microsoft.com/office/drawing/2014/main" id="{79F6DF3D-7B31-1279-F79B-1BF3B276489F}"/>
              </a:ext>
            </a:extLst>
          </p:cNvPr>
          <p:cNvSpPr txBox="1"/>
          <p:nvPr/>
        </p:nvSpPr>
        <p:spPr>
          <a:xfrm>
            <a:off x="237818" y="3958604"/>
            <a:ext cx="123783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AR" dirty="0"/>
              <a:t>d = 2.(ε)</a:t>
            </a:r>
            <a:r>
              <a:rPr lang="es-AR" baseline="30000" dirty="0"/>
              <a:t>1/2</a:t>
            </a:r>
          </a:p>
          <a:p>
            <a:pPr algn="ctr"/>
            <a:endParaRPr lang="es-AR" dirty="0"/>
          </a:p>
          <a:p>
            <a:pPr algn="ctr"/>
            <a:r>
              <a:rPr lang="el-GR" dirty="0"/>
              <a:t>σ</a:t>
            </a:r>
            <a:r>
              <a:rPr lang="es-AR" baseline="30000" dirty="0"/>
              <a:t>2</a:t>
            </a:r>
            <a:r>
              <a:rPr lang="es-AR" dirty="0"/>
              <a:t> = N</a:t>
            </a:r>
            <a:r>
              <a:rPr lang="es-AR" baseline="-25000" dirty="0"/>
              <a:t>0 </a:t>
            </a:r>
            <a:r>
              <a:rPr lang="es-AR" dirty="0"/>
              <a:t>/ 2</a:t>
            </a:r>
          </a:p>
        </p:txBody>
      </p:sp>
      <p:cxnSp>
        <p:nvCxnSpPr>
          <p:cNvPr id="10" name="9 Conector recto de flecha">
            <a:extLst>
              <a:ext uri="{FF2B5EF4-FFF2-40B4-BE49-F238E27FC236}">
                <a16:creationId xmlns:a16="http://schemas.microsoft.com/office/drawing/2014/main" id="{70191D37-FDF1-FD27-9654-A3C8BDC2328E}"/>
              </a:ext>
            </a:extLst>
          </p:cNvPr>
          <p:cNvCxnSpPr>
            <a:cxnSpLocks/>
          </p:cNvCxnSpPr>
          <p:nvPr/>
        </p:nvCxnSpPr>
        <p:spPr>
          <a:xfrm>
            <a:off x="1403648" y="4365104"/>
            <a:ext cx="36004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26352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dirty="0"/>
              <a:t>Ejercicio 8 – Una QAM diferente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 dirty="0"/>
              <a:t>Abril 2024</a:t>
            </a: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Ing. Leonel E. Hochman</a:t>
            </a: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11</a:t>
            </a:fld>
            <a:endParaRPr lang="es-ES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BAF7B327-7EAD-CD5E-8133-1C549DC80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784" y="1324808"/>
            <a:ext cx="7030431" cy="4696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5956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DA07D0-EB92-12FC-48EC-C450550CB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>
            <a:extLst>
              <a:ext uri="{FF2B5EF4-FFF2-40B4-BE49-F238E27FC236}">
                <a16:creationId xmlns:a16="http://schemas.microsoft.com/office/drawing/2014/main" id="{D6B9EAD4-063D-A574-7AB6-73B197289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dirty="0"/>
              <a:t>Ejercicio 8 – Una QAM diferente</a:t>
            </a:r>
          </a:p>
        </p:txBody>
      </p:sp>
      <p:sp>
        <p:nvSpPr>
          <p:cNvPr id="3" name="2 Marcador de contenido">
            <a:extLst>
              <a:ext uri="{FF2B5EF4-FFF2-40B4-BE49-F238E27FC236}">
                <a16:creationId xmlns:a16="http://schemas.microsoft.com/office/drawing/2014/main" id="{F5F9CC15-140F-E484-8708-DD490A5FA28C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342900" indent="-342900" algn="just">
              <a:buFont typeface="+mj-lt"/>
              <a:buAutoNum type="arabicParenR"/>
            </a:pPr>
            <a:r>
              <a:rPr lang="es-AR" sz="1800" dirty="0"/>
              <a:t>Obtenga las fronteras de decisión entre cada par de símbolos, demarcando la mediatriz al segmento que los une.</a:t>
            </a:r>
          </a:p>
          <a:p>
            <a:pPr marL="342900" indent="-342900" algn="just">
              <a:buFont typeface="+mj-lt"/>
              <a:buAutoNum type="arabicParenR" startAt="2"/>
            </a:pPr>
            <a:r>
              <a:rPr lang="es-AR" sz="1800" dirty="0"/>
              <a:t>Aplique el código de Gray entre símbolos que comparten fronteras de decisión.</a:t>
            </a:r>
          </a:p>
          <a:p>
            <a:pPr marL="342900" indent="-342900" algn="just">
              <a:buFont typeface="+mj-lt"/>
              <a:buAutoNum type="arabicParenR" startAt="2"/>
            </a:pPr>
            <a:endParaRPr lang="es-AR" sz="1800" dirty="0"/>
          </a:p>
          <a:p>
            <a:pPr marL="0" indent="0" algn="just">
              <a:buNone/>
            </a:pPr>
            <a:endParaRPr lang="es-AR" sz="1800" dirty="0"/>
          </a:p>
          <a:p>
            <a:pPr algn="just"/>
            <a:endParaRPr lang="es-AR" sz="1800" dirty="0"/>
          </a:p>
        </p:txBody>
      </p:sp>
      <p:sp>
        <p:nvSpPr>
          <p:cNvPr id="4" name="3 Marcador de fecha">
            <a:extLst>
              <a:ext uri="{FF2B5EF4-FFF2-40B4-BE49-F238E27FC236}">
                <a16:creationId xmlns:a16="http://schemas.microsoft.com/office/drawing/2014/main" id="{BBC23F28-A7B0-74AD-32F5-6646124EA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 dirty="0"/>
              <a:t>Abril 2024</a:t>
            </a:r>
          </a:p>
        </p:txBody>
      </p:sp>
      <p:sp>
        <p:nvSpPr>
          <p:cNvPr id="5" name="4 Marcador de pie de página">
            <a:extLst>
              <a:ext uri="{FF2B5EF4-FFF2-40B4-BE49-F238E27FC236}">
                <a16:creationId xmlns:a16="http://schemas.microsoft.com/office/drawing/2014/main" id="{19F01EDD-5E6B-5214-99AD-609C0FAB3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Ing. Leonel E. Hochman</a:t>
            </a:r>
          </a:p>
        </p:txBody>
      </p:sp>
      <p:sp>
        <p:nvSpPr>
          <p:cNvPr id="6" name="5 Marcador de número de diapositiva">
            <a:extLst>
              <a:ext uri="{FF2B5EF4-FFF2-40B4-BE49-F238E27FC236}">
                <a16:creationId xmlns:a16="http://schemas.microsoft.com/office/drawing/2014/main" id="{3D51F2C2-F55E-FE74-09B3-D940E4A9C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12</a:t>
            </a:fld>
            <a:endParaRPr lang="es-ES"/>
          </a:p>
        </p:txBody>
      </p:sp>
      <p:grpSp>
        <p:nvGrpSpPr>
          <p:cNvPr id="30" name="29 Grupo">
            <a:extLst>
              <a:ext uri="{FF2B5EF4-FFF2-40B4-BE49-F238E27FC236}">
                <a16:creationId xmlns:a16="http://schemas.microsoft.com/office/drawing/2014/main" id="{111FE02A-876F-78FB-A791-12C4E668F853}"/>
              </a:ext>
            </a:extLst>
          </p:cNvPr>
          <p:cNvGrpSpPr/>
          <p:nvPr/>
        </p:nvGrpSpPr>
        <p:grpSpPr>
          <a:xfrm>
            <a:off x="2483767" y="2276872"/>
            <a:ext cx="4176466" cy="4016464"/>
            <a:chOff x="2483767" y="2276872"/>
            <a:chExt cx="4176466" cy="4016464"/>
          </a:xfrm>
        </p:grpSpPr>
        <p:pic>
          <p:nvPicPr>
            <p:cNvPr id="2050" name="Picture 2">
              <a:extLst>
                <a:ext uri="{FF2B5EF4-FFF2-40B4-BE49-F238E27FC236}">
                  <a16:creationId xmlns:a16="http://schemas.microsoft.com/office/drawing/2014/main" id="{716649E6-CEF1-F653-85FD-A36FB8E6FDB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857" t="26077" r="29722" b="9914"/>
            <a:stretch/>
          </p:blipFill>
          <p:spPr bwMode="auto">
            <a:xfrm>
              <a:off x="2483767" y="2276872"/>
              <a:ext cx="4176466" cy="40164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grpSp>
          <p:nvGrpSpPr>
            <p:cNvPr id="21" name="20 Grupo">
              <a:extLst>
                <a:ext uri="{FF2B5EF4-FFF2-40B4-BE49-F238E27FC236}">
                  <a16:creationId xmlns:a16="http://schemas.microsoft.com/office/drawing/2014/main" id="{00447F16-F7B5-FF77-8D7F-DF7FF1E8E7AE}"/>
                </a:ext>
              </a:extLst>
            </p:cNvPr>
            <p:cNvGrpSpPr/>
            <p:nvPr/>
          </p:nvGrpSpPr>
          <p:grpSpPr>
            <a:xfrm rot="5400000">
              <a:off x="4286463" y="3895796"/>
              <a:ext cx="1112132" cy="563364"/>
              <a:chOff x="4008636" y="3645024"/>
              <a:chExt cx="1112132" cy="563364"/>
            </a:xfrm>
          </p:grpSpPr>
          <p:cxnSp>
            <p:nvCxnSpPr>
              <p:cNvPr id="8" name="7 Conector recto">
                <a:extLst>
                  <a:ext uri="{FF2B5EF4-FFF2-40B4-BE49-F238E27FC236}">
                    <a16:creationId xmlns:a16="http://schemas.microsoft.com/office/drawing/2014/main" id="{9B7D3A05-12E0-6D51-BA3E-00C0BBDE43E6}"/>
                  </a:ext>
                </a:extLst>
              </p:cNvPr>
              <p:cNvCxnSpPr/>
              <p:nvPr/>
            </p:nvCxnSpPr>
            <p:spPr>
              <a:xfrm flipV="1">
                <a:off x="4572000" y="3645024"/>
                <a:ext cx="548768" cy="548768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10 Conector recto">
                <a:extLst>
                  <a:ext uri="{FF2B5EF4-FFF2-40B4-BE49-F238E27FC236}">
                    <a16:creationId xmlns:a16="http://schemas.microsoft.com/office/drawing/2014/main" id="{25EA0C09-B346-C997-5406-C17A9648EFCA}"/>
                  </a:ext>
                </a:extLst>
              </p:cNvPr>
              <p:cNvCxnSpPr/>
              <p:nvPr/>
            </p:nvCxnSpPr>
            <p:spPr>
              <a:xfrm>
                <a:off x="4099694" y="3736082"/>
                <a:ext cx="936104" cy="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13 Conector recto">
                <a:extLst>
                  <a:ext uri="{FF2B5EF4-FFF2-40B4-BE49-F238E27FC236}">
                    <a16:creationId xmlns:a16="http://schemas.microsoft.com/office/drawing/2014/main" id="{690BDBF6-9BC5-2F0C-D0C6-055B0C2182DC}"/>
                  </a:ext>
                </a:extLst>
              </p:cNvPr>
              <p:cNvCxnSpPr/>
              <p:nvPr/>
            </p:nvCxnSpPr>
            <p:spPr>
              <a:xfrm flipH="1" flipV="1">
                <a:off x="4008636" y="3645024"/>
                <a:ext cx="563364" cy="563364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2106990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8C715F-1BF3-3E57-E776-04DEA3609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>
            <a:extLst>
              <a:ext uri="{FF2B5EF4-FFF2-40B4-BE49-F238E27FC236}">
                <a16:creationId xmlns:a16="http://schemas.microsoft.com/office/drawing/2014/main" id="{3EA3AE65-DAD2-53F1-C352-A4BB18DE3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dirty="0"/>
              <a:t>Ejercicio 8 – Una QAM diferente</a:t>
            </a:r>
          </a:p>
        </p:txBody>
      </p:sp>
      <p:sp>
        <p:nvSpPr>
          <p:cNvPr id="3" name="2 Marcador de contenido">
            <a:extLst>
              <a:ext uri="{FF2B5EF4-FFF2-40B4-BE49-F238E27FC236}">
                <a16:creationId xmlns:a16="http://schemas.microsoft.com/office/drawing/2014/main" id="{A3327DB5-FED9-2452-6D58-663BE06DA2AA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endParaRPr lang="es-AR" sz="1800" dirty="0"/>
          </a:p>
          <a:p>
            <a:pPr marL="0" indent="0" algn="just">
              <a:buNone/>
            </a:pPr>
            <a:endParaRPr lang="es-AR" sz="1800" dirty="0"/>
          </a:p>
          <a:p>
            <a:pPr algn="just"/>
            <a:endParaRPr lang="es-AR" sz="1800" dirty="0"/>
          </a:p>
        </p:txBody>
      </p:sp>
      <p:sp>
        <p:nvSpPr>
          <p:cNvPr id="4" name="3 Marcador de fecha">
            <a:extLst>
              <a:ext uri="{FF2B5EF4-FFF2-40B4-BE49-F238E27FC236}">
                <a16:creationId xmlns:a16="http://schemas.microsoft.com/office/drawing/2014/main" id="{A8F80CD2-93D5-6C73-9FEB-5D48532ED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 dirty="0"/>
              <a:t>Abril 2024</a:t>
            </a:r>
          </a:p>
        </p:txBody>
      </p:sp>
      <p:sp>
        <p:nvSpPr>
          <p:cNvPr id="5" name="4 Marcador de pie de página">
            <a:extLst>
              <a:ext uri="{FF2B5EF4-FFF2-40B4-BE49-F238E27FC236}">
                <a16:creationId xmlns:a16="http://schemas.microsoft.com/office/drawing/2014/main" id="{5658A967-58A4-DCD3-7C99-AC37693D8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Ing. Leonel E. Hochman</a:t>
            </a:r>
          </a:p>
        </p:txBody>
      </p:sp>
      <p:sp>
        <p:nvSpPr>
          <p:cNvPr id="6" name="5 Marcador de número de diapositiva">
            <a:extLst>
              <a:ext uri="{FF2B5EF4-FFF2-40B4-BE49-F238E27FC236}">
                <a16:creationId xmlns:a16="http://schemas.microsoft.com/office/drawing/2014/main" id="{BF0DF4A8-0E05-162D-B58B-1D7B31FE0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13</a:t>
            </a:fld>
            <a:endParaRPr lang="es-ES"/>
          </a:p>
        </p:txBody>
      </p:sp>
      <p:grpSp>
        <p:nvGrpSpPr>
          <p:cNvPr id="2052" name="Grupo 2051">
            <a:extLst>
              <a:ext uri="{FF2B5EF4-FFF2-40B4-BE49-F238E27FC236}">
                <a16:creationId xmlns:a16="http://schemas.microsoft.com/office/drawing/2014/main" id="{7AAF9676-1C91-13F4-B74F-8A10C653697F}"/>
              </a:ext>
            </a:extLst>
          </p:cNvPr>
          <p:cNvGrpSpPr/>
          <p:nvPr/>
        </p:nvGrpSpPr>
        <p:grpSpPr>
          <a:xfrm>
            <a:off x="1188798" y="1700808"/>
            <a:ext cx="6407538" cy="4016464"/>
            <a:chOff x="252695" y="2276872"/>
            <a:chExt cx="6407538" cy="4016464"/>
          </a:xfrm>
        </p:grpSpPr>
        <p:pic>
          <p:nvPicPr>
            <p:cNvPr id="2050" name="Picture 2">
              <a:extLst>
                <a:ext uri="{FF2B5EF4-FFF2-40B4-BE49-F238E27FC236}">
                  <a16:creationId xmlns:a16="http://schemas.microsoft.com/office/drawing/2014/main" id="{1D1B3C8B-040F-ABE3-4B3A-8D72D60BFCA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857" t="26077" r="29722" b="9914"/>
            <a:stretch/>
          </p:blipFill>
          <p:spPr bwMode="auto">
            <a:xfrm>
              <a:off x="2483767" y="2276872"/>
              <a:ext cx="4176466" cy="40164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0" name="19 CuadroTexto">
              <a:extLst>
                <a:ext uri="{FF2B5EF4-FFF2-40B4-BE49-F238E27FC236}">
                  <a16:creationId xmlns:a16="http://schemas.microsoft.com/office/drawing/2014/main" id="{C8A12A6C-2710-9DB3-FF96-2FD154327C0D}"/>
                </a:ext>
              </a:extLst>
            </p:cNvPr>
            <p:cNvSpPr txBox="1"/>
            <p:nvPr/>
          </p:nvSpPr>
          <p:spPr>
            <a:xfrm>
              <a:off x="4672076" y="4221088"/>
              <a:ext cx="41549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AR" sz="800" dirty="0"/>
                <a:t>0000</a:t>
              </a:r>
            </a:p>
          </p:txBody>
        </p:sp>
        <p:sp>
          <p:nvSpPr>
            <p:cNvPr id="22" name="21 CuadroTexto">
              <a:extLst>
                <a:ext uri="{FF2B5EF4-FFF2-40B4-BE49-F238E27FC236}">
                  <a16:creationId xmlns:a16="http://schemas.microsoft.com/office/drawing/2014/main" id="{3E1EF6BE-388B-A56F-B2D8-FCDD9008C1D1}"/>
                </a:ext>
              </a:extLst>
            </p:cNvPr>
            <p:cNvSpPr txBox="1"/>
            <p:nvPr/>
          </p:nvSpPr>
          <p:spPr>
            <a:xfrm>
              <a:off x="5140437" y="4221088"/>
              <a:ext cx="41549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AR" sz="800" dirty="0"/>
                <a:t>0001</a:t>
              </a:r>
            </a:p>
          </p:txBody>
        </p:sp>
        <p:sp>
          <p:nvSpPr>
            <p:cNvPr id="23" name="22 CuadroTexto">
              <a:extLst>
                <a:ext uri="{FF2B5EF4-FFF2-40B4-BE49-F238E27FC236}">
                  <a16:creationId xmlns:a16="http://schemas.microsoft.com/office/drawing/2014/main" id="{D7638BF1-4561-2EEC-B4CF-30A5D711EF46}"/>
                </a:ext>
              </a:extLst>
            </p:cNvPr>
            <p:cNvSpPr txBox="1"/>
            <p:nvPr/>
          </p:nvSpPr>
          <p:spPr>
            <a:xfrm>
              <a:off x="4206393" y="3784029"/>
              <a:ext cx="41549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AR" sz="800" dirty="0"/>
                <a:t>0100</a:t>
              </a:r>
            </a:p>
          </p:txBody>
        </p:sp>
        <p:sp>
          <p:nvSpPr>
            <p:cNvPr id="26" name="25 CuadroTexto">
              <a:extLst>
                <a:ext uri="{FF2B5EF4-FFF2-40B4-BE49-F238E27FC236}">
                  <a16:creationId xmlns:a16="http://schemas.microsoft.com/office/drawing/2014/main" id="{3607DCAC-336D-97EF-CD2A-4C2AA12D48E5}"/>
                </a:ext>
              </a:extLst>
            </p:cNvPr>
            <p:cNvSpPr txBox="1"/>
            <p:nvPr/>
          </p:nvSpPr>
          <p:spPr>
            <a:xfrm>
              <a:off x="252695" y="4733544"/>
              <a:ext cx="2232248" cy="646331"/>
            </a:xfrm>
            <a:prstGeom prst="rect">
              <a:avLst/>
            </a:prstGeom>
            <a:solidFill>
              <a:schemeClr val="bg2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s-AR" sz="1200" dirty="0"/>
                <a:t>Observen que los dos primeros bits identifican el semieje.</a:t>
              </a:r>
            </a:p>
          </p:txBody>
        </p:sp>
        <p:cxnSp>
          <p:nvCxnSpPr>
            <p:cNvPr id="28" name="27 Conector recto de flecha">
              <a:extLst>
                <a:ext uri="{FF2B5EF4-FFF2-40B4-BE49-F238E27FC236}">
                  <a16:creationId xmlns:a16="http://schemas.microsoft.com/office/drawing/2014/main" id="{9D6DB7E6-A2C5-57FC-994B-467BFF17AF6E}"/>
                </a:ext>
              </a:extLst>
            </p:cNvPr>
            <p:cNvCxnSpPr>
              <a:stCxn id="26" idx="3"/>
            </p:cNvCxnSpPr>
            <p:nvPr/>
          </p:nvCxnSpPr>
          <p:spPr>
            <a:xfrm flipV="1">
              <a:off x="2484943" y="4520532"/>
              <a:ext cx="1527543" cy="53617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7" name="Grupo 36">
              <a:extLst>
                <a:ext uri="{FF2B5EF4-FFF2-40B4-BE49-F238E27FC236}">
                  <a16:creationId xmlns:a16="http://schemas.microsoft.com/office/drawing/2014/main" id="{889A1347-580B-F363-C731-0511CCB2487D}"/>
                </a:ext>
              </a:extLst>
            </p:cNvPr>
            <p:cNvGrpSpPr/>
            <p:nvPr/>
          </p:nvGrpSpPr>
          <p:grpSpPr>
            <a:xfrm>
              <a:off x="4560847" y="2492896"/>
              <a:ext cx="1691880" cy="3369164"/>
              <a:chOff x="4560847" y="2492896"/>
              <a:chExt cx="1691880" cy="3369164"/>
            </a:xfrm>
          </p:grpSpPr>
          <p:cxnSp>
            <p:nvCxnSpPr>
              <p:cNvPr id="8" name="7 Conector recto">
                <a:extLst>
                  <a:ext uri="{FF2B5EF4-FFF2-40B4-BE49-F238E27FC236}">
                    <a16:creationId xmlns:a16="http://schemas.microsoft.com/office/drawing/2014/main" id="{166BA048-4956-D939-49FD-46415F740C9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75443" y="4184776"/>
                <a:ext cx="1677284" cy="1677284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10 Conector recto">
                <a:extLst>
                  <a:ext uri="{FF2B5EF4-FFF2-40B4-BE49-F238E27FC236}">
                    <a16:creationId xmlns:a16="http://schemas.microsoft.com/office/drawing/2014/main" id="{708C9306-4998-D874-BF2F-40A2FC02366B}"/>
                  </a:ext>
                </a:extLst>
              </p:cNvPr>
              <p:cNvCxnSpPr/>
              <p:nvPr/>
            </p:nvCxnSpPr>
            <p:spPr>
              <a:xfrm rot="5400000">
                <a:off x="4565101" y="4180522"/>
                <a:ext cx="936104" cy="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13 Conector recto">
                <a:extLst>
                  <a:ext uri="{FF2B5EF4-FFF2-40B4-BE49-F238E27FC236}">
                    <a16:creationId xmlns:a16="http://schemas.microsoft.com/office/drawing/2014/main" id="{79E84DD4-B024-F6AC-729E-F4ED2FAB467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560847" y="2492896"/>
                <a:ext cx="1691880" cy="169188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10 Conector recto">
                <a:extLst>
                  <a:ext uri="{FF2B5EF4-FFF2-40B4-BE49-F238E27FC236}">
                    <a16:creationId xmlns:a16="http://schemas.microsoft.com/office/drawing/2014/main" id="{C559D86D-5DAA-3D7F-B519-D116512F8F1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36096" y="3284984"/>
                <a:ext cx="0" cy="1762096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10 Conector recto">
                <a:extLst>
                  <a:ext uri="{FF2B5EF4-FFF2-40B4-BE49-F238E27FC236}">
                    <a16:creationId xmlns:a16="http://schemas.microsoft.com/office/drawing/2014/main" id="{FC53867E-77D7-0EBD-2C62-3D6CA4A57D3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77670" y="2852936"/>
                <a:ext cx="0" cy="2635718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7" name="21 CuadroTexto">
              <a:extLst>
                <a:ext uri="{FF2B5EF4-FFF2-40B4-BE49-F238E27FC236}">
                  <a16:creationId xmlns:a16="http://schemas.microsoft.com/office/drawing/2014/main" id="{32B6B2D5-4C56-E5AD-51BA-39A3E414FAAF}"/>
                </a:ext>
              </a:extLst>
            </p:cNvPr>
            <p:cNvSpPr txBox="1"/>
            <p:nvPr/>
          </p:nvSpPr>
          <p:spPr>
            <a:xfrm>
              <a:off x="5580112" y="4221088"/>
              <a:ext cx="38985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AR" sz="800" dirty="0"/>
                <a:t>0011</a:t>
              </a:r>
            </a:p>
          </p:txBody>
        </p:sp>
        <p:sp>
          <p:nvSpPr>
            <p:cNvPr id="18" name="21 CuadroTexto">
              <a:extLst>
                <a:ext uri="{FF2B5EF4-FFF2-40B4-BE49-F238E27FC236}">
                  <a16:creationId xmlns:a16="http://schemas.microsoft.com/office/drawing/2014/main" id="{03042A86-0F4A-375F-BFBC-BB7E2BF48A91}"/>
                </a:ext>
              </a:extLst>
            </p:cNvPr>
            <p:cNvSpPr txBox="1"/>
            <p:nvPr/>
          </p:nvSpPr>
          <p:spPr>
            <a:xfrm>
              <a:off x="5982350" y="4221668"/>
              <a:ext cx="38985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AR" sz="800" dirty="0"/>
                <a:t>0010</a:t>
              </a:r>
            </a:p>
          </p:txBody>
        </p:sp>
        <p:grpSp>
          <p:nvGrpSpPr>
            <p:cNvPr id="38" name="Grupo 37">
              <a:extLst>
                <a:ext uri="{FF2B5EF4-FFF2-40B4-BE49-F238E27FC236}">
                  <a16:creationId xmlns:a16="http://schemas.microsoft.com/office/drawing/2014/main" id="{F4E0E373-8358-4A69-CC05-4FC7F9C6FF33}"/>
                </a:ext>
              </a:extLst>
            </p:cNvPr>
            <p:cNvGrpSpPr/>
            <p:nvPr/>
          </p:nvGrpSpPr>
          <p:grpSpPr>
            <a:xfrm rot="16200000">
              <a:off x="3725220" y="1647904"/>
              <a:ext cx="1691880" cy="3369164"/>
              <a:chOff x="4560847" y="2492896"/>
              <a:chExt cx="1691880" cy="3369164"/>
            </a:xfrm>
          </p:grpSpPr>
          <p:cxnSp>
            <p:nvCxnSpPr>
              <p:cNvPr id="39" name="7 Conector recto">
                <a:extLst>
                  <a:ext uri="{FF2B5EF4-FFF2-40B4-BE49-F238E27FC236}">
                    <a16:creationId xmlns:a16="http://schemas.microsoft.com/office/drawing/2014/main" id="{4156F185-8EF1-0CFD-115C-ECC7D33E797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75443" y="4184776"/>
                <a:ext cx="1677284" cy="1677284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10 Conector recto">
                <a:extLst>
                  <a:ext uri="{FF2B5EF4-FFF2-40B4-BE49-F238E27FC236}">
                    <a16:creationId xmlns:a16="http://schemas.microsoft.com/office/drawing/2014/main" id="{819F5AD7-599A-3948-2EDB-96A247ECA77A}"/>
                  </a:ext>
                </a:extLst>
              </p:cNvPr>
              <p:cNvCxnSpPr/>
              <p:nvPr/>
            </p:nvCxnSpPr>
            <p:spPr>
              <a:xfrm rot="5400000">
                <a:off x="4565101" y="4180522"/>
                <a:ext cx="936104" cy="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13 Conector recto">
                <a:extLst>
                  <a:ext uri="{FF2B5EF4-FFF2-40B4-BE49-F238E27FC236}">
                    <a16:creationId xmlns:a16="http://schemas.microsoft.com/office/drawing/2014/main" id="{342D0753-3D12-6A33-F6D7-0A62B1688A6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560847" y="2492896"/>
                <a:ext cx="1691880" cy="169188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10 Conector recto">
                <a:extLst>
                  <a:ext uri="{FF2B5EF4-FFF2-40B4-BE49-F238E27FC236}">
                    <a16:creationId xmlns:a16="http://schemas.microsoft.com/office/drawing/2014/main" id="{BB123292-605C-2B16-C131-5B011A7322E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36096" y="3284984"/>
                <a:ext cx="0" cy="1762096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10 Conector recto">
                <a:extLst>
                  <a:ext uri="{FF2B5EF4-FFF2-40B4-BE49-F238E27FC236}">
                    <a16:creationId xmlns:a16="http://schemas.microsoft.com/office/drawing/2014/main" id="{BA5B07D0-94C5-A800-3436-74E4329A430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77670" y="2852936"/>
                <a:ext cx="0" cy="2635718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4" name="Grupo 43">
              <a:extLst>
                <a:ext uri="{FF2B5EF4-FFF2-40B4-BE49-F238E27FC236}">
                  <a16:creationId xmlns:a16="http://schemas.microsoft.com/office/drawing/2014/main" id="{4491FCBE-07DE-74AE-DF31-5FED0A41FCCD}"/>
                </a:ext>
              </a:extLst>
            </p:cNvPr>
            <p:cNvGrpSpPr/>
            <p:nvPr/>
          </p:nvGrpSpPr>
          <p:grpSpPr>
            <a:xfrm rot="5400000" flipV="1">
              <a:off x="3733728" y="3336208"/>
              <a:ext cx="1691880" cy="3369164"/>
              <a:chOff x="4560847" y="2492896"/>
              <a:chExt cx="1691880" cy="3369164"/>
            </a:xfrm>
          </p:grpSpPr>
          <p:cxnSp>
            <p:nvCxnSpPr>
              <p:cNvPr id="45" name="7 Conector recto">
                <a:extLst>
                  <a:ext uri="{FF2B5EF4-FFF2-40B4-BE49-F238E27FC236}">
                    <a16:creationId xmlns:a16="http://schemas.microsoft.com/office/drawing/2014/main" id="{12687A62-308C-327E-F21E-BBFBBF5C046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75443" y="4184776"/>
                <a:ext cx="1677284" cy="1677284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10 Conector recto">
                <a:extLst>
                  <a:ext uri="{FF2B5EF4-FFF2-40B4-BE49-F238E27FC236}">
                    <a16:creationId xmlns:a16="http://schemas.microsoft.com/office/drawing/2014/main" id="{76EA061B-8DE5-204D-7BE4-93983ADEB5FB}"/>
                  </a:ext>
                </a:extLst>
              </p:cNvPr>
              <p:cNvCxnSpPr/>
              <p:nvPr/>
            </p:nvCxnSpPr>
            <p:spPr>
              <a:xfrm rot="5400000">
                <a:off x="4565101" y="4180522"/>
                <a:ext cx="936104" cy="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13 Conector recto">
                <a:extLst>
                  <a:ext uri="{FF2B5EF4-FFF2-40B4-BE49-F238E27FC236}">
                    <a16:creationId xmlns:a16="http://schemas.microsoft.com/office/drawing/2014/main" id="{758DC3FE-E059-B02B-6863-7F5BEDA6665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560847" y="2492896"/>
                <a:ext cx="1691880" cy="169188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10 Conector recto">
                <a:extLst>
                  <a:ext uri="{FF2B5EF4-FFF2-40B4-BE49-F238E27FC236}">
                    <a16:creationId xmlns:a16="http://schemas.microsoft.com/office/drawing/2014/main" id="{7D00D673-66B6-1F20-481D-5992DF8ABE9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36096" y="3284984"/>
                <a:ext cx="0" cy="1762096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10 Conector recto">
                <a:extLst>
                  <a:ext uri="{FF2B5EF4-FFF2-40B4-BE49-F238E27FC236}">
                    <a16:creationId xmlns:a16="http://schemas.microsoft.com/office/drawing/2014/main" id="{F4FDD9C9-B652-4372-C0DD-3D74F8B9211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77670" y="2852936"/>
                <a:ext cx="0" cy="2635718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0" name="Grupo 49">
              <a:extLst>
                <a:ext uri="{FF2B5EF4-FFF2-40B4-BE49-F238E27FC236}">
                  <a16:creationId xmlns:a16="http://schemas.microsoft.com/office/drawing/2014/main" id="{27CD2C93-D271-91B2-176E-FE33FEFA858B}"/>
                </a:ext>
              </a:extLst>
            </p:cNvPr>
            <p:cNvGrpSpPr/>
            <p:nvPr/>
          </p:nvGrpSpPr>
          <p:grpSpPr>
            <a:xfrm rot="10800000" flipV="1">
              <a:off x="2894978" y="2495408"/>
              <a:ext cx="1691880" cy="3369164"/>
              <a:chOff x="4560847" y="2492896"/>
              <a:chExt cx="1691880" cy="3369164"/>
            </a:xfrm>
          </p:grpSpPr>
          <p:cxnSp>
            <p:nvCxnSpPr>
              <p:cNvPr id="51" name="7 Conector recto">
                <a:extLst>
                  <a:ext uri="{FF2B5EF4-FFF2-40B4-BE49-F238E27FC236}">
                    <a16:creationId xmlns:a16="http://schemas.microsoft.com/office/drawing/2014/main" id="{FC2F8DAE-4766-0F35-3CFB-092927F5AA8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75443" y="4184776"/>
                <a:ext cx="1677284" cy="1677284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10 Conector recto">
                <a:extLst>
                  <a:ext uri="{FF2B5EF4-FFF2-40B4-BE49-F238E27FC236}">
                    <a16:creationId xmlns:a16="http://schemas.microsoft.com/office/drawing/2014/main" id="{8682B9E9-9BB8-CD6F-B2CE-80A4AB5C57E4}"/>
                  </a:ext>
                </a:extLst>
              </p:cNvPr>
              <p:cNvCxnSpPr/>
              <p:nvPr/>
            </p:nvCxnSpPr>
            <p:spPr>
              <a:xfrm rot="5400000">
                <a:off x="4565101" y="4180522"/>
                <a:ext cx="936104" cy="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13 Conector recto">
                <a:extLst>
                  <a:ext uri="{FF2B5EF4-FFF2-40B4-BE49-F238E27FC236}">
                    <a16:creationId xmlns:a16="http://schemas.microsoft.com/office/drawing/2014/main" id="{DEFAA1AA-7F6E-164A-D375-3329B70C6F0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560847" y="2492896"/>
                <a:ext cx="1691880" cy="169188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10 Conector recto">
                <a:extLst>
                  <a:ext uri="{FF2B5EF4-FFF2-40B4-BE49-F238E27FC236}">
                    <a16:creationId xmlns:a16="http://schemas.microsoft.com/office/drawing/2014/main" id="{7F3A1EF1-2188-E9F7-DB4E-2F6BF7E211A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36096" y="3284984"/>
                <a:ext cx="0" cy="1762096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10 Conector recto">
                <a:extLst>
                  <a:ext uri="{FF2B5EF4-FFF2-40B4-BE49-F238E27FC236}">
                    <a16:creationId xmlns:a16="http://schemas.microsoft.com/office/drawing/2014/main" id="{01D7FCF2-3C50-E18B-C1AD-1AD33EE1E9E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77670" y="2852936"/>
                <a:ext cx="0" cy="2635718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6" name="22 CuadroTexto">
              <a:extLst>
                <a:ext uri="{FF2B5EF4-FFF2-40B4-BE49-F238E27FC236}">
                  <a16:creationId xmlns:a16="http://schemas.microsoft.com/office/drawing/2014/main" id="{1A0B5423-33BF-A14B-FE7B-A97403337B50}"/>
                </a:ext>
              </a:extLst>
            </p:cNvPr>
            <p:cNvSpPr txBox="1"/>
            <p:nvPr/>
          </p:nvSpPr>
          <p:spPr>
            <a:xfrm>
              <a:off x="4211960" y="3356992"/>
              <a:ext cx="38985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AR" sz="800" dirty="0"/>
                <a:t>0101</a:t>
              </a:r>
            </a:p>
          </p:txBody>
        </p:sp>
        <p:sp>
          <p:nvSpPr>
            <p:cNvPr id="57" name="22 CuadroTexto">
              <a:extLst>
                <a:ext uri="{FF2B5EF4-FFF2-40B4-BE49-F238E27FC236}">
                  <a16:creationId xmlns:a16="http://schemas.microsoft.com/office/drawing/2014/main" id="{36CC8385-7E25-34C0-910B-42295C185C71}"/>
                </a:ext>
              </a:extLst>
            </p:cNvPr>
            <p:cNvSpPr txBox="1"/>
            <p:nvPr/>
          </p:nvSpPr>
          <p:spPr>
            <a:xfrm>
              <a:off x="4211960" y="2924944"/>
              <a:ext cx="38985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AR" sz="800" dirty="0"/>
                <a:t>0111</a:t>
              </a:r>
            </a:p>
          </p:txBody>
        </p:sp>
        <p:sp>
          <p:nvSpPr>
            <p:cNvPr id="58" name="22 CuadroTexto">
              <a:extLst>
                <a:ext uri="{FF2B5EF4-FFF2-40B4-BE49-F238E27FC236}">
                  <a16:creationId xmlns:a16="http://schemas.microsoft.com/office/drawing/2014/main" id="{13A18A67-1D1C-AE32-4B93-01CB7D070073}"/>
                </a:ext>
              </a:extLst>
            </p:cNvPr>
            <p:cNvSpPr txBox="1"/>
            <p:nvPr/>
          </p:nvSpPr>
          <p:spPr>
            <a:xfrm>
              <a:off x="4211960" y="2492896"/>
              <a:ext cx="38985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AR" sz="800" dirty="0"/>
                <a:t>0110</a:t>
              </a:r>
            </a:p>
          </p:txBody>
        </p:sp>
        <p:sp>
          <p:nvSpPr>
            <p:cNvPr id="59" name="19 CuadroTexto">
              <a:extLst>
                <a:ext uri="{FF2B5EF4-FFF2-40B4-BE49-F238E27FC236}">
                  <a16:creationId xmlns:a16="http://schemas.microsoft.com/office/drawing/2014/main" id="{E2E62FAA-66FA-9E97-BFC4-F5100E6B80F2}"/>
                </a:ext>
              </a:extLst>
            </p:cNvPr>
            <p:cNvSpPr txBox="1"/>
            <p:nvPr/>
          </p:nvSpPr>
          <p:spPr>
            <a:xfrm>
              <a:off x="2727860" y="4221088"/>
              <a:ext cx="38985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AR" sz="800" dirty="0"/>
                <a:t>1110</a:t>
              </a:r>
            </a:p>
          </p:txBody>
        </p:sp>
        <p:sp>
          <p:nvSpPr>
            <p:cNvPr id="60" name="21 CuadroTexto">
              <a:extLst>
                <a:ext uri="{FF2B5EF4-FFF2-40B4-BE49-F238E27FC236}">
                  <a16:creationId xmlns:a16="http://schemas.microsoft.com/office/drawing/2014/main" id="{93BA5479-61E6-E34D-67EF-5E2351778187}"/>
                </a:ext>
              </a:extLst>
            </p:cNvPr>
            <p:cNvSpPr txBox="1"/>
            <p:nvPr/>
          </p:nvSpPr>
          <p:spPr>
            <a:xfrm>
              <a:off x="3196221" y="4221088"/>
              <a:ext cx="38985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AR" sz="800" dirty="0"/>
                <a:t>1111</a:t>
              </a:r>
            </a:p>
          </p:txBody>
        </p:sp>
        <p:sp>
          <p:nvSpPr>
            <p:cNvPr id="61" name="21 CuadroTexto">
              <a:extLst>
                <a:ext uri="{FF2B5EF4-FFF2-40B4-BE49-F238E27FC236}">
                  <a16:creationId xmlns:a16="http://schemas.microsoft.com/office/drawing/2014/main" id="{42FF6245-54DC-F31E-F2A6-B733A9855313}"/>
                </a:ext>
              </a:extLst>
            </p:cNvPr>
            <p:cNvSpPr txBox="1"/>
            <p:nvPr/>
          </p:nvSpPr>
          <p:spPr>
            <a:xfrm>
              <a:off x="3635896" y="4221088"/>
              <a:ext cx="38985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AR" sz="800" dirty="0"/>
                <a:t>1101</a:t>
              </a:r>
            </a:p>
          </p:txBody>
        </p:sp>
        <p:sp>
          <p:nvSpPr>
            <p:cNvPr id="62" name="21 CuadroTexto">
              <a:extLst>
                <a:ext uri="{FF2B5EF4-FFF2-40B4-BE49-F238E27FC236}">
                  <a16:creationId xmlns:a16="http://schemas.microsoft.com/office/drawing/2014/main" id="{9B3A5D16-F816-81BE-C633-6205C83BB54F}"/>
                </a:ext>
              </a:extLst>
            </p:cNvPr>
            <p:cNvSpPr txBox="1"/>
            <p:nvPr/>
          </p:nvSpPr>
          <p:spPr>
            <a:xfrm>
              <a:off x="4038134" y="4221668"/>
              <a:ext cx="38985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AR" sz="800" dirty="0"/>
                <a:t>1100</a:t>
              </a:r>
            </a:p>
          </p:txBody>
        </p:sp>
        <p:sp>
          <p:nvSpPr>
            <p:cNvPr id="63" name="22 CuadroTexto">
              <a:extLst>
                <a:ext uri="{FF2B5EF4-FFF2-40B4-BE49-F238E27FC236}">
                  <a16:creationId xmlns:a16="http://schemas.microsoft.com/office/drawing/2014/main" id="{00CDE9A5-1C2B-186E-038F-DCBF249C8921}"/>
                </a:ext>
              </a:extLst>
            </p:cNvPr>
            <p:cNvSpPr txBox="1"/>
            <p:nvPr/>
          </p:nvSpPr>
          <p:spPr>
            <a:xfrm>
              <a:off x="4211960" y="5680878"/>
              <a:ext cx="38985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AR" sz="800" dirty="0"/>
                <a:t>1010</a:t>
              </a:r>
            </a:p>
          </p:txBody>
        </p:sp>
        <p:sp>
          <p:nvSpPr>
            <p:cNvPr id="2048" name="22 CuadroTexto">
              <a:extLst>
                <a:ext uri="{FF2B5EF4-FFF2-40B4-BE49-F238E27FC236}">
                  <a16:creationId xmlns:a16="http://schemas.microsoft.com/office/drawing/2014/main" id="{A6F66328-7D6F-E6BF-5AA1-D3C63CE0CFFB}"/>
                </a:ext>
              </a:extLst>
            </p:cNvPr>
            <p:cNvSpPr txBox="1"/>
            <p:nvPr/>
          </p:nvSpPr>
          <p:spPr>
            <a:xfrm>
              <a:off x="4217527" y="5253841"/>
              <a:ext cx="38985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AR" sz="800" dirty="0"/>
                <a:t>1011</a:t>
              </a:r>
            </a:p>
          </p:txBody>
        </p:sp>
        <p:sp>
          <p:nvSpPr>
            <p:cNvPr id="2049" name="22 CuadroTexto">
              <a:extLst>
                <a:ext uri="{FF2B5EF4-FFF2-40B4-BE49-F238E27FC236}">
                  <a16:creationId xmlns:a16="http://schemas.microsoft.com/office/drawing/2014/main" id="{403C58D1-4C0C-8FB3-726D-3C598CF5DF86}"/>
                </a:ext>
              </a:extLst>
            </p:cNvPr>
            <p:cNvSpPr txBox="1"/>
            <p:nvPr/>
          </p:nvSpPr>
          <p:spPr>
            <a:xfrm>
              <a:off x="4217527" y="4821793"/>
              <a:ext cx="38985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AR" sz="800" dirty="0"/>
                <a:t>1001</a:t>
              </a:r>
            </a:p>
          </p:txBody>
        </p:sp>
        <p:sp>
          <p:nvSpPr>
            <p:cNvPr id="2051" name="22 CuadroTexto">
              <a:extLst>
                <a:ext uri="{FF2B5EF4-FFF2-40B4-BE49-F238E27FC236}">
                  <a16:creationId xmlns:a16="http://schemas.microsoft.com/office/drawing/2014/main" id="{863DADBE-668D-EAFD-5530-A04FCC03897B}"/>
                </a:ext>
              </a:extLst>
            </p:cNvPr>
            <p:cNvSpPr txBox="1"/>
            <p:nvPr/>
          </p:nvSpPr>
          <p:spPr>
            <a:xfrm>
              <a:off x="4217527" y="4389745"/>
              <a:ext cx="38985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AR" sz="800" dirty="0"/>
                <a:t>1000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037202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dirty="0"/>
              <a:t>Probabilidad de error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 dirty="0"/>
              <a:t>Abril 2024</a:t>
            </a: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Ing. Leonel E. Hochman</a:t>
            </a: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14</a:t>
            </a:fld>
            <a:endParaRPr lang="es-ES"/>
          </a:p>
        </p:txBody>
      </p:sp>
      <p:sp>
        <p:nvSpPr>
          <p:cNvPr id="56" name="AutoShape 6" descr="QPSK modulated waveform: the signal on the in-phase arm is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AR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3029331"/>
            <a:ext cx="3783000" cy="1116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ángulo 6"/>
              <p:cNvSpPr/>
              <p:nvPr/>
            </p:nvSpPr>
            <p:spPr>
              <a:xfrm>
                <a:off x="1187624" y="5285639"/>
                <a:ext cx="2508956" cy="98405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i="1">
                          <a:latin typeface="Cambria Math"/>
                        </a:rPr>
                        <m:t>𝑃𝑒</m:t>
                      </m:r>
                      <m:r>
                        <a:rPr lang="es-AR" i="1" baseline="-25000">
                          <a:latin typeface="Cambria Math"/>
                        </a:rPr>
                        <m:t>𝑏</m:t>
                      </m:r>
                      <m:r>
                        <a:rPr lang="es-AR" i="1">
                          <a:latin typeface="Cambria Math"/>
                        </a:rPr>
                        <m:t>=</m:t>
                      </m:r>
                      <m:r>
                        <a:rPr lang="es-AR" i="1">
                          <a:latin typeface="Cambria Math"/>
                        </a:rPr>
                        <m:t>𝑃𝑒</m:t>
                      </m:r>
                      <m:r>
                        <a:rPr lang="es-AR" i="1">
                          <a:latin typeface="Cambria Math"/>
                        </a:rPr>
                        <m:t>=</m:t>
                      </m:r>
                      <m:r>
                        <a:rPr lang="es-AR" i="1">
                          <a:latin typeface="Cambria Math"/>
                        </a:rPr>
                        <m:t>𝑄</m:t>
                      </m:r>
                      <m:d>
                        <m:dPr>
                          <m:ctrlPr>
                            <a:rPr lang="es-A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ad>
                            <m:radPr>
                              <m:degHide m:val="on"/>
                              <m:ctrlPr>
                                <a:rPr lang="es-AR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s-AR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s-AR" i="1">
                                      <a:latin typeface="Cambria Math"/>
                                    </a:rPr>
                                    <m:t>2.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l-GR" i="1">
                                      <a:latin typeface="Cambria Math"/>
                                      <a:ea typeface="Cambria Math"/>
                                    </a:rPr>
                                    <m:t>ε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s-A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AR" i="1">
                                          <a:latin typeface="Cambria Math"/>
                                        </a:rPr>
                                        <m:t>𝑁</m:t>
                                      </m:r>
                                    </m:e>
                                    <m:sub>
                                      <m:r>
                                        <a:rPr lang="es-AR" i="1">
                                          <a:latin typeface="Cambria Math"/>
                                        </a:rPr>
                                        <m:t>0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rad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Rectángulo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624" y="5285639"/>
                <a:ext cx="2508956" cy="98405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Imagen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2080" y="2348880"/>
            <a:ext cx="2847000" cy="262466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ángulo 12"/>
              <p:cNvSpPr/>
              <p:nvPr/>
            </p:nvSpPr>
            <p:spPr>
              <a:xfrm>
                <a:off x="5591436" y="5270371"/>
                <a:ext cx="2406364" cy="98405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i="1">
                          <a:latin typeface="Cambria Math"/>
                        </a:rPr>
                        <m:t>𝑃𝑒</m:t>
                      </m:r>
                      <m:r>
                        <a:rPr lang="es-AR" i="1" baseline="-25000">
                          <a:latin typeface="Cambria Math"/>
                        </a:rPr>
                        <m:t>𝑏</m:t>
                      </m:r>
                      <m:r>
                        <a:rPr lang="es-AR" i="1">
                          <a:latin typeface="Cambria Math"/>
                        </a:rPr>
                        <m:t>=</m:t>
                      </m:r>
                      <m:r>
                        <a:rPr lang="es-AR" i="1">
                          <a:latin typeface="Cambria Math"/>
                        </a:rPr>
                        <m:t>𝑃𝑒</m:t>
                      </m:r>
                      <m:r>
                        <a:rPr lang="es-AR" i="1">
                          <a:latin typeface="Cambria Math"/>
                        </a:rPr>
                        <m:t>=</m:t>
                      </m:r>
                      <m:r>
                        <a:rPr lang="es-AR" i="1">
                          <a:latin typeface="Cambria Math"/>
                        </a:rPr>
                        <m:t>𝑄</m:t>
                      </m:r>
                      <m:d>
                        <m:dPr>
                          <m:ctrlPr>
                            <a:rPr lang="es-A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ad>
                            <m:radPr>
                              <m:degHide m:val="on"/>
                              <m:ctrlPr>
                                <a:rPr lang="es-AR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s-AR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l-GR" i="1">
                                      <a:latin typeface="Cambria Math"/>
                                      <a:ea typeface="Cambria Math"/>
                                    </a:rPr>
                                    <m:t>ε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s-A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AR" i="1">
                                          <a:latin typeface="Cambria Math"/>
                                        </a:rPr>
                                        <m:t>𝑁</m:t>
                                      </m:r>
                                    </m:e>
                                    <m:sub>
                                      <m:r>
                                        <a:rPr lang="es-AR" i="1">
                                          <a:latin typeface="Cambria Math"/>
                                        </a:rPr>
                                        <m:t>0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rad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Rectángulo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1436" y="5270371"/>
                <a:ext cx="2406364" cy="98405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ángulo 8"/>
              <p:cNvSpPr/>
              <p:nvPr/>
            </p:nvSpPr>
            <p:spPr>
              <a:xfrm>
                <a:off x="4276337" y="4583759"/>
                <a:ext cx="74982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l-GR" i="1" smtClean="0">
                        <a:latin typeface="Cambria Math"/>
                        <a:ea typeface="Cambria Math"/>
                      </a:rPr>
                      <m:t>𝜀</m:t>
                    </m:r>
                  </m:oMath>
                </a14:m>
                <a:r>
                  <a:rPr lang="en-US" i="1" dirty="0"/>
                  <a:t> = </a:t>
                </a:r>
                <a:r>
                  <a:rPr lang="en-US" i="1" dirty="0" err="1"/>
                  <a:t>E</a:t>
                </a:r>
                <a:r>
                  <a:rPr lang="en-US" i="1" baseline="-25000" dirty="0" err="1"/>
                  <a:t>b</a:t>
                </a:r>
                <a:endParaRPr lang="en-US" i="1" baseline="-25000" dirty="0"/>
              </a:p>
            </p:txBody>
          </p:sp>
        </mc:Choice>
        <mc:Fallback xmlns="">
          <p:sp>
            <p:nvSpPr>
              <p:cNvPr id="9" name="Rectángulo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6337" y="4583759"/>
                <a:ext cx="749821" cy="369332"/>
              </a:xfrm>
              <a:prstGeom prst="rect">
                <a:avLst/>
              </a:prstGeom>
              <a:blipFill>
                <a:blip r:embed="rId6"/>
                <a:stretch>
                  <a:fillRect t="-9836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CuadroTexto 9"/>
          <p:cNvSpPr txBox="1"/>
          <p:nvPr/>
        </p:nvSpPr>
        <p:spPr>
          <a:xfrm>
            <a:off x="987033" y="1988840"/>
            <a:ext cx="28648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dirty="0"/>
              <a:t>Modulación binaria </a:t>
            </a:r>
            <a:r>
              <a:rPr lang="es-AR" dirty="0" err="1"/>
              <a:t>antipodal</a:t>
            </a:r>
            <a:endParaRPr lang="en-US" dirty="0"/>
          </a:p>
        </p:txBody>
      </p:sp>
      <p:sp>
        <p:nvSpPr>
          <p:cNvPr id="16" name="CuadroTexto 15"/>
          <p:cNvSpPr txBox="1"/>
          <p:nvPr/>
        </p:nvSpPr>
        <p:spPr>
          <a:xfrm>
            <a:off x="5163497" y="1988840"/>
            <a:ext cx="29281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dirty="0"/>
              <a:t>Modulación binaria ortogonal</a:t>
            </a:r>
            <a:endParaRPr lang="en-US" dirty="0"/>
          </a:p>
        </p:txBody>
      </p:sp>
      <p:sp>
        <p:nvSpPr>
          <p:cNvPr id="11" name="Rectángulo 10"/>
          <p:cNvSpPr/>
          <p:nvPr/>
        </p:nvSpPr>
        <p:spPr>
          <a:xfrm>
            <a:off x="1241048" y="1268760"/>
            <a:ext cx="667848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AR" dirty="0"/>
              <a:t>P</a:t>
            </a:r>
            <a:r>
              <a:rPr lang="es-AR" baseline="-25000" dirty="0"/>
              <a:t>e</a:t>
            </a:r>
            <a:r>
              <a:rPr lang="es-AR" dirty="0"/>
              <a:t> = </a:t>
            </a:r>
            <a:r>
              <a:rPr lang="es-AR" dirty="0">
                <a:solidFill>
                  <a:srgbClr val="0070C0"/>
                </a:solidFill>
              </a:rPr>
              <a:t>p(s</a:t>
            </a:r>
            <a:r>
              <a:rPr lang="es-AR" baseline="-25000" dirty="0">
                <a:solidFill>
                  <a:srgbClr val="0070C0"/>
                </a:solidFill>
              </a:rPr>
              <a:t>0</a:t>
            </a:r>
            <a:r>
              <a:rPr lang="es-AR" dirty="0">
                <a:solidFill>
                  <a:srgbClr val="0070C0"/>
                </a:solidFill>
              </a:rPr>
              <a:t>/s</a:t>
            </a:r>
            <a:r>
              <a:rPr lang="es-AR" baseline="-25000" dirty="0">
                <a:solidFill>
                  <a:srgbClr val="0070C0"/>
                </a:solidFill>
              </a:rPr>
              <a:t>1</a:t>
            </a:r>
            <a:r>
              <a:rPr lang="es-AR" dirty="0">
                <a:solidFill>
                  <a:srgbClr val="0070C0"/>
                </a:solidFill>
              </a:rPr>
              <a:t>)</a:t>
            </a:r>
            <a:r>
              <a:rPr lang="es-AR" dirty="0"/>
              <a:t>.p(s</a:t>
            </a:r>
            <a:r>
              <a:rPr lang="es-AR" baseline="-25000" dirty="0"/>
              <a:t>1</a:t>
            </a:r>
            <a:r>
              <a:rPr lang="es-AR" dirty="0"/>
              <a:t>) + </a:t>
            </a:r>
            <a:r>
              <a:rPr lang="es-AR" dirty="0">
                <a:solidFill>
                  <a:srgbClr val="00B050"/>
                </a:solidFill>
              </a:rPr>
              <a:t>p(s</a:t>
            </a:r>
            <a:r>
              <a:rPr lang="es-AR" baseline="-25000" dirty="0">
                <a:solidFill>
                  <a:srgbClr val="00B050"/>
                </a:solidFill>
              </a:rPr>
              <a:t>1</a:t>
            </a:r>
            <a:r>
              <a:rPr lang="es-AR" dirty="0">
                <a:solidFill>
                  <a:srgbClr val="00B050"/>
                </a:solidFill>
              </a:rPr>
              <a:t>/s</a:t>
            </a:r>
            <a:r>
              <a:rPr lang="es-AR" baseline="-25000" dirty="0">
                <a:solidFill>
                  <a:srgbClr val="00B050"/>
                </a:solidFill>
              </a:rPr>
              <a:t>0</a:t>
            </a:r>
            <a:r>
              <a:rPr lang="es-AR" dirty="0">
                <a:solidFill>
                  <a:srgbClr val="00B050"/>
                </a:solidFill>
              </a:rPr>
              <a:t>)</a:t>
            </a:r>
            <a:r>
              <a:rPr lang="es-AR" dirty="0"/>
              <a:t>.p(s</a:t>
            </a:r>
            <a:r>
              <a:rPr lang="es-AR" baseline="-25000" dirty="0"/>
              <a:t>0</a:t>
            </a:r>
            <a:r>
              <a:rPr lang="es-AR" dirty="0"/>
              <a:t>) = 0,5.Q(d/2</a:t>
            </a:r>
            <a:r>
              <a:rPr lang="el-GR" dirty="0">
                <a:latin typeface="Cambria Math"/>
                <a:ea typeface="Cambria Math"/>
              </a:rPr>
              <a:t>σ</a:t>
            </a:r>
            <a:r>
              <a:rPr lang="es-AR" dirty="0"/>
              <a:t> ) + 0,5.Q(d/2</a:t>
            </a:r>
            <a:r>
              <a:rPr lang="el-GR" dirty="0">
                <a:latin typeface="Cambria Math"/>
                <a:ea typeface="Cambria Math"/>
              </a:rPr>
              <a:t>σ</a:t>
            </a:r>
            <a:r>
              <a:rPr lang="es-AR" dirty="0"/>
              <a:t> ) =…</a:t>
            </a:r>
          </a:p>
        </p:txBody>
      </p:sp>
    </p:spTree>
    <p:extLst>
      <p:ext uri="{BB962C8B-B14F-4D97-AF65-F5344CB8AC3E}">
        <p14:creationId xmlns:p14="http://schemas.microsoft.com/office/powerpoint/2010/main" val="37520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 dirty="0"/>
              <a:t>Abril 2024</a:t>
            </a: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Ing. Leonel E. Hochman</a:t>
            </a: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15</a:t>
            </a:fld>
            <a:endParaRPr lang="es-ES"/>
          </a:p>
        </p:txBody>
      </p:sp>
      <p:sp>
        <p:nvSpPr>
          <p:cNvPr id="9" name="8 Título"/>
          <p:cNvSpPr>
            <a:spLocks noGrp="1"/>
          </p:cNvSpPr>
          <p:nvPr>
            <p:ph type="title" idx="4294967295"/>
          </p:nvPr>
        </p:nvSpPr>
        <p:spPr>
          <a:xfrm>
            <a:off x="446856" y="2925134"/>
            <a:ext cx="8229600" cy="990600"/>
          </a:xfrm>
        </p:spPr>
        <p:txBody>
          <a:bodyPr>
            <a:normAutofit fontScale="90000"/>
          </a:bodyPr>
          <a:lstStyle/>
          <a:p>
            <a:pPr algn="ctr"/>
            <a:r>
              <a:rPr lang="es-AR" dirty="0"/>
              <a:t>¿Dudas?</a:t>
            </a:r>
            <a:br>
              <a:rPr lang="es-AR" dirty="0"/>
            </a:br>
            <a:r>
              <a:rPr lang="es-AR" dirty="0"/>
              <a:t>¿Consultas?</a:t>
            </a:r>
          </a:p>
        </p:txBody>
      </p:sp>
    </p:spTree>
    <p:extLst>
      <p:ext uri="{BB962C8B-B14F-4D97-AF65-F5344CB8AC3E}">
        <p14:creationId xmlns:p14="http://schemas.microsoft.com/office/powerpoint/2010/main" val="11276489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 dirty="0"/>
              <a:t>Abril 2024</a:t>
            </a: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Ing. Leonel E. Hochman</a:t>
            </a: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16</a:t>
            </a:fld>
            <a:endParaRPr lang="es-ES"/>
          </a:p>
        </p:txBody>
      </p:sp>
      <p:sp>
        <p:nvSpPr>
          <p:cNvPr id="9" name="8 Título"/>
          <p:cNvSpPr>
            <a:spLocks noGrp="1"/>
          </p:cNvSpPr>
          <p:nvPr>
            <p:ph type="title" idx="4294967295"/>
          </p:nvPr>
        </p:nvSpPr>
        <p:spPr>
          <a:xfrm>
            <a:off x="446856" y="2420888"/>
            <a:ext cx="8229600" cy="990600"/>
          </a:xfrm>
        </p:spPr>
        <p:txBody>
          <a:bodyPr>
            <a:normAutofit/>
          </a:bodyPr>
          <a:lstStyle/>
          <a:p>
            <a:pPr algn="ctr"/>
            <a:r>
              <a:rPr lang="es-AR" dirty="0"/>
              <a:t>Muchas gracias por su atención</a:t>
            </a:r>
          </a:p>
        </p:txBody>
      </p:sp>
    </p:spTree>
    <p:extLst>
      <p:ext uri="{BB962C8B-B14F-4D97-AF65-F5344CB8AC3E}">
        <p14:creationId xmlns:p14="http://schemas.microsoft.com/office/powerpoint/2010/main" val="272652305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en">
  <a:themeElements>
    <a:clrScheme name="Orige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rige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rige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3051</TotalTime>
  <Words>1084</Words>
  <Application>Microsoft Office PowerPoint</Application>
  <PresentationFormat>Presentación en pantalla (4:3)</PresentationFormat>
  <Paragraphs>188</Paragraphs>
  <Slides>16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3" baseType="lpstr">
      <vt:lpstr>Bookman Old Style</vt:lpstr>
      <vt:lpstr>Calibri</vt:lpstr>
      <vt:lpstr>Cambria Math</vt:lpstr>
      <vt:lpstr>Gill Sans MT</vt:lpstr>
      <vt:lpstr>Wingdings</vt:lpstr>
      <vt:lpstr>Wingdings 3</vt:lpstr>
      <vt:lpstr>Origen</vt:lpstr>
      <vt:lpstr>G3 – Modulaciones Digitales  Orientación para la resolución de ejercicios seleccionados</vt:lpstr>
      <vt:lpstr>Introducción a las modulaciones digitales</vt:lpstr>
      <vt:lpstr>Introducción a las modulaciones digitales</vt:lpstr>
      <vt:lpstr>Reglas y regiones de decisión</vt:lpstr>
      <vt:lpstr>Receptor óptimo</vt:lpstr>
      <vt:lpstr>Receptor óptimo</vt:lpstr>
      <vt:lpstr>Receptor óptimo</vt:lpstr>
      <vt:lpstr>Ejercicio 6 – 2-PAM</vt:lpstr>
      <vt:lpstr>Ejercicio 6 – 2-PAM</vt:lpstr>
      <vt:lpstr>Ejercicio 6 – 2-PAM</vt:lpstr>
      <vt:lpstr>Ejercicio 8 – Una QAM diferente</vt:lpstr>
      <vt:lpstr>Ejercicio 8 – Una QAM diferente</vt:lpstr>
      <vt:lpstr>Ejercicio 8 – Una QAM diferente</vt:lpstr>
      <vt:lpstr>Probabilidad de error</vt:lpstr>
      <vt:lpstr>¿Dudas? ¿Consultas?</vt:lpstr>
      <vt:lpstr>Muchas gracias por su atención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Cálculo de probabilidad de error en sistemas M-PSK</dc:title>
  <dc:creator>Leonel Hochman</dc:creator>
  <cp:lastModifiedBy>Leonel Hochman</cp:lastModifiedBy>
  <cp:revision>642</cp:revision>
  <dcterms:created xsi:type="dcterms:W3CDTF">2014-11-17T01:34:56Z</dcterms:created>
  <dcterms:modified xsi:type="dcterms:W3CDTF">2026-05-03T17:47:20Z</dcterms:modified>
</cp:coreProperties>
</file>