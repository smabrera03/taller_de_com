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345" r:id="rId3"/>
    <p:sldId id="326" r:id="rId4"/>
    <p:sldId id="372" r:id="rId5"/>
    <p:sldId id="292" r:id="rId6"/>
    <p:sldId id="373" r:id="rId7"/>
    <p:sldId id="346" r:id="rId8"/>
    <p:sldId id="376" r:id="rId9"/>
    <p:sldId id="347" r:id="rId10"/>
    <p:sldId id="374" r:id="rId11"/>
    <p:sldId id="348" r:id="rId12"/>
    <p:sldId id="371" r:id="rId13"/>
    <p:sldId id="349" r:id="rId14"/>
    <p:sldId id="350" r:id="rId15"/>
    <p:sldId id="351" r:id="rId16"/>
    <p:sldId id="352" r:id="rId17"/>
    <p:sldId id="353" r:id="rId18"/>
    <p:sldId id="377" r:id="rId19"/>
    <p:sldId id="357" r:id="rId20"/>
    <p:sldId id="355" r:id="rId21"/>
    <p:sldId id="354" r:id="rId22"/>
    <p:sldId id="356" r:id="rId23"/>
    <p:sldId id="262" r:id="rId24"/>
    <p:sldId id="263" r:id="rId2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>
          <p15:clr>
            <a:srgbClr val="A4A3A4"/>
          </p15:clr>
        </p15:guide>
        <p15:guide id="2" pos="292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2" autoAdjust="0"/>
  </p:normalViewPr>
  <p:slideViewPr>
    <p:cSldViewPr>
      <p:cViewPr>
        <p:scale>
          <a:sx n="100" d="100"/>
          <a:sy n="100" d="100"/>
        </p:scale>
        <p:origin x="1920" y="72"/>
      </p:cViewPr>
      <p:guideLst>
        <p:guide orient="horz" pos="3929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31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1C4CD-45E9-4654-9E96-A5B26A1F05EF}" type="datetimeFigureOut">
              <a:rPr lang="es-AR" smtClean="0"/>
              <a:t>30/10/2024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FAB1A-2EE0-4230-85AB-72E46B336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6436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1938933"/>
            <a:ext cx="6858000" cy="1671614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 dirty="0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1700808"/>
            <a:ext cx="7315200" cy="216024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1700808"/>
            <a:ext cx="228600" cy="216024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 dirty="0" smtClean="0"/>
              <a:t>Haga clic para modificar el estilo de texto del patrón</a:t>
            </a:r>
          </a:p>
          <a:p>
            <a:pPr lvl="1" eaLnBrk="1" latinLnBrk="0" hangingPunct="1"/>
            <a:r>
              <a:rPr lang="es-ES" dirty="0" smtClean="0"/>
              <a:t>Segundo nivel</a:t>
            </a:r>
          </a:p>
          <a:p>
            <a:pPr lvl="2" eaLnBrk="1" latinLnBrk="0" hangingPunct="1"/>
            <a:r>
              <a:rPr lang="es-ES" dirty="0" smtClean="0"/>
              <a:t>Tercer nivel</a:t>
            </a:r>
          </a:p>
          <a:p>
            <a:pPr lvl="3" eaLnBrk="1" latinLnBrk="0" hangingPunct="1"/>
            <a:r>
              <a:rPr lang="es-ES" dirty="0" smtClean="0"/>
              <a:t>Cuarto nivel</a:t>
            </a:r>
          </a:p>
          <a:p>
            <a:pPr lvl="4" eaLnBrk="1" latinLnBrk="0" hangingPunct="1"/>
            <a:r>
              <a:rPr lang="es-ES" dirty="0" smtClean="0"/>
              <a:t>Quinto nivel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 dirty="0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dirty="0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dirty="0" smtClean="0"/>
              <a:t>Segundo nivel</a:t>
            </a:r>
          </a:p>
          <a:p>
            <a:pPr lvl="2" eaLnBrk="1" latinLnBrk="0" hangingPunct="1"/>
            <a:r>
              <a:rPr kumimoji="0" lang="es-ES" dirty="0" smtClean="0"/>
              <a:t>Tercer nivel</a:t>
            </a:r>
          </a:p>
          <a:p>
            <a:pPr lvl="3" eaLnBrk="1" latinLnBrk="0" hangingPunct="1"/>
            <a:r>
              <a:rPr kumimoji="0" lang="es-ES" dirty="0" smtClean="0"/>
              <a:t>Cuarto nivel</a:t>
            </a:r>
          </a:p>
          <a:p>
            <a:pPr lvl="4" eaLnBrk="1" latinLnBrk="0" hangingPunct="1"/>
            <a:r>
              <a:rPr kumimoji="0" lang="es-ES" dirty="0" smtClean="0"/>
              <a:t>Quinto nivel</a:t>
            </a:r>
            <a:endParaRPr kumimoji="0" lang="en-US" dirty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39552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19/11/2014</a:t>
            </a:r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Ing. Leonel E. Hochman</a:t>
            </a:r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695256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G3 – Sincronización</a:t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>Orientación para la resolución de ejercicios seleccionados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ctr"/>
            <a:endParaRPr lang="es-AR" dirty="0" smtClean="0"/>
          </a:p>
          <a:p>
            <a:pPr algn="ctr"/>
            <a:r>
              <a:rPr lang="es-AR" dirty="0" smtClean="0"/>
              <a:t>Ing. Leonel E. Hochman			Abril de 2024</a:t>
            </a:r>
          </a:p>
        </p:txBody>
      </p:sp>
      <p:pic>
        <p:nvPicPr>
          <p:cNvPr id="1026" name="Picture 2" descr="Inicio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17513"/>
            <a:ext cx="2381250" cy="7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Universidad de Buenos Aire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8926"/>
            <a:ext cx="303847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9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Sincronización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9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s-AR" sz="1800" dirty="0" smtClean="0"/>
              <a:t>De portadora (fase y/o frecuencia)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AR" sz="1500" dirty="0" smtClean="0"/>
              <a:t>Demodulación </a:t>
            </a:r>
            <a:r>
              <a:rPr lang="es-AR" sz="1500" dirty="0" smtClean="0"/>
              <a:t>de </a:t>
            </a:r>
            <a:r>
              <a:rPr lang="es-AR" sz="1500" dirty="0" smtClean="0"/>
              <a:t>DBL-PS;</a:t>
            </a:r>
            <a:endParaRPr lang="es-AR" sz="1500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AR" sz="1500" dirty="0" smtClean="0"/>
              <a:t>Detección coherente de señales moduladas digitalmente (ej. M-PSK, M-QAM, etc</a:t>
            </a:r>
            <a:r>
              <a:rPr lang="es-AR" sz="1500" dirty="0" smtClean="0"/>
              <a:t>.);</a:t>
            </a:r>
            <a:endParaRPr lang="es-AR" sz="1500" dirty="0" smtClean="0"/>
          </a:p>
          <a:p>
            <a:pPr lvl="1" algn="just">
              <a:buFont typeface="Wingdings" panose="05000000000000000000" pitchFamily="2" charset="2"/>
              <a:buChar char="§"/>
            </a:pPr>
            <a:endParaRPr lang="es-AR" sz="1500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s-AR" sz="1800" dirty="0" smtClean="0"/>
              <a:t>De símbolo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AR" sz="1500" dirty="0" smtClean="0"/>
              <a:t>Estimación de </a:t>
            </a:r>
            <a:r>
              <a:rPr lang="es-AR" sz="1500" i="1" dirty="0" err="1" smtClean="0"/>
              <a:t>T</a:t>
            </a:r>
            <a:r>
              <a:rPr lang="es-AR" sz="1500" i="1" baseline="-25000" dirty="0" err="1" smtClean="0"/>
              <a:t>s</a:t>
            </a:r>
            <a:r>
              <a:rPr lang="es-AR" sz="1500" i="1" dirty="0"/>
              <a:t>;</a:t>
            </a:r>
            <a:endParaRPr lang="es-AR" sz="1500" dirty="0"/>
          </a:p>
          <a:p>
            <a:pPr lvl="1" algn="just">
              <a:buFont typeface="Wingdings" panose="05000000000000000000" pitchFamily="2" charset="2"/>
              <a:buChar char="§"/>
            </a:pPr>
            <a:endParaRPr lang="es-AR" sz="1500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s-AR" sz="1800" dirty="0" smtClean="0"/>
              <a:t>De trama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AR" sz="1500" dirty="0" smtClean="0"/>
              <a:t>Identificar el comienzo y el final de las tramas o paquetes de datos, cuando la información se encuentra estructurada en bloques de capas superiores.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18371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Lazo enganchado en fase (PLL)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62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7" t="26679" r="22065" b="15167"/>
          <a:stretch/>
        </p:blipFill>
        <p:spPr bwMode="auto">
          <a:xfrm>
            <a:off x="724512" y="1340768"/>
            <a:ext cx="7811820" cy="458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166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Lazo enganchado en fase (PLL)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4" name="13 CuadroTexto"/>
          <p:cNvSpPr txBox="1"/>
          <p:nvPr/>
        </p:nvSpPr>
        <p:spPr>
          <a:xfrm>
            <a:off x="5076056" y="1741329"/>
            <a:ext cx="3176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Transferencia a lazo cerrado: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5220072" y="2173377"/>
                <a:ext cx="2620461" cy="707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s-A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A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𝛩</m:t>
                              </m:r>
                            </m:e>
                          </m:acc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l-GR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𝛩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73377"/>
                <a:ext cx="2620461" cy="707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5076056" y="3119815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Transferencia del error de fase: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5220072" y="3551863"/>
                <a:ext cx="2671950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𝐸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Θ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551863"/>
                <a:ext cx="2671950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11 CuadroTexto"/>
          <p:cNvSpPr txBox="1"/>
          <p:nvPr/>
        </p:nvSpPr>
        <p:spPr>
          <a:xfrm>
            <a:off x="5076056" y="4631983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Error en estado estacionario: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5220072" y="5064031"/>
                <a:ext cx="2793137" cy="453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ε</m:t>
                      </m:r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AR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AR" b="0" i="1" smtClean="0">
                              <a:latin typeface="Cambria Math"/>
                            </a:rPr>
                            <m:t>𝑒</m:t>
                          </m:r>
                          <m:d>
                            <m:d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AR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s-AR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r>
                                    <a:rPr lang="es-AR" b="0" i="1" smtClean="0"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.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5064031"/>
                <a:ext cx="2793137" cy="453201"/>
              </a:xfrm>
              <a:prstGeom prst="rect">
                <a:avLst/>
              </a:prstGeom>
              <a:blipFill rotWithShape="1"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14 CuadroTexto"/>
          <p:cNvSpPr txBox="1"/>
          <p:nvPr/>
        </p:nvSpPr>
        <p:spPr>
          <a:xfrm>
            <a:off x="323528" y="1741752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de error de fase: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467544" y="2173800"/>
                <a:ext cx="2058192" cy="380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/>
                      </a:rPr>
                      <m:t>𝑒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r>
                      <a:rPr lang="el-GR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/>
                      </a:rPr>
                      <m:t>θ</m:t>
                    </m:r>
                    <m:r>
                      <a:rPr lang="es-AR" b="0" i="1" smtClean="0">
                        <a:latin typeface="Cambria Math"/>
                      </a:rPr>
                      <m:t>(</m:t>
                    </m:r>
                    <m:r>
                      <a:rPr lang="es-AR" b="0" i="1" smtClean="0">
                        <a:latin typeface="Cambria Math"/>
                      </a:rPr>
                      <m:t>𝑡</m:t>
                    </m:r>
                    <m:r>
                      <a:rPr lang="es-A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s-AR" dirty="0" smtClean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θ</m:t>
                        </m:r>
                      </m:e>
                    </m:acc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173800"/>
                <a:ext cx="2058192" cy="380938"/>
              </a:xfrm>
              <a:prstGeom prst="rect">
                <a:avLst/>
              </a:prstGeom>
              <a:blipFill rotWithShape="1">
                <a:blip r:embed="rId5"/>
                <a:stretch>
                  <a:fillRect t="-3226" b="-2741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16 CuadroTexto"/>
          <p:cNvSpPr txBox="1"/>
          <p:nvPr/>
        </p:nvSpPr>
        <p:spPr>
          <a:xfrm>
            <a:off x="323528" y="382897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de control: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CuadroTexto"/>
              <p:cNvSpPr txBox="1"/>
              <p:nvPr/>
            </p:nvSpPr>
            <p:spPr>
              <a:xfrm>
                <a:off x="467544" y="4261019"/>
                <a:ext cx="2617961" cy="53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b="0" dirty="0" smtClean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r>
                      <a:rPr lang="es-AR" b="0" i="1" smtClean="0">
                        <a:latin typeface="Cambria Math"/>
                      </a:rPr>
                      <m:t>𝑒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∗</m:t>
                    </m:r>
                    <m:r>
                      <a:rPr lang="es-AR" b="0" i="1" smtClean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/>
                          </a:rPr>
                          <m:t>𝑑</m:t>
                        </m:r>
                        <m:acc>
                          <m:accPr>
                            <m:chr m:val="̂"/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/>
                              </a:rPr>
                              <m:t>θ</m:t>
                            </m:r>
                          </m:e>
                        </m:acc>
                        <m:r>
                          <a:rPr lang="es-AR" b="0" i="1" smtClean="0">
                            <a:latin typeface="Cambria Math"/>
                          </a:rPr>
                          <m:t>(</m:t>
                        </m:r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  <m:r>
                          <a:rPr lang="es-AR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AR" b="0" i="1" smtClean="0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261019"/>
                <a:ext cx="2617961" cy="531940"/>
              </a:xfrm>
              <a:prstGeom prst="rect">
                <a:avLst/>
              </a:prstGeom>
              <a:blipFill rotWithShape="1">
                <a:blip r:embed="rId6"/>
                <a:stretch>
                  <a:fillRect l="-2098" b="-68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20 CuadroTexto"/>
              <p:cNvSpPr txBox="1"/>
              <p:nvPr/>
            </p:nvSpPr>
            <p:spPr>
              <a:xfrm>
                <a:off x="468114" y="2858329"/>
                <a:ext cx="4103886" cy="504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s-AR" dirty="0" smtClean="0"/>
                  <a:t>-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b="0" i="1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</a:rPr>
                          <m:t>Θ</m:t>
                        </m:r>
                      </m:e>
                    </m:acc>
                    <m:r>
                      <a:rPr lang="el-GR" b="0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num>
                      <m:den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  <m:r>
                          <a:rPr lang="es-AR" b="0" i="1" smtClean="0">
                            <a:latin typeface="Cambria Math"/>
                          </a:rPr>
                          <m:t>+</m:t>
                        </m:r>
                        <m:r>
                          <a:rPr lang="es-AR" b="0" i="1" smtClean="0">
                            <a:latin typeface="Cambria Math"/>
                          </a:rPr>
                          <m:t>𝐿</m:t>
                        </m:r>
                        <m:r>
                          <a:rPr lang="es-AR" b="0" i="1" smtClean="0">
                            <a:latin typeface="Cambria Math"/>
                          </a:rPr>
                          <m:t>(</m:t>
                        </m:r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  <m:r>
                          <a:rPr lang="es-AR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l-GR" i="1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𝑠</m:t>
                        </m:r>
                      </m:e>
                    </m:d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14" y="2858329"/>
                <a:ext cx="4103886" cy="504497"/>
              </a:xfrm>
              <a:prstGeom prst="rect">
                <a:avLst/>
              </a:prstGeom>
              <a:blipFill rotWithShape="1">
                <a:blip r:embed="rId7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467544" y="4920529"/>
                <a:ext cx="2985882" cy="378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dirty="0" smtClean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r>
                      <a:rPr lang="es-AR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.</m:t>
                    </m:r>
                    <m:r>
                      <a:rPr lang="es-AR" b="0" i="1" smtClean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̂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i="1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Θ</m:t>
                        </m:r>
                      </m:e>
                    </m:acc>
                    <m:r>
                      <a:rPr lang="el-GR" i="1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𝑠</m:t>
                        </m:r>
                      </m:e>
                    </m:d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920529"/>
                <a:ext cx="2985882" cy="378630"/>
              </a:xfrm>
              <a:prstGeom prst="rect">
                <a:avLst/>
              </a:prstGeom>
              <a:blipFill>
                <a:blip r:embed="rId8"/>
                <a:stretch>
                  <a:fillRect l="-1837"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angular 7"/>
          <p:cNvCxnSpPr>
            <a:endCxn id="3" idx="1"/>
          </p:cNvCxnSpPr>
          <p:nvPr/>
        </p:nvCxnSpPr>
        <p:spPr>
          <a:xfrm flipV="1">
            <a:off x="2051720" y="2527096"/>
            <a:ext cx="3168352" cy="3312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r 25"/>
          <p:cNvCxnSpPr>
            <a:stCxn id="22" idx="3"/>
          </p:cNvCxnSpPr>
          <p:nvPr/>
        </p:nvCxnSpPr>
        <p:spPr>
          <a:xfrm flipV="1">
            <a:off x="3453426" y="2858329"/>
            <a:ext cx="2558734" cy="2251515"/>
          </a:xfrm>
          <a:prstGeom prst="bentConnector3">
            <a:avLst>
              <a:gd name="adj1" fmla="val 371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47 – PLL de primer orden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AR" sz="1800" dirty="0" smtClean="0"/>
                  <a:t>1) Siendo el filtro de lazo </a:t>
                </a:r>
                <a:r>
                  <a:rPr lang="es-AR" sz="1800" i="1" dirty="0" smtClean="0"/>
                  <a:t>L(s) = K</a:t>
                </a:r>
                <a:r>
                  <a:rPr lang="es-AR" sz="1800" dirty="0" smtClean="0"/>
                  <a:t>, obtenemos la transferencia a lazo cerrado y la transferencia del error de fase como: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2) </a:t>
                </a:r>
                <a:r>
                  <a:rPr lang="es-AR" sz="1800" dirty="0" smtClean="0"/>
                  <a:t>Para el escalón de fase:</a:t>
                </a:r>
                <a14:m>
                  <m:oMath xmlns:m="http://schemas.openxmlformats.org/officeDocument/2006/math">
                    <m:r>
                      <a:rPr lang="es-AR" sz="1800" b="0" i="0" smtClean="0">
                        <a:latin typeface="Cambria Math"/>
                      </a:rPr>
                      <m:t>  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s-AR" sz="1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</a:rPr>
                      <m:t>.</m:t>
                    </m:r>
                    <m:r>
                      <a:rPr lang="es-AR" sz="1800" b="0" i="1" smtClean="0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b="0" i="1" smtClean="0">
                        <a:latin typeface="Cambria Math"/>
                      </a:rPr>
                      <m:t> 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r>
                      <a:rPr lang="es-AR" sz="1800" i="1">
                        <a:latin typeface="Cambria Math"/>
                      </a:rPr>
                      <m:t>(</m:t>
                    </m:r>
                    <m:r>
                      <a:rPr lang="es-AR" sz="1800" i="1">
                        <a:latin typeface="Cambria Math"/>
                      </a:rPr>
                      <m:t>𝑠</m:t>
                    </m:r>
                  </m:oMath>
                </a14:m>
                <a:r>
                  <a:rPr lang="es-AR" sz="1800" dirty="0" smtClean="0"/>
                  <a:t>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AR" sz="1800" b="0" i="0" smtClean="0">
                        <a:latin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s-AR" sz="1800" b="0" i="0" smtClean="0">
                        <a:latin typeface="Cambria Math"/>
                      </a:rPr>
                      <m:t>s</m:t>
                    </m:r>
                  </m:oMath>
                </a14:m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Para la rampa de fase: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Δ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  <a:ea typeface="Cambria Math"/>
                      </a:rPr>
                      <m:t>ω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s-AR" sz="1800" i="1">
                        <a:latin typeface="Cambria Math"/>
                      </a:rPr>
                      <m:t>.</m:t>
                    </m:r>
                    <m:r>
                      <a:rPr lang="es-AR" sz="18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i="1">
                        <a:latin typeface="Cambria Math"/>
                      </a:rPr>
                      <m:t> </m:t>
                    </m:r>
                    <m:r>
                      <a:rPr lang="es-AR" sz="1800" i="1">
                        <a:latin typeface="Cambria Math"/>
                        <a:ea typeface="Cambria Math"/>
                      </a:rPr>
                      <m:t>→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r>
                      <a:rPr lang="es-AR" sz="1800" i="1">
                        <a:latin typeface="Cambria Math"/>
                      </a:rPr>
                      <m:t>(</m:t>
                    </m:r>
                    <m:r>
                      <a:rPr lang="es-AR" sz="1800" i="1">
                        <a:latin typeface="Cambria Math"/>
                      </a:rPr>
                      <m:t>𝑠</m:t>
                    </m:r>
                  </m:oMath>
                </a14:m>
                <a:r>
                  <a:rPr lang="es-AR" sz="1800" dirty="0"/>
                  <a:t>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Δ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  <a:ea typeface="Cambria Math"/>
                      </a:rPr>
                      <m:t>ω</m:t>
                    </m:r>
                    <m:r>
                      <a:rPr lang="es-AR" sz="1800" b="0" i="0" smtClean="0">
                        <a:latin typeface="Cambria Math"/>
                        <a:ea typeface="Cambria Math"/>
                      </a:rPr>
                      <m:t>/</m:t>
                    </m:r>
                    <m:sSup>
                      <m:sSupPr>
                        <m:ctrlPr>
                          <a:rPr lang="es-A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1800" b="0" i="1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s-AR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1800" dirty="0" smtClean="0"/>
                  <a:t> </a:t>
                </a: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 </a:t>
                </a:r>
                <a:endParaRPr lang="es-AR" sz="1800" dirty="0"/>
              </a:p>
            </p:txBody>
          </p:sp>
        </mc:Choice>
        <mc:Fallback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 t="-49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323528" y="2173377"/>
                <a:ext cx="3541290" cy="707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173377"/>
                <a:ext cx="3541290" cy="707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CuadroTexto"/>
              <p:cNvSpPr txBox="1"/>
              <p:nvPr/>
            </p:nvSpPr>
            <p:spPr>
              <a:xfrm>
                <a:off x="4785893" y="2192549"/>
                <a:ext cx="3626249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s-AR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93" y="2192549"/>
                <a:ext cx="3626249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323528" y="4848007"/>
                <a:ext cx="5016951" cy="453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ε</m:t>
                    </m:r>
                    <m:r>
                      <a:rPr lang="es-AR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AR" b="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s-AR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AR" b="0" i="1" smtClean="0">
                            <a:latin typeface="Cambria Math"/>
                          </a:rPr>
                          <m:t>𝑒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s-AR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s-AR" b="0" i="1" smtClean="0">
                                    <a:latin typeface="Cambria Math"/>
                                  </a:rPr>
                                  <m:t>𝑠</m:t>
                                </m:r>
                                <m:r>
                                  <a:rPr lang="es-AR" i="1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b="0" i="1" smtClean="0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s-AR" dirty="0" smtClean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AR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  <m:r>
                              <a:rPr lang="es-AR" i="1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s-AR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s-AR" i="1">
                            <a:latin typeface="Cambria Math"/>
                            <a:ea typeface="Cambria Math"/>
                          </a:rPr>
                          <m:t>.</m:t>
                        </m:r>
                        <m:sSub>
                          <m:sSubPr>
                            <m:ctrlPr>
                              <a:rPr lang="es-A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s-AR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s-A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</m:d>
                      </m:e>
                    </m:func>
                    <m:r>
                      <a:rPr lang="es-AR" b="0" i="1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l-GR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Θ</m:t>
                    </m:r>
                    <m:r>
                      <a:rPr lang="es-AR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s-AR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𝑠</m:t>
                    </m:r>
                    <m:r>
                      <m:rPr>
                        <m:nor/>
                      </m:rPr>
                      <a:rPr lang="es-AR" dirty="0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s-AR" b="0" i="0" dirty="0" smtClean="0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AR" b="0" i="0" dirty="0" smtClean="0"/>
                      <m:t>=</m:t>
                    </m:r>
                  </m:oMath>
                </a14:m>
                <a:r>
                  <a:rPr lang="es-AR" dirty="0" smtClean="0"/>
                  <a:t>…</a:t>
                </a:r>
                <a:endParaRPr lang="es-A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848007"/>
                <a:ext cx="5016951" cy="453201"/>
              </a:xfrm>
              <a:prstGeom prst="rect">
                <a:avLst/>
              </a:prstGeom>
              <a:blipFill rotWithShape="1">
                <a:blip r:embed="rId5"/>
                <a:stretch>
                  <a:fillRect t="-5333" r="-122" b="-2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5525520" y="4593902"/>
            <a:ext cx="2884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 smtClean="0"/>
              <a:t>0</a:t>
            </a:r>
            <a:r>
              <a:rPr lang="es-AR" dirty="0" smtClean="0"/>
              <a:t> para el escalón de fase</a:t>
            </a:r>
          </a:p>
          <a:p>
            <a:endParaRPr lang="es-AR" dirty="0" smtClean="0"/>
          </a:p>
          <a:p>
            <a:r>
              <a:rPr lang="el-GR" b="1" dirty="0" smtClean="0"/>
              <a:t>Δ</a:t>
            </a:r>
            <a:r>
              <a:rPr lang="el-GR" b="1" dirty="0" smtClean="0">
                <a:latin typeface="Cambria Math"/>
                <a:ea typeface="Cambria Math"/>
              </a:rPr>
              <a:t>ω</a:t>
            </a:r>
            <a:r>
              <a:rPr lang="es-AR" b="1" dirty="0" smtClean="0">
                <a:latin typeface="Cambria Math"/>
                <a:ea typeface="Cambria Math"/>
              </a:rPr>
              <a:t>/K </a:t>
            </a:r>
            <a:r>
              <a:rPr lang="es-AR" dirty="0" smtClean="0">
                <a:latin typeface="Cambria Math"/>
                <a:ea typeface="Cambria Math"/>
              </a:rPr>
              <a:t>para la rampa de fase</a:t>
            </a:r>
            <a:endParaRPr lang="es-AR" dirty="0"/>
          </a:p>
        </p:txBody>
      </p:sp>
      <p:sp>
        <p:nvSpPr>
          <p:cNvPr id="3" name="Abrir llave 2"/>
          <p:cNvSpPr/>
          <p:nvPr/>
        </p:nvSpPr>
        <p:spPr>
          <a:xfrm>
            <a:off x="5340479" y="4653136"/>
            <a:ext cx="95617" cy="8640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2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47 – PLL de primer orden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3) Respuesta en  frecuencia: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  <a:endParaRPr lang="es-AR" sz="1800" dirty="0"/>
          </a:p>
        </p:txBody>
      </p:sp>
      <p:grpSp>
        <p:nvGrpSpPr>
          <p:cNvPr id="9" name="Grupo 8"/>
          <p:cNvGrpSpPr/>
          <p:nvPr/>
        </p:nvGrpSpPr>
        <p:grpSpPr>
          <a:xfrm>
            <a:off x="467544" y="2420888"/>
            <a:ext cx="7789688" cy="1800200"/>
            <a:chOff x="814190" y="2787980"/>
            <a:chExt cx="7789688" cy="18002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 rotWithShape="1">
            <a:blip r:embed="rId2"/>
            <a:srcRect l="57485" t="30400" r="22437" b="52100"/>
            <a:stretch/>
          </p:blipFill>
          <p:spPr>
            <a:xfrm>
              <a:off x="4932040" y="2787980"/>
              <a:ext cx="3671838" cy="1800200"/>
            </a:xfrm>
            <a:prstGeom prst="rect">
              <a:avLst/>
            </a:prstGeom>
          </p:spPr>
        </p:pic>
        <p:pic>
          <p:nvPicPr>
            <p:cNvPr id="13" name="Imagen 12"/>
            <p:cNvPicPr>
              <a:picLocks noChangeAspect="1"/>
            </p:cNvPicPr>
            <p:nvPr/>
          </p:nvPicPr>
          <p:blipFill rotWithShape="1">
            <a:blip r:embed="rId2"/>
            <a:srcRect l="34250" t="30400" r="42955" b="55750"/>
            <a:stretch/>
          </p:blipFill>
          <p:spPr>
            <a:xfrm>
              <a:off x="814190" y="2794330"/>
              <a:ext cx="4168650" cy="1424724"/>
            </a:xfrm>
            <a:prstGeom prst="rect">
              <a:avLst/>
            </a:prstGeom>
          </p:spPr>
        </p:pic>
      </p:grpSp>
      <p:sp>
        <p:nvSpPr>
          <p:cNvPr id="15" name="24 CuadroTexto"/>
          <p:cNvSpPr txBox="1"/>
          <p:nvPr/>
        </p:nvSpPr>
        <p:spPr>
          <a:xfrm>
            <a:off x="564787" y="5291916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¿Qué es conveniente? ¿K pequeño o K grande?</a:t>
            </a:r>
            <a:endParaRPr lang="es-AR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292301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48 – PLL de segundo orden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7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1) Siendo el filtro de lazo L(s), obtenemos la transferencia a lazo cerrado y la transferencia del error de fase como: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004" y="1340768"/>
            <a:ext cx="2685860" cy="1235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2066587" y="3513650"/>
                <a:ext cx="5165517" cy="707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𝐾𝑠</m:t>
                          </m:r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𝐾</m:t>
                          </m:r>
                          <m:sSub>
                            <m:sSubPr>
                              <m:ctrlP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𝐾</m:t>
                              </m:r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𝐾</m:t>
                          </m:r>
                          <m:sSub>
                            <m:sSubPr>
                              <m:ctrlP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587" y="3513650"/>
                <a:ext cx="5165517" cy="707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/>
          <p:cNvSpPr/>
          <p:nvPr/>
        </p:nvSpPr>
        <p:spPr>
          <a:xfrm>
            <a:off x="3299004" y="1353468"/>
            <a:ext cx="242512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16 CuadroTexto"/>
              <p:cNvSpPr txBox="1"/>
              <p:nvPr/>
            </p:nvSpPr>
            <p:spPr>
              <a:xfrm>
                <a:off x="1958504" y="4747917"/>
                <a:ext cx="5388334" cy="697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d>
                            <m:d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4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504" y="4747917"/>
                <a:ext cx="5388334" cy="697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5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48 – PLL de segundo orden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8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2) Para el escalón de fase:</a:t>
                </a:r>
                <a14:m>
                  <m:oMath xmlns:m="http://schemas.openxmlformats.org/officeDocument/2006/math">
                    <m:r>
                      <a:rPr lang="es-AR" sz="1800" b="0" i="0" smtClean="0">
                        <a:latin typeface="Cambria Math"/>
                      </a:rPr>
                      <m:t>  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s-AR" sz="1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</a:rPr>
                      <m:t>.</m:t>
                    </m:r>
                    <m:r>
                      <a:rPr lang="es-AR" sz="1800" b="0" i="1" smtClean="0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b="0" i="1" smtClean="0">
                        <a:latin typeface="Cambria Math"/>
                      </a:rPr>
                      <m:t> 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r>
                      <a:rPr lang="es-AR" sz="1800" i="1">
                        <a:latin typeface="Cambria Math"/>
                      </a:rPr>
                      <m:t>(</m:t>
                    </m:r>
                    <m:r>
                      <a:rPr lang="es-AR" sz="1800" i="1">
                        <a:latin typeface="Cambria Math"/>
                      </a:rPr>
                      <m:t>𝑠</m:t>
                    </m:r>
                    <m:r>
                      <m:rPr>
                        <m:nor/>
                      </m:rPr>
                      <a:rPr lang="es-AR" sz="1800" dirty="0"/>
                      <m:t>)=</m:t>
                    </m:r>
                    <m:sSub>
                      <m:sSub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AR" sz="1800">
                        <a:latin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s-AR" sz="1800">
                        <a:latin typeface="Cambria Math"/>
                      </a:rPr>
                      <m:t>s</m:t>
                    </m:r>
                  </m:oMath>
                </a14:m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Para la rampa de fase: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Δ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  <a:ea typeface="Cambria Math"/>
                      </a:rPr>
                      <m:t>ω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s-AR" sz="1800" i="1">
                        <a:latin typeface="Cambria Math"/>
                      </a:rPr>
                      <m:t>.</m:t>
                    </m:r>
                    <m:r>
                      <a:rPr lang="es-AR" sz="18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8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sz="1800" i="1">
                        <a:latin typeface="Cambria Math"/>
                      </a:rPr>
                      <m:t> </m:t>
                    </m:r>
                    <m:r>
                      <a:rPr lang="es-AR" sz="1800" i="1">
                        <a:latin typeface="Cambria Math"/>
                        <a:ea typeface="Cambria Math"/>
                      </a:rPr>
                      <m:t>→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r>
                      <a:rPr lang="es-AR" sz="1800" i="1">
                        <a:latin typeface="Cambria Math"/>
                      </a:rPr>
                      <m:t>(</m:t>
                    </m:r>
                    <m:r>
                      <a:rPr lang="es-AR" sz="1800" i="1">
                        <a:latin typeface="Cambria Math"/>
                      </a:rPr>
                      <m:t>𝑠</m:t>
                    </m:r>
                    <m:r>
                      <m:rPr>
                        <m:nor/>
                      </m:rPr>
                      <a:rPr lang="es-AR" sz="1800" dirty="0"/>
                      <m:t>)=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Δ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  <a:ea typeface="Cambria Math"/>
                      </a:rPr>
                      <m:t>ω</m:t>
                    </m:r>
                    <m:r>
                      <a:rPr lang="es-AR" sz="1800">
                        <a:latin typeface="Cambria Math"/>
                        <a:ea typeface="Cambria Math"/>
                      </a:rPr>
                      <m:t>/</m:t>
                    </m:r>
                    <m:sSup>
                      <m:sSup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1800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s-AR" sz="1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 </a:t>
                </a:r>
                <a:endParaRPr lang="es-AR" sz="1800" dirty="0"/>
              </a:p>
            </p:txBody>
          </p:sp>
        </mc:Choice>
        <mc:Fallback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004" y="1340768"/>
            <a:ext cx="2685860" cy="1235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5293156" y="4654877"/>
            <a:ext cx="3537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i="1" dirty="0" smtClean="0"/>
              <a:t>0</a:t>
            </a:r>
            <a:r>
              <a:rPr lang="es-AR" dirty="0" smtClean="0"/>
              <a:t> para el escalón de fase</a:t>
            </a:r>
          </a:p>
          <a:p>
            <a:r>
              <a:rPr lang="el-GR" b="1" i="1" dirty="0" smtClean="0"/>
              <a:t>Δ</a:t>
            </a:r>
            <a:r>
              <a:rPr lang="el-GR" b="1" i="1" dirty="0" smtClean="0">
                <a:latin typeface="Cambria Math"/>
                <a:ea typeface="Cambria Math"/>
              </a:rPr>
              <a:t>ω</a:t>
            </a:r>
            <a:r>
              <a:rPr lang="es-AR" b="1" i="1" dirty="0" smtClean="0">
                <a:latin typeface="Cambria Math"/>
                <a:ea typeface="Cambria Math"/>
              </a:rPr>
              <a:t>.K</a:t>
            </a:r>
            <a:r>
              <a:rPr lang="es-AR" b="1" i="1" baseline="-25000" dirty="0" smtClean="0">
                <a:latin typeface="Cambria Math"/>
                <a:ea typeface="Cambria Math"/>
              </a:rPr>
              <a:t>2</a:t>
            </a:r>
            <a:r>
              <a:rPr lang="es-AR" b="1" i="1" dirty="0" smtClean="0">
                <a:latin typeface="Cambria Math"/>
                <a:ea typeface="Cambria Math"/>
              </a:rPr>
              <a:t>/K.K</a:t>
            </a:r>
            <a:r>
              <a:rPr lang="es-AR" b="1" i="1" baseline="-25000" dirty="0" smtClean="0">
                <a:latin typeface="Cambria Math"/>
                <a:ea typeface="Cambria Math"/>
              </a:rPr>
              <a:t>1</a:t>
            </a:r>
            <a:r>
              <a:rPr lang="es-AR" b="1" i="1" dirty="0" smtClean="0">
                <a:latin typeface="Cambria Math"/>
                <a:ea typeface="Cambria Math"/>
              </a:rPr>
              <a:t> </a:t>
            </a:r>
            <a:r>
              <a:rPr lang="es-AR" dirty="0" smtClean="0">
                <a:latin typeface="Cambria Math"/>
                <a:ea typeface="Cambria Math"/>
              </a:rPr>
              <a:t>para la rampa de fase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7 CuadroTexto"/>
              <p:cNvSpPr txBox="1"/>
              <p:nvPr/>
            </p:nvSpPr>
            <p:spPr>
              <a:xfrm>
                <a:off x="323528" y="4765091"/>
                <a:ext cx="5016951" cy="453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ε</m:t>
                    </m:r>
                    <m:r>
                      <a:rPr lang="es-AR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AR" b="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s-AR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AR" b="0" i="1" smtClean="0">
                            <a:latin typeface="Cambria Math"/>
                          </a:rPr>
                          <m:t>𝑒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s-AR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s-AR" b="0" i="1" smtClean="0">
                                    <a:latin typeface="Cambria Math"/>
                                  </a:rPr>
                                  <m:t>𝑠</m:t>
                                </m:r>
                                <m:r>
                                  <a:rPr lang="es-AR" i="1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b="0" i="1" smtClean="0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s-AR" dirty="0" smtClean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AR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  <m:r>
                              <a:rPr lang="es-AR" i="1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s-AR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s-AR" i="1">
                            <a:latin typeface="Cambria Math"/>
                            <a:ea typeface="Cambria Math"/>
                          </a:rPr>
                          <m:t>.</m:t>
                        </m:r>
                        <m:sSub>
                          <m:sSubPr>
                            <m:ctrlPr>
                              <a:rPr lang="es-A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s-AR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s-A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</m:d>
                      </m:e>
                    </m:func>
                    <m:r>
                      <a:rPr lang="es-AR" b="0" i="1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l-GR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Θ</m:t>
                    </m:r>
                    <m:r>
                      <a:rPr lang="es-AR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s-AR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𝑠</m:t>
                    </m:r>
                    <m:r>
                      <m:rPr>
                        <m:nor/>
                      </m:rPr>
                      <a:rPr lang="es-AR" dirty="0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s-AR" b="0" i="0" dirty="0" smtClean="0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AR" b="0" i="0" dirty="0" smtClean="0"/>
                      <m:t>=</m:t>
                    </m:r>
                  </m:oMath>
                </a14:m>
                <a:r>
                  <a:rPr lang="es-AR" dirty="0" smtClean="0"/>
                  <a:t>…</a:t>
                </a:r>
                <a:endParaRPr lang="es-AR" dirty="0"/>
              </a:p>
            </p:txBody>
          </p:sp>
        </mc:Choice>
        <mc:Fallback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765091"/>
                <a:ext cx="5016951" cy="453201"/>
              </a:xfrm>
              <a:prstGeom prst="rect">
                <a:avLst/>
              </a:prstGeom>
              <a:blipFill>
                <a:blip r:embed="rId4"/>
                <a:stretch>
                  <a:fillRect t="-8108" r="-122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/>
          <p:cNvSpPr/>
          <p:nvPr/>
        </p:nvSpPr>
        <p:spPr>
          <a:xfrm>
            <a:off x="3299004" y="1353468"/>
            <a:ext cx="242512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brir llave 12"/>
          <p:cNvSpPr/>
          <p:nvPr/>
        </p:nvSpPr>
        <p:spPr>
          <a:xfrm>
            <a:off x="5224264" y="4667628"/>
            <a:ext cx="133672" cy="5760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8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48 – PLL de segundo orden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9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3) Expresamos la transferencia a lazo cerrado como: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323528" y="2348880"/>
                <a:ext cx="5165517" cy="707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𝐿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𝐾𝑠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𝐾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𝐾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i="1"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𝐾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348880"/>
                <a:ext cx="5165517" cy="70743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1" t="54104" r="67752" b="41143"/>
          <a:stretch/>
        </p:blipFill>
        <p:spPr bwMode="auto">
          <a:xfrm>
            <a:off x="3126704" y="3260307"/>
            <a:ext cx="2098504" cy="510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errar llave"/>
          <p:cNvSpPr/>
          <p:nvPr/>
        </p:nvSpPr>
        <p:spPr>
          <a:xfrm rot="5400000" flipV="1">
            <a:off x="4103948" y="2240868"/>
            <a:ext cx="144016" cy="1800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CuadroTexto"/>
          <p:cNvSpPr txBox="1"/>
          <p:nvPr/>
        </p:nvSpPr>
        <p:spPr>
          <a:xfrm>
            <a:off x="971600" y="435581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Factor de amortiguamiento</a:t>
            </a:r>
            <a:endParaRPr lang="es-AR" dirty="0"/>
          </a:p>
        </p:txBody>
      </p:sp>
      <p:sp>
        <p:nvSpPr>
          <p:cNvPr id="15" name="14 CuadroTexto"/>
          <p:cNvSpPr txBox="1"/>
          <p:nvPr/>
        </p:nvSpPr>
        <p:spPr>
          <a:xfrm>
            <a:off x="4204747" y="4365104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Frecuencia natural</a:t>
            </a:r>
            <a:endParaRPr lang="es-AR" dirty="0"/>
          </a:p>
        </p:txBody>
      </p:sp>
      <p:cxnSp>
        <p:nvCxnSpPr>
          <p:cNvPr id="17" name="16 Conector angular"/>
          <p:cNvCxnSpPr>
            <a:endCxn id="15" idx="0"/>
          </p:cNvCxnSpPr>
          <p:nvPr/>
        </p:nvCxnSpPr>
        <p:spPr>
          <a:xfrm rot="16200000" flipH="1">
            <a:off x="4687266" y="3799900"/>
            <a:ext cx="593954" cy="53645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angular"/>
          <p:cNvCxnSpPr>
            <a:stCxn id="26" idx="2"/>
            <a:endCxn id="13" idx="0"/>
          </p:cNvCxnSpPr>
          <p:nvPr/>
        </p:nvCxnSpPr>
        <p:spPr>
          <a:xfrm rot="5400000">
            <a:off x="2856208" y="3357458"/>
            <a:ext cx="584663" cy="14120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Rectángulo"/>
          <p:cNvSpPr/>
          <p:nvPr/>
        </p:nvSpPr>
        <p:spPr>
          <a:xfrm>
            <a:off x="3785191" y="3260307"/>
            <a:ext cx="138739" cy="510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722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dirty="0" smtClean="0"/>
              <a:t>48 </a:t>
            </a:r>
            <a:r>
              <a:rPr lang="es-AR" dirty="0" smtClean="0"/>
              <a:t>– PLL de </a:t>
            </a:r>
            <a:r>
              <a:rPr lang="es-AR" dirty="0" smtClean="0"/>
              <a:t>segundo </a:t>
            </a:r>
            <a:r>
              <a:rPr lang="es-AR" dirty="0" smtClean="0"/>
              <a:t>orden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10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4) Respuesta en  frecuencia: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  <a:endParaRPr lang="es-AR" sz="1800" dirty="0"/>
          </a:p>
        </p:txBody>
      </p:sp>
      <p:sp>
        <p:nvSpPr>
          <p:cNvPr id="15" name="24 CuadroTexto"/>
          <p:cNvSpPr txBox="1"/>
          <p:nvPr/>
        </p:nvSpPr>
        <p:spPr>
          <a:xfrm>
            <a:off x="564787" y="5291916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¿Qué diferenci</a:t>
            </a:r>
            <a:r>
              <a:rPr lang="es-AR" dirty="0" smtClean="0"/>
              <a:t>as encuentran con el PLL de primer orden?</a:t>
            </a:r>
            <a:endParaRPr lang="es-AR" baseline="30000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33857" t="44400" r="41731" b="19901"/>
          <a:stretch/>
        </p:blipFill>
        <p:spPr>
          <a:xfrm>
            <a:off x="539552" y="1556792"/>
            <a:ext cx="4464496" cy="367240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/>
          <a:srcRect l="59451" t="50618" r="18894" b="19983"/>
          <a:stretch/>
        </p:blipFill>
        <p:spPr>
          <a:xfrm>
            <a:off x="4862673" y="2195339"/>
            <a:ext cx="3960440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3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49 – Diseño de un PLL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11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  <a:endParaRPr lang="es-AR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2 Marcador de contenido"/>
              <p:cNvSpPr txBox="1">
                <a:spLocks/>
              </p:cNvSpPr>
              <p:nvPr/>
            </p:nvSpPr>
            <p:spPr>
              <a:xfrm>
                <a:off x="609600" y="1371600"/>
                <a:ext cx="8229600" cy="4937760"/>
              </a:xfrm>
              <a:prstGeom prst="rect">
                <a:avLst/>
              </a:prstGeom>
            </p:spPr>
            <p:txBody>
              <a:bodyPr vert="horz">
                <a:normAutofit lnSpcReduction="1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accent2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accent2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accent2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accent2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accent2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just">
                  <a:buFont typeface="Wingdings 3"/>
                  <a:buAutoNum type="arabicParenR"/>
                </a:pPr>
                <a:r>
                  <a:rPr lang="es-AR" sz="1800" dirty="0" smtClean="0"/>
                  <a:t>La señal a sincronizar, </a:t>
                </a:r>
                <a:r>
                  <a:rPr lang="es-AR" sz="1800" dirty="0" err="1" smtClean="0"/>
                  <a:t>f</a:t>
                </a:r>
                <a:r>
                  <a:rPr lang="es-AR" sz="1800" baseline="-25000" dirty="0" err="1" smtClean="0"/>
                  <a:t>c</a:t>
                </a:r>
                <a:r>
                  <a:rPr lang="es-AR" sz="1800" dirty="0" smtClean="0"/>
                  <a:t> = 1 GHz, puede sufrir un corrimiento </a:t>
                </a:r>
                <a:r>
                  <a:rPr lang="el-GR" sz="1800" dirty="0" smtClean="0"/>
                  <a:t>Δ</a:t>
                </a:r>
                <a:r>
                  <a:rPr lang="es-AR" sz="1800" dirty="0" smtClean="0"/>
                  <a:t>f = (v/c).</a:t>
                </a:r>
                <a:r>
                  <a:rPr lang="es-AR" sz="1800" dirty="0" err="1" smtClean="0"/>
                  <a:t>f</a:t>
                </a:r>
                <a:r>
                  <a:rPr lang="es-AR" sz="1800" baseline="-25000" dirty="0" err="1" smtClean="0"/>
                  <a:t>c</a:t>
                </a:r>
                <a:r>
                  <a:rPr lang="es-AR" sz="1800" dirty="0" smtClean="0"/>
                  <a:t>, con v 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≤ 200 km/h</a:t>
                </a:r>
                <a:r>
                  <a:rPr lang="es-AR" sz="1800" dirty="0" smtClean="0"/>
                  <a:t>. </a:t>
                </a:r>
                <a:r>
                  <a:rPr lang="es-AR" sz="1800" dirty="0" smtClean="0"/>
                  <a:t>Resulta </a:t>
                </a:r>
                <a:r>
                  <a:rPr lang="el-GR" sz="1800" dirty="0"/>
                  <a:t>Δ</a:t>
                </a:r>
                <a:r>
                  <a:rPr lang="es-AR" sz="1800" dirty="0"/>
                  <a:t>f = </a:t>
                </a:r>
                <a:r>
                  <a:rPr lang="es-AR" sz="1800" dirty="0" smtClean="0"/>
                  <a:t>185 Hz.</a:t>
                </a:r>
                <a:endParaRPr lang="es-AR" sz="1800" dirty="0" smtClean="0"/>
              </a:p>
              <a:p>
                <a:pPr marL="342900" indent="-342900" algn="just">
                  <a:buFont typeface="Wingdings 3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r>
                  <a:rPr lang="es-AR" sz="1800" dirty="0" smtClean="0"/>
                  <a:t>La </a:t>
                </a:r>
                <a:r>
                  <a:rPr lang="es-AR" sz="1800" dirty="0" smtClean="0"/>
                  <a:t>condición de enganche </a:t>
                </a:r>
                <a:r>
                  <a:rPr lang="es-AR" sz="1800" dirty="0" smtClean="0"/>
                  <a:t>(</a:t>
                </a:r>
                <a:r>
                  <a:rPr lang="es-AR" sz="1800" i="1" dirty="0" err="1" smtClean="0"/>
                  <a:t>hold</a:t>
                </a:r>
                <a:r>
                  <a:rPr lang="es-AR" sz="1800" i="1" dirty="0" smtClean="0"/>
                  <a:t>-in </a:t>
                </a:r>
                <a:r>
                  <a:rPr lang="es-AR" sz="1800" i="1" dirty="0" err="1" smtClean="0"/>
                  <a:t>range</a:t>
                </a:r>
                <a:r>
                  <a:rPr lang="es-AR" sz="1800" dirty="0" smtClean="0"/>
                  <a:t>) del </a:t>
                </a:r>
                <a:r>
                  <a:rPr lang="es-AR" sz="1800" dirty="0" smtClean="0"/>
                  <a:t>PLL de orden 1 es (ver Digital </a:t>
                </a:r>
                <a:r>
                  <a:rPr lang="es-AR" sz="1800" dirty="0" err="1" smtClean="0"/>
                  <a:t>Communication</a:t>
                </a:r>
                <a:r>
                  <a:rPr lang="es-AR" sz="1800" dirty="0" smtClean="0"/>
                  <a:t> de </a:t>
                </a:r>
                <a:r>
                  <a:rPr lang="es-AR" sz="1800" i="1" dirty="0" smtClean="0"/>
                  <a:t>Lee-</a:t>
                </a:r>
                <a:r>
                  <a:rPr lang="es-AR" sz="1800" i="1" dirty="0" err="1" smtClean="0"/>
                  <a:t>Messchermitt</a:t>
                </a:r>
                <a:r>
                  <a:rPr lang="es-AR" sz="1800" dirty="0" smtClean="0"/>
                  <a:t> </a:t>
                </a:r>
                <a:r>
                  <a:rPr lang="es-AR" sz="1800" dirty="0" err="1" smtClean="0"/>
                  <a:t>ec</a:t>
                </a:r>
                <a:r>
                  <a:rPr lang="es-AR" sz="1800" dirty="0" smtClean="0"/>
                  <a:t>. 15.10):</a:t>
                </a:r>
              </a:p>
              <a:p>
                <a:pPr marL="342900" indent="-342900" algn="just">
                  <a:buFont typeface="Wingdings 3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r>
                  <a:rPr lang="es-AR" sz="1800" dirty="0" smtClean="0"/>
                  <a:t>|</a:t>
                </a:r>
                <a:r>
                  <a:rPr lang="el-GR" sz="1800" dirty="0" smtClean="0"/>
                  <a:t>Δ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ω</a:t>
                </a:r>
                <a:r>
                  <a:rPr lang="es-AR" sz="1800" dirty="0" smtClean="0"/>
                  <a:t>|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≤ </a:t>
                </a:r>
                <a:r>
                  <a:rPr lang="el-GR" sz="1800" dirty="0" smtClean="0">
                    <a:latin typeface="Cambria Math"/>
                    <a:ea typeface="Cambria Math"/>
                  </a:rPr>
                  <a:t>π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.L(0) = </a:t>
                </a:r>
                <a:r>
                  <a:rPr lang="el-GR" sz="1800" dirty="0" smtClean="0">
                    <a:latin typeface="Cambria Math"/>
                    <a:ea typeface="Cambria Math"/>
                  </a:rPr>
                  <a:t>π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.K	→   De aquí podemos obtener K de modo tal que el PLL se mantenga enganchado en fase.</a:t>
                </a: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2) El tiempo que tarda el PLL en entrar en el rango de enganche ante una rampa de fase es proporcional a </a:t>
                </a:r>
                <a14:m>
                  <m:oMath xmlns:m="http://schemas.openxmlformats.org/officeDocument/2006/math">
                    <m:r>
                      <a:rPr lang="es-AR" sz="18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τ</m:t>
                    </m:r>
                    <m:r>
                      <a:rPr lang="es-AR" sz="18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s-AR" sz="1800" dirty="0" smtClean="0"/>
                  <a:t>1/K (constante de tiempo del lazo), ya que la respuesta temporal es de la forma </a:t>
                </a:r>
                <a:r>
                  <a:rPr lang="el-GR" sz="1800" dirty="0" smtClean="0"/>
                  <a:t>ε</a:t>
                </a:r>
                <a:r>
                  <a:rPr lang="es-AR" sz="1800" baseline="-25000" dirty="0">
                    <a:latin typeface="Cambria Math"/>
                    <a:ea typeface="Cambria Math"/>
                  </a:rPr>
                  <a:t>ω</a:t>
                </a:r>
                <a:r>
                  <a:rPr lang="el-GR" sz="1800" dirty="0" smtClean="0"/>
                  <a:t> </a:t>
                </a:r>
                <a:r>
                  <a:rPr lang="es-AR" sz="1800" dirty="0" smtClean="0"/>
                  <a:t>= </a:t>
                </a:r>
                <a:r>
                  <a:rPr lang="el-GR" sz="1800" dirty="0" smtClean="0"/>
                  <a:t>Δ</a:t>
                </a:r>
                <a:r>
                  <a:rPr lang="es-AR" sz="1800" dirty="0" err="1" smtClean="0">
                    <a:latin typeface="Cambria Math"/>
                    <a:ea typeface="Cambria Math"/>
                  </a:rPr>
                  <a:t>ω.</a:t>
                </a:r>
                <a:r>
                  <a:rPr lang="es-AR" sz="1800" dirty="0" err="1" smtClean="0"/>
                  <a:t>e</a:t>
                </a:r>
                <a:r>
                  <a:rPr lang="es-AR" sz="1800" baseline="30000" dirty="0" err="1" smtClean="0"/>
                  <a:t>-K</a:t>
                </a:r>
                <a:r>
                  <a:rPr lang="es-AR" sz="1900" baseline="30000" dirty="0" err="1" smtClean="0"/>
                  <a:t>t</a:t>
                </a:r>
                <a:r>
                  <a:rPr lang="es-AR" sz="1800" dirty="0" err="1" smtClean="0"/>
                  <a:t>u</a:t>
                </a:r>
                <a:r>
                  <a:rPr lang="es-AR" sz="1800" dirty="0" smtClean="0"/>
                  <a:t>(t). En t = 3</a:t>
                </a:r>
                <a:r>
                  <a:rPr lang="el-GR" sz="1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τ</m:t>
                    </m:r>
                  </m:oMath>
                </a14:m>
                <a:r>
                  <a:rPr lang="es-AR" sz="1800" dirty="0" smtClean="0"/>
                  <a:t> la señal supera el 90% del valor final.</a:t>
                </a:r>
                <a:endParaRPr lang="es-AR" sz="1800" dirty="0"/>
              </a:p>
              <a:p>
                <a:pPr marL="0" indent="0" algn="just">
                  <a:buFont typeface="Wingdings 3"/>
                  <a:buNone/>
                </a:pPr>
                <a:endParaRPr lang="es-AR" sz="1800" dirty="0" smtClean="0"/>
              </a:p>
              <a:p>
                <a:pPr marL="0" indent="0" algn="just">
                  <a:buFont typeface="Wingdings 3"/>
                  <a:buNone/>
                </a:pPr>
                <a:r>
                  <a:rPr lang="es-AR" sz="1800" dirty="0" smtClean="0"/>
                  <a:t>3) Repetimos (1) utilizando las ecuaciones del PLL de orden 2 tipo I, visto en el ejercicio </a:t>
                </a:r>
                <a:r>
                  <a:rPr lang="es-AR" sz="1800" dirty="0" smtClean="0"/>
                  <a:t>48.</a:t>
                </a:r>
                <a:endParaRPr lang="es-AR" sz="1800" dirty="0" smtClean="0"/>
              </a:p>
              <a:p>
                <a:pPr marL="0" indent="0" algn="just">
                  <a:buFont typeface="Wingdings 3"/>
                  <a:buNone/>
                </a:pPr>
                <a:endParaRPr lang="es-AR" sz="1800" dirty="0" smtClean="0"/>
              </a:p>
            </p:txBody>
          </p:sp>
        </mc:Choice>
        <mc:Fallback>
          <p:sp>
            <p:nvSpPr>
              <p:cNvPr id="10" name="2 Marcador de contenid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71600"/>
                <a:ext cx="8229600" cy="4937760"/>
              </a:xfrm>
              <a:prstGeom prst="rect">
                <a:avLst/>
              </a:prstGeom>
              <a:blipFill>
                <a:blip r:embed="rId2"/>
                <a:stretch>
                  <a:fillRect l="-593" t="-1358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34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49 – Diseño de un PLL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12</a:t>
            </a:fld>
            <a:endParaRPr lang="es-E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44718"/>
            <a:ext cx="6768752" cy="388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135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50 – Ancho de banda de un PLL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13</a:t>
            </a:fld>
            <a:endParaRPr lang="es-ES"/>
          </a:p>
        </p:txBody>
      </p:sp>
      <p:grpSp>
        <p:nvGrpSpPr>
          <p:cNvPr id="10" name="9 Grupo"/>
          <p:cNvGrpSpPr/>
          <p:nvPr/>
        </p:nvGrpSpPr>
        <p:grpSpPr>
          <a:xfrm>
            <a:off x="2558064" y="1412776"/>
            <a:ext cx="4174176" cy="1222744"/>
            <a:chOff x="4643438" y="4094027"/>
            <a:chExt cx="4174176" cy="1222744"/>
          </a:xfrm>
        </p:grpSpPr>
        <p:pic>
          <p:nvPicPr>
            <p:cNvPr id="13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967" t="21371" r="27366" b="23296"/>
            <a:stretch/>
          </p:blipFill>
          <p:spPr bwMode="auto">
            <a:xfrm>
              <a:off x="7956376" y="4094027"/>
              <a:ext cx="861238" cy="1222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6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316"/>
            <a:stretch/>
          </p:blipFill>
          <p:spPr bwMode="auto">
            <a:xfrm>
              <a:off x="4643438" y="4365104"/>
              <a:ext cx="1656184" cy="933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6" name="15 Conector recto de flecha"/>
            <p:cNvCxnSpPr/>
            <p:nvPr/>
          </p:nvCxnSpPr>
          <p:spPr>
            <a:xfrm flipH="1">
              <a:off x="6038742" y="4705399"/>
              <a:ext cx="177361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Rectángulo"/>
            <p:cNvSpPr/>
            <p:nvPr/>
          </p:nvSpPr>
          <p:spPr>
            <a:xfrm>
              <a:off x="5993316" y="4345359"/>
              <a:ext cx="5229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AR" sz="1400" dirty="0" err="1"/>
                <a:t>y</a:t>
              </a:r>
              <a:r>
                <a:rPr lang="es-AR" sz="1400" baseline="-25000" dirty="0" err="1"/>
                <a:t>A</a:t>
              </a:r>
              <a:r>
                <a:rPr lang="es-AR" sz="1400" dirty="0"/>
                <a:t>(t)</a:t>
              </a:r>
            </a:p>
          </p:txBody>
        </p:sp>
        <p:cxnSp>
          <p:nvCxnSpPr>
            <p:cNvPr id="18" name="17 Conector recto de flecha"/>
            <p:cNvCxnSpPr/>
            <p:nvPr/>
          </p:nvCxnSpPr>
          <p:spPr>
            <a:xfrm>
              <a:off x="6299622" y="5085184"/>
              <a:ext cx="64864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18 Rectángulo"/>
            <p:cNvSpPr/>
            <p:nvPr/>
          </p:nvSpPr>
          <p:spPr>
            <a:xfrm>
              <a:off x="6425364" y="4705399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AR" sz="1400" b="1" dirty="0" smtClean="0"/>
                <a:t>v</a:t>
              </a:r>
              <a:endParaRPr lang="es-AR" sz="1400" b="1" dirty="0"/>
            </a:p>
          </p:txBody>
        </p:sp>
      </p:grp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042" y="2906847"/>
            <a:ext cx="3307123" cy="321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20 Rectángulo"/>
          <p:cNvSpPr/>
          <p:nvPr/>
        </p:nvSpPr>
        <p:spPr>
          <a:xfrm>
            <a:off x="5675540" y="4310470"/>
            <a:ext cx="1056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100" dirty="0" smtClean="0">
                <a:ln w="18000">
                  <a:solidFill>
                    <a:srgbClr val="FF0000"/>
                  </a:solidFill>
                  <a:prstDash val="solid"/>
                </a:ln>
                <a:solidFill>
                  <a:srgbClr val="FF0000">
                    <a:alpha val="5700"/>
                  </a:srgb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¿?</a:t>
            </a:r>
            <a:endParaRPr lang="es-ES" sz="5400" b="1" cap="none" spc="100" dirty="0">
              <a:ln w="18000">
                <a:solidFill>
                  <a:srgbClr val="FF0000"/>
                </a:solidFill>
                <a:prstDash val="solid"/>
              </a:ln>
              <a:solidFill>
                <a:srgbClr val="FF0000">
                  <a:alpha val="5700"/>
                </a:srgb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284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50 – Ancho de banda de un PLL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14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AR" sz="1800" dirty="0" smtClean="0"/>
              <a:t>1) El corrimiento de frecuencia </a:t>
            </a:r>
            <a:r>
              <a:rPr lang="es-AR" sz="1800" dirty="0" err="1" smtClean="0"/>
              <a:t>Doppler</a:t>
            </a:r>
            <a:r>
              <a:rPr lang="es-AR" sz="1800" dirty="0" smtClean="0"/>
              <a:t> se calcula como </a:t>
            </a:r>
            <a:r>
              <a:rPr lang="el-GR" sz="1800" dirty="0"/>
              <a:t>Δ</a:t>
            </a:r>
            <a:r>
              <a:rPr lang="es-AR" sz="1800" dirty="0"/>
              <a:t>f = (v/c).</a:t>
            </a:r>
            <a:r>
              <a:rPr lang="es-AR" sz="1800" dirty="0" smtClean="0"/>
              <a:t>f, siendo f el valor de frecuencia de cada componente. En este primer punto se calcula el corrimiento de la frecuencia central, 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c</a:t>
            </a:r>
            <a:r>
              <a:rPr lang="es-AR" sz="1800" dirty="0" smtClean="0"/>
              <a:t> = 1 GHz, siendo v = 100 km/h</a:t>
            </a:r>
            <a:r>
              <a:rPr lang="es-AR" sz="1800" dirty="0" smtClean="0"/>
              <a:t>. Resulta </a:t>
            </a:r>
            <a:r>
              <a:rPr lang="el-GR" sz="1800" dirty="0"/>
              <a:t>Δ</a:t>
            </a:r>
            <a:r>
              <a:rPr lang="es-AR" sz="1800" dirty="0" err="1" smtClean="0"/>
              <a:t>f</a:t>
            </a:r>
            <a:r>
              <a:rPr lang="es-AR" sz="1800" baseline="-25000" dirty="0" err="1"/>
              <a:t>c</a:t>
            </a:r>
            <a:r>
              <a:rPr lang="es-AR" sz="1800" dirty="0" smtClean="0"/>
              <a:t> = 92,59 Hz.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2) Se repite el cálculo del corrimiento de frecuencia </a:t>
            </a:r>
            <a:r>
              <a:rPr lang="es-AR" sz="1800" dirty="0" err="1" smtClean="0"/>
              <a:t>Doppler</a:t>
            </a:r>
            <a:r>
              <a:rPr lang="es-AR" sz="1800" dirty="0" smtClean="0"/>
              <a:t> para las componentes, </a:t>
            </a:r>
            <a:r>
              <a:rPr lang="es-AR" sz="1800" dirty="0"/>
              <a:t>siendo AB = 2 MHz. 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err="1" smtClean="0"/>
              <a:t>f</a:t>
            </a:r>
            <a:r>
              <a:rPr lang="es-AR" sz="1800" baseline="-25000" dirty="0" err="1" smtClean="0"/>
              <a:t>min</a:t>
            </a:r>
            <a:r>
              <a:rPr lang="es-AR" sz="1800" dirty="0" smtClean="0"/>
              <a:t> = 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c</a:t>
            </a:r>
            <a:r>
              <a:rPr lang="es-AR" sz="1800" dirty="0" smtClean="0"/>
              <a:t> – ½ AB 	→	</a:t>
            </a:r>
            <a:r>
              <a:rPr lang="el-GR" sz="1800" dirty="0"/>
              <a:t> Δ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min</a:t>
            </a:r>
            <a:r>
              <a:rPr lang="es-AR" sz="1800" dirty="0" smtClean="0"/>
              <a:t> </a:t>
            </a:r>
            <a:r>
              <a:rPr lang="es-AR" sz="1800" dirty="0"/>
              <a:t>= (v/c).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min</a:t>
            </a:r>
            <a:r>
              <a:rPr lang="es-AR" sz="1800" baseline="-25000" dirty="0" smtClean="0"/>
              <a:t> </a:t>
            </a:r>
            <a:r>
              <a:rPr lang="es-AR" sz="1800" dirty="0"/>
              <a:t>= 92,5 Hz </a:t>
            </a:r>
          </a:p>
          <a:p>
            <a:pPr marL="0" indent="0" algn="just">
              <a:buNone/>
            </a:pPr>
            <a:r>
              <a:rPr lang="es-AR" sz="1800" dirty="0" err="1" smtClean="0"/>
              <a:t>f</a:t>
            </a:r>
            <a:r>
              <a:rPr lang="es-AR" sz="1800" baseline="-25000" dirty="0" err="1" smtClean="0"/>
              <a:t>max</a:t>
            </a:r>
            <a:r>
              <a:rPr lang="es-AR" sz="1800" dirty="0" smtClean="0"/>
              <a:t> = 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c</a:t>
            </a:r>
            <a:r>
              <a:rPr lang="es-AR" sz="1800" dirty="0" smtClean="0"/>
              <a:t> + ½ AB	</a:t>
            </a:r>
            <a:r>
              <a:rPr lang="es-AR" sz="1800" dirty="0"/>
              <a:t>→	</a:t>
            </a:r>
            <a:r>
              <a:rPr lang="el-GR" sz="1800" dirty="0"/>
              <a:t> Δ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max</a:t>
            </a:r>
            <a:r>
              <a:rPr lang="es-AR" sz="1800" dirty="0" smtClean="0"/>
              <a:t> </a:t>
            </a:r>
            <a:r>
              <a:rPr lang="es-AR" sz="1800" dirty="0"/>
              <a:t>= (v/c).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max</a:t>
            </a:r>
            <a:r>
              <a:rPr lang="es-AR" sz="1800" baseline="-25000" dirty="0" smtClean="0"/>
              <a:t> </a:t>
            </a:r>
            <a:r>
              <a:rPr lang="es-AR" sz="1800" dirty="0"/>
              <a:t>= 92,68 HZ</a:t>
            </a: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Luego, </a:t>
            </a:r>
            <a:r>
              <a:rPr lang="es-AR" sz="1800" dirty="0" smtClean="0"/>
              <a:t>AB’ = 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max</a:t>
            </a:r>
            <a:r>
              <a:rPr lang="es-AR" sz="1800" dirty="0" smtClean="0"/>
              <a:t>’ – 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min</a:t>
            </a:r>
            <a:r>
              <a:rPr lang="es-AR" sz="1800" dirty="0" smtClean="0"/>
              <a:t>’ = (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max</a:t>
            </a:r>
            <a:r>
              <a:rPr lang="es-AR" sz="1800" dirty="0" smtClean="0"/>
              <a:t> + </a:t>
            </a:r>
            <a:r>
              <a:rPr lang="el-GR" sz="1800" dirty="0"/>
              <a:t>Δ</a:t>
            </a:r>
            <a:r>
              <a:rPr lang="es-AR" sz="1800" dirty="0" err="1"/>
              <a:t>f</a:t>
            </a:r>
            <a:r>
              <a:rPr lang="es-AR" sz="1800" baseline="-25000" dirty="0" err="1"/>
              <a:t>max</a:t>
            </a:r>
            <a:r>
              <a:rPr lang="es-AR" sz="1800" dirty="0"/>
              <a:t> </a:t>
            </a:r>
            <a:r>
              <a:rPr lang="es-AR" sz="1800" dirty="0" smtClean="0"/>
              <a:t>) – (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min</a:t>
            </a:r>
            <a:r>
              <a:rPr lang="es-AR" sz="1800" dirty="0" smtClean="0"/>
              <a:t> + </a:t>
            </a:r>
            <a:r>
              <a:rPr lang="el-GR" sz="1800" dirty="0"/>
              <a:t>Δ</a:t>
            </a:r>
            <a:r>
              <a:rPr lang="es-AR" sz="1800" dirty="0" err="1"/>
              <a:t>f</a:t>
            </a:r>
            <a:r>
              <a:rPr lang="es-AR" sz="1800" baseline="-25000" dirty="0" err="1"/>
              <a:t>min</a:t>
            </a:r>
            <a:r>
              <a:rPr lang="es-AR" sz="1800" dirty="0"/>
              <a:t> </a:t>
            </a:r>
            <a:r>
              <a:rPr lang="es-AR" sz="1800" dirty="0" smtClean="0"/>
              <a:t>) = (v/c).AB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3) Se calcula, para </a:t>
            </a:r>
            <a:r>
              <a:rPr lang="es-AR" sz="1800" dirty="0" err="1" smtClean="0"/>
              <a:t>fc</a:t>
            </a:r>
            <a:r>
              <a:rPr lang="es-AR" sz="1800" dirty="0" smtClean="0"/>
              <a:t>, su corrimiento para v &gt; 0 y para v &lt; 0. Ese es el rango de variación de la portadora para el cual debe diseñarse el ancho de banda del PLL, y vale 2.(v/c).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c</a:t>
            </a:r>
            <a:r>
              <a:rPr lang="es-AR" sz="1800" dirty="0" smtClean="0"/>
              <a:t>, es decir, 185,18 Hz.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</p:txBody>
      </p:sp>
    </p:spTree>
    <p:extLst>
      <p:ext uri="{BB962C8B-B14F-4D97-AF65-F5344CB8AC3E}">
        <p14:creationId xmlns:p14="http://schemas.microsoft.com/office/powerpoint/2010/main" val="366172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51 – Offset en PLL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15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1) Por tratarse de un PLL de orden 1, es posible obtener el valor de K a partir de la expresión del error en estado estacionario (ver ejercicio 1):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ctr">
              <a:buNone/>
            </a:pPr>
            <a:r>
              <a:rPr lang="el-GR" sz="1800" dirty="0" smtClean="0"/>
              <a:t>ε</a:t>
            </a:r>
            <a:r>
              <a:rPr lang="es-AR" sz="1800" dirty="0" smtClean="0"/>
              <a:t> = </a:t>
            </a:r>
            <a:r>
              <a:rPr lang="el-GR" sz="1800" dirty="0" smtClean="0"/>
              <a:t>Δ</a:t>
            </a:r>
            <a:r>
              <a:rPr lang="es-AR" sz="1800" dirty="0" smtClean="0">
                <a:latin typeface="Cambria Math"/>
                <a:ea typeface="Cambria Math"/>
              </a:rPr>
              <a:t>ω/K</a:t>
            </a:r>
            <a:r>
              <a:rPr lang="es-AR" sz="1800" dirty="0" smtClean="0"/>
              <a:t> </a:t>
            </a:r>
            <a:r>
              <a:rPr lang="es-AR" sz="1800" dirty="0" smtClean="0">
                <a:latin typeface="Cambria Math"/>
                <a:ea typeface="Cambria Math"/>
              </a:rPr>
              <a:t>≤</a:t>
            </a:r>
            <a:r>
              <a:rPr lang="es-AR" sz="1800" dirty="0" smtClean="0"/>
              <a:t> </a:t>
            </a:r>
            <a:r>
              <a:rPr lang="es-AR" sz="1800" dirty="0" smtClean="0"/>
              <a:t>0,1.</a:t>
            </a:r>
            <a:r>
              <a:rPr lang="el-GR" sz="1800" dirty="0" smtClean="0"/>
              <a:t>π</a:t>
            </a:r>
            <a:r>
              <a:rPr lang="es-AR" sz="1800" dirty="0" smtClean="0"/>
              <a:t> 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Donde </a:t>
            </a:r>
            <a:r>
              <a:rPr lang="el-GR" sz="1800" dirty="0"/>
              <a:t>Δ</a:t>
            </a:r>
            <a:r>
              <a:rPr lang="es-AR" sz="1800" dirty="0" smtClean="0">
                <a:latin typeface="Cambria Math"/>
                <a:ea typeface="Cambria Math"/>
              </a:rPr>
              <a:t>ω es dato del problema: 0,01% de la señal a sincronizar </a:t>
            </a:r>
            <a:r>
              <a:rPr lang="es-AR" sz="1800" dirty="0" smtClean="0">
                <a:latin typeface="Cambria Math"/>
                <a:ea typeface="Cambria Math"/>
              </a:rPr>
              <a:t>(1 </a:t>
            </a:r>
            <a:r>
              <a:rPr lang="es-AR" sz="1800" dirty="0" smtClean="0">
                <a:latin typeface="Cambria Math"/>
                <a:ea typeface="Cambria Math"/>
              </a:rPr>
              <a:t>MHz).</a:t>
            </a:r>
          </a:p>
          <a:p>
            <a:pPr marL="0" indent="0" algn="just">
              <a:buNone/>
            </a:pPr>
            <a:endParaRPr lang="es-AR" sz="1800" dirty="0" smtClean="0">
              <a:latin typeface="Cambria Math"/>
              <a:ea typeface="Cambria Math"/>
            </a:endParaRPr>
          </a:p>
          <a:p>
            <a:pPr marL="0" indent="0" algn="just">
              <a:buNone/>
            </a:pPr>
            <a:r>
              <a:rPr lang="es-AR" sz="1800" dirty="0" smtClean="0">
                <a:latin typeface="Cambria Math"/>
                <a:ea typeface="Cambria Math"/>
              </a:rPr>
              <a:t>2) Si la señal pasa a valer 10 GHz, el PLL diseñado en (1) no podrá soportar un valor tan grande de </a:t>
            </a:r>
            <a:r>
              <a:rPr lang="el-GR" sz="1800" dirty="0" smtClean="0"/>
              <a:t>Δ</a:t>
            </a:r>
            <a:r>
              <a:rPr lang="es-AR" sz="1800" dirty="0" smtClean="0">
                <a:latin typeface="Cambria Math"/>
                <a:ea typeface="Cambria Math"/>
              </a:rPr>
              <a:t>ω cumpliendo la restricción </a:t>
            </a:r>
            <a:r>
              <a:rPr lang="el-GR" sz="1800" dirty="0"/>
              <a:t>ε</a:t>
            </a:r>
            <a:r>
              <a:rPr lang="es-AR" sz="1800" dirty="0"/>
              <a:t> = </a:t>
            </a:r>
            <a:r>
              <a:rPr lang="el-GR" sz="1800" dirty="0" smtClean="0"/>
              <a:t>Δ</a:t>
            </a:r>
            <a:r>
              <a:rPr lang="es-AR" sz="1800" dirty="0" smtClean="0">
                <a:latin typeface="Cambria Math"/>
                <a:ea typeface="Cambria Math"/>
              </a:rPr>
              <a:t>ω/K</a:t>
            </a:r>
            <a:r>
              <a:rPr lang="es-AR" sz="1800" dirty="0" smtClean="0"/>
              <a:t> </a:t>
            </a:r>
            <a:r>
              <a:rPr lang="es-AR" sz="1800" dirty="0">
                <a:latin typeface="Cambria Math"/>
                <a:ea typeface="Cambria Math"/>
              </a:rPr>
              <a:t>≤</a:t>
            </a:r>
            <a:r>
              <a:rPr lang="es-AR" sz="1800" dirty="0"/>
              <a:t> </a:t>
            </a:r>
            <a:r>
              <a:rPr lang="es-AR" sz="1800" dirty="0" smtClean="0"/>
              <a:t>0,1.</a:t>
            </a:r>
            <a:r>
              <a:rPr lang="el-GR" sz="1800" dirty="0"/>
              <a:t>π</a:t>
            </a:r>
            <a:r>
              <a:rPr lang="es-AR" sz="1800" dirty="0"/>
              <a:t> 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3) Se debe rediseñar el PLL calculando el nuevo valor de K para f = 10 GHz, o bien recurriendo a un PLL de mayor orden tal que 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ctr">
              <a:buNone/>
            </a:pPr>
            <a:r>
              <a:rPr lang="el-GR" sz="1800" dirty="0"/>
              <a:t>ε</a:t>
            </a:r>
            <a:r>
              <a:rPr lang="es-AR" sz="1800" dirty="0"/>
              <a:t> = </a:t>
            </a:r>
            <a:r>
              <a:rPr lang="es-AR" sz="1800" dirty="0" smtClean="0"/>
              <a:t>(K</a:t>
            </a:r>
            <a:r>
              <a:rPr lang="es-AR" sz="1800" baseline="-25000" dirty="0" smtClean="0"/>
              <a:t>2</a:t>
            </a:r>
            <a:r>
              <a:rPr lang="es-AR" sz="1800" dirty="0" smtClean="0"/>
              <a:t>/K.K</a:t>
            </a:r>
            <a:r>
              <a:rPr lang="es-AR" sz="1800" baseline="-25000" dirty="0" smtClean="0"/>
              <a:t>1</a:t>
            </a:r>
            <a:r>
              <a:rPr lang="es-AR" sz="1800" dirty="0" smtClean="0"/>
              <a:t>).</a:t>
            </a:r>
            <a:r>
              <a:rPr lang="el-GR" sz="1800" dirty="0"/>
              <a:t>Δ</a:t>
            </a:r>
            <a:r>
              <a:rPr lang="es-AR" sz="1800" dirty="0">
                <a:latin typeface="Cambria Math"/>
                <a:ea typeface="Cambria Math"/>
              </a:rPr>
              <a:t>ω</a:t>
            </a:r>
            <a:r>
              <a:rPr lang="es-AR" sz="1800" dirty="0"/>
              <a:t> </a:t>
            </a:r>
            <a:r>
              <a:rPr lang="es-AR" sz="1800" dirty="0">
                <a:latin typeface="Cambria Math"/>
                <a:ea typeface="Cambria Math"/>
              </a:rPr>
              <a:t>≤</a:t>
            </a:r>
            <a:r>
              <a:rPr lang="es-AR" sz="1800" dirty="0"/>
              <a:t> </a:t>
            </a:r>
            <a:r>
              <a:rPr lang="es-AR" sz="1800" dirty="0" smtClean="0"/>
              <a:t>0,1.</a:t>
            </a:r>
            <a:r>
              <a:rPr lang="el-GR" sz="1800" dirty="0"/>
              <a:t>π</a:t>
            </a:r>
            <a:r>
              <a:rPr lang="es-AR" sz="1800" dirty="0"/>
              <a:t> </a:t>
            </a:r>
          </a:p>
          <a:p>
            <a:pPr marL="0" indent="0" algn="just">
              <a:buNone/>
            </a:pPr>
            <a:endParaRPr lang="es-AR" sz="1800" dirty="0" smtClean="0"/>
          </a:p>
        </p:txBody>
      </p:sp>
    </p:spTree>
    <p:extLst>
      <p:ext uri="{BB962C8B-B14F-4D97-AF65-F5344CB8AC3E}">
        <p14:creationId xmlns:p14="http://schemas.microsoft.com/office/powerpoint/2010/main" val="305115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52 – Sintetizador de frecuencia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16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r>
              <a:rPr lang="es-AR" sz="1800" dirty="0" smtClean="0"/>
              <a:t>En el detector de fase debe cumplirse la condición</a:t>
            </a:r>
          </a:p>
          <a:p>
            <a:pPr marL="0" indent="0" algn="ctr">
              <a:buNone/>
            </a:pPr>
            <a:r>
              <a:rPr lang="es-AR" sz="1800" dirty="0" err="1" smtClean="0">
                <a:latin typeface="Cambria Math"/>
                <a:ea typeface="Cambria Math"/>
              </a:rPr>
              <a:t>ω</a:t>
            </a:r>
            <a:r>
              <a:rPr lang="es-AR" sz="1800" baseline="-25000" dirty="0" err="1" smtClean="0">
                <a:latin typeface="Cambria Math"/>
                <a:ea typeface="Cambria Math"/>
              </a:rPr>
              <a:t>i</a:t>
            </a:r>
            <a:r>
              <a:rPr lang="es-AR" sz="1800" dirty="0" smtClean="0">
                <a:latin typeface="Cambria Math"/>
                <a:ea typeface="Cambria Math"/>
              </a:rPr>
              <a:t>/M = </a:t>
            </a:r>
            <a:r>
              <a:rPr lang="el-GR" sz="1800" dirty="0" smtClean="0">
                <a:latin typeface="Cambria Math"/>
                <a:ea typeface="Cambria Math"/>
              </a:rPr>
              <a:t>ω</a:t>
            </a:r>
            <a:r>
              <a:rPr lang="es-AR" sz="1800" baseline="-25000" dirty="0" smtClean="0">
                <a:latin typeface="Cambria Math"/>
                <a:ea typeface="Cambria Math"/>
              </a:rPr>
              <a:t>o</a:t>
            </a:r>
            <a:r>
              <a:rPr lang="es-AR" sz="1800" dirty="0" smtClean="0">
                <a:latin typeface="Cambria Math"/>
                <a:ea typeface="Cambria Math"/>
              </a:rPr>
              <a:t>/N	→	1512/M = 2048/N	</a:t>
            </a:r>
          </a:p>
          <a:p>
            <a:pPr marL="0" indent="0" algn="just">
              <a:buNone/>
            </a:pPr>
            <a:endParaRPr lang="es-AR" sz="1800" dirty="0">
              <a:latin typeface="Cambria Math"/>
              <a:ea typeface="Cambria Math"/>
            </a:endParaRPr>
          </a:p>
          <a:p>
            <a:pPr marL="0" indent="0" algn="just">
              <a:buNone/>
            </a:pPr>
            <a:r>
              <a:rPr lang="es-AR" sz="1800" dirty="0" smtClean="0">
                <a:latin typeface="Cambria Math"/>
                <a:ea typeface="Cambria Math"/>
              </a:rPr>
              <a:t>Por lo que deben buscarse los valores de M y N que satisfagan esta igualdad. Si adoptamos M = 1512 y N = 2048, las señales que llegan al detector de fase son de 1 kHz. Sin embargo, es conveniente elegir valores de M y N tales que las señales a comparar sean de mayor frecuencia y así poder filtrar componentes armónicas</a:t>
            </a:r>
            <a:r>
              <a:rPr lang="es-AR" sz="1800" dirty="0" smtClean="0">
                <a:latin typeface="Cambria Math"/>
                <a:ea typeface="Cambria Math"/>
              </a:rPr>
              <a:t>. La misma relación se logra con M = 189 y N = 256.</a:t>
            </a:r>
            <a:endParaRPr lang="es-AR" sz="1800" dirty="0" smtClean="0">
              <a:latin typeface="Cambria Math"/>
              <a:ea typeface="Cambria Math"/>
            </a:endParaRPr>
          </a:p>
          <a:p>
            <a:pPr marL="0" indent="0" algn="just">
              <a:buNone/>
            </a:pPr>
            <a:endParaRPr lang="es-AR" sz="1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81" y="1268760"/>
            <a:ext cx="7208127" cy="258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636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53 – Error de fase en BPSK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17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1) Sea un receptor BPSK con ruido AWGN y error de sincronización </a:t>
            </a:r>
            <a:r>
              <a:rPr lang="el-GR" sz="1800" dirty="0">
                <a:latin typeface="Cambria Math"/>
                <a:ea typeface="Cambria Math"/>
              </a:rPr>
              <a:t>φ</a:t>
            </a:r>
            <a:r>
              <a:rPr lang="es-AR" sz="1800" baseline="-25000" dirty="0">
                <a:latin typeface="Cambria Math"/>
                <a:ea typeface="Cambria Math"/>
              </a:rPr>
              <a:t>e</a:t>
            </a:r>
            <a:r>
              <a:rPr lang="es-AR" sz="1800" dirty="0" smtClean="0">
                <a:latin typeface="Cambria Math"/>
                <a:ea typeface="Cambria Math"/>
              </a:rPr>
              <a:t>. La constelación resultante para un valor de </a:t>
            </a:r>
            <a:r>
              <a:rPr lang="el-GR" sz="1800" dirty="0">
                <a:latin typeface="Cambria Math"/>
                <a:ea typeface="Cambria Math"/>
              </a:rPr>
              <a:t>φ</a:t>
            </a:r>
            <a:r>
              <a:rPr lang="es-AR" sz="1800" baseline="-25000" dirty="0">
                <a:latin typeface="Cambria Math"/>
                <a:ea typeface="Cambria Math"/>
              </a:rPr>
              <a:t>e</a:t>
            </a:r>
            <a:r>
              <a:rPr lang="es-AR" sz="1800" dirty="0">
                <a:latin typeface="Cambria Math"/>
                <a:ea typeface="Cambria Math"/>
              </a:rPr>
              <a:t> </a:t>
            </a:r>
            <a:r>
              <a:rPr lang="es-AR" sz="1800" dirty="0" smtClean="0">
                <a:latin typeface="Cambria Math"/>
                <a:ea typeface="Cambria Math"/>
              </a:rPr>
              <a:t> es: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Por lo que se plantea la probabilidad de error en BPSK para d’, Pe(</a:t>
            </a:r>
            <a:r>
              <a:rPr lang="el-GR" sz="1800" dirty="0" smtClean="0">
                <a:latin typeface="Cambria Math"/>
                <a:ea typeface="Cambria Math"/>
              </a:rPr>
              <a:t>φ</a:t>
            </a:r>
            <a:r>
              <a:rPr lang="es-AR" sz="1800" baseline="-25000" dirty="0" smtClean="0">
                <a:latin typeface="Cambria Math"/>
                <a:ea typeface="Cambria Math"/>
              </a:rPr>
              <a:t>e</a:t>
            </a:r>
            <a:r>
              <a:rPr lang="es-AR" sz="1800" dirty="0" smtClean="0">
                <a:latin typeface="Cambria Math"/>
                <a:ea typeface="Cambria Math"/>
              </a:rPr>
              <a:t>)</a:t>
            </a:r>
            <a:r>
              <a:rPr lang="es-AR" sz="1800" dirty="0" smtClean="0"/>
              <a:t>.</a:t>
            </a:r>
            <a:endParaRPr lang="es-AR" sz="1800" dirty="0" smtClean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2987824" y="2708920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V="1">
            <a:off x="4643880" y="2060848"/>
            <a:ext cx="0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Elipse"/>
          <p:cNvSpPr/>
          <p:nvPr/>
        </p:nvSpPr>
        <p:spPr>
          <a:xfrm>
            <a:off x="5292080" y="227687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5439880" y="263316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3711672" y="261951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CuadroTexto"/>
          <p:cNvSpPr txBox="1"/>
          <p:nvPr/>
        </p:nvSpPr>
        <p:spPr>
          <a:xfrm>
            <a:off x="5374046" y="284364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E</a:t>
            </a:r>
            <a:r>
              <a:rPr lang="es-AR" baseline="30000" dirty="0" smtClean="0"/>
              <a:t>1/2</a:t>
            </a:r>
            <a:endParaRPr lang="es-AR" baseline="30000" dirty="0"/>
          </a:p>
        </p:txBody>
      </p:sp>
      <p:sp>
        <p:nvSpPr>
          <p:cNvPr id="18" name="17 CuadroTexto"/>
          <p:cNvSpPr txBox="1"/>
          <p:nvPr/>
        </p:nvSpPr>
        <p:spPr>
          <a:xfrm>
            <a:off x="4499992" y="27716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d</a:t>
            </a:r>
            <a:endParaRPr lang="es-AR" dirty="0"/>
          </a:p>
        </p:txBody>
      </p:sp>
      <p:sp>
        <p:nvSpPr>
          <p:cNvPr id="20" name="19 Forma libre"/>
          <p:cNvSpPr/>
          <p:nvPr/>
        </p:nvSpPr>
        <p:spPr>
          <a:xfrm>
            <a:off x="5405032" y="2376176"/>
            <a:ext cx="95534" cy="259308"/>
          </a:xfrm>
          <a:custGeom>
            <a:avLst/>
            <a:gdLst>
              <a:gd name="connsiteX0" fmla="*/ 95534 w 95534"/>
              <a:gd name="connsiteY0" fmla="*/ 259308 h 259308"/>
              <a:gd name="connsiteX1" fmla="*/ 0 w 95534"/>
              <a:gd name="connsiteY1" fmla="*/ 0 h 259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534" h="259308">
                <a:moveTo>
                  <a:pt x="95534" y="259308"/>
                </a:move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CuadroTexto"/>
          <p:cNvSpPr txBox="1"/>
          <p:nvPr/>
        </p:nvSpPr>
        <p:spPr>
          <a:xfrm>
            <a:off x="5478166" y="2204864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ambria Math"/>
                <a:ea typeface="Cambria Math"/>
              </a:rPr>
              <a:t>φ</a:t>
            </a:r>
            <a:r>
              <a:rPr lang="es-AR" baseline="-25000" dirty="0">
                <a:latin typeface="Cambria Math"/>
                <a:ea typeface="Cambria Math"/>
              </a:rPr>
              <a:t>e</a:t>
            </a:r>
            <a:endParaRPr lang="es-AR" dirty="0"/>
          </a:p>
        </p:txBody>
      </p:sp>
      <p:cxnSp>
        <p:nvCxnSpPr>
          <p:cNvPr id="23" name="22 Conector recto"/>
          <p:cNvCxnSpPr>
            <a:stCxn id="22" idx="6"/>
            <a:endCxn id="11" idx="2"/>
          </p:cNvCxnSpPr>
          <p:nvPr/>
        </p:nvCxnSpPr>
        <p:spPr>
          <a:xfrm>
            <a:off x="4058048" y="2348872"/>
            <a:ext cx="123403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47860" y="202426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d'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CuadroTexto"/>
              <p:cNvSpPr txBox="1"/>
              <p:nvPr/>
            </p:nvSpPr>
            <p:spPr>
              <a:xfrm>
                <a:off x="6595949" y="2204864"/>
                <a:ext cx="2064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AR" b="0" i="1" smtClean="0">
                              <a:latin typeface="Cambria Math"/>
                            </a:rPr>
                            <m:t>𝐸</m:t>
                          </m:r>
                        </m:e>
                      </m:rad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m:rPr>
                          <m:sty m:val="p"/>
                        </m:rPr>
                        <a:rPr lang="es-AR" b="0" i="0" smtClean="0">
                          <a:latin typeface="Cambria Math"/>
                        </a:rPr>
                        <m:t>cos</m:t>
                      </m:r>
                      <m:r>
                        <a:rPr lang="es-AR" b="0" i="1" smtClean="0"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  <a:ea typeface="Cambria Math"/>
                            </a:rPr>
                            <m:t>φ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949" y="2204864"/>
                <a:ext cx="2064732" cy="400110"/>
              </a:xfrm>
              <a:prstGeom prst="rect">
                <a:avLst/>
              </a:prstGeom>
              <a:blipFill rotWithShape="1">
                <a:blip r:embed="rId3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21 Elipse"/>
          <p:cNvSpPr/>
          <p:nvPr/>
        </p:nvSpPr>
        <p:spPr>
          <a:xfrm>
            <a:off x="3914048" y="227687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Forma libre"/>
          <p:cNvSpPr/>
          <p:nvPr/>
        </p:nvSpPr>
        <p:spPr>
          <a:xfrm flipH="1">
            <a:off x="3851920" y="2379944"/>
            <a:ext cx="95534" cy="259308"/>
          </a:xfrm>
          <a:custGeom>
            <a:avLst/>
            <a:gdLst>
              <a:gd name="connsiteX0" fmla="*/ 95534 w 95534"/>
              <a:gd name="connsiteY0" fmla="*/ 259308 h 259308"/>
              <a:gd name="connsiteX1" fmla="*/ 0 w 95534"/>
              <a:gd name="connsiteY1" fmla="*/ 0 h 259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534" h="259308">
                <a:moveTo>
                  <a:pt x="95534" y="259308"/>
                </a:move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3419872" y="2208632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ambria Math"/>
                <a:ea typeface="Cambria Math"/>
              </a:rPr>
              <a:t>φ</a:t>
            </a:r>
            <a:r>
              <a:rPr lang="es-AR" baseline="-25000" dirty="0">
                <a:latin typeface="Cambria Math"/>
                <a:ea typeface="Cambria Math"/>
              </a:rPr>
              <a:t>e</a:t>
            </a:r>
            <a:endParaRPr lang="es-AR" dirty="0"/>
          </a:p>
        </p:txBody>
      </p:sp>
      <p:cxnSp>
        <p:nvCxnSpPr>
          <p:cNvPr id="29" name="28 Conector recto"/>
          <p:cNvCxnSpPr>
            <a:endCxn id="11" idx="3"/>
          </p:cNvCxnSpPr>
          <p:nvPr/>
        </p:nvCxnSpPr>
        <p:spPr>
          <a:xfrm flipV="1">
            <a:off x="4656445" y="2399784"/>
            <a:ext cx="656723" cy="3053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ángulo 2"/>
              <p:cNvSpPr/>
              <p:nvPr/>
            </p:nvSpPr>
            <p:spPr>
              <a:xfrm>
                <a:off x="3232466" y="4293096"/>
                <a:ext cx="2635593" cy="91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r>
                        <a:rPr lang="es-AR" i="1">
                          <a:latin typeface="Cambria Math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AR" i="1">
                              <a:latin typeface="Cambria Math"/>
                            </a:rPr>
                            <m:t>2</m:t>
                          </m:r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/>
                                </a:rPr>
                                <m:t>𝐸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s-AR" i="1">
                          <a:latin typeface="Cambria Math"/>
                        </a:rPr>
                        <m:t>.</m:t>
                      </m:r>
                      <m:func>
                        <m:func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s-AR" dirty="0"/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466" y="4293096"/>
                <a:ext cx="2635593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72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53 – Error de fase en BPSK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18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AR" sz="1800" dirty="0" smtClean="0"/>
                  <a:t>2</a:t>
                </a:r>
                <a:r>
                  <a:rPr lang="es-AR" sz="1800" dirty="0" smtClean="0"/>
                  <a:t>) La probabilidad de error promedio considerando el ruido AWGN y la distribución de </a:t>
                </a:r>
                <a:r>
                  <a:rPr lang="el-GR" sz="1800" dirty="0">
                    <a:latin typeface="Cambria Math"/>
                    <a:ea typeface="Cambria Math"/>
                  </a:rPr>
                  <a:t>φ</a:t>
                </a:r>
                <a:r>
                  <a:rPr lang="es-AR" sz="1800" baseline="-25000" dirty="0">
                    <a:latin typeface="Cambria Math"/>
                    <a:ea typeface="Cambria Math"/>
                  </a:rPr>
                  <a:t>e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, gaussiana </a:t>
                </a:r>
                <a:r>
                  <a:rPr lang="es-AR" sz="1800" dirty="0">
                    <a:latin typeface="Cambria Math"/>
                    <a:ea typeface="Cambria Math"/>
                  </a:rPr>
                  <a:t>de 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media </a:t>
                </a:r>
                <a:r>
                  <a:rPr lang="es-AR" sz="1800" dirty="0">
                    <a:latin typeface="Cambria Math"/>
                    <a:ea typeface="Cambria Math"/>
                  </a:rPr>
                  <a:t>nula y varianza </a:t>
                </a:r>
                <a:r>
                  <a:rPr lang="el-GR" sz="1800" dirty="0">
                    <a:latin typeface="Cambria Math"/>
                    <a:ea typeface="Cambria Math"/>
                  </a:rPr>
                  <a:t>σ</a:t>
                </a:r>
                <a:r>
                  <a:rPr lang="el-GR" sz="1800" baseline="-25000" dirty="0">
                    <a:latin typeface="Cambria Math"/>
                    <a:ea typeface="Cambria Math"/>
                  </a:rPr>
                  <a:t>φ</a:t>
                </a:r>
                <a:r>
                  <a:rPr lang="es-AR" sz="1800" baseline="30000" dirty="0" smtClean="0">
                    <a:latin typeface="Cambria Math"/>
                    <a:ea typeface="Cambria Math"/>
                  </a:rPr>
                  <a:t>2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, es:</a:t>
                </a: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A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s-AR" sz="1800" b="0" i="1" smtClean="0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e>
                    </m:acc>
                    <m:r>
                      <a:rPr lang="es-AR" sz="1800" b="0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800" b="0" i="1" smtClean="0">
                            <a:latin typeface="Cambria Math"/>
                          </a:rPr>
                          <m:t>−</m:t>
                        </m:r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s-A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s-AR" sz="1800" b="0" i="1" smtClean="0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  <m:r>
                          <a:rPr lang="es-AR" sz="18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s-A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/>
                                <a:ea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es-AR" sz="1800" i="1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AR" sz="1800" dirty="0" smtClean="0"/>
                  <a:t>).p(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  <a:ea typeface="Cambria Math"/>
                          </a:rPr>
                          <m:t>φ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s-AR" sz="1800" dirty="0" smtClean="0"/>
                  <a:t>)d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  <a:ea typeface="Cambria Math"/>
                          </a:rPr>
                          <m:t>φ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s-A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800" b="0" i="1" smtClean="0">
                            <a:latin typeface="Cambria Math"/>
                          </a:rPr>
                          <m:t>−</m:t>
                        </m:r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s-AR" sz="1800" b="0" i="1" smtClean="0">
                            <a:latin typeface="Cambria Math"/>
                          </a:rPr>
                          <m:t>𝑄</m:t>
                        </m:r>
                        <m:r>
                          <a:rPr lang="es-AR" sz="1800" b="0" i="1" smtClean="0">
                            <a:latin typeface="Cambria Math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s-AR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sz="1800" b="0" i="1" smtClean="0">
                                <a:latin typeface="Cambria Math"/>
                              </a:rPr>
                              <m:t>2</m:t>
                            </m:r>
                            <m:f>
                              <m:fPr>
                                <m:ctrlPr>
                                  <a:rPr lang="es-A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AR" sz="1800" b="0" i="1" smtClean="0">
                                    <a:latin typeface="Cambria Math"/>
                                  </a:rPr>
                                  <m:t>𝐸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s-A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sz="1800" b="0" i="1" smtClean="0">
                                        <a:latin typeface="Cambria Math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AR" sz="18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  <m:r>
                          <a:rPr lang="es-AR" sz="1800" b="0" i="1" smtClean="0">
                            <a:latin typeface="Cambria Math"/>
                          </a:rPr>
                          <m:t>.</m:t>
                        </m:r>
                        <m:func>
                          <m:funcPr>
                            <m:ctrlPr>
                              <a:rPr lang="es-AR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 sz="1800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s-A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A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latin typeface="Cambria Math"/>
                                        <a:ea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AR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s-AR" sz="1800" b="0" i="1" smtClean="0">
                            <a:latin typeface="Cambria Math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s-AR" sz="1800" dirty="0"/>
                          <m:t>p</m:t>
                        </m:r>
                        <m:r>
                          <m:rPr>
                            <m:nor/>
                          </m:rPr>
                          <a:rPr lang="es-AR" sz="1800" dirty="0"/>
                          <m:t>(</m:t>
                        </m:r>
                        <m:sSub>
                          <m:sSubPr>
                            <m:ctrlPr>
                              <a:rPr lang="es-A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/>
                                <a:ea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es-AR" sz="1800" i="1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s-AR" sz="1800" dirty="0"/>
                          <m:t>)</m:t>
                        </m:r>
                      </m:e>
                    </m:nary>
                  </m:oMath>
                </a14:m>
                <a:r>
                  <a:rPr lang="es-AR" sz="1800" dirty="0"/>
                  <a:t>.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  <a:ea typeface="Cambria Math"/>
                          </a:rPr>
                          <m:t>φ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s-AR" sz="1800" dirty="0" smtClean="0"/>
                  <a:t>=</a:t>
                </a:r>
                <a:endParaRPr lang="es-AR" sz="1800" dirty="0" smtClean="0"/>
              </a:p>
            </p:txBody>
          </p:sp>
        </mc:Choice>
        <mc:Fallback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 t="-49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908548"/>
            <a:ext cx="25908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27 Flecha abajo"/>
          <p:cNvSpPr/>
          <p:nvPr/>
        </p:nvSpPr>
        <p:spPr>
          <a:xfrm flipV="1">
            <a:off x="6848216" y="2764532"/>
            <a:ext cx="21528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1403648" y="4415322"/>
                <a:ext cx="6192688" cy="741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i="1">
                            <a:latin typeface="Cambria Math"/>
                          </a:rPr>
                          <m:t>−</m:t>
                        </m:r>
                        <m:r>
                          <a:rPr lang="es-AR" i="1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s-AR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A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s-AR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s-A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i="1">
                                                <a:latin typeface="Cambria Math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s-AR" i="1">
                                                <a:latin typeface="Cambria Math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  <m:r>
                                  <a:rPr lang="es-AR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s-A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AR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s-AR" i="1">
                                        <a:latin typeface="Cambria Math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s-A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>
                                <m:r>
                                  <a:rPr lang="es-AR" i="1">
                                    <a:latin typeface="Cambria Math"/>
                                    <a:ea typeface="Cambria Math"/>
                                  </a:rPr>
                                  <m:t>∞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b="0" i="1" smtClean="0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den>
                                </m:f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A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s-A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A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s-A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A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nary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d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sSub>
                              <m:sSubPr>
                                <m:ctrlP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i="1">
                                            <a:latin typeface="Cambria Math"/>
                                            <a:ea typeface="Cambria Math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s-AR" i="1">
                                            <a:latin typeface="Cambria Math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A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b="0" i="1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s-AR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  <a:ea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=…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4415322"/>
                <a:ext cx="6192688" cy="741870"/>
              </a:xfrm>
              <a:prstGeom prst="rect">
                <a:avLst/>
              </a:prstGeom>
              <a:blipFill>
                <a:blip r:embed="rId4"/>
                <a:stretch>
                  <a:fillRect l="-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08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54 – Fase ruidosa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19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AR" sz="1800" dirty="0" smtClean="0"/>
                  <a:t>Sea una señal </a:t>
                </a:r>
                <a:r>
                  <a:rPr lang="es-AR" sz="1800" dirty="0" err="1" smtClean="0"/>
                  <a:t>senoidal</a:t>
                </a:r>
                <a:r>
                  <a:rPr lang="es-AR" sz="1800" dirty="0" smtClean="0"/>
                  <a:t> de amplitud A que ingresa a un PLL, y su fase se ve afectada por ruido AWGN de banda angosta, resultando </a:t>
                </a:r>
                <a:r>
                  <a:rPr lang="el-GR" sz="1800" dirty="0" smtClean="0"/>
                  <a:t>θ</a:t>
                </a:r>
                <a:r>
                  <a:rPr lang="es-AR" sz="1800" dirty="0" smtClean="0"/>
                  <a:t>(t) = </a:t>
                </a:r>
                <a:r>
                  <a:rPr lang="el-GR" sz="1800" dirty="0" smtClean="0"/>
                  <a:t>θ</a:t>
                </a:r>
                <a:r>
                  <a:rPr lang="es-AR" sz="1800" baseline="-25000" dirty="0" smtClean="0"/>
                  <a:t>0</a:t>
                </a:r>
                <a:r>
                  <a:rPr lang="es-AR" sz="1800" dirty="0" smtClean="0"/>
                  <a:t> + </a:t>
                </a:r>
                <a:r>
                  <a:rPr lang="el-GR" sz="1800" dirty="0" smtClean="0"/>
                  <a:t>Δ</a:t>
                </a:r>
                <a:r>
                  <a:rPr lang="es-AR" sz="1800" dirty="0" smtClean="0"/>
                  <a:t>t</a:t>
                </a:r>
                <a:r>
                  <a:rPr lang="es-AR" sz="1800" dirty="0"/>
                  <a:t> </a:t>
                </a:r>
                <a:r>
                  <a:rPr lang="es-AR" sz="1800" dirty="0" smtClean="0"/>
                  <a:t>+ n(t).</a:t>
                </a:r>
              </a:p>
              <a:p>
                <a:pPr marL="0" indent="0" algn="just">
                  <a:buNone/>
                </a:pPr>
                <a:r>
                  <a:rPr lang="es-AR" sz="1800" dirty="0" smtClean="0"/>
                  <a:t>El </a:t>
                </a:r>
                <a:r>
                  <a:rPr lang="es-AR" sz="1800" dirty="0" smtClean="0"/>
                  <a:t>desvío del error de fase debido al ruido será (</a:t>
                </a:r>
                <a:r>
                  <a:rPr lang="es-AR" sz="1800" dirty="0" err="1" smtClean="0"/>
                  <a:t>Proakis</a:t>
                </a:r>
                <a:r>
                  <a:rPr lang="es-AR" sz="1800" dirty="0" smtClean="0"/>
                  <a:t> 5.2-3):</a:t>
                </a:r>
              </a:p>
              <a:p>
                <a:pPr marL="342900" indent="-342900" algn="just"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i="1">
                              <a:latin typeface="Cambria Math"/>
                              <a:ea typeface="Cambria Math"/>
                            </a:rPr>
                            <m:t>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l-GR" sz="1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1800" dirty="0"/>
                                <m:t>θ</m:t>
                              </m:r>
                            </m:e>
                          </m:acc>
                        </m:sub>
                      </m:sSub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18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sz="1800" b="0" i="1" smtClean="0">
                                      <a:latin typeface="Cambria Math"/>
                                      <a:ea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AR" sz="1800" b="0" i="1" smtClean="0"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s-AR" sz="18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smtClean="0"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s-AR" sz="18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trlPr>
                                <a:rPr lang="es-AR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AR" sz="18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AR" sz="1800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  <m:t>𝐺</m:t>
                                      </m:r>
                                      <m: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  <m:t>(</m:t>
                                      </m:r>
                                      <m: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  <m:t>𝑓</m:t>
                                      </m:r>
                                      <m: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AR" sz="18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𝑑𝑓</m:t>
                              </m:r>
                            </m:e>
                          </m:nary>
                        </m:e>
                      </m:rad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=…=</m:t>
                      </m:r>
                      <m:rad>
                        <m:radPr>
                          <m:degHide m:val="on"/>
                          <m:ctrlP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sz="1800" i="1">
                                      <a:latin typeface="Cambria Math"/>
                                      <a:ea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AR" sz="1800" i="1"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.</m:t>
                              </m:r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s-AR" sz="1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i="1"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s-AR" sz="18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>
                  <a:latin typeface="Cambria Math"/>
                  <a:ea typeface="Cambria Math"/>
                </a:endParaRPr>
              </a:p>
              <a:p>
                <a:pPr marL="0" indent="0" algn="just">
                  <a:buNone/>
                </a:pPr>
                <a:endParaRPr lang="es-AR" sz="1800" dirty="0" smtClean="0"/>
              </a:p>
            </p:txBody>
          </p:sp>
        </mc:Choice>
        <mc:Fallback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 t="-49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Cerrar llave"/>
          <p:cNvSpPr/>
          <p:nvPr/>
        </p:nvSpPr>
        <p:spPr>
          <a:xfrm rot="5400000">
            <a:off x="4382904" y="3140968"/>
            <a:ext cx="215454" cy="12961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CuadroTexto"/>
          <p:cNvSpPr txBox="1"/>
          <p:nvPr/>
        </p:nvSpPr>
        <p:spPr>
          <a:xfrm>
            <a:off x="179512" y="4509120"/>
            <a:ext cx="4594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Ancho de banda equivalente de la transferencia a lazo cerrado (ver G(s) en el ejercicio 1</a:t>
            </a:r>
            <a:r>
              <a:rPr lang="es-AR" dirty="0" smtClean="0"/>
              <a:t>)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9 CuadroTexto"/>
              <p:cNvSpPr txBox="1"/>
              <p:nvPr/>
            </p:nvSpPr>
            <p:spPr>
              <a:xfrm>
                <a:off x="5292080" y="4475654"/>
                <a:ext cx="2233304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s-A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475654"/>
                <a:ext cx="2233304" cy="66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18 Conector angular"/>
          <p:cNvCxnSpPr>
            <a:endCxn id="3" idx="1"/>
          </p:cNvCxnSpPr>
          <p:nvPr/>
        </p:nvCxnSpPr>
        <p:spPr>
          <a:xfrm rot="5400000" flipH="1" flipV="1">
            <a:off x="3340436" y="3249299"/>
            <a:ext cx="502726" cy="1797663"/>
          </a:xfrm>
          <a:prstGeom prst="bentConnector3">
            <a:avLst>
              <a:gd name="adj1" fmla="val 4334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 flipV="1">
            <a:off x="5508104" y="3573016"/>
            <a:ext cx="0" cy="8264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/>
              <p:cNvSpPr txBox="1"/>
              <p:nvPr/>
            </p:nvSpPr>
            <p:spPr>
              <a:xfrm>
                <a:off x="4685850" y="5105264"/>
                <a:ext cx="4174541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b="0" i="1" smtClean="0"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"/>
                              <m:endChr m:val="]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den>
                              </m:f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s-AR">
                                  <a:latin typeface="Cambria Math" panose="02040503050406030204" pitchFamily="18" charset="0"/>
                                </a:rPr>
                                <m:t>atan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850" y="5105264"/>
                <a:ext cx="4174541" cy="627992"/>
              </a:xfrm>
              <a:prstGeom prst="rect">
                <a:avLst/>
              </a:prstGeom>
              <a:blipFill>
                <a:blip r:embed="rId4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24 CuadroTexto"/>
          <p:cNvSpPr txBox="1"/>
          <p:nvPr/>
        </p:nvSpPr>
        <p:spPr>
          <a:xfrm>
            <a:off x="564787" y="5877272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¿Qué conclusión sacamos para el PLL de primer orden?</a:t>
            </a:r>
            <a:endParaRPr lang="es-AR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86602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55 – Sincronizador </a:t>
            </a:r>
            <a:r>
              <a:rPr lang="es-AR" dirty="0" err="1" smtClean="0"/>
              <a:t>Early</a:t>
            </a:r>
            <a:r>
              <a:rPr lang="es-AR" dirty="0" smtClean="0"/>
              <a:t>-Late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20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>
              <a:latin typeface="Cambria Math"/>
              <a:ea typeface="Cambria Math"/>
            </a:endParaRPr>
          </a:p>
          <a:p>
            <a:pPr marL="0" indent="0" algn="just">
              <a:buNone/>
            </a:pPr>
            <a:endParaRPr lang="es-AR" sz="1800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70152"/>
            <a:ext cx="5962650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06397"/>
            <a:ext cx="4410620" cy="153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Flecha derecha"/>
          <p:cNvSpPr/>
          <p:nvPr/>
        </p:nvSpPr>
        <p:spPr>
          <a:xfrm>
            <a:off x="6286178" y="1772816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lecha derecha"/>
          <p:cNvSpPr/>
          <p:nvPr/>
        </p:nvSpPr>
        <p:spPr>
          <a:xfrm>
            <a:off x="6286178" y="3429000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/>
          <p:cNvSpPr txBox="1"/>
          <p:nvPr/>
        </p:nvSpPr>
        <p:spPr>
          <a:xfrm>
            <a:off x="6732240" y="1570440"/>
            <a:ext cx="1913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Muestrea la </a:t>
            </a:r>
            <a:r>
              <a:rPr lang="es-AR" dirty="0" err="1" smtClean="0"/>
              <a:t>autocorrelación</a:t>
            </a:r>
            <a:r>
              <a:rPr lang="es-AR" dirty="0" smtClean="0"/>
              <a:t> de la señal adelantada</a:t>
            </a:r>
            <a:endParaRPr lang="es-AR" dirty="0"/>
          </a:p>
        </p:txBody>
      </p:sp>
      <p:sp>
        <p:nvSpPr>
          <p:cNvPr id="14" name="13 CuadroTexto"/>
          <p:cNvSpPr txBox="1"/>
          <p:nvPr/>
        </p:nvSpPr>
        <p:spPr>
          <a:xfrm>
            <a:off x="6732240" y="3068960"/>
            <a:ext cx="1913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Muestrea la </a:t>
            </a:r>
            <a:r>
              <a:rPr lang="es-AR" dirty="0" err="1" smtClean="0"/>
              <a:t>autocorrelación</a:t>
            </a:r>
            <a:r>
              <a:rPr lang="es-AR" dirty="0" smtClean="0"/>
              <a:t> de la señal retrasada</a:t>
            </a:r>
            <a:endParaRPr lang="es-AR" dirty="0"/>
          </a:p>
        </p:txBody>
      </p:sp>
      <p:sp>
        <p:nvSpPr>
          <p:cNvPr id="15" name="14 Flecha derecha"/>
          <p:cNvSpPr/>
          <p:nvPr/>
        </p:nvSpPr>
        <p:spPr>
          <a:xfrm rot="5400000">
            <a:off x="7400784" y="4382682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CuadroTexto"/>
          <p:cNvSpPr txBox="1"/>
          <p:nvPr/>
        </p:nvSpPr>
        <p:spPr>
          <a:xfrm>
            <a:off x="5076056" y="5148676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Si ambas muestras difieren, se genera una señal error que modifica el retraso/adelanto de la señal.</a:t>
            </a:r>
            <a:endParaRPr lang="es-AR" dirty="0"/>
          </a:p>
        </p:txBody>
      </p:sp>
      <p:sp>
        <p:nvSpPr>
          <p:cNvPr id="9" name="8 Nube"/>
          <p:cNvSpPr/>
          <p:nvPr/>
        </p:nvSpPr>
        <p:spPr>
          <a:xfrm>
            <a:off x="83976" y="1378440"/>
            <a:ext cx="1205880" cy="64640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smtClean="0"/>
              <a:t>Circuito A</a:t>
            </a:r>
            <a:endParaRPr lang="es-AR" sz="1200" b="1"/>
          </a:p>
        </p:txBody>
      </p:sp>
    </p:spTree>
    <p:extLst>
      <p:ext uri="{BB962C8B-B14F-4D97-AF65-F5344CB8AC3E}">
        <p14:creationId xmlns:p14="http://schemas.microsoft.com/office/powerpoint/2010/main" val="69227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dirty="0"/>
              <a:t>55 </a:t>
            </a:r>
            <a:r>
              <a:rPr lang="es-AR" dirty="0" smtClean="0"/>
              <a:t>– Sincronizador </a:t>
            </a:r>
            <a:r>
              <a:rPr lang="es-AR" dirty="0" err="1" smtClean="0"/>
              <a:t>Early</a:t>
            </a:r>
            <a:r>
              <a:rPr lang="es-AR" dirty="0" smtClean="0"/>
              <a:t>-Late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21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>
              <a:latin typeface="Cambria Math"/>
              <a:ea typeface="Cambria Math"/>
            </a:endParaRPr>
          </a:p>
          <a:p>
            <a:pPr marL="0" indent="0" algn="just">
              <a:buNone/>
            </a:pPr>
            <a:endParaRPr lang="es-AR" sz="1800" dirty="0" smtClean="0"/>
          </a:p>
        </p:txBody>
      </p:sp>
      <p:sp>
        <p:nvSpPr>
          <p:cNvPr id="9" name="8 Flecha derecha"/>
          <p:cNvSpPr/>
          <p:nvPr/>
        </p:nvSpPr>
        <p:spPr>
          <a:xfrm>
            <a:off x="6012160" y="2362547"/>
            <a:ext cx="576064" cy="5040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Flecha derecha"/>
          <p:cNvSpPr/>
          <p:nvPr/>
        </p:nvSpPr>
        <p:spPr>
          <a:xfrm>
            <a:off x="6012160" y="4018731"/>
            <a:ext cx="576064" cy="5040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6732240" y="2292280"/>
            <a:ext cx="1913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Muestrea la señal</a:t>
            </a:r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732240" y="3955729"/>
            <a:ext cx="1913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Muestrea su derivada</a:t>
            </a:r>
            <a:endParaRPr lang="es-AR" dirty="0"/>
          </a:p>
        </p:txBody>
      </p:sp>
      <p:sp>
        <p:nvSpPr>
          <p:cNvPr id="13" name="12 Flecha derecha"/>
          <p:cNvSpPr/>
          <p:nvPr/>
        </p:nvSpPr>
        <p:spPr>
          <a:xfrm rot="5400000">
            <a:off x="7400784" y="4617132"/>
            <a:ext cx="576064" cy="5040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CuadroTexto"/>
          <p:cNvSpPr txBox="1"/>
          <p:nvPr/>
        </p:nvSpPr>
        <p:spPr>
          <a:xfrm>
            <a:off x="5076056" y="5148676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Si ambas muestras difieren, se genera una señal error que modifica el retraso/adelanto de la señal.</a:t>
            </a:r>
            <a:endParaRPr lang="es-A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42467"/>
            <a:ext cx="5838825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845000" y="17008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g</a:t>
            </a:r>
            <a:r>
              <a:rPr lang="es-AR" dirty="0" smtClean="0"/>
              <a:t>(t)</a:t>
            </a:r>
            <a:endParaRPr lang="es-AR" dirty="0"/>
          </a:p>
        </p:txBody>
      </p:sp>
      <p:sp>
        <p:nvSpPr>
          <p:cNvPr id="16" name="15 CuadroTexto"/>
          <p:cNvSpPr txBox="1"/>
          <p:nvPr/>
        </p:nvSpPr>
        <p:spPr>
          <a:xfrm>
            <a:off x="1763688" y="197954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y(t)</a:t>
            </a:r>
            <a:endParaRPr lang="es-AR" dirty="0"/>
          </a:p>
        </p:txBody>
      </p:sp>
      <p:sp>
        <p:nvSpPr>
          <p:cNvPr id="17" name="16 Nube"/>
          <p:cNvSpPr/>
          <p:nvPr/>
        </p:nvSpPr>
        <p:spPr>
          <a:xfrm>
            <a:off x="5076056" y="1333144"/>
            <a:ext cx="1205880" cy="646404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smtClean="0"/>
              <a:t>Circuito B</a:t>
            </a:r>
            <a:endParaRPr lang="es-AR" sz="1200" b="1"/>
          </a:p>
        </p:txBody>
      </p:sp>
    </p:spTree>
    <p:extLst>
      <p:ext uri="{BB962C8B-B14F-4D97-AF65-F5344CB8AC3E}">
        <p14:creationId xmlns:p14="http://schemas.microsoft.com/office/powerpoint/2010/main" val="326485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dirty="0"/>
              <a:t>55 </a:t>
            </a:r>
            <a:r>
              <a:rPr lang="es-AR" dirty="0" smtClean="0"/>
              <a:t>– Sincronizador </a:t>
            </a:r>
            <a:r>
              <a:rPr lang="es-AR" dirty="0" err="1" smtClean="0"/>
              <a:t>Early</a:t>
            </a:r>
            <a:r>
              <a:rPr lang="es-AR" dirty="0" smtClean="0"/>
              <a:t>-Late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22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>
          <a:xfrm>
            <a:off x="510299" y="1236836"/>
            <a:ext cx="8229600" cy="49377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>
              <a:latin typeface="Cambria Math"/>
              <a:ea typeface="Cambria Math"/>
            </a:endParaRPr>
          </a:p>
          <a:p>
            <a:pPr marL="0" indent="0" algn="just">
              <a:buNone/>
            </a:pPr>
            <a:endParaRPr lang="es-AR" sz="18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3635896" y="1340768"/>
                <a:ext cx="2016129" cy="76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s-AR" dirty="0"/>
                            <m:t> 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b="0" i="1" smtClean="0">
                              <a:latin typeface="Cambria Math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</a:rPr>
                                    <m:t>τ</m:t>
                                  </m:r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1340768"/>
                <a:ext cx="2016129" cy="7645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14 CuadroTexto"/>
          <p:cNvSpPr txBox="1"/>
          <p:nvPr/>
        </p:nvSpPr>
        <p:spPr>
          <a:xfrm>
            <a:off x="611560" y="1270501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Función ML (Proakis 5.3-2):</a:t>
            </a:r>
            <a:endParaRPr lang="es-AR" dirty="0"/>
          </a:p>
        </p:txBody>
      </p:sp>
      <p:sp>
        <p:nvSpPr>
          <p:cNvPr id="16" name="15 CuadroTexto"/>
          <p:cNvSpPr txBox="1"/>
          <p:nvPr/>
        </p:nvSpPr>
        <p:spPr>
          <a:xfrm>
            <a:off x="611559" y="2276872"/>
            <a:ext cx="792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El lazo maximiza esta función, ya que la realimentación es de la forma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2987824" y="2780928"/>
                <a:ext cx="3274551" cy="769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s-AR" dirty="0"/>
                                <m:t> 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τ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τ</m:t>
                              </m:r>
                            </m:e>
                          </m:d>
                          <m:f>
                            <m:fPr>
                              <m:ctrlP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A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𝜏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τ</m:t>
                              </m:r>
                            </m:den>
                          </m:f>
                          <m:r>
                            <a:rPr lang="es-A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2780928"/>
                <a:ext cx="3274551" cy="76937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17 CuadroTexto"/>
          <p:cNvSpPr txBox="1"/>
          <p:nvPr/>
        </p:nvSpPr>
        <p:spPr>
          <a:xfrm>
            <a:off x="611560" y="3717032"/>
            <a:ext cx="583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Por otro lado,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CuadroTexto"/>
              <p:cNvSpPr txBox="1"/>
              <p:nvPr/>
            </p:nvSpPr>
            <p:spPr>
              <a:xfrm>
                <a:off x="973197" y="4077072"/>
                <a:ext cx="7329571" cy="12960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s-AR" dirty="0"/>
                                <m:t> 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τ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AR" i="1">
                                  <a:latin typeface="Cambria Math"/>
                                </a:rPr>
                                <m:t>𝑚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/>
                                        </a:rPr>
                                        <m:t>τ</m:t>
                                      </m:r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b="0" i="1" smtClean="0">
                                          <a:latin typeface="Cambria Math"/>
                                        </a:rPr>
                                        <m:t>δ</m:t>
                                      </m:r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AR" i="1">
                                  <a:latin typeface="Cambria Math"/>
                                </a:rPr>
                                <m:t>𝑚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/>
                                        </a:rPr>
                                        <m:t>τ</m:t>
                                      </m:r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/>
                                        </a:rPr>
                                        <m:t>δ</m:t>
                                      </m:r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δ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AR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s-AR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AR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A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AR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limLoc m:val="undOvr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𝑟</m:t>
                                          </m:r>
                                          <m:d>
                                            <m:dPr>
                                              <m:ctrlPr>
                                                <a:rPr lang="es-AR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AR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.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𝑔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𝑚𝑇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τ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e>
                                      </m:nary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solidFill>
                                            <a:schemeClr val="accent1"/>
                                          </a:solidFill>
                                          <a:latin typeface="Cambria Math"/>
                                        </a:rPr>
                                        <m:t>δ</m:t>
                                      </m:r>
                                      <m:r>
                                        <a:rPr lang="es-AR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/>
                                        </a:rPr>
                                        <m:t>)</m:t>
                                      </m:r>
                                      <m:r>
                                        <a:rPr lang="es-AR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/>
                                        </a:rPr>
                                        <m:t>𝑑𝑡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AR" b="0" i="1" smtClean="0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  <m:r>
                            <a:rPr lang="es-A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s-A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AR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AR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limLoc m:val="undOvr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𝑟</m:t>
                                          </m:r>
                                          <m:d>
                                            <m:dPr>
                                              <m:ctrlPr>
                                                <a:rPr lang="es-AR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AR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.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𝑔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𝑚𝑇</m:t>
                                          </m:r>
                                          <m:r>
                                            <a:rPr lang="es-A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τ</m:t>
                                          </m:r>
                                          <m:r>
                                            <a:rPr lang="es-AR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</m:e>
                                      </m:nary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solidFill>
                                            <a:schemeClr val="accent1"/>
                                          </a:solidFill>
                                          <a:latin typeface="Cambria Math"/>
                                        </a:rPr>
                                        <m:t>δ</m:t>
                                      </m:r>
                                      <m:r>
                                        <a:rPr lang="es-AR" i="1">
                                          <a:solidFill>
                                            <a:schemeClr val="accent1"/>
                                          </a:solidFill>
                                          <a:latin typeface="Cambria Math"/>
                                        </a:rPr>
                                        <m:t>)</m:t>
                                      </m:r>
                                      <m:r>
                                        <a:rPr lang="es-AR" i="1">
                                          <a:solidFill>
                                            <a:schemeClr val="accent1"/>
                                          </a:solidFill>
                                          <a:latin typeface="Cambria Math"/>
                                        </a:rPr>
                                        <m:t>𝑑𝑡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s-A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δ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97" y="4077072"/>
                <a:ext cx="7329571" cy="12960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19 CuadroTexto"/>
          <p:cNvSpPr txBox="1"/>
          <p:nvPr/>
        </p:nvSpPr>
        <p:spPr>
          <a:xfrm>
            <a:off x="611560" y="5589240"/>
            <a:ext cx="583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…que es la respuesta del sincronizador </a:t>
            </a:r>
            <a:r>
              <a:rPr lang="es-AR" dirty="0" err="1" smtClean="0"/>
              <a:t>Early</a:t>
            </a:r>
            <a:r>
              <a:rPr lang="es-AR" dirty="0" smtClean="0"/>
              <a:t> – Late.</a:t>
            </a:r>
            <a:endParaRPr lang="es-AR" dirty="0"/>
          </a:p>
        </p:txBody>
      </p:sp>
      <p:sp>
        <p:nvSpPr>
          <p:cNvPr id="14" name="13 Nube"/>
          <p:cNvSpPr/>
          <p:nvPr/>
        </p:nvSpPr>
        <p:spPr>
          <a:xfrm>
            <a:off x="7106498" y="5266038"/>
            <a:ext cx="1205880" cy="64640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smtClean="0"/>
              <a:t>Circuito A</a:t>
            </a:r>
            <a:endParaRPr lang="es-AR" sz="1200" b="1"/>
          </a:p>
        </p:txBody>
      </p:sp>
      <p:sp>
        <p:nvSpPr>
          <p:cNvPr id="21" name="20 Nube"/>
          <p:cNvSpPr/>
          <p:nvPr/>
        </p:nvSpPr>
        <p:spPr>
          <a:xfrm>
            <a:off x="6503558" y="2780928"/>
            <a:ext cx="1205880" cy="646404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smtClean="0"/>
              <a:t>Circuito B</a:t>
            </a:r>
            <a:endParaRPr lang="es-AR" sz="1200" b="1"/>
          </a:p>
        </p:txBody>
      </p:sp>
    </p:spTree>
    <p:extLst>
      <p:ext uri="{BB962C8B-B14F-4D97-AF65-F5344CB8AC3E}">
        <p14:creationId xmlns:p14="http://schemas.microsoft.com/office/powerpoint/2010/main" val="322178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23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925134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 smtClean="0"/>
              <a:t>¿Dudas?</a:t>
            </a:r>
            <a:br>
              <a:rPr lang="es-AR" dirty="0" smtClean="0"/>
            </a:br>
            <a:r>
              <a:rPr lang="es-AR" dirty="0" smtClean="0"/>
              <a:t>¿Consultas?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764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24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420888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s-AR" dirty="0" smtClean="0"/>
              <a:t>Muchas gracias por su atención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265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5577</TotalTime>
  <Words>1197</Words>
  <Application>Microsoft Office PowerPoint</Application>
  <PresentationFormat>Presentación en pantalla (4:3)</PresentationFormat>
  <Paragraphs>299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Bookman Old Style</vt:lpstr>
      <vt:lpstr>Calibri</vt:lpstr>
      <vt:lpstr>Cambria</vt:lpstr>
      <vt:lpstr>Cambria Math</vt:lpstr>
      <vt:lpstr>Gill Sans MT</vt:lpstr>
      <vt:lpstr>Wingdings</vt:lpstr>
      <vt:lpstr>Wingdings 3</vt:lpstr>
      <vt:lpstr>Origen</vt:lpstr>
      <vt:lpstr>G3 – Sincronización  Orientación para la resolución de ejercicios seleccionados</vt:lpstr>
      <vt:lpstr>Sincronización</vt:lpstr>
      <vt:lpstr>Lazo enganchado en fase (PLL)</vt:lpstr>
      <vt:lpstr>Lazo enganchado en fase (PLL)</vt:lpstr>
      <vt:lpstr>Ejercicio 47 – PLL de primer orden</vt:lpstr>
      <vt:lpstr>Ejercicio 47 – PLL de primer orden</vt:lpstr>
      <vt:lpstr>Ejercicio 48 – PLL de segundo orden</vt:lpstr>
      <vt:lpstr>Ejercicio 48 – PLL de segundo orden</vt:lpstr>
      <vt:lpstr>Ejercicio 48 – PLL de segundo orden</vt:lpstr>
      <vt:lpstr>Ejercicio 48 – PLL de segundo orden</vt:lpstr>
      <vt:lpstr>Ejercicio 49 – Diseño de un PLL</vt:lpstr>
      <vt:lpstr>Ejercicio 49 – Diseño de un PLL</vt:lpstr>
      <vt:lpstr>Ejercicio 50 – Ancho de banda de un PLL</vt:lpstr>
      <vt:lpstr>Ejercicio 50 – Ancho de banda de un PLL</vt:lpstr>
      <vt:lpstr>Ejercicio 51 – Offset en PLL</vt:lpstr>
      <vt:lpstr>Ejercicio 52 – Sintetizador de frecuencia</vt:lpstr>
      <vt:lpstr>Ejercicio 53 – Error de fase en BPSK</vt:lpstr>
      <vt:lpstr>Ejercicio 53 – Error de fase en BPSK</vt:lpstr>
      <vt:lpstr>Ejercicio 54 – Fase ruidosa</vt:lpstr>
      <vt:lpstr>Ejercicio 55 – Sincronizador Early-Late</vt:lpstr>
      <vt:lpstr>Ejercicio 55 – Sincronizador Early-Late</vt:lpstr>
      <vt:lpstr>Ejercicio 55 – Sincronizador Early-Late</vt:lpstr>
      <vt:lpstr>¿Dudas? ¿Consultas?</vt:lpstr>
      <vt:lpstr>Muchas 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de probabilidad de error en sistemas M-PSK</dc:title>
  <dc:creator>Leonel Hochman</dc:creator>
  <cp:lastModifiedBy>Hochman Leonel Enrique</cp:lastModifiedBy>
  <cp:revision>735</cp:revision>
  <dcterms:created xsi:type="dcterms:W3CDTF">2014-11-17T01:34:56Z</dcterms:created>
  <dcterms:modified xsi:type="dcterms:W3CDTF">2024-10-30T13:39:20Z</dcterms:modified>
</cp:coreProperties>
</file>