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0"/>
  </p:notesMasterIdLst>
  <p:sldIdLst>
    <p:sldId id="256" r:id="rId2"/>
    <p:sldId id="326" r:id="rId3"/>
    <p:sldId id="345" r:id="rId4"/>
    <p:sldId id="357" r:id="rId5"/>
    <p:sldId id="291" r:id="rId6"/>
    <p:sldId id="325" r:id="rId7"/>
    <p:sldId id="292" r:id="rId8"/>
    <p:sldId id="330" r:id="rId9"/>
    <p:sldId id="331" r:id="rId10"/>
    <p:sldId id="318" r:id="rId11"/>
    <p:sldId id="322" r:id="rId12"/>
    <p:sldId id="332" r:id="rId13"/>
    <p:sldId id="327" r:id="rId14"/>
    <p:sldId id="320" r:id="rId15"/>
    <p:sldId id="323" r:id="rId16"/>
    <p:sldId id="328" r:id="rId17"/>
    <p:sldId id="351" r:id="rId18"/>
    <p:sldId id="352" r:id="rId19"/>
    <p:sldId id="355" r:id="rId20"/>
    <p:sldId id="324" r:id="rId21"/>
    <p:sldId id="329" r:id="rId22"/>
    <p:sldId id="350" r:id="rId23"/>
    <p:sldId id="337" r:id="rId24"/>
    <p:sldId id="353" r:id="rId25"/>
    <p:sldId id="342" r:id="rId26"/>
    <p:sldId id="333" r:id="rId27"/>
    <p:sldId id="334" r:id="rId28"/>
    <p:sldId id="339" r:id="rId29"/>
    <p:sldId id="340" r:id="rId30"/>
    <p:sldId id="343" r:id="rId31"/>
    <p:sldId id="356" r:id="rId32"/>
    <p:sldId id="338" r:id="rId33"/>
    <p:sldId id="346" r:id="rId34"/>
    <p:sldId id="347" r:id="rId35"/>
    <p:sldId id="349" r:id="rId36"/>
    <p:sldId id="348" r:id="rId37"/>
    <p:sldId id="262" r:id="rId38"/>
    <p:sldId id="263" r:id="rId39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A7D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0" autoAdjust="0"/>
    <p:restoredTop sz="94662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57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1C4CD-45E9-4654-9E96-A5B26A1F05EF}" type="datetimeFigureOut">
              <a:rPr lang="es-AR" smtClean="0"/>
              <a:t>10/4/2024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FAB1A-2EE0-4230-85AB-72E46B336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6436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219200" y="1938933"/>
            <a:ext cx="6858000" cy="1671614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s-ES" dirty="0" smtClean="0"/>
              <a:t>Haga clic para modificar el estilo de título del patrón</a:t>
            </a:r>
            <a:endParaRPr kumimoji="0" lang="en-US" dirty="0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21" name="20 Rectángulo"/>
          <p:cNvSpPr/>
          <p:nvPr/>
        </p:nvSpPr>
        <p:spPr>
          <a:xfrm>
            <a:off x="904875" y="1700808"/>
            <a:ext cx="7315200" cy="216024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32 Rectángulo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Rectángulo"/>
          <p:cNvSpPr/>
          <p:nvPr/>
        </p:nvSpPr>
        <p:spPr>
          <a:xfrm>
            <a:off x="904875" y="1700808"/>
            <a:ext cx="228600" cy="216024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Rectángulo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s-ES" dirty="0" smtClean="0"/>
              <a:t>Haga clic para modificar el estilo de texto del patrón</a:t>
            </a:r>
          </a:p>
          <a:p>
            <a:pPr lvl="1" eaLnBrk="1" latinLnBrk="0" hangingPunct="1"/>
            <a:r>
              <a:rPr lang="es-ES" dirty="0" smtClean="0"/>
              <a:t>Segundo nivel</a:t>
            </a:r>
          </a:p>
          <a:p>
            <a:pPr lvl="2" eaLnBrk="1" latinLnBrk="0" hangingPunct="1"/>
            <a:r>
              <a:rPr lang="es-ES" dirty="0" smtClean="0"/>
              <a:t>Tercer nivel</a:t>
            </a:r>
          </a:p>
          <a:p>
            <a:pPr lvl="3" eaLnBrk="1" latinLnBrk="0" hangingPunct="1"/>
            <a:r>
              <a:rPr lang="es-ES" dirty="0" smtClean="0"/>
              <a:t>Cuarto nivel</a:t>
            </a:r>
          </a:p>
          <a:p>
            <a:pPr lvl="4" eaLnBrk="1" latinLnBrk="0" hangingPunct="1"/>
            <a:r>
              <a:rPr lang="es-ES" dirty="0" smtClean="0"/>
              <a:t>Quinto nivel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6 Rectángulo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4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 smtClean="0"/>
              <a:t>Abril 2024</a:t>
            </a:r>
          </a:p>
          <a:p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s-ES" dirty="0" smtClean="0"/>
              <a:t>Haga clic para modificar el estilo de título del patrón</a:t>
            </a:r>
            <a:endParaRPr kumimoji="0" lang="en-US" dirty="0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dirty="0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dirty="0" smtClean="0"/>
              <a:t>Segundo nivel</a:t>
            </a:r>
          </a:p>
          <a:p>
            <a:pPr lvl="2" eaLnBrk="1" latinLnBrk="0" hangingPunct="1"/>
            <a:r>
              <a:rPr kumimoji="0" lang="es-ES" dirty="0" smtClean="0"/>
              <a:t>Tercer nivel</a:t>
            </a:r>
          </a:p>
          <a:p>
            <a:pPr lvl="3" eaLnBrk="1" latinLnBrk="0" hangingPunct="1"/>
            <a:r>
              <a:rPr kumimoji="0" lang="es-ES" dirty="0" smtClean="0"/>
              <a:t>Cuarto nivel</a:t>
            </a:r>
          </a:p>
          <a:p>
            <a:pPr lvl="4" eaLnBrk="1" latinLnBrk="0" hangingPunct="1"/>
            <a:r>
              <a:rPr kumimoji="0" lang="es-ES" dirty="0" smtClean="0"/>
              <a:t>Quinto nivel</a:t>
            </a:r>
            <a:endParaRPr kumimoji="0" lang="en-US" dirty="0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539552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19/11/2014</a:t>
            </a:r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ct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Ing. Leonel E. Hochman</a:t>
            </a:r>
            <a:endParaRPr lang="es-E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695256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8" name="2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Conector recto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accent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180.png"/><Relationship Id="rId7" Type="http://schemas.openxmlformats.org/officeDocument/2006/relationships/image" Target="../media/image28.png"/><Relationship Id="rId12" Type="http://schemas.openxmlformats.org/officeDocument/2006/relationships/image" Target="../media/image29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260.png"/><Relationship Id="rId5" Type="http://schemas.openxmlformats.org/officeDocument/2006/relationships/image" Target="../media/image26.png"/><Relationship Id="rId10" Type="http://schemas.openxmlformats.org/officeDocument/2006/relationships/image" Target="../media/image250.png"/><Relationship Id="rId4" Type="http://schemas.openxmlformats.org/officeDocument/2006/relationships/image" Target="../media/image251.png"/><Relationship Id="rId9" Type="http://schemas.openxmlformats.org/officeDocument/2006/relationships/image" Target="../media/image24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0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image" Target="../media/image36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AR" smtClean="0"/>
              <a:t>G3 </a:t>
            </a:r>
            <a:r>
              <a:rPr lang="es-AR" dirty="0" smtClean="0"/>
              <a:t>– </a:t>
            </a:r>
            <a:r>
              <a:rPr lang="es-AR" dirty="0"/>
              <a:t>Canal real con ISI </a:t>
            </a:r>
            <a:r>
              <a:rPr lang="es-AR" dirty="0" smtClean="0"/>
              <a:t/>
            </a:r>
            <a:br>
              <a:rPr lang="es-AR" dirty="0" smtClean="0"/>
            </a:br>
            <a:r>
              <a:rPr lang="es-AR" dirty="0"/>
              <a:t/>
            </a:r>
            <a:br>
              <a:rPr lang="es-AR" dirty="0"/>
            </a:br>
            <a:r>
              <a:rPr lang="es-AR" dirty="0" smtClean="0"/>
              <a:t>Orientación para la resolución de ejercicios seleccionados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ctr"/>
            <a:endParaRPr lang="es-AR" dirty="0" smtClean="0"/>
          </a:p>
          <a:p>
            <a:pPr algn="ctr"/>
            <a:r>
              <a:rPr lang="es-AR" dirty="0" smtClean="0"/>
              <a:t>Ing. Leonel E. Hochman			Abril de 2024</a:t>
            </a:r>
          </a:p>
        </p:txBody>
      </p:sp>
      <p:pic>
        <p:nvPicPr>
          <p:cNvPr id="1026" name="Picture 2" descr="Inicio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17513"/>
            <a:ext cx="2381250" cy="79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 Universidad de Buenos Aires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88926"/>
            <a:ext cx="3038475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989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Canal no ideal – ISI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grpSp>
        <p:nvGrpSpPr>
          <p:cNvPr id="15" name="14 Grupo"/>
          <p:cNvGrpSpPr/>
          <p:nvPr/>
        </p:nvGrpSpPr>
        <p:grpSpPr>
          <a:xfrm>
            <a:off x="532426" y="1916832"/>
            <a:ext cx="3434402" cy="883146"/>
            <a:chOff x="467544" y="1916832"/>
            <a:chExt cx="3434402" cy="883146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539552" y="2492896"/>
              <a:ext cx="31683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8 CuadroTexto"/>
            <p:cNvSpPr txBox="1"/>
            <p:nvPr/>
          </p:nvSpPr>
          <p:spPr>
            <a:xfrm>
              <a:off x="467544" y="2492896"/>
              <a:ext cx="34344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200" dirty="0" smtClean="0"/>
                <a:t>0	T                 2T	3T      t</a:t>
              </a:r>
              <a:endParaRPr lang="es-AR" sz="1200" dirty="0"/>
            </a:p>
          </p:txBody>
        </p:sp>
        <p:sp>
          <p:nvSpPr>
            <p:cNvPr id="10" name="9 Rectángulo"/>
            <p:cNvSpPr/>
            <p:nvPr/>
          </p:nvSpPr>
          <p:spPr>
            <a:xfrm>
              <a:off x="611560" y="1916832"/>
              <a:ext cx="72008" cy="5760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6" name="15 Rectángulo"/>
            <p:cNvSpPr/>
            <p:nvPr/>
          </p:nvSpPr>
          <p:spPr>
            <a:xfrm>
              <a:off x="1509564" y="2195338"/>
              <a:ext cx="72008" cy="29755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7" name="16 Rectángulo"/>
            <p:cNvSpPr/>
            <p:nvPr/>
          </p:nvSpPr>
          <p:spPr>
            <a:xfrm>
              <a:off x="2483768" y="2502421"/>
              <a:ext cx="72008" cy="297557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8" name="17 Rectángulo"/>
            <p:cNvSpPr/>
            <p:nvPr/>
          </p:nvSpPr>
          <p:spPr>
            <a:xfrm>
              <a:off x="3347864" y="2195339"/>
              <a:ext cx="72008" cy="2975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25" name="24 Grupo"/>
          <p:cNvGrpSpPr/>
          <p:nvPr/>
        </p:nvGrpSpPr>
        <p:grpSpPr>
          <a:xfrm>
            <a:off x="4906516" y="1910221"/>
            <a:ext cx="4010863" cy="914140"/>
            <a:chOff x="4788024" y="1910221"/>
            <a:chExt cx="4010863" cy="914140"/>
          </a:xfrm>
        </p:grpSpPr>
        <p:cxnSp>
          <p:nvCxnSpPr>
            <p:cNvPr id="19" name="18 Conector recto de flecha"/>
            <p:cNvCxnSpPr/>
            <p:nvPr/>
          </p:nvCxnSpPr>
          <p:spPr>
            <a:xfrm>
              <a:off x="4860032" y="2492896"/>
              <a:ext cx="31683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19 CuadroTexto"/>
            <p:cNvSpPr txBox="1"/>
            <p:nvPr/>
          </p:nvSpPr>
          <p:spPr>
            <a:xfrm>
              <a:off x="4788024" y="2492896"/>
              <a:ext cx="34344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200" dirty="0" smtClean="0"/>
                <a:t>0	T                 2T	3T      t</a:t>
              </a:r>
              <a:endParaRPr lang="es-AR" sz="1200" dirty="0"/>
            </a:p>
          </p:txBody>
        </p:sp>
        <p:sp>
          <p:nvSpPr>
            <p:cNvPr id="11" name="10 Forma libre"/>
            <p:cNvSpPr/>
            <p:nvPr/>
          </p:nvSpPr>
          <p:spPr>
            <a:xfrm>
              <a:off x="4932928" y="1910221"/>
              <a:ext cx="1133475" cy="594854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6" name="25 Forma libre"/>
            <p:cNvSpPr/>
            <p:nvPr/>
          </p:nvSpPr>
          <p:spPr>
            <a:xfrm>
              <a:off x="5855290" y="2195338"/>
              <a:ext cx="1133475" cy="316348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7" name="26 Forma libre"/>
            <p:cNvSpPr/>
            <p:nvPr/>
          </p:nvSpPr>
          <p:spPr>
            <a:xfrm flipV="1">
              <a:off x="6829494" y="2508013"/>
              <a:ext cx="1133475" cy="316348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8" name="27 Forma libre"/>
            <p:cNvSpPr/>
            <p:nvPr/>
          </p:nvSpPr>
          <p:spPr>
            <a:xfrm>
              <a:off x="7665412" y="2204864"/>
              <a:ext cx="1133475" cy="316348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46" name="45 Grupo"/>
          <p:cNvGrpSpPr/>
          <p:nvPr/>
        </p:nvGrpSpPr>
        <p:grpSpPr>
          <a:xfrm>
            <a:off x="359302" y="3914006"/>
            <a:ext cx="3780650" cy="883146"/>
            <a:chOff x="467544" y="3914006"/>
            <a:chExt cx="3780650" cy="883146"/>
          </a:xfrm>
        </p:grpSpPr>
        <p:cxnSp>
          <p:nvCxnSpPr>
            <p:cNvPr id="36" name="35 Conector recto de flecha"/>
            <p:cNvCxnSpPr/>
            <p:nvPr/>
          </p:nvCxnSpPr>
          <p:spPr>
            <a:xfrm flipV="1">
              <a:off x="539552" y="4490069"/>
              <a:ext cx="3600400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36 CuadroTexto"/>
            <p:cNvSpPr txBox="1"/>
            <p:nvPr/>
          </p:nvSpPr>
          <p:spPr>
            <a:xfrm>
              <a:off x="467544" y="4490070"/>
              <a:ext cx="37806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200" dirty="0" smtClean="0"/>
                <a:t>0	T                 2T	3T              t</a:t>
              </a:r>
              <a:endParaRPr lang="es-AR" sz="1200" dirty="0"/>
            </a:p>
          </p:txBody>
        </p:sp>
        <p:sp>
          <p:nvSpPr>
            <p:cNvPr id="38" name="37 Rectángulo"/>
            <p:cNvSpPr/>
            <p:nvPr/>
          </p:nvSpPr>
          <p:spPr>
            <a:xfrm>
              <a:off x="611560" y="3914006"/>
              <a:ext cx="72008" cy="5760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9" name="38 Rectángulo"/>
            <p:cNvSpPr/>
            <p:nvPr/>
          </p:nvSpPr>
          <p:spPr>
            <a:xfrm>
              <a:off x="1509564" y="4192512"/>
              <a:ext cx="72008" cy="29755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0" name="39 Rectángulo"/>
            <p:cNvSpPr/>
            <p:nvPr/>
          </p:nvSpPr>
          <p:spPr>
            <a:xfrm>
              <a:off x="2483768" y="4499595"/>
              <a:ext cx="72008" cy="297557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1" name="40 Rectángulo"/>
            <p:cNvSpPr/>
            <p:nvPr/>
          </p:nvSpPr>
          <p:spPr>
            <a:xfrm>
              <a:off x="3347864" y="4192513"/>
              <a:ext cx="72008" cy="2975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2" name="41 Rectángulo"/>
            <p:cNvSpPr/>
            <p:nvPr/>
          </p:nvSpPr>
          <p:spPr>
            <a:xfrm>
              <a:off x="1043608" y="4192512"/>
              <a:ext cx="72008" cy="2975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3" name="42 Rectángulo"/>
            <p:cNvSpPr/>
            <p:nvPr/>
          </p:nvSpPr>
          <p:spPr>
            <a:xfrm>
              <a:off x="1979712" y="4341291"/>
              <a:ext cx="72008" cy="14877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4" name="43 Rectángulo"/>
            <p:cNvSpPr/>
            <p:nvPr/>
          </p:nvSpPr>
          <p:spPr>
            <a:xfrm>
              <a:off x="2929533" y="4499596"/>
              <a:ext cx="72008" cy="14877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5" name="44 Rectángulo"/>
            <p:cNvSpPr/>
            <p:nvPr/>
          </p:nvSpPr>
          <p:spPr>
            <a:xfrm>
              <a:off x="3818012" y="4331765"/>
              <a:ext cx="72008" cy="14878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dirty="0" smtClean="0"/>
                <a:t>000</a:t>
              </a:r>
              <a:endParaRPr lang="es-AR" dirty="0"/>
            </a:p>
          </p:txBody>
        </p:sp>
      </p:grpSp>
      <p:grpSp>
        <p:nvGrpSpPr>
          <p:cNvPr id="61" name="60 Grupo"/>
          <p:cNvGrpSpPr/>
          <p:nvPr/>
        </p:nvGrpSpPr>
        <p:grpSpPr>
          <a:xfrm>
            <a:off x="4716016" y="3902062"/>
            <a:ext cx="4391863" cy="914140"/>
            <a:chOff x="4788024" y="3902062"/>
            <a:chExt cx="4391863" cy="914140"/>
          </a:xfrm>
        </p:grpSpPr>
        <p:cxnSp>
          <p:nvCxnSpPr>
            <p:cNvPr id="47" name="46 Conector recto de flecha"/>
            <p:cNvCxnSpPr/>
            <p:nvPr/>
          </p:nvCxnSpPr>
          <p:spPr>
            <a:xfrm>
              <a:off x="4860032" y="4484737"/>
              <a:ext cx="31683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47 CuadroTexto"/>
            <p:cNvSpPr txBox="1"/>
            <p:nvPr/>
          </p:nvSpPr>
          <p:spPr>
            <a:xfrm>
              <a:off x="4788024" y="4484737"/>
              <a:ext cx="34344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200" dirty="0" smtClean="0"/>
                <a:t>0	T                 2T	3T      t</a:t>
              </a:r>
              <a:endParaRPr lang="es-AR" sz="1200" dirty="0"/>
            </a:p>
          </p:txBody>
        </p:sp>
        <p:sp>
          <p:nvSpPr>
            <p:cNvPr id="49" name="48 Forma libre"/>
            <p:cNvSpPr/>
            <p:nvPr/>
          </p:nvSpPr>
          <p:spPr>
            <a:xfrm>
              <a:off x="4932928" y="3902062"/>
              <a:ext cx="1133475" cy="594854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0" name="49 Forma libre"/>
            <p:cNvSpPr/>
            <p:nvPr/>
          </p:nvSpPr>
          <p:spPr>
            <a:xfrm>
              <a:off x="5855290" y="4187179"/>
              <a:ext cx="1133475" cy="316348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1" name="50 Forma libre"/>
            <p:cNvSpPr/>
            <p:nvPr/>
          </p:nvSpPr>
          <p:spPr>
            <a:xfrm flipV="1">
              <a:off x="6829494" y="4499854"/>
              <a:ext cx="1133475" cy="316348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2" name="51 Forma libre"/>
            <p:cNvSpPr/>
            <p:nvPr/>
          </p:nvSpPr>
          <p:spPr>
            <a:xfrm>
              <a:off x="7665412" y="4196705"/>
              <a:ext cx="1133475" cy="316348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3" name="52 Forma libre"/>
            <p:cNvSpPr/>
            <p:nvPr/>
          </p:nvSpPr>
          <p:spPr>
            <a:xfrm>
              <a:off x="5361553" y="4187178"/>
              <a:ext cx="1133475" cy="287773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4" name="53 Forma libre"/>
            <p:cNvSpPr/>
            <p:nvPr/>
          </p:nvSpPr>
          <p:spPr>
            <a:xfrm>
              <a:off x="6372200" y="4345353"/>
              <a:ext cx="1133475" cy="148650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5" name="54 Forma libre"/>
            <p:cNvSpPr/>
            <p:nvPr/>
          </p:nvSpPr>
          <p:spPr>
            <a:xfrm flipV="1">
              <a:off x="7286694" y="4509120"/>
              <a:ext cx="1133475" cy="158174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7" name="56 Forma libre"/>
            <p:cNvSpPr/>
            <p:nvPr/>
          </p:nvSpPr>
          <p:spPr>
            <a:xfrm>
              <a:off x="8046412" y="4331064"/>
              <a:ext cx="1133475" cy="168272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14" name="13 CuadroTexto"/>
          <p:cNvSpPr txBox="1"/>
          <p:nvPr/>
        </p:nvSpPr>
        <p:spPr>
          <a:xfrm>
            <a:off x="1266025" y="1412776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Señal transmitida</a:t>
            </a:r>
            <a:endParaRPr lang="es-AR" dirty="0"/>
          </a:p>
        </p:txBody>
      </p:sp>
      <p:sp>
        <p:nvSpPr>
          <p:cNvPr id="58" name="57 CuadroTexto"/>
          <p:cNvSpPr txBox="1"/>
          <p:nvPr/>
        </p:nvSpPr>
        <p:spPr>
          <a:xfrm>
            <a:off x="5383291" y="1412776"/>
            <a:ext cx="3057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Señal recibida – AB limitado</a:t>
            </a:r>
            <a:endParaRPr lang="es-AR" dirty="0"/>
          </a:p>
        </p:txBody>
      </p:sp>
      <p:sp>
        <p:nvSpPr>
          <p:cNvPr id="59" name="58 CuadroTexto"/>
          <p:cNvSpPr txBox="1"/>
          <p:nvPr/>
        </p:nvSpPr>
        <p:spPr>
          <a:xfrm>
            <a:off x="721004" y="3356992"/>
            <a:ext cx="3057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Señal recibida - Reflexiones</a:t>
            </a:r>
            <a:endParaRPr lang="es-AR" dirty="0"/>
          </a:p>
        </p:txBody>
      </p:sp>
      <p:sp>
        <p:nvSpPr>
          <p:cNvPr id="60" name="59 CuadroTexto"/>
          <p:cNvSpPr txBox="1"/>
          <p:nvPr/>
        </p:nvSpPr>
        <p:spPr>
          <a:xfrm>
            <a:off x="4658734" y="3356992"/>
            <a:ext cx="4506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Señal recibida – Reflexiones y AB limitado</a:t>
            </a:r>
            <a:endParaRPr lang="es-AR" dirty="0"/>
          </a:p>
        </p:txBody>
      </p:sp>
      <p:cxnSp>
        <p:nvCxnSpPr>
          <p:cNvPr id="63" name="62 Conector recto de flecha"/>
          <p:cNvCxnSpPr/>
          <p:nvPr/>
        </p:nvCxnSpPr>
        <p:spPr>
          <a:xfrm flipV="1">
            <a:off x="5559003" y="4797152"/>
            <a:ext cx="165125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 de flecha"/>
          <p:cNvCxnSpPr/>
          <p:nvPr/>
        </p:nvCxnSpPr>
        <p:spPr>
          <a:xfrm flipV="1">
            <a:off x="5711403" y="4816202"/>
            <a:ext cx="829116" cy="4933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recto de flecha"/>
          <p:cNvCxnSpPr/>
          <p:nvPr/>
        </p:nvCxnSpPr>
        <p:spPr>
          <a:xfrm flipV="1">
            <a:off x="5863803" y="4797152"/>
            <a:ext cx="1650920" cy="664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65 CuadroTexto"/>
          <p:cNvSpPr txBox="1"/>
          <p:nvPr/>
        </p:nvSpPr>
        <p:spPr>
          <a:xfrm>
            <a:off x="3563888" y="5309592"/>
            <a:ext cx="2353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200" dirty="0" smtClean="0"/>
              <a:t>La superposición de símbolos da </a:t>
            </a:r>
            <a:r>
              <a:rPr lang="es-AR" sz="1200" smtClean="0"/>
              <a:t>lugar a interferencias </a:t>
            </a:r>
            <a:r>
              <a:rPr lang="es-AR" sz="1200" dirty="0" smtClean="0"/>
              <a:t>en el instante de muestreo.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140166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Canal no ideal – ISI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grpSp>
        <p:nvGrpSpPr>
          <p:cNvPr id="15" name="14 Grupo"/>
          <p:cNvGrpSpPr/>
          <p:nvPr/>
        </p:nvGrpSpPr>
        <p:grpSpPr>
          <a:xfrm>
            <a:off x="532426" y="1916832"/>
            <a:ext cx="3434402" cy="883146"/>
            <a:chOff x="467544" y="1916832"/>
            <a:chExt cx="3434402" cy="883146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539552" y="2492896"/>
              <a:ext cx="31683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8 CuadroTexto"/>
            <p:cNvSpPr txBox="1"/>
            <p:nvPr/>
          </p:nvSpPr>
          <p:spPr>
            <a:xfrm>
              <a:off x="467544" y="2492896"/>
              <a:ext cx="34344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200" dirty="0" smtClean="0"/>
                <a:t>0	T                 2T	3T      t</a:t>
              </a:r>
              <a:endParaRPr lang="es-AR" sz="1200" dirty="0"/>
            </a:p>
          </p:txBody>
        </p:sp>
        <p:sp>
          <p:nvSpPr>
            <p:cNvPr id="10" name="9 Rectángulo"/>
            <p:cNvSpPr/>
            <p:nvPr/>
          </p:nvSpPr>
          <p:spPr>
            <a:xfrm>
              <a:off x="611560" y="1916832"/>
              <a:ext cx="72008" cy="5760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6" name="15 Rectángulo"/>
            <p:cNvSpPr/>
            <p:nvPr/>
          </p:nvSpPr>
          <p:spPr>
            <a:xfrm>
              <a:off x="1509564" y="2195338"/>
              <a:ext cx="72008" cy="29755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7" name="16 Rectángulo"/>
            <p:cNvSpPr/>
            <p:nvPr/>
          </p:nvSpPr>
          <p:spPr>
            <a:xfrm>
              <a:off x="2483768" y="2502421"/>
              <a:ext cx="72008" cy="297557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8" name="17 Rectángulo"/>
            <p:cNvSpPr/>
            <p:nvPr/>
          </p:nvSpPr>
          <p:spPr>
            <a:xfrm>
              <a:off x="3347864" y="2195339"/>
              <a:ext cx="72008" cy="2975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25" name="24 Grupo"/>
          <p:cNvGrpSpPr/>
          <p:nvPr/>
        </p:nvGrpSpPr>
        <p:grpSpPr>
          <a:xfrm>
            <a:off x="4906516" y="1910221"/>
            <a:ext cx="4010863" cy="914140"/>
            <a:chOff x="4788024" y="1910221"/>
            <a:chExt cx="4010863" cy="914140"/>
          </a:xfrm>
        </p:grpSpPr>
        <p:cxnSp>
          <p:nvCxnSpPr>
            <p:cNvPr id="19" name="18 Conector recto de flecha"/>
            <p:cNvCxnSpPr/>
            <p:nvPr/>
          </p:nvCxnSpPr>
          <p:spPr>
            <a:xfrm>
              <a:off x="4860032" y="2492896"/>
              <a:ext cx="31683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19 CuadroTexto"/>
            <p:cNvSpPr txBox="1"/>
            <p:nvPr/>
          </p:nvSpPr>
          <p:spPr>
            <a:xfrm>
              <a:off x="4788024" y="2492896"/>
              <a:ext cx="34344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200" dirty="0" smtClean="0"/>
                <a:t>0	T                 2T	3T      t</a:t>
              </a:r>
              <a:endParaRPr lang="es-AR" sz="1200" dirty="0"/>
            </a:p>
          </p:txBody>
        </p:sp>
        <p:sp>
          <p:nvSpPr>
            <p:cNvPr id="11" name="10 Forma libre"/>
            <p:cNvSpPr/>
            <p:nvPr/>
          </p:nvSpPr>
          <p:spPr>
            <a:xfrm>
              <a:off x="4932928" y="1910221"/>
              <a:ext cx="1133475" cy="594854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6" name="25 Forma libre"/>
            <p:cNvSpPr/>
            <p:nvPr/>
          </p:nvSpPr>
          <p:spPr>
            <a:xfrm>
              <a:off x="5855290" y="2195338"/>
              <a:ext cx="1133475" cy="316348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7" name="26 Forma libre"/>
            <p:cNvSpPr/>
            <p:nvPr/>
          </p:nvSpPr>
          <p:spPr>
            <a:xfrm flipV="1">
              <a:off x="6829494" y="2508013"/>
              <a:ext cx="1133475" cy="316348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8" name="27 Forma libre"/>
            <p:cNvSpPr/>
            <p:nvPr/>
          </p:nvSpPr>
          <p:spPr>
            <a:xfrm>
              <a:off x="7665412" y="2204864"/>
              <a:ext cx="1133475" cy="316348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46" name="45 Grupo"/>
          <p:cNvGrpSpPr/>
          <p:nvPr/>
        </p:nvGrpSpPr>
        <p:grpSpPr>
          <a:xfrm>
            <a:off x="359302" y="3914006"/>
            <a:ext cx="3780650" cy="883146"/>
            <a:chOff x="467544" y="3914006"/>
            <a:chExt cx="3780650" cy="883146"/>
          </a:xfrm>
        </p:grpSpPr>
        <p:cxnSp>
          <p:nvCxnSpPr>
            <p:cNvPr id="36" name="35 Conector recto de flecha"/>
            <p:cNvCxnSpPr/>
            <p:nvPr/>
          </p:nvCxnSpPr>
          <p:spPr>
            <a:xfrm flipV="1">
              <a:off x="539552" y="4490069"/>
              <a:ext cx="3600400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36 CuadroTexto"/>
            <p:cNvSpPr txBox="1"/>
            <p:nvPr/>
          </p:nvSpPr>
          <p:spPr>
            <a:xfrm>
              <a:off x="467544" y="4490070"/>
              <a:ext cx="37806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200" dirty="0" smtClean="0"/>
                <a:t>0	T                 2T	3T              t</a:t>
              </a:r>
              <a:endParaRPr lang="es-AR" sz="1200" dirty="0"/>
            </a:p>
          </p:txBody>
        </p:sp>
        <p:sp>
          <p:nvSpPr>
            <p:cNvPr id="38" name="37 Rectángulo"/>
            <p:cNvSpPr/>
            <p:nvPr/>
          </p:nvSpPr>
          <p:spPr>
            <a:xfrm>
              <a:off x="611560" y="3914006"/>
              <a:ext cx="72008" cy="5760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9" name="38 Rectángulo"/>
            <p:cNvSpPr/>
            <p:nvPr/>
          </p:nvSpPr>
          <p:spPr>
            <a:xfrm>
              <a:off x="1509564" y="4192512"/>
              <a:ext cx="72008" cy="29755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0" name="39 Rectángulo"/>
            <p:cNvSpPr/>
            <p:nvPr/>
          </p:nvSpPr>
          <p:spPr>
            <a:xfrm>
              <a:off x="2483768" y="4499595"/>
              <a:ext cx="72008" cy="297557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1" name="40 Rectángulo"/>
            <p:cNvSpPr/>
            <p:nvPr/>
          </p:nvSpPr>
          <p:spPr>
            <a:xfrm>
              <a:off x="3347864" y="4192513"/>
              <a:ext cx="72008" cy="2975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2" name="41 Rectángulo"/>
            <p:cNvSpPr/>
            <p:nvPr/>
          </p:nvSpPr>
          <p:spPr>
            <a:xfrm>
              <a:off x="1043608" y="4192512"/>
              <a:ext cx="72008" cy="2975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3" name="42 Rectángulo"/>
            <p:cNvSpPr/>
            <p:nvPr/>
          </p:nvSpPr>
          <p:spPr>
            <a:xfrm>
              <a:off x="1979712" y="4341291"/>
              <a:ext cx="72008" cy="14877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4" name="43 Rectángulo"/>
            <p:cNvSpPr/>
            <p:nvPr/>
          </p:nvSpPr>
          <p:spPr>
            <a:xfrm>
              <a:off x="2929533" y="4499596"/>
              <a:ext cx="72008" cy="14877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5" name="44 Rectángulo"/>
            <p:cNvSpPr/>
            <p:nvPr/>
          </p:nvSpPr>
          <p:spPr>
            <a:xfrm>
              <a:off x="3818012" y="4331765"/>
              <a:ext cx="72008" cy="14878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dirty="0" smtClean="0"/>
                <a:t>000</a:t>
              </a:r>
              <a:endParaRPr lang="es-AR" dirty="0"/>
            </a:p>
          </p:txBody>
        </p:sp>
      </p:grpSp>
      <p:grpSp>
        <p:nvGrpSpPr>
          <p:cNvPr id="61" name="60 Grupo"/>
          <p:cNvGrpSpPr/>
          <p:nvPr/>
        </p:nvGrpSpPr>
        <p:grpSpPr>
          <a:xfrm>
            <a:off x="4716016" y="3902062"/>
            <a:ext cx="4391863" cy="914140"/>
            <a:chOff x="4788024" y="3902062"/>
            <a:chExt cx="4391863" cy="914140"/>
          </a:xfrm>
        </p:grpSpPr>
        <p:cxnSp>
          <p:nvCxnSpPr>
            <p:cNvPr id="47" name="46 Conector recto de flecha"/>
            <p:cNvCxnSpPr/>
            <p:nvPr/>
          </p:nvCxnSpPr>
          <p:spPr>
            <a:xfrm>
              <a:off x="4860032" y="4484737"/>
              <a:ext cx="31683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47 CuadroTexto"/>
            <p:cNvSpPr txBox="1"/>
            <p:nvPr/>
          </p:nvSpPr>
          <p:spPr>
            <a:xfrm>
              <a:off x="4788024" y="4484737"/>
              <a:ext cx="34344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200" dirty="0" smtClean="0"/>
                <a:t>0	T                 2T	3T      t</a:t>
              </a:r>
              <a:endParaRPr lang="es-AR" sz="1200" dirty="0"/>
            </a:p>
          </p:txBody>
        </p:sp>
        <p:sp>
          <p:nvSpPr>
            <p:cNvPr id="49" name="48 Forma libre"/>
            <p:cNvSpPr/>
            <p:nvPr/>
          </p:nvSpPr>
          <p:spPr>
            <a:xfrm>
              <a:off x="4932928" y="3902062"/>
              <a:ext cx="1133475" cy="594854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0" name="49 Forma libre"/>
            <p:cNvSpPr/>
            <p:nvPr/>
          </p:nvSpPr>
          <p:spPr>
            <a:xfrm>
              <a:off x="5855290" y="4187179"/>
              <a:ext cx="1133475" cy="316348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1" name="50 Forma libre"/>
            <p:cNvSpPr/>
            <p:nvPr/>
          </p:nvSpPr>
          <p:spPr>
            <a:xfrm flipV="1">
              <a:off x="6829494" y="4499854"/>
              <a:ext cx="1133475" cy="316348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2" name="51 Forma libre"/>
            <p:cNvSpPr/>
            <p:nvPr/>
          </p:nvSpPr>
          <p:spPr>
            <a:xfrm>
              <a:off x="7665412" y="4196705"/>
              <a:ext cx="1133475" cy="316348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3" name="52 Forma libre"/>
            <p:cNvSpPr/>
            <p:nvPr/>
          </p:nvSpPr>
          <p:spPr>
            <a:xfrm>
              <a:off x="5361553" y="4187178"/>
              <a:ext cx="1133475" cy="287773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4" name="53 Forma libre"/>
            <p:cNvSpPr/>
            <p:nvPr/>
          </p:nvSpPr>
          <p:spPr>
            <a:xfrm>
              <a:off x="6372200" y="4345353"/>
              <a:ext cx="1133475" cy="148650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5" name="54 Forma libre"/>
            <p:cNvSpPr/>
            <p:nvPr/>
          </p:nvSpPr>
          <p:spPr>
            <a:xfrm flipV="1">
              <a:off x="7286694" y="4509120"/>
              <a:ext cx="1133475" cy="158174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7" name="56 Forma libre"/>
            <p:cNvSpPr/>
            <p:nvPr/>
          </p:nvSpPr>
          <p:spPr>
            <a:xfrm>
              <a:off x="8046412" y="4331064"/>
              <a:ext cx="1133475" cy="168272"/>
            </a:xfrm>
            <a:custGeom>
              <a:avLst/>
              <a:gdLst>
                <a:gd name="connsiteX0" fmla="*/ 0 w 1133475"/>
                <a:gd name="connsiteY0" fmla="*/ 575804 h 594854"/>
                <a:gd name="connsiteX1" fmla="*/ 76200 w 1133475"/>
                <a:gd name="connsiteY1" fmla="*/ 4304 h 594854"/>
                <a:gd name="connsiteX2" fmla="*/ 438150 w 1133475"/>
                <a:gd name="connsiteY2" fmla="*/ 328154 h 594854"/>
                <a:gd name="connsiteX3" fmla="*/ 1133475 w 1133475"/>
                <a:gd name="connsiteY3" fmla="*/ 594854 h 594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3475" h="594854">
                  <a:moveTo>
                    <a:pt x="0" y="575804"/>
                  </a:moveTo>
                  <a:cubicBezTo>
                    <a:pt x="1587" y="310691"/>
                    <a:pt x="3175" y="45579"/>
                    <a:pt x="76200" y="4304"/>
                  </a:cubicBezTo>
                  <a:cubicBezTo>
                    <a:pt x="149225" y="-36971"/>
                    <a:pt x="261937" y="229729"/>
                    <a:pt x="438150" y="328154"/>
                  </a:cubicBezTo>
                  <a:cubicBezTo>
                    <a:pt x="614363" y="426579"/>
                    <a:pt x="1006475" y="558341"/>
                    <a:pt x="1133475" y="594854"/>
                  </a:cubicBezTo>
                </a:path>
              </a:pathLst>
            </a:cu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14" name="13 CuadroTexto"/>
          <p:cNvSpPr txBox="1"/>
          <p:nvPr/>
        </p:nvSpPr>
        <p:spPr>
          <a:xfrm>
            <a:off x="1266025" y="1412776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Señal transmitida</a:t>
            </a:r>
            <a:endParaRPr lang="es-AR" dirty="0"/>
          </a:p>
        </p:txBody>
      </p:sp>
      <p:sp>
        <p:nvSpPr>
          <p:cNvPr id="58" name="57 CuadroTexto"/>
          <p:cNvSpPr txBox="1"/>
          <p:nvPr/>
        </p:nvSpPr>
        <p:spPr>
          <a:xfrm>
            <a:off x="5383291" y="1412776"/>
            <a:ext cx="3057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Señal recibida – AB limitado</a:t>
            </a:r>
            <a:endParaRPr lang="es-AR" dirty="0"/>
          </a:p>
        </p:txBody>
      </p:sp>
      <p:sp>
        <p:nvSpPr>
          <p:cNvPr id="59" name="58 CuadroTexto"/>
          <p:cNvSpPr txBox="1"/>
          <p:nvPr/>
        </p:nvSpPr>
        <p:spPr>
          <a:xfrm>
            <a:off x="721004" y="3356992"/>
            <a:ext cx="3057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Señal recibida - Reflexiones</a:t>
            </a:r>
            <a:endParaRPr lang="es-AR" dirty="0"/>
          </a:p>
        </p:txBody>
      </p:sp>
      <p:sp>
        <p:nvSpPr>
          <p:cNvPr id="60" name="59 CuadroTexto"/>
          <p:cNvSpPr txBox="1"/>
          <p:nvPr/>
        </p:nvSpPr>
        <p:spPr>
          <a:xfrm>
            <a:off x="4658734" y="3356992"/>
            <a:ext cx="4506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Señal recibida – Reflexiones y AB limitado</a:t>
            </a:r>
            <a:endParaRPr lang="es-AR" dirty="0"/>
          </a:p>
        </p:txBody>
      </p:sp>
      <p:cxnSp>
        <p:nvCxnSpPr>
          <p:cNvPr id="63" name="62 Conector recto de flecha"/>
          <p:cNvCxnSpPr/>
          <p:nvPr/>
        </p:nvCxnSpPr>
        <p:spPr>
          <a:xfrm flipV="1">
            <a:off x="5559003" y="4797152"/>
            <a:ext cx="165125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 de flecha"/>
          <p:cNvCxnSpPr/>
          <p:nvPr/>
        </p:nvCxnSpPr>
        <p:spPr>
          <a:xfrm flipV="1">
            <a:off x="5711403" y="4816202"/>
            <a:ext cx="829116" cy="4933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recto de flecha"/>
          <p:cNvCxnSpPr/>
          <p:nvPr/>
        </p:nvCxnSpPr>
        <p:spPr>
          <a:xfrm flipV="1">
            <a:off x="5863803" y="4797152"/>
            <a:ext cx="1650920" cy="664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65 CuadroTexto"/>
          <p:cNvSpPr txBox="1"/>
          <p:nvPr/>
        </p:nvSpPr>
        <p:spPr>
          <a:xfrm>
            <a:off x="3563888" y="5309592"/>
            <a:ext cx="2353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200" dirty="0" smtClean="0"/>
              <a:t>La superposición de símbolos da </a:t>
            </a:r>
            <a:r>
              <a:rPr lang="es-AR" sz="1200" smtClean="0"/>
              <a:t>lugar a interferencias </a:t>
            </a:r>
            <a:r>
              <a:rPr lang="es-AR" sz="1200" dirty="0" smtClean="0"/>
              <a:t>en el instante de muestreo.</a:t>
            </a:r>
            <a:endParaRPr lang="es-AR" sz="1200" dirty="0"/>
          </a:p>
        </p:txBody>
      </p:sp>
      <p:sp>
        <p:nvSpPr>
          <p:cNvPr id="7" name="6 Forma libre"/>
          <p:cNvSpPr/>
          <p:nvPr/>
        </p:nvSpPr>
        <p:spPr>
          <a:xfrm>
            <a:off x="5061098" y="1901211"/>
            <a:ext cx="3838353" cy="1065335"/>
          </a:xfrm>
          <a:custGeom>
            <a:avLst/>
            <a:gdLst>
              <a:gd name="connsiteX0" fmla="*/ 0 w 3838353"/>
              <a:gd name="connsiteY0" fmla="*/ 576175 h 1065335"/>
              <a:gd name="connsiteX1" fmla="*/ 31897 w 3838353"/>
              <a:gd name="connsiteY1" fmla="*/ 87077 h 1065335"/>
              <a:gd name="connsiteX2" fmla="*/ 74428 w 3838353"/>
              <a:gd name="connsiteY2" fmla="*/ 12649 h 1065335"/>
              <a:gd name="connsiteX3" fmla="*/ 308344 w 3838353"/>
              <a:gd name="connsiteY3" fmla="*/ 235933 h 1065335"/>
              <a:gd name="connsiteX4" fmla="*/ 446567 w 3838353"/>
              <a:gd name="connsiteY4" fmla="*/ 363524 h 1065335"/>
              <a:gd name="connsiteX5" fmla="*/ 882502 w 3838353"/>
              <a:gd name="connsiteY5" fmla="*/ 512380 h 1065335"/>
              <a:gd name="connsiteX6" fmla="*/ 946297 w 3838353"/>
              <a:gd name="connsiteY6" fmla="*/ 363524 h 1065335"/>
              <a:gd name="connsiteX7" fmla="*/ 967562 w 3838353"/>
              <a:gd name="connsiteY7" fmla="*/ 204036 h 1065335"/>
              <a:gd name="connsiteX8" fmla="*/ 1148316 w 3838353"/>
              <a:gd name="connsiteY8" fmla="*/ 235933 h 1065335"/>
              <a:gd name="connsiteX9" fmla="*/ 1222744 w 3838353"/>
              <a:gd name="connsiteY9" fmla="*/ 427319 h 1065335"/>
              <a:gd name="connsiteX10" fmla="*/ 1828800 w 3838353"/>
              <a:gd name="connsiteY10" fmla="*/ 586808 h 1065335"/>
              <a:gd name="connsiteX11" fmla="*/ 1892595 w 3838353"/>
              <a:gd name="connsiteY11" fmla="*/ 841989 h 1065335"/>
              <a:gd name="connsiteX12" fmla="*/ 1977655 w 3838353"/>
              <a:gd name="connsiteY12" fmla="*/ 1065273 h 1065335"/>
              <a:gd name="connsiteX13" fmla="*/ 2200939 w 3838353"/>
              <a:gd name="connsiteY13" fmla="*/ 820724 h 1065335"/>
              <a:gd name="connsiteX14" fmla="*/ 2679404 w 3838353"/>
              <a:gd name="connsiteY14" fmla="*/ 703766 h 1065335"/>
              <a:gd name="connsiteX15" fmla="*/ 2753832 w 3838353"/>
              <a:gd name="connsiteY15" fmla="*/ 352891 h 1065335"/>
              <a:gd name="connsiteX16" fmla="*/ 2817628 w 3838353"/>
              <a:gd name="connsiteY16" fmla="*/ 150873 h 1065335"/>
              <a:gd name="connsiteX17" fmla="*/ 3051544 w 3838353"/>
              <a:gd name="connsiteY17" fmla="*/ 342259 h 1065335"/>
              <a:gd name="connsiteX18" fmla="*/ 3136604 w 3838353"/>
              <a:gd name="connsiteY18" fmla="*/ 459217 h 1065335"/>
              <a:gd name="connsiteX19" fmla="*/ 3838353 w 3838353"/>
              <a:gd name="connsiteY19" fmla="*/ 618705 h 1065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838353" h="1065335">
                <a:moveTo>
                  <a:pt x="0" y="576175"/>
                </a:moveTo>
                <a:cubicBezTo>
                  <a:pt x="9746" y="378586"/>
                  <a:pt x="19492" y="180998"/>
                  <a:pt x="31897" y="87077"/>
                </a:cubicBezTo>
                <a:cubicBezTo>
                  <a:pt x="44302" y="-6844"/>
                  <a:pt x="28354" y="-12160"/>
                  <a:pt x="74428" y="12649"/>
                </a:cubicBezTo>
                <a:cubicBezTo>
                  <a:pt x="120503" y="37458"/>
                  <a:pt x="246321" y="177454"/>
                  <a:pt x="308344" y="235933"/>
                </a:cubicBezTo>
                <a:cubicBezTo>
                  <a:pt x="370367" y="294412"/>
                  <a:pt x="350874" y="317450"/>
                  <a:pt x="446567" y="363524"/>
                </a:cubicBezTo>
                <a:cubicBezTo>
                  <a:pt x="542260" y="409598"/>
                  <a:pt x="799214" y="512380"/>
                  <a:pt x="882502" y="512380"/>
                </a:cubicBezTo>
                <a:cubicBezTo>
                  <a:pt x="965790" y="512380"/>
                  <a:pt x="932120" y="414915"/>
                  <a:pt x="946297" y="363524"/>
                </a:cubicBezTo>
                <a:cubicBezTo>
                  <a:pt x="960474" y="312133"/>
                  <a:pt x="933892" y="225301"/>
                  <a:pt x="967562" y="204036"/>
                </a:cubicBezTo>
                <a:cubicBezTo>
                  <a:pt x="1001232" y="182771"/>
                  <a:pt x="1105786" y="198719"/>
                  <a:pt x="1148316" y="235933"/>
                </a:cubicBezTo>
                <a:cubicBezTo>
                  <a:pt x="1190846" y="273147"/>
                  <a:pt x="1109330" y="368840"/>
                  <a:pt x="1222744" y="427319"/>
                </a:cubicBezTo>
                <a:cubicBezTo>
                  <a:pt x="1336158" y="485798"/>
                  <a:pt x="1717158" y="517696"/>
                  <a:pt x="1828800" y="586808"/>
                </a:cubicBezTo>
                <a:cubicBezTo>
                  <a:pt x="1940442" y="655920"/>
                  <a:pt x="1867786" y="762245"/>
                  <a:pt x="1892595" y="841989"/>
                </a:cubicBezTo>
                <a:cubicBezTo>
                  <a:pt x="1917404" y="921733"/>
                  <a:pt x="1926264" y="1068817"/>
                  <a:pt x="1977655" y="1065273"/>
                </a:cubicBezTo>
                <a:cubicBezTo>
                  <a:pt x="2029046" y="1061729"/>
                  <a:pt x="2083981" y="880975"/>
                  <a:pt x="2200939" y="820724"/>
                </a:cubicBezTo>
                <a:cubicBezTo>
                  <a:pt x="2317897" y="760473"/>
                  <a:pt x="2587255" y="781738"/>
                  <a:pt x="2679404" y="703766"/>
                </a:cubicBezTo>
                <a:cubicBezTo>
                  <a:pt x="2771553" y="625794"/>
                  <a:pt x="2730795" y="445040"/>
                  <a:pt x="2753832" y="352891"/>
                </a:cubicBezTo>
                <a:cubicBezTo>
                  <a:pt x="2776869" y="260742"/>
                  <a:pt x="2768009" y="152645"/>
                  <a:pt x="2817628" y="150873"/>
                </a:cubicBezTo>
                <a:cubicBezTo>
                  <a:pt x="2867247" y="149101"/>
                  <a:pt x="2998381" y="290868"/>
                  <a:pt x="3051544" y="342259"/>
                </a:cubicBezTo>
                <a:cubicBezTo>
                  <a:pt x="3104707" y="393650"/>
                  <a:pt x="3005469" y="413143"/>
                  <a:pt x="3136604" y="459217"/>
                </a:cubicBezTo>
                <a:cubicBezTo>
                  <a:pt x="3267739" y="505291"/>
                  <a:pt x="3724939" y="592124"/>
                  <a:pt x="3838353" y="618705"/>
                </a:cubicBezTo>
              </a:path>
            </a:pathLst>
          </a:cu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Forma libre"/>
          <p:cNvSpPr/>
          <p:nvPr/>
        </p:nvSpPr>
        <p:spPr>
          <a:xfrm>
            <a:off x="4848447" y="3907550"/>
            <a:ext cx="4114800" cy="859416"/>
          </a:xfrm>
          <a:custGeom>
            <a:avLst/>
            <a:gdLst>
              <a:gd name="connsiteX0" fmla="*/ 0 w 4114800"/>
              <a:gd name="connsiteY0" fmla="*/ 579390 h 859416"/>
              <a:gd name="connsiteX1" fmla="*/ 31897 w 4114800"/>
              <a:gd name="connsiteY1" fmla="*/ 132822 h 859416"/>
              <a:gd name="connsiteX2" fmla="*/ 116958 w 4114800"/>
              <a:gd name="connsiteY2" fmla="*/ 5231 h 859416"/>
              <a:gd name="connsiteX3" fmla="*/ 361506 w 4114800"/>
              <a:gd name="connsiteY3" fmla="*/ 271045 h 859416"/>
              <a:gd name="connsiteX4" fmla="*/ 435934 w 4114800"/>
              <a:gd name="connsiteY4" fmla="*/ 313576 h 859416"/>
              <a:gd name="connsiteX5" fmla="*/ 499730 w 4114800"/>
              <a:gd name="connsiteY5" fmla="*/ 207250 h 859416"/>
              <a:gd name="connsiteX6" fmla="*/ 935665 w 4114800"/>
              <a:gd name="connsiteY6" fmla="*/ 430534 h 859416"/>
              <a:gd name="connsiteX7" fmla="*/ 1020725 w 4114800"/>
              <a:gd name="connsiteY7" fmla="*/ 100924 h 859416"/>
              <a:gd name="connsiteX8" fmla="*/ 1477925 w 4114800"/>
              <a:gd name="connsiteY8" fmla="*/ 334841 h 859416"/>
              <a:gd name="connsiteX9" fmla="*/ 1552353 w 4114800"/>
              <a:gd name="connsiteY9" fmla="*/ 196617 h 859416"/>
              <a:gd name="connsiteX10" fmla="*/ 1924493 w 4114800"/>
              <a:gd name="connsiteY10" fmla="*/ 356106 h 859416"/>
              <a:gd name="connsiteX11" fmla="*/ 2052083 w 4114800"/>
              <a:gd name="connsiteY11" fmla="*/ 823938 h 859416"/>
              <a:gd name="connsiteX12" fmla="*/ 2296632 w 4114800"/>
              <a:gd name="connsiteY12" fmla="*/ 717613 h 859416"/>
              <a:gd name="connsiteX13" fmla="*/ 2402958 w 4114800"/>
              <a:gd name="connsiteY13" fmla="*/ 855836 h 859416"/>
              <a:gd name="connsiteX14" fmla="*/ 2721934 w 4114800"/>
              <a:gd name="connsiteY14" fmla="*/ 792041 h 859416"/>
              <a:gd name="connsiteX15" fmla="*/ 2796362 w 4114800"/>
              <a:gd name="connsiteY15" fmla="*/ 515594 h 859416"/>
              <a:gd name="connsiteX16" fmla="*/ 3157869 w 4114800"/>
              <a:gd name="connsiteY16" fmla="*/ 547492 h 859416"/>
              <a:gd name="connsiteX17" fmla="*/ 3189767 w 4114800"/>
              <a:gd name="connsiteY17" fmla="*/ 302943 h 859416"/>
              <a:gd name="connsiteX18" fmla="*/ 4114800 w 4114800"/>
              <a:gd name="connsiteY18" fmla="*/ 473064 h 859416"/>
              <a:gd name="connsiteX0" fmla="*/ 0 w 4114800"/>
              <a:gd name="connsiteY0" fmla="*/ 579390 h 859416"/>
              <a:gd name="connsiteX1" fmla="*/ 31897 w 4114800"/>
              <a:gd name="connsiteY1" fmla="*/ 132822 h 859416"/>
              <a:gd name="connsiteX2" fmla="*/ 116958 w 4114800"/>
              <a:gd name="connsiteY2" fmla="*/ 5231 h 859416"/>
              <a:gd name="connsiteX3" fmla="*/ 361506 w 4114800"/>
              <a:gd name="connsiteY3" fmla="*/ 271045 h 859416"/>
              <a:gd name="connsiteX4" fmla="*/ 435934 w 4114800"/>
              <a:gd name="connsiteY4" fmla="*/ 313576 h 859416"/>
              <a:gd name="connsiteX5" fmla="*/ 499730 w 4114800"/>
              <a:gd name="connsiteY5" fmla="*/ 207250 h 859416"/>
              <a:gd name="connsiteX6" fmla="*/ 935665 w 4114800"/>
              <a:gd name="connsiteY6" fmla="*/ 430534 h 859416"/>
              <a:gd name="connsiteX7" fmla="*/ 1020725 w 4114800"/>
              <a:gd name="connsiteY7" fmla="*/ 100924 h 859416"/>
              <a:gd name="connsiteX8" fmla="*/ 1477925 w 4114800"/>
              <a:gd name="connsiteY8" fmla="*/ 334841 h 859416"/>
              <a:gd name="connsiteX9" fmla="*/ 1552353 w 4114800"/>
              <a:gd name="connsiteY9" fmla="*/ 196617 h 859416"/>
              <a:gd name="connsiteX10" fmla="*/ 1924493 w 4114800"/>
              <a:gd name="connsiteY10" fmla="*/ 356106 h 859416"/>
              <a:gd name="connsiteX11" fmla="*/ 2052083 w 4114800"/>
              <a:gd name="connsiteY11" fmla="*/ 823938 h 859416"/>
              <a:gd name="connsiteX12" fmla="*/ 2296632 w 4114800"/>
              <a:gd name="connsiteY12" fmla="*/ 717613 h 859416"/>
              <a:gd name="connsiteX13" fmla="*/ 2402958 w 4114800"/>
              <a:gd name="connsiteY13" fmla="*/ 855836 h 859416"/>
              <a:gd name="connsiteX14" fmla="*/ 2721934 w 4114800"/>
              <a:gd name="connsiteY14" fmla="*/ 792041 h 859416"/>
              <a:gd name="connsiteX15" fmla="*/ 2796362 w 4114800"/>
              <a:gd name="connsiteY15" fmla="*/ 515594 h 859416"/>
              <a:gd name="connsiteX16" fmla="*/ 3083441 w 4114800"/>
              <a:gd name="connsiteY16" fmla="*/ 536859 h 859416"/>
              <a:gd name="connsiteX17" fmla="*/ 3189767 w 4114800"/>
              <a:gd name="connsiteY17" fmla="*/ 302943 h 859416"/>
              <a:gd name="connsiteX18" fmla="*/ 4114800 w 4114800"/>
              <a:gd name="connsiteY18" fmla="*/ 473064 h 859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114800" h="859416">
                <a:moveTo>
                  <a:pt x="0" y="579390"/>
                </a:moveTo>
                <a:cubicBezTo>
                  <a:pt x="6202" y="403952"/>
                  <a:pt x="12404" y="228515"/>
                  <a:pt x="31897" y="132822"/>
                </a:cubicBezTo>
                <a:cubicBezTo>
                  <a:pt x="51390" y="37129"/>
                  <a:pt x="62023" y="-17806"/>
                  <a:pt x="116958" y="5231"/>
                </a:cubicBezTo>
                <a:cubicBezTo>
                  <a:pt x="171893" y="28268"/>
                  <a:pt x="308343" y="219654"/>
                  <a:pt x="361506" y="271045"/>
                </a:cubicBezTo>
                <a:cubicBezTo>
                  <a:pt x="414669" y="322436"/>
                  <a:pt x="412897" y="324208"/>
                  <a:pt x="435934" y="313576"/>
                </a:cubicBezTo>
                <a:cubicBezTo>
                  <a:pt x="458971" y="302944"/>
                  <a:pt x="416442" y="187757"/>
                  <a:pt x="499730" y="207250"/>
                </a:cubicBezTo>
                <a:cubicBezTo>
                  <a:pt x="583018" y="226743"/>
                  <a:pt x="848833" y="448255"/>
                  <a:pt x="935665" y="430534"/>
                </a:cubicBezTo>
                <a:cubicBezTo>
                  <a:pt x="1022497" y="412813"/>
                  <a:pt x="930348" y="116873"/>
                  <a:pt x="1020725" y="100924"/>
                </a:cubicBezTo>
                <a:cubicBezTo>
                  <a:pt x="1111102" y="84975"/>
                  <a:pt x="1389320" y="318892"/>
                  <a:pt x="1477925" y="334841"/>
                </a:cubicBezTo>
                <a:cubicBezTo>
                  <a:pt x="1566530" y="350790"/>
                  <a:pt x="1477925" y="193073"/>
                  <a:pt x="1552353" y="196617"/>
                </a:cubicBezTo>
                <a:cubicBezTo>
                  <a:pt x="1626781" y="200161"/>
                  <a:pt x="1841205" y="251553"/>
                  <a:pt x="1924493" y="356106"/>
                </a:cubicBezTo>
                <a:cubicBezTo>
                  <a:pt x="2007781" y="460659"/>
                  <a:pt x="1990060" y="763687"/>
                  <a:pt x="2052083" y="823938"/>
                </a:cubicBezTo>
                <a:cubicBezTo>
                  <a:pt x="2114106" y="884189"/>
                  <a:pt x="2238153" y="712297"/>
                  <a:pt x="2296632" y="717613"/>
                </a:cubicBezTo>
                <a:cubicBezTo>
                  <a:pt x="2355111" y="722929"/>
                  <a:pt x="2332074" y="843431"/>
                  <a:pt x="2402958" y="855836"/>
                </a:cubicBezTo>
                <a:cubicBezTo>
                  <a:pt x="2473842" y="868241"/>
                  <a:pt x="2656367" y="848748"/>
                  <a:pt x="2721934" y="792041"/>
                </a:cubicBezTo>
                <a:cubicBezTo>
                  <a:pt x="2787501" y="735334"/>
                  <a:pt x="2736111" y="558124"/>
                  <a:pt x="2796362" y="515594"/>
                </a:cubicBezTo>
                <a:cubicBezTo>
                  <a:pt x="2856613" y="473064"/>
                  <a:pt x="3017874" y="572301"/>
                  <a:pt x="3083441" y="536859"/>
                </a:cubicBezTo>
                <a:cubicBezTo>
                  <a:pt x="3149008" y="501417"/>
                  <a:pt x="3017874" y="313575"/>
                  <a:pt x="3189767" y="302943"/>
                </a:cubicBezTo>
                <a:cubicBezTo>
                  <a:pt x="3361660" y="292311"/>
                  <a:pt x="3964172" y="442938"/>
                  <a:pt x="4114800" y="473064"/>
                </a:cubicBezTo>
              </a:path>
            </a:pathLst>
          </a:cu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335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Canal no ideal – ISI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4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63" t="31530" r="26356" b="21790"/>
          <a:stretch/>
        </p:blipFill>
        <p:spPr bwMode="auto">
          <a:xfrm>
            <a:off x="899592" y="1484784"/>
            <a:ext cx="7200799" cy="4469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2555776" y="1990581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mtClean="0"/>
              <a:t>Pérdida de SNR</a:t>
            </a:r>
            <a:endParaRPr lang="es-AR"/>
          </a:p>
        </p:txBody>
      </p:sp>
      <p:sp>
        <p:nvSpPr>
          <p:cNvPr id="62" name="61 CuadroTexto"/>
          <p:cNvSpPr txBox="1"/>
          <p:nvPr/>
        </p:nvSpPr>
        <p:spPr>
          <a:xfrm>
            <a:off x="5940152" y="1988840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mtClean="0"/>
              <a:t>Pérdida de SNR e ISI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5019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Canal no ideal – ISI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5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7" t="31771" r="29502" b="39323"/>
          <a:stretch/>
        </p:blipFill>
        <p:spPr bwMode="auto">
          <a:xfrm>
            <a:off x="1679711" y="4366479"/>
            <a:ext cx="5784577" cy="172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7" t="30208" r="28444" b="40365"/>
          <a:stretch/>
        </p:blipFill>
        <p:spPr bwMode="auto">
          <a:xfrm>
            <a:off x="2477213" y="1340768"/>
            <a:ext cx="4332449" cy="146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035" y="3224014"/>
            <a:ext cx="2828925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637" y="3181722"/>
            <a:ext cx="273367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10 CuadroTexto"/>
          <p:cNvSpPr txBox="1"/>
          <p:nvPr/>
        </p:nvSpPr>
        <p:spPr>
          <a:xfrm>
            <a:off x="179512" y="2780928"/>
            <a:ext cx="362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u="sng" dirty="0" smtClean="0"/>
              <a:t>Teorema de Nyquist para 0-ISI</a:t>
            </a:r>
            <a:endParaRPr lang="es-AR" u="sng" dirty="0"/>
          </a:p>
        </p:txBody>
      </p:sp>
      <p:sp>
        <p:nvSpPr>
          <p:cNvPr id="8" name="7 CuadroTexto"/>
          <p:cNvSpPr txBox="1"/>
          <p:nvPr/>
        </p:nvSpPr>
        <p:spPr>
          <a:xfrm>
            <a:off x="395536" y="4005064"/>
            <a:ext cx="7934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Respuesta impulsiva total del sistema	Transferencia total del sistema</a:t>
            </a:r>
            <a:endParaRPr lang="es-AR"/>
          </a:p>
        </p:txBody>
      </p:sp>
      <p:cxnSp>
        <p:nvCxnSpPr>
          <p:cNvPr id="10" name="9 Conector recto de flecha"/>
          <p:cNvCxnSpPr/>
          <p:nvPr/>
        </p:nvCxnSpPr>
        <p:spPr>
          <a:xfrm flipV="1">
            <a:off x="1679711" y="3789040"/>
            <a:ext cx="155985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/>
          <p:nvPr/>
        </p:nvCxnSpPr>
        <p:spPr>
          <a:xfrm flipH="1" flipV="1">
            <a:off x="5652120" y="3816336"/>
            <a:ext cx="155985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Elipse"/>
          <p:cNvSpPr/>
          <p:nvPr/>
        </p:nvSpPr>
        <p:spPr>
          <a:xfrm>
            <a:off x="5940152" y="1825079"/>
            <a:ext cx="648072" cy="4786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CuadroTexto"/>
          <p:cNvSpPr txBox="1"/>
          <p:nvPr/>
        </p:nvSpPr>
        <p:spPr>
          <a:xfrm>
            <a:off x="5543116" y="2473151"/>
            <a:ext cx="3133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400" smtClean="0">
                <a:solidFill>
                  <a:srgbClr val="FF0000"/>
                </a:solidFill>
              </a:rPr>
              <a:t>Interesa lo que ocurre sólo en nT</a:t>
            </a:r>
            <a:endParaRPr lang="es-AR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09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Canal no ideal – ISI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6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58" t="46875" r="27624" b="25520"/>
          <a:stretch/>
        </p:blipFill>
        <p:spPr bwMode="auto">
          <a:xfrm>
            <a:off x="1260696" y="1196752"/>
            <a:ext cx="6616556" cy="1699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Raised-cosine filter - Wikiw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689" y="3356992"/>
            <a:ext cx="4075807" cy="21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356992"/>
            <a:ext cx="4098677" cy="2200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2195736" y="3321367"/>
            <a:ext cx="93610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AR" sz="1400" dirty="0" err="1" smtClean="0"/>
              <a:t>Xrc</a:t>
            </a:r>
            <a:r>
              <a:rPr lang="es-AR" sz="1400" dirty="0" smtClean="0"/>
              <a:t>(f)</a:t>
            </a:r>
            <a:endParaRPr lang="es-AR" sz="1400" dirty="0"/>
          </a:p>
        </p:txBody>
      </p:sp>
      <p:sp>
        <p:nvSpPr>
          <p:cNvPr id="13" name="12 CuadroTexto"/>
          <p:cNvSpPr txBox="1"/>
          <p:nvPr/>
        </p:nvSpPr>
        <p:spPr>
          <a:xfrm>
            <a:off x="7057280" y="3356992"/>
            <a:ext cx="77723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AR" sz="1400" dirty="0" err="1" smtClean="0"/>
              <a:t>xrc</a:t>
            </a:r>
            <a:r>
              <a:rPr lang="es-AR" sz="1400" dirty="0" smtClean="0"/>
              <a:t>(t)</a:t>
            </a:r>
            <a:endParaRPr lang="es-AR" sz="1400" dirty="0"/>
          </a:p>
        </p:txBody>
      </p:sp>
      <p:sp>
        <p:nvSpPr>
          <p:cNvPr id="17" name="16 CuadroTexto"/>
          <p:cNvSpPr txBox="1"/>
          <p:nvPr/>
        </p:nvSpPr>
        <p:spPr>
          <a:xfrm>
            <a:off x="5004048" y="5517232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200" dirty="0" smtClean="0"/>
              <a:t>En instantes de muestreo diferentes a t = 0, el pulso se anula y no interfiere a los otros símbolos.</a:t>
            </a:r>
            <a:endParaRPr lang="es-AR" sz="1200" dirty="0"/>
          </a:p>
        </p:txBody>
      </p:sp>
      <p:sp>
        <p:nvSpPr>
          <p:cNvPr id="11" name="10 CuadroTexto"/>
          <p:cNvSpPr txBox="1"/>
          <p:nvPr/>
        </p:nvSpPr>
        <p:spPr>
          <a:xfrm>
            <a:off x="731826" y="5651956"/>
            <a:ext cx="3133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err="1" smtClean="0"/>
              <a:t>AB</a:t>
            </a:r>
            <a:r>
              <a:rPr lang="es-AR" baseline="-25000" dirty="0" err="1" smtClean="0"/>
              <a:t>rc</a:t>
            </a:r>
            <a:r>
              <a:rPr lang="es-AR" dirty="0" smtClean="0"/>
              <a:t> = 0,5.R</a:t>
            </a:r>
            <a:r>
              <a:rPr lang="es-AR" baseline="-25000" dirty="0" smtClean="0"/>
              <a:t>s</a:t>
            </a:r>
            <a:r>
              <a:rPr lang="es-AR" dirty="0" smtClean="0"/>
              <a:t>(1+</a:t>
            </a:r>
            <a:r>
              <a:rPr lang="el-GR" dirty="0" smtClean="0"/>
              <a:t>β</a:t>
            </a:r>
            <a:r>
              <a:rPr lang="es-AR" dirty="0" smtClean="0"/>
              <a:t>)</a:t>
            </a:r>
          </a:p>
          <a:p>
            <a:pPr algn="ctr"/>
            <a:r>
              <a:rPr lang="el-GR" dirty="0" smtClean="0"/>
              <a:t>Β</a:t>
            </a:r>
            <a:r>
              <a:rPr lang="es-AR" dirty="0" smtClean="0"/>
              <a:t> = factor de roll-off  [0,1]</a:t>
            </a:r>
            <a:endParaRPr lang="es-AR" dirty="0"/>
          </a:p>
        </p:txBody>
      </p:sp>
      <p:sp>
        <p:nvSpPr>
          <p:cNvPr id="3" name="2 Elipse"/>
          <p:cNvSpPr/>
          <p:nvPr/>
        </p:nvSpPr>
        <p:spPr>
          <a:xfrm>
            <a:off x="2375756" y="5557404"/>
            <a:ext cx="324036" cy="4786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Elipse"/>
          <p:cNvSpPr/>
          <p:nvPr/>
        </p:nvSpPr>
        <p:spPr>
          <a:xfrm>
            <a:off x="2555776" y="4941168"/>
            <a:ext cx="648072" cy="4786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CuadroTexto"/>
          <p:cNvSpPr txBox="1"/>
          <p:nvPr/>
        </p:nvSpPr>
        <p:spPr>
          <a:xfrm>
            <a:off x="2302756" y="5373216"/>
            <a:ext cx="3133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400" dirty="0" smtClean="0">
                <a:solidFill>
                  <a:srgbClr val="FF0000"/>
                </a:solidFill>
              </a:rPr>
              <a:t>AB de Nyquist</a:t>
            </a:r>
            <a:endParaRPr lang="es-AR" sz="1400" dirty="0">
              <a:solidFill>
                <a:srgbClr val="FF0000"/>
              </a:solidFill>
            </a:endParaRPr>
          </a:p>
        </p:txBody>
      </p:sp>
      <p:sp>
        <p:nvSpPr>
          <p:cNvPr id="18" name="17 CuadroTexto"/>
          <p:cNvSpPr txBox="1"/>
          <p:nvPr/>
        </p:nvSpPr>
        <p:spPr>
          <a:xfrm>
            <a:off x="179512" y="5445224"/>
            <a:ext cx="3133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400" dirty="0" smtClean="0">
                <a:solidFill>
                  <a:srgbClr val="FF0000"/>
                </a:solidFill>
              </a:rPr>
              <a:t>Tasa de Nyquist</a:t>
            </a:r>
            <a:endParaRPr lang="es-AR" sz="1400" dirty="0">
              <a:solidFill>
                <a:srgbClr val="FF0000"/>
              </a:solidFill>
            </a:endParaRPr>
          </a:p>
        </p:txBody>
      </p:sp>
      <p:sp>
        <p:nvSpPr>
          <p:cNvPr id="19" name="24 CuadroTexto"/>
          <p:cNvSpPr txBox="1"/>
          <p:nvPr/>
        </p:nvSpPr>
        <p:spPr>
          <a:xfrm>
            <a:off x="4454887" y="3482424"/>
            <a:ext cx="19893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400" smtClean="0"/>
              <a:t>La curva azul (</a:t>
            </a:r>
            <a:r>
              <a:rPr lang="el-GR" sz="1400" smtClean="0">
                <a:latin typeface="Bookman Old Style"/>
              </a:rPr>
              <a:t>β</a:t>
            </a:r>
            <a:r>
              <a:rPr lang="es-AR" sz="1400" smtClean="0">
                <a:latin typeface="Bookman Old Style"/>
              </a:rPr>
              <a:t> = 0) corresponde l filtro de Nyquist ideal</a:t>
            </a:r>
            <a:endParaRPr lang="es-AR" sz="1400"/>
          </a:p>
        </p:txBody>
      </p:sp>
    </p:spTree>
    <p:extLst>
      <p:ext uri="{BB962C8B-B14F-4D97-AF65-F5344CB8AC3E}">
        <p14:creationId xmlns:p14="http://schemas.microsoft.com/office/powerpoint/2010/main" val="2078131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32 – Canal ideal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7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dirty="0" smtClean="0"/>
              <a:t>El modelo de canal sin distorsión planteado en el ejercicio es aquel que sólo provoca una atenuación y/o un retardo en la señal recibida:</a:t>
            </a:r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smtClean="0"/>
          </a:p>
          <a:p>
            <a:pPr marL="342900" indent="-342900" algn="just">
              <a:buFont typeface="+mj-lt"/>
              <a:buAutoNum type="arabicParenR"/>
            </a:pPr>
            <a:endParaRPr lang="es-AR" sz="1800"/>
          </a:p>
          <a:p>
            <a:pPr marL="342900" indent="-342900" algn="just">
              <a:buFont typeface="+mj-lt"/>
              <a:buAutoNum type="arabicParenR"/>
            </a:pPr>
            <a:r>
              <a:rPr lang="es-AR" sz="1800" smtClean="0"/>
              <a:t>Para demostrar que H(f) = K.e</a:t>
            </a:r>
            <a:r>
              <a:rPr lang="es-AR" sz="1800" baseline="30000" smtClean="0"/>
              <a:t>j2.</a:t>
            </a:r>
            <a:r>
              <a:rPr lang="el-GR" sz="1800" baseline="30000" smtClean="0"/>
              <a:t>π</a:t>
            </a:r>
            <a:r>
              <a:rPr lang="es-AR" sz="1800" baseline="30000" smtClean="0"/>
              <a:t>.f.t</a:t>
            </a:r>
            <a:r>
              <a:rPr lang="es-AR" sz="1200" smtClean="0"/>
              <a:t>o</a:t>
            </a:r>
            <a:r>
              <a:rPr lang="es-AR" sz="1800" baseline="30000" smtClean="0"/>
              <a:t> ± n.</a:t>
            </a:r>
            <a:r>
              <a:rPr lang="el-GR" sz="1800" baseline="30000" smtClean="0"/>
              <a:t>π</a:t>
            </a:r>
            <a:r>
              <a:rPr lang="es-AR" sz="1800" baseline="30000" smtClean="0"/>
              <a:t> </a:t>
            </a:r>
            <a:r>
              <a:rPr lang="es-AR" sz="1800" smtClean="0"/>
              <a:t>, plantee </a:t>
            </a:r>
            <a:r>
              <a:rPr lang="es-AR" sz="1800" dirty="0" smtClean="0"/>
              <a:t>la transformada de Fourier de x(t), de y(t) = x(t)*h(t) y plantee la hipótesis de no distorsión dada en el enunciado.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s-AR" sz="1800" dirty="0" smtClean="0"/>
              <a:t> Calcule el retardo de fase como </a:t>
            </a:r>
            <a:r>
              <a:rPr lang="el-GR" sz="1800" dirty="0" smtClean="0">
                <a:latin typeface="Cambria Math"/>
                <a:ea typeface="Cambria Math"/>
              </a:rPr>
              <a:t>τ</a:t>
            </a:r>
            <a:r>
              <a:rPr lang="es-AR" sz="1800" baseline="-25000" dirty="0" smtClean="0">
                <a:latin typeface="Cambria Math"/>
                <a:ea typeface="Cambria Math"/>
              </a:rPr>
              <a:t>p</a:t>
            </a:r>
            <a:r>
              <a:rPr lang="es-AR" sz="1800" dirty="0" smtClean="0">
                <a:latin typeface="Cambria Math"/>
                <a:ea typeface="Cambria Math"/>
              </a:rPr>
              <a:t> = -</a:t>
            </a:r>
            <a:r>
              <a:rPr lang="el-GR" sz="1800" dirty="0" smtClean="0">
                <a:latin typeface="Cambria Math"/>
                <a:ea typeface="Cambria Math"/>
              </a:rPr>
              <a:t>φ</a:t>
            </a:r>
            <a:r>
              <a:rPr lang="es-AR" sz="1800" dirty="0" smtClean="0">
                <a:latin typeface="Cambria Math"/>
                <a:ea typeface="Cambria Math"/>
              </a:rPr>
              <a:t>(</a:t>
            </a:r>
            <a:r>
              <a:rPr lang="el-GR" sz="1800" dirty="0" smtClean="0">
                <a:latin typeface="Cambria Math"/>
                <a:ea typeface="Cambria Math"/>
              </a:rPr>
              <a:t>ω</a:t>
            </a:r>
            <a:r>
              <a:rPr lang="es-AR" sz="1800" dirty="0" smtClean="0">
                <a:latin typeface="Cambria Math"/>
                <a:ea typeface="Cambria Math"/>
              </a:rPr>
              <a:t>) / </a:t>
            </a:r>
            <a:r>
              <a:rPr lang="el-GR" sz="1800" dirty="0" smtClean="0">
                <a:latin typeface="Cambria Math"/>
                <a:ea typeface="Cambria Math"/>
              </a:rPr>
              <a:t>ω</a:t>
            </a:r>
            <a:r>
              <a:rPr lang="es-AR" sz="1800" dirty="0" smtClean="0">
                <a:latin typeface="Cambria Math"/>
                <a:ea typeface="Cambria Math"/>
              </a:rPr>
              <a:t>.   </a:t>
            </a:r>
            <a:endParaRPr lang="es-AR" sz="1800" dirty="0" smtClean="0"/>
          </a:p>
        </p:txBody>
      </p:sp>
      <p:sp>
        <p:nvSpPr>
          <p:cNvPr id="3" name="2 Rectángulo"/>
          <p:cNvSpPr/>
          <p:nvPr/>
        </p:nvSpPr>
        <p:spPr>
          <a:xfrm>
            <a:off x="2339752" y="2492896"/>
            <a:ext cx="2160240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Canal</a:t>
            </a:r>
          </a:p>
          <a:p>
            <a:pPr algn="ctr"/>
            <a:r>
              <a:rPr lang="es-AR" dirty="0" smtClean="0"/>
              <a:t>H(</a:t>
            </a:r>
            <a:r>
              <a:rPr lang="es-AR" dirty="0">
                <a:latin typeface="Cambria Math"/>
                <a:ea typeface="Cambria Math"/>
              </a:rPr>
              <a:t>f</a:t>
            </a:r>
            <a:r>
              <a:rPr lang="es-AR" dirty="0" smtClean="0"/>
              <a:t>) = A(f).</a:t>
            </a:r>
            <a:r>
              <a:rPr lang="es-AR" dirty="0" err="1" smtClean="0"/>
              <a:t>e</a:t>
            </a:r>
            <a:r>
              <a:rPr lang="es-AR" baseline="30000" dirty="0" err="1" smtClean="0"/>
              <a:t>j</a:t>
            </a:r>
            <a:r>
              <a:rPr lang="el-GR" baseline="30000" dirty="0" smtClean="0">
                <a:latin typeface="Cambria Math"/>
                <a:ea typeface="Cambria Math"/>
              </a:rPr>
              <a:t>φ</a:t>
            </a:r>
            <a:r>
              <a:rPr lang="es-AR" baseline="30000" dirty="0" smtClean="0">
                <a:latin typeface="Cambria Math"/>
                <a:ea typeface="Cambria Math"/>
              </a:rPr>
              <a:t>(f)</a:t>
            </a:r>
            <a:endParaRPr lang="es-AR" baseline="30000" dirty="0"/>
          </a:p>
        </p:txBody>
      </p:sp>
      <p:cxnSp>
        <p:nvCxnSpPr>
          <p:cNvPr id="9" name="8 Conector recto de flecha"/>
          <p:cNvCxnSpPr>
            <a:endCxn id="3" idx="1"/>
          </p:cNvCxnSpPr>
          <p:nvPr/>
        </p:nvCxnSpPr>
        <p:spPr>
          <a:xfrm>
            <a:off x="1619672" y="2960948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>
            <a:stCxn id="3" idx="3"/>
          </p:cNvCxnSpPr>
          <p:nvPr/>
        </p:nvCxnSpPr>
        <p:spPr>
          <a:xfrm>
            <a:off x="4499992" y="2960948"/>
            <a:ext cx="74515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CuadroTexto"/>
          <p:cNvSpPr txBox="1"/>
          <p:nvPr/>
        </p:nvSpPr>
        <p:spPr>
          <a:xfrm>
            <a:off x="899592" y="2749029"/>
            <a:ext cx="7430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x</a:t>
            </a:r>
            <a:r>
              <a:rPr lang="es-AR" dirty="0" smtClean="0"/>
              <a:t>(t)					y(t) = x(t)*h(t) = </a:t>
            </a:r>
            <a:r>
              <a:rPr lang="es-AR" dirty="0" err="1" smtClean="0"/>
              <a:t>K.x</a:t>
            </a:r>
            <a:r>
              <a:rPr lang="es-AR" dirty="0" smtClean="0"/>
              <a:t>(t – t</a:t>
            </a:r>
            <a:r>
              <a:rPr lang="es-AR" baseline="-25000" dirty="0" smtClean="0"/>
              <a:t>0</a:t>
            </a:r>
            <a:r>
              <a:rPr lang="es-AR" dirty="0" smtClean="0"/>
              <a:t>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3352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33 – Canal con distorsión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8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s-AR" sz="1800" dirty="0" smtClean="0"/>
                  <a:t>1) Obtenga la respuesta en frecuencia del circuito RC </a:t>
                </a:r>
                <a:r>
                  <a:rPr lang="es-AR" sz="1800" dirty="0"/>
                  <a:t>propuesto, H(</a:t>
                </a:r>
                <a:r>
                  <a:rPr lang="el-GR" sz="1800" dirty="0">
                    <a:latin typeface="Cambria Math"/>
                    <a:ea typeface="Cambria Math"/>
                  </a:rPr>
                  <a:t>ω</a:t>
                </a:r>
                <a:r>
                  <a:rPr lang="es-AR" sz="1800" dirty="0" smtClean="0">
                    <a:latin typeface="Cambria Math"/>
                    <a:ea typeface="Cambria Math"/>
                  </a:rPr>
                  <a:t>).</a:t>
                </a:r>
                <a:endParaRPr lang="es-AR" sz="1800" dirty="0" smtClean="0"/>
              </a:p>
              <a:p>
                <a:pPr marL="0" indent="0" algn="ctr">
                  <a:buNone/>
                </a:pPr>
                <a:endParaRPr lang="es-AR" sz="1800" dirty="0"/>
              </a:p>
              <a:p>
                <a:pPr marL="0" indent="0" algn="ctr">
                  <a:buNone/>
                </a:pPr>
                <a:r>
                  <a:rPr lang="es-AR" sz="1800" dirty="0" smtClean="0"/>
                  <a:t>H(</a:t>
                </a:r>
                <a:r>
                  <a:rPr lang="el-GR" sz="1800" dirty="0" smtClean="0">
                    <a:latin typeface="Cambria Math"/>
                    <a:ea typeface="Cambria Math"/>
                  </a:rPr>
                  <a:t>ω</a:t>
                </a:r>
                <a:r>
                  <a:rPr lang="es-AR" sz="1800" dirty="0" smtClean="0">
                    <a:latin typeface="Cambria Math"/>
                    <a:ea typeface="Cambria Math"/>
                  </a:rPr>
                  <a:t>) = |H(</a:t>
                </a:r>
                <a:r>
                  <a:rPr lang="el-GR" sz="1800" dirty="0">
                    <a:latin typeface="Cambria Math"/>
                    <a:ea typeface="Cambria Math"/>
                  </a:rPr>
                  <a:t>ω</a:t>
                </a:r>
                <a:r>
                  <a:rPr lang="es-AR" sz="1800" dirty="0" smtClean="0">
                    <a:latin typeface="Cambria Math"/>
                    <a:ea typeface="Cambria Math"/>
                  </a:rPr>
                  <a:t>)|.</a:t>
                </a:r>
                <a:r>
                  <a:rPr lang="es-AR" sz="1800" dirty="0" err="1" smtClean="0">
                    <a:latin typeface="Cambria Math"/>
                    <a:ea typeface="Cambria Math"/>
                  </a:rPr>
                  <a:t>e</a:t>
                </a:r>
                <a:r>
                  <a:rPr lang="es-AR" sz="1800" baseline="30000" dirty="0" err="1" smtClean="0">
                    <a:latin typeface="Cambria Math"/>
                    <a:ea typeface="Cambria Math"/>
                  </a:rPr>
                  <a:t>j</a:t>
                </a:r>
                <a:r>
                  <a:rPr lang="el-GR" sz="1800" baseline="30000" dirty="0" smtClean="0">
                    <a:latin typeface="Cambria Math"/>
                    <a:ea typeface="Cambria Math"/>
                  </a:rPr>
                  <a:t>φ</a:t>
                </a:r>
                <a:r>
                  <a:rPr lang="es-AR" sz="1100" dirty="0" smtClean="0">
                    <a:latin typeface="Cambria Math"/>
                    <a:ea typeface="Cambria Math"/>
                  </a:rPr>
                  <a:t>H</a:t>
                </a:r>
                <a:r>
                  <a:rPr lang="es-AR" sz="1800" baseline="30000" dirty="0" smtClean="0">
                    <a:latin typeface="Cambria Math"/>
                    <a:ea typeface="Cambria Math"/>
                  </a:rPr>
                  <a:t>(</a:t>
                </a:r>
                <a:r>
                  <a:rPr lang="el-GR" sz="1800" baseline="30000" dirty="0">
                    <a:latin typeface="Cambria Math"/>
                    <a:ea typeface="Cambria Math"/>
                  </a:rPr>
                  <a:t>ω</a:t>
                </a:r>
                <a:r>
                  <a:rPr lang="es-AR" sz="1800" baseline="30000" dirty="0" smtClean="0">
                    <a:latin typeface="Cambria Math"/>
                    <a:ea typeface="Cambria Math"/>
                  </a:rPr>
                  <a:t>)</a:t>
                </a:r>
              </a:p>
              <a:p>
                <a:pPr marL="0" indent="0" algn="ctr">
                  <a:buNone/>
                </a:pPr>
                <a:endParaRPr lang="es-AR" sz="1800" dirty="0" smtClean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s-AR" sz="1800" dirty="0" smtClean="0">
                    <a:latin typeface="Cambria Math"/>
                    <a:ea typeface="Cambria Math"/>
                  </a:rPr>
                  <a:t>Se definen los retardos de fase y de grupo como</a:t>
                </a:r>
              </a:p>
              <a:p>
                <a:pPr marL="0" indent="0" algn="ctr">
                  <a:buNone/>
                </a:pPr>
                <a:endParaRPr lang="es-AR" sz="1800" dirty="0">
                  <a:latin typeface="Cambria Math"/>
                  <a:ea typeface="Cambria Math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sz="180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800" dirty="0">
                            <a:latin typeface="Cambria Math"/>
                            <a:ea typeface="Cambria Math"/>
                          </a:rPr>
                          <m:t>τ</m:t>
                        </m:r>
                      </m:e>
                      <m:sub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𝑝</m:t>
                        </m:r>
                      </m:sub>
                    </m:sSub>
                    <m:r>
                      <a:rPr lang="es-AR" sz="1800" b="0" i="1" smtClean="0">
                        <a:latin typeface="Cambria Math"/>
                        <a:ea typeface="Cambria Math"/>
                      </a:rPr>
                      <m:t>=−</m:t>
                    </m:r>
                    <m:f>
                      <m:fPr>
                        <m:ctrlPr>
                          <a:rPr lang="es-AR" sz="1800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AR" sz="1800" b="0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800" b="0" i="1" smtClean="0">
                                <a:latin typeface="Cambria Math"/>
                                <a:ea typeface="Cambria Math"/>
                              </a:rPr>
                              <m:t>φ</m:t>
                            </m:r>
                          </m:e>
                          <m:sub>
                            <m:r>
                              <a:rPr lang="es-AR" sz="1800" b="0" i="1" smtClean="0">
                                <a:latin typeface="Cambria Math"/>
                                <a:ea typeface="Cambria Math"/>
                              </a:rPr>
                              <m:t>𝐻</m:t>
                            </m:r>
                          </m:sub>
                        </m:sSub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l-GR" sz="1800" b="0" i="1" smtClean="0">
                            <a:latin typeface="Cambria Math"/>
                            <a:ea typeface="Cambria Math"/>
                          </a:rPr>
                          <m:t>ω</m:t>
                        </m:r>
                        <m:r>
                          <a:rPr lang="es-AR" sz="1800" b="0" i="1" smtClean="0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sz="1800" b="0" i="1" smtClean="0">
                            <a:latin typeface="Cambria Math"/>
                            <a:ea typeface="Cambria Math"/>
                          </a:rPr>
                          <m:t>ω</m:t>
                        </m:r>
                      </m:den>
                    </m:f>
                  </m:oMath>
                </a14:m>
                <a:r>
                  <a:rPr lang="es-AR" sz="1800" dirty="0" smtClean="0">
                    <a:latin typeface="Cambria Math"/>
                    <a:ea typeface="Cambria Math"/>
                  </a:rPr>
                  <a:t> = retardo que sufre la fase de la portadora</a:t>
                </a:r>
              </a:p>
              <a:p>
                <a:pPr marL="0" indent="0" algn="ctr">
                  <a:buNone/>
                </a:pPr>
                <a:endParaRPr lang="es-AR" sz="1800" dirty="0">
                  <a:latin typeface="Cambria Math"/>
                  <a:ea typeface="Cambria Math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sz="18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800" dirty="0">
                            <a:latin typeface="Cambria Math"/>
                            <a:ea typeface="Cambria Math"/>
                          </a:rPr>
                          <m:t>τ</m:t>
                        </m:r>
                      </m:e>
                      <m:sub>
                        <m:r>
                          <a:rPr lang="es-AR" sz="1800" b="0" i="1" dirty="0" smtClean="0">
                            <a:latin typeface="Cambria Math"/>
                            <a:ea typeface="Cambria Math"/>
                          </a:rPr>
                          <m:t>𝑔</m:t>
                        </m:r>
                      </m:sub>
                    </m:sSub>
                    <m:r>
                      <a:rPr lang="es-AR" sz="1800" i="1">
                        <a:latin typeface="Cambria Math"/>
                        <a:ea typeface="Cambria Math"/>
                      </a:rPr>
                      <m:t>=−</m:t>
                    </m:r>
                    <m:f>
                      <m:fPr>
                        <m:ctrlPr>
                          <a:rPr lang="es-AR" sz="1800" i="1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s-AR" sz="1800" i="1">
                            <a:latin typeface="Cambria Math"/>
                            <a:ea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es-AR" sz="1800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800" i="1">
                                <a:latin typeface="Cambria Math"/>
                                <a:ea typeface="Cambria Math"/>
                              </a:rPr>
                              <m:t>φ</m:t>
                            </m:r>
                          </m:e>
                          <m:sub>
                            <m:r>
                              <a:rPr lang="es-AR" sz="1800" i="1">
                                <a:latin typeface="Cambria Math"/>
                                <a:ea typeface="Cambria Math"/>
                              </a:rPr>
                              <m:t>𝐻</m:t>
                            </m:r>
                          </m:sub>
                        </m:sSub>
                        <m:d>
                          <m:dPr>
                            <m:ctrlPr>
                              <a:rPr lang="es-AR" sz="1800" i="1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l-GR" sz="1800" i="1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</m:e>
                        </m:d>
                      </m:num>
                      <m:den>
                        <m:r>
                          <a:rPr lang="es-AR" sz="1800" i="1">
                            <a:latin typeface="Cambria Math"/>
                            <a:ea typeface="Cambria Math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sz="1800" i="1">
                            <a:latin typeface="Cambria Math"/>
                            <a:ea typeface="Cambria Math"/>
                          </a:rPr>
                          <m:t>ω</m:t>
                        </m:r>
                      </m:den>
                    </m:f>
                  </m:oMath>
                </a14:m>
                <a:r>
                  <a:rPr lang="es-AR" sz="1800" dirty="0" smtClean="0">
                    <a:ea typeface="Cambria Math"/>
                  </a:rPr>
                  <a:t> </a:t>
                </a:r>
                <a:r>
                  <a:rPr lang="es-AR" sz="1800" dirty="0">
                    <a:latin typeface="Cambria Math"/>
                    <a:ea typeface="Cambria Math"/>
                  </a:rPr>
                  <a:t>=</a:t>
                </a:r>
                <a:r>
                  <a:rPr lang="es-AR" sz="1800" dirty="0" smtClean="0">
                    <a:ea typeface="Cambria Math"/>
                  </a:rPr>
                  <a:t> retardo que sufre la envolvente</a:t>
                </a:r>
              </a:p>
              <a:p>
                <a:pPr marL="0" indent="0" algn="ctr">
                  <a:buNone/>
                </a:pPr>
                <a:endParaRPr lang="es-AR" sz="1800" dirty="0" smtClean="0">
                  <a:ea typeface="Cambria Math"/>
                </a:endParaRPr>
              </a:p>
              <a:p>
                <a:pPr marL="0" indent="0" algn="just">
                  <a:buNone/>
                </a:pPr>
                <a:r>
                  <a:rPr lang="es-AR" sz="1800" dirty="0" smtClean="0"/>
                  <a:t>2) Utilice |H(</a:t>
                </a:r>
                <a:r>
                  <a:rPr lang="el-GR" sz="1800" dirty="0">
                    <a:latin typeface="Cambria Math"/>
                    <a:ea typeface="Cambria Math"/>
                  </a:rPr>
                  <a:t>ω</a:t>
                </a:r>
                <a:r>
                  <a:rPr lang="es-AR" sz="1800" dirty="0" smtClean="0"/>
                  <a:t>)| para calcular la atenuación que sufre una señal de 1 kHz y de 1 MHz.</a:t>
                </a:r>
              </a:p>
            </p:txBody>
          </p:sp>
        </mc:Choice>
        <mc:Fallback xmlns="">
          <p:sp>
            <p:nvSpPr>
              <p:cNvPr id="8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741" r="-59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06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33 – Canal con distorsión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9</a:t>
            </a:fld>
            <a:endParaRPr lang="es-ES"/>
          </a:p>
        </p:txBody>
      </p:sp>
      <p:pic>
        <p:nvPicPr>
          <p:cNvPr id="1026" name="Picture 2" descr="Noise Equivalent Bandwidth - an overview | ScienceDirect Topi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8" y="1772816"/>
            <a:ext cx="403860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585"/>
          <a:stretch/>
        </p:blipFill>
        <p:spPr bwMode="auto">
          <a:xfrm>
            <a:off x="3064198" y="3986218"/>
            <a:ext cx="4028082" cy="831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Elipse"/>
          <p:cNvSpPr/>
          <p:nvPr/>
        </p:nvSpPr>
        <p:spPr>
          <a:xfrm>
            <a:off x="5292080" y="2780928"/>
            <a:ext cx="648072" cy="4786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CuadroTexto"/>
          <p:cNvSpPr txBox="1"/>
          <p:nvPr/>
        </p:nvSpPr>
        <p:spPr>
          <a:xfrm>
            <a:off x="4895044" y="3212976"/>
            <a:ext cx="3133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400" dirty="0" smtClean="0">
                <a:solidFill>
                  <a:srgbClr val="FF0000"/>
                </a:solidFill>
              </a:rPr>
              <a:t>AB equivalente </a:t>
            </a:r>
            <a:r>
              <a:rPr lang="es-AR" sz="1400" smtClean="0">
                <a:solidFill>
                  <a:srgbClr val="FF0000"/>
                </a:solidFill>
              </a:rPr>
              <a:t>de ruido</a:t>
            </a:r>
            <a:endParaRPr lang="es-AR" sz="1400" dirty="0">
              <a:solidFill>
                <a:srgbClr val="FF0000"/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697216" y="5121486"/>
            <a:ext cx="7848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 smtClean="0"/>
              <a:t>Dado un filtro H(f), su Ancho de Banda equivalente de ruido es el AB de un filtro ideal (rectangular), con igual ganancia máxima y que produce la misma potencia de ruido a la salida.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2205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Ejercicio 34 – Efecto </a:t>
            </a:r>
            <a:r>
              <a:rPr lang="es-AR" dirty="0" err="1" smtClean="0"/>
              <a:t>Doppler</a:t>
            </a:r>
            <a:r>
              <a:rPr lang="es-AR" dirty="0" smtClean="0"/>
              <a:t> y modulación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10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es-AR" sz="1800" dirty="0" smtClean="0"/>
              <a:t>Aplique el hecho de que el corrimiento </a:t>
            </a:r>
            <a:r>
              <a:rPr lang="es-AR" sz="1800" dirty="0" err="1" smtClean="0"/>
              <a:t>Doppler</a:t>
            </a:r>
            <a:r>
              <a:rPr lang="es-AR" sz="1800" dirty="0" smtClean="0"/>
              <a:t> afecta a cada una de las componentes espectrales de la señal </a:t>
            </a:r>
            <a:r>
              <a:rPr lang="es-AR" sz="1800" dirty="0" err="1" smtClean="0"/>
              <a:t>y</a:t>
            </a:r>
            <a:r>
              <a:rPr lang="es-AR" sz="1800" baseline="-25000" dirty="0" err="1" smtClean="0"/>
              <a:t>A</a:t>
            </a:r>
            <a:r>
              <a:rPr lang="es-AR" sz="1800" dirty="0" smtClean="0"/>
              <a:t>(t), según </a:t>
            </a:r>
            <a:r>
              <a:rPr lang="el-GR" sz="1800" dirty="0" smtClean="0"/>
              <a:t>Δ</a:t>
            </a:r>
            <a:r>
              <a:rPr lang="es-AR" sz="1800" dirty="0" smtClean="0"/>
              <a:t>f = (v/c).f.</a:t>
            </a:r>
          </a:p>
          <a:p>
            <a:pPr lvl="1" algn="just">
              <a:buFont typeface="Wingdings" pitchFamily="2" charset="2"/>
              <a:buChar char="Ø"/>
            </a:pPr>
            <a:r>
              <a:rPr lang="es-AR" sz="1500" dirty="0" smtClean="0"/>
              <a:t>En la Figura B, sólo se modifica la componente central de la emisión</a:t>
            </a:r>
          </a:p>
          <a:p>
            <a:pPr lvl="1" algn="just">
              <a:buFont typeface="Wingdings" pitchFamily="2" charset="2"/>
              <a:buChar char="Ø"/>
            </a:pPr>
            <a:r>
              <a:rPr lang="es-AR" sz="1500" dirty="0" smtClean="0"/>
              <a:t>En la Figura C, se modifican la frecuencia central y los límites inferior y superior de la emisión, variando el ancho de banda.</a:t>
            </a:r>
          </a:p>
          <a:p>
            <a:pPr lvl="1" algn="just">
              <a:buFont typeface="Wingdings" pitchFamily="2" charset="2"/>
              <a:buChar char="Ø"/>
            </a:pPr>
            <a:r>
              <a:rPr lang="es-AR" sz="1500" dirty="0" smtClean="0"/>
              <a:t>Calcule </a:t>
            </a:r>
            <a:r>
              <a:rPr lang="es-AR" sz="1500" dirty="0" err="1" smtClean="0"/>
              <a:t>f</a:t>
            </a:r>
            <a:r>
              <a:rPr lang="es-AR" sz="1500" baseline="-25000" dirty="0" err="1" smtClean="0"/>
              <a:t>inf</a:t>
            </a:r>
            <a:r>
              <a:rPr lang="es-AR" sz="1500" dirty="0" smtClean="0"/>
              <a:t>, f</a:t>
            </a:r>
            <a:r>
              <a:rPr lang="es-AR" sz="1500" baseline="-25000" dirty="0" smtClean="0"/>
              <a:t>0</a:t>
            </a:r>
            <a:r>
              <a:rPr lang="es-AR" sz="1500" dirty="0" smtClean="0"/>
              <a:t>, </a:t>
            </a:r>
            <a:r>
              <a:rPr lang="es-AR" sz="1500" dirty="0" err="1" smtClean="0"/>
              <a:t>f</a:t>
            </a:r>
            <a:r>
              <a:rPr lang="es-AR" sz="1500" baseline="-25000" dirty="0" err="1" smtClean="0"/>
              <a:t>sup</a:t>
            </a:r>
            <a:r>
              <a:rPr lang="es-AR" sz="1500" dirty="0" smtClean="0"/>
              <a:t> y AB en función de v.</a:t>
            </a:r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854" y="2758231"/>
            <a:ext cx="3307123" cy="3213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9" name="18 Grupo"/>
          <p:cNvGrpSpPr/>
          <p:nvPr/>
        </p:nvGrpSpPr>
        <p:grpSpPr>
          <a:xfrm>
            <a:off x="497712" y="3862440"/>
            <a:ext cx="4174176" cy="1222744"/>
            <a:chOff x="4643438" y="4094027"/>
            <a:chExt cx="4174176" cy="1222744"/>
          </a:xfrm>
        </p:grpSpPr>
        <p:pic>
          <p:nvPicPr>
            <p:cNvPr id="2053" name="Picture 5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967" t="21371" r="27366" b="23296"/>
            <a:stretch/>
          </p:blipFill>
          <p:spPr bwMode="auto">
            <a:xfrm>
              <a:off x="7956376" y="4094027"/>
              <a:ext cx="861238" cy="12227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4" name="Picture 6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316"/>
            <a:stretch/>
          </p:blipFill>
          <p:spPr bwMode="auto">
            <a:xfrm>
              <a:off x="4643438" y="4365104"/>
              <a:ext cx="1656184" cy="933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9" name="8 Conector recto de flecha"/>
            <p:cNvCxnSpPr/>
            <p:nvPr/>
          </p:nvCxnSpPr>
          <p:spPr>
            <a:xfrm flipH="1">
              <a:off x="6038742" y="4705399"/>
              <a:ext cx="177361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9 Rectángulo"/>
            <p:cNvSpPr/>
            <p:nvPr/>
          </p:nvSpPr>
          <p:spPr>
            <a:xfrm>
              <a:off x="5993316" y="4345359"/>
              <a:ext cx="52290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AR" sz="1400" dirty="0" err="1"/>
                <a:t>y</a:t>
              </a:r>
              <a:r>
                <a:rPr lang="es-AR" sz="1400" baseline="-25000" dirty="0" err="1"/>
                <a:t>A</a:t>
              </a:r>
              <a:r>
                <a:rPr lang="es-AR" sz="1400" dirty="0"/>
                <a:t>(t)</a:t>
              </a:r>
            </a:p>
          </p:txBody>
        </p:sp>
        <p:cxnSp>
          <p:nvCxnSpPr>
            <p:cNvPr id="12" name="11 Conector recto de flecha"/>
            <p:cNvCxnSpPr/>
            <p:nvPr/>
          </p:nvCxnSpPr>
          <p:spPr>
            <a:xfrm>
              <a:off x="6299622" y="5085184"/>
              <a:ext cx="64864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17 Rectángulo"/>
            <p:cNvSpPr/>
            <p:nvPr/>
          </p:nvSpPr>
          <p:spPr>
            <a:xfrm>
              <a:off x="6425364" y="4705399"/>
              <a:ext cx="2840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AR" sz="1400" b="1" dirty="0" smtClean="0"/>
                <a:t>v</a:t>
              </a:r>
              <a:endParaRPr lang="es-AR" sz="1400" b="1" dirty="0"/>
            </a:p>
          </p:txBody>
        </p:sp>
      </p:grpSp>
      <p:sp>
        <p:nvSpPr>
          <p:cNvPr id="20" name="19 Rectángulo"/>
          <p:cNvSpPr/>
          <p:nvPr/>
        </p:nvSpPr>
        <p:spPr>
          <a:xfrm>
            <a:off x="7740352" y="4161854"/>
            <a:ext cx="10567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100" dirty="0" smtClean="0">
                <a:ln w="18000">
                  <a:solidFill>
                    <a:srgbClr val="FF0000"/>
                  </a:solidFill>
                  <a:prstDash val="solid"/>
                </a:ln>
                <a:solidFill>
                  <a:srgbClr val="FF0000">
                    <a:alpha val="5700"/>
                  </a:srgb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¿?</a:t>
            </a:r>
            <a:endParaRPr lang="es-ES" sz="5400" b="1" cap="none" spc="100" dirty="0">
              <a:ln w="18000">
                <a:solidFill>
                  <a:srgbClr val="FF0000"/>
                </a:solidFill>
                <a:prstDash val="solid"/>
              </a:ln>
              <a:solidFill>
                <a:srgbClr val="FF0000">
                  <a:alpha val="5700"/>
                </a:srgb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5454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35 – Tasa máxima sin ISI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11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AR" sz="1800" dirty="0" smtClean="0"/>
              <a:t>Sabiendo que el pulso formador es de tipo coseno elevado con </a:t>
            </a:r>
            <a:r>
              <a:rPr lang="el-GR" sz="1800" dirty="0" smtClean="0"/>
              <a:t>β</a:t>
            </a:r>
            <a:r>
              <a:rPr lang="es-AR" sz="1800" dirty="0" smtClean="0"/>
              <a:t> = 0,5, y el canal es de tipo </a:t>
            </a:r>
            <a:r>
              <a:rPr lang="es-AR" sz="1800" dirty="0" err="1" smtClean="0"/>
              <a:t>pasabanda</a:t>
            </a:r>
            <a:r>
              <a:rPr lang="es-AR" sz="1800" dirty="0" smtClean="0"/>
              <a:t> con ancho de banda 4 kHz, nos encontramos en la siguiente situación: </a:t>
            </a:r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Aplique esta última expresión para obtener la tasa de símbolos y, con el orden de la modulación, la tasa de bits a transmitir.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683568" y="4581128"/>
            <a:ext cx="77768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400" dirty="0" err="1" smtClean="0"/>
              <a:t>ABrc</a:t>
            </a:r>
            <a:r>
              <a:rPr lang="es-AR" sz="1400" dirty="0" smtClean="0"/>
              <a:t> = </a:t>
            </a:r>
            <a:r>
              <a:rPr lang="es-AR" sz="1400" dirty="0" err="1" smtClean="0"/>
              <a:t>R</a:t>
            </a:r>
            <a:r>
              <a:rPr lang="es-AR" sz="1400" baseline="-25000" dirty="0" err="1" smtClean="0"/>
              <a:t>s</a:t>
            </a:r>
            <a:r>
              <a:rPr lang="es-AR" sz="1400" dirty="0" smtClean="0"/>
              <a:t>.(1+</a:t>
            </a:r>
            <a:r>
              <a:rPr lang="el-GR" sz="1400" dirty="0" smtClean="0"/>
              <a:t>β</a:t>
            </a:r>
            <a:r>
              <a:rPr lang="es-AR" sz="1400" dirty="0" smtClean="0"/>
              <a:t>)	</a:t>
            </a:r>
            <a:r>
              <a:rPr lang="es-AR" sz="1400" dirty="0" err="1" smtClean="0"/>
              <a:t>Rs</a:t>
            </a:r>
            <a:r>
              <a:rPr lang="es-AR" sz="1400" dirty="0" smtClean="0"/>
              <a:t> ≤ </a:t>
            </a:r>
            <a:r>
              <a:rPr lang="es-AR" sz="1400" dirty="0" err="1" smtClean="0"/>
              <a:t>AB</a:t>
            </a:r>
            <a:r>
              <a:rPr lang="es-AR" sz="1400" baseline="-25000" dirty="0" err="1" smtClean="0"/>
              <a:t>rc</a:t>
            </a:r>
            <a:r>
              <a:rPr lang="es-AR" sz="1400" dirty="0" smtClean="0"/>
              <a:t> ≤ 2.R</a:t>
            </a:r>
            <a:r>
              <a:rPr lang="es-AR" sz="1400" baseline="-25000" dirty="0" smtClean="0"/>
              <a:t>s</a:t>
            </a:r>
          </a:p>
          <a:p>
            <a:pPr algn="ctr"/>
            <a:endParaRPr lang="es-AR" sz="1400" dirty="0"/>
          </a:p>
          <a:p>
            <a:pPr algn="ctr"/>
            <a:r>
              <a:rPr lang="es-AR" sz="1400" dirty="0" smtClean="0"/>
              <a:t>(Ancho de banda del filtro coseno elevado en banda pasante)</a:t>
            </a:r>
            <a:endParaRPr lang="es-AR" sz="14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1979712" y="3717032"/>
            <a:ext cx="525658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Forma libre"/>
          <p:cNvSpPr/>
          <p:nvPr/>
        </p:nvSpPr>
        <p:spPr>
          <a:xfrm>
            <a:off x="4932040" y="3009257"/>
            <a:ext cx="591025" cy="712552"/>
          </a:xfrm>
          <a:custGeom>
            <a:avLst/>
            <a:gdLst>
              <a:gd name="connsiteX0" fmla="*/ 0 w 807522"/>
              <a:gd name="connsiteY0" fmla="*/ 993828 h 1002779"/>
              <a:gd name="connsiteX1" fmla="*/ 285008 w 807522"/>
              <a:gd name="connsiteY1" fmla="*/ 875075 h 1002779"/>
              <a:gd name="connsiteX2" fmla="*/ 486889 w 807522"/>
              <a:gd name="connsiteY2" fmla="*/ 103179 h 1002779"/>
              <a:gd name="connsiteX3" fmla="*/ 807522 w 807522"/>
              <a:gd name="connsiteY3" fmla="*/ 8176 h 1002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7522" h="1002779">
                <a:moveTo>
                  <a:pt x="0" y="993828"/>
                </a:moveTo>
                <a:cubicBezTo>
                  <a:pt x="101930" y="1008672"/>
                  <a:pt x="203860" y="1023516"/>
                  <a:pt x="285008" y="875075"/>
                </a:cubicBezTo>
                <a:cubicBezTo>
                  <a:pt x="366156" y="726634"/>
                  <a:pt x="399803" y="247662"/>
                  <a:pt x="486889" y="103179"/>
                </a:cubicBezTo>
                <a:cubicBezTo>
                  <a:pt x="573975" y="-41304"/>
                  <a:pt x="807522" y="8176"/>
                  <a:pt x="807522" y="8176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Forma libre"/>
          <p:cNvSpPr/>
          <p:nvPr/>
        </p:nvSpPr>
        <p:spPr>
          <a:xfrm flipH="1">
            <a:off x="6545511" y="3005578"/>
            <a:ext cx="591025" cy="712552"/>
          </a:xfrm>
          <a:custGeom>
            <a:avLst/>
            <a:gdLst>
              <a:gd name="connsiteX0" fmla="*/ 0 w 807522"/>
              <a:gd name="connsiteY0" fmla="*/ 993828 h 1002779"/>
              <a:gd name="connsiteX1" fmla="*/ 285008 w 807522"/>
              <a:gd name="connsiteY1" fmla="*/ 875075 h 1002779"/>
              <a:gd name="connsiteX2" fmla="*/ 486889 w 807522"/>
              <a:gd name="connsiteY2" fmla="*/ 103179 h 1002779"/>
              <a:gd name="connsiteX3" fmla="*/ 807522 w 807522"/>
              <a:gd name="connsiteY3" fmla="*/ 8176 h 1002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7522" h="1002779">
                <a:moveTo>
                  <a:pt x="0" y="993828"/>
                </a:moveTo>
                <a:cubicBezTo>
                  <a:pt x="101930" y="1008672"/>
                  <a:pt x="203860" y="1023516"/>
                  <a:pt x="285008" y="875075"/>
                </a:cubicBezTo>
                <a:cubicBezTo>
                  <a:pt x="366156" y="726634"/>
                  <a:pt x="399803" y="247662"/>
                  <a:pt x="486889" y="103179"/>
                </a:cubicBezTo>
                <a:cubicBezTo>
                  <a:pt x="573975" y="-41304"/>
                  <a:pt x="807522" y="8176"/>
                  <a:pt x="807522" y="8176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4" name="13 Conector recto"/>
          <p:cNvCxnSpPr/>
          <p:nvPr/>
        </p:nvCxnSpPr>
        <p:spPr>
          <a:xfrm flipV="1">
            <a:off x="5523065" y="3006199"/>
            <a:ext cx="1022445" cy="16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 de flecha"/>
          <p:cNvCxnSpPr/>
          <p:nvPr/>
        </p:nvCxnSpPr>
        <p:spPr>
          <a:xfrm flipV="1">
            <a:off x="4572000" y="2276872"/>
            <a:ext cx="0" cy="15925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Forma libre"/>
          <p:cNvSpPr/>
          <p:nvPr/>
        </p:nvSpPr>
        <p:spPr>
          <a:xfrm>
            <a:off x="2007464" y="3007585"/>
            <a:ext cx="591025" cy="712552"/>
          </a:xfrm>
          <a:custGeom>
            <a:avLst/>
            <a:gdLst>
              <a:gd name="connsiteX0" fmla="*/ 0 w 807522"/>
              <a:gd name="connsiteY0" fmla="*/ 993828 h 1002779"/>
              <a:gd name="connsiteX1" fmla="*/ 285008 w 807522"/>
              <a:gd name="connsiteY1" fmla="*/ 875075 h 1002779"/>
              <a:gd name="connsiteX2" fmla="*/ 486889 w 807522"/>
              <a:gd name="connsiteY2" fmla="*/ 103179 h 1002779"/>
              <a:gd name="connsiteX3" fmla="*/ 807522 w 807522"/>
              <a:gd name="connsiteY3" fmla="*/ 8176 h 1002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7522" h="1002779">
                <a:moveTo>
                  <a:pt x="0" y="993828"/>
                </a:moveTo>
                <a:cubicBezTo>
                  <a:pt x="101930" y="1008672"/>
                  <a:pt x="203860" y="1023516"/>
                  <a:pt x="285008" y="875075"/>
                </a:cubicBezTo>
                <a:cubicBezTo>
                  <a:pt x="366156" y="726634"/>
                  <a:pt x="399803" y="247662"/>
                  <a:pt x="486889" y="103179"/>
                </a:cubicBezTo>
                <a:cubicBezTo>
                  <a:pt x="573975" y="-41304"/>
                  <a:pt x="807522" y="8176"/>
                  <a:pt x="807522" y="8176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25 Forma libre"/>
          <p:cNvSpPr/>
          <p:nvPr/>
        </p:nvSpPr>
        <p:spPr>
          <a:xfrm flipH="1">
            <a:off x="3620935" y="3003906"/>
            <a:ext cx="591025" cy="712552"/>
          </a:xfrm>
          <a:custGeom>
            <a:avLst/>
            <a:gdLst>
              <a:gd name="connsiteX0" fmla="*/ 0 w 807522"/>
              <a:gd name="connsiteY0" fmla="*/ 993828 h 1002779"/>
              <a:gd name="connsiteX1" fmla="*/ 285008 w 807522"/>
              <a:gd name="connsiteY1" fmla="*/ 875075 h 1002779"/>
              <a:gd name="connsiteX2" fmla="*/ 486889 w 807522"/>
              <a:gd name="connsiteY2" fmla="*/ 103179 h 1002779"/>
              <a:gd name="connsiteX3" fmla="*/ 807522 w 807522"/>
              <a:gd name="connsiteY3" fmla="*/ 8176 h 1002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7522" h="1002779">
                <a:moveTo>
                  <a:pt x="0" y="993828"/>
                </a:moveTo>
                <a:cubicBezTo>
                  <a:pt x="101930" y="1008672"/>
                  <a:pt x="203860" y="1023516"/>
                  <a:pt x="285008" y="875075"/>
                </a:cubicBezTo>
                <a:cubicBezTo>
                  <a:pt x="366156" y="726634"/>
                  <a:pt x="399803" y="247662"/>
                  <a:pt x="486889" y="103179"/>
                </a:cubicBezTo>
                <a:cubicBezTo>
                  <a:pt x="573975" y="-41304"/>
                  <a:pt x="807522" y="8176"/>
                  <a:pt x="807522" y="8176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7" name="26 Conector recto"/>
          <p:cNvCxnSpPr/>
          <p:nvPr/>
        </p:nvCxnSpPr>
        <p:spPr>
          <a:xfrm flipV="1">
            <a:off x="2598489" y="3004527"/>
            <a:ext cx="1022445" cy="16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Rectángulo"/>
          <p:cNvSpPr/>
          <p:nvPr/>
        </p:nvSpPr>
        <p:spPr>
          <a:xfrm>
            <a:off x="6920769" y="2924944"/>
            <a:ext cx="7328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1400" dirty="0"/>
              <a:t>β</a:t>
            </a:r>
            <a:r>
              <a:rPr lang="es-AR" sz="1400" dirty="0"/>
              <a:t> = 0,5</a:t>
            </a:r>
          </a:p>
        </p:txBody>
      </p:sp>
      <p:sp>
        <p:nvSpPr>
          <p:cNvPr id="29" name="28 Cerrar llave"/>
          <p:cNvSpPr/>
          <p:nvPr/>
        </p:nvSpPr>
        <p:spPr>
          <a:xfrm rot="5400000">
            <a:off x="5966472" y="2979016"/>
            <a:ext cx="144016" cy="219611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29 Rectángulo"/>
          <p:cNvSpPr/>
          <p:nvPr/>
        </p:nvSpPr>
        <p:spPr>
          <a:xfrm>
            <a:off x="5499478" y="4129335"/>
            <a:ext cx="10871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/>
              <a:t>AB </a:t>
            </a:r>
            <a:r>
              <a:rPr lang="es-AR" sz="1400" dirty="0"/>
              <a:t>= </a:t>
            </a:r>
            <a:r>
              <a:rPr lang="es-AR" sz="1400" dirty="0" smtClean="0"/>
              <a:t>4 kHz</a:t>
            </a:r>
            <a:endParaRPr lang="es-AR" sz="1400" dirty="0"/>
          </a:p>
        </p:txBody>
      </p:sp>
      <p:sp>
        <p:nvSpPr>
          <p:cNvPr id="31" name="30 Rectángulo"/>
          <p:cNvSpPr/>
          <p:nvPr/>
        </p:nvSpPr>
        <p:spPr>
          <a:xfrm>
            <a:off x="7217960" y="3717032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/>
              <a:t>f</a:t>
            </a:r>
            <a:endParaRPr lang="es-AR" sz="1400" dirty="0"/>
          </a:p>
        </p:txBody>
      </p:sp>
      <p:sp>
        <p:nvSpPr>
          <p:cNvPr id="32" name="31 Rectángulo"/>
          <p:cNvSpPr/>
          <p:nvPr/>
        </p:nvSpPr>
        <p:spPr>
          <a:xfrm>
            <a:off x="4644008" y="2132856"/>
            <a:ext cx="4732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/>
              <a:t>X(f)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34195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35 – Tasa máxima sin ISI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12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dirty="0" smtClean="0"/>
              <a:t>El ejercicio también podemos resolverlo en banda base:</a:t>
            </a:r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</p:txBody>
      </p:sp>
      <p:sp>
        <p:nvSpPr>
          <p:cNvPr id="9" name="8 CuadroTexto"/>
          <p:cNvSpPr txBox="1"/>
          <p:nvPr/>
        </p:nvSpPr>
        <p:spPr>
          <a:xfrm>
            <a:off x="683568" y="4581128"/>
            <a:ext cx="77768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400" dirty="0" err="1" smtClean="0"/>
              <a:t>ABrc</a:t>
            </a:r>
            <a:r>
              <a:rPr lang="es-AR" sz="1400" dirty="0" smtClean="0"/>
              <a:t> = 0,5.R</a:t>
            </a:r>
            <a:r>
              <a:rPr lang="es-AR" sz="1400" baseline="-25000" dirty="0" smtClean="0"/>
              <a:t>s</a:t>
            </a:r>
            <a:r>
              <a:rPr lang="es-AR" sz="1400" dirty="0" smtClean="0"/>
              <a:t>.(1+</a:t>
            </a:r>
            <a:r>
              <a:rPr lang="el-GR" sz="1400" dirty="0" smtClean="0"/>
              <a:t>β</a:t>
            </a:r>
            <a:r>
              <a:rPr lang="es-AR" sz="1400" dirty="0" smtClean="0"/>
              <a:t>)	0,5.Rs ≤ </a:t>
            </a:r>
            <a:r>
              <a:rPr lang="es-AR" sz="1400" dirty="0" err="1" smtClean="0"/>
              <a:t>AB</a:t>
            </a:r>
            <a:r>
              <a:rPr lang="es-AR" sz="1400" baseline="-25000" dirty="0" err="1" smtClean="0"/>
              <a:t>rc</a:t>
            </a:r>
            <a:r>
              <a:rPr lang="es-AR" sz="1400" dirty="0" smtClean="0"/>
              <a:t> ≤ </a:t>
            </a:r>
            <a:r>
              <a:rPr lang="es-AR" sz="1400" dirty="0" err="1" smtClean="0"/>
              <a:t>R</a:t>
            </a:r>
            <a:r>
              <a:rPr lang="es-AR" sz="1400" baseline="-25000" dirty="0" err="1" smtClean="0"/>
              <a:t>s</a:t>
            </a:r>
            <a:endParaRPr lang="es-AR" sz="1400" baseline="-25000" dirty="0" smtClean="0"/>
          </a:p>
          <a:p>
            <a:pPr algn="ctr"/>
            <a:endParaRPr lang="es-AR" sz="1400" dirty="0"/>
          </a:p>
          <a:p>
            <a:pPr algn="ctr"/>
            <a:r>
              <a:rPr lang="es-AR" sz="1400" dirty="0" smtClean="0"/>
              <a:t>(Ancho de banda del filtro coseno elevado en banda base)</a:t>
            </a:r>
          </a:p>
          <a:p>
            <a:pPr algn="ctr"/>
            <a:endParaRPr lang="es-AR" sz="1400" dirty="0"/>
          </a:p>
          <a:p>
            <a:pPr algn="ctr"/>
            <a:r>
              <a:rPr lang="es-AR" sz="1400" dirty="0" smtClean="0"/>
              <a:t>Resulta: </a:t>
            </a:r>
            <a:r>
              <a:rPr lang="es-AR" sz="1400" dirty="0" err="1" smtClean="0"/>
              <a:t>Rs</a:t>
            </a:r>
            <a:r>
              <a:rPr lang="es-AR" sz="1400" dirty="0" smtClean="0"/>
              <a:t> = 2666 </a:t>
            </a:r>
            <a:r>
              <a:rPr lang="es-AR" sz="1400" dirty="0" err="1" smtClean="0"/>
              <a:t>kbaudios</a:t>
            </a:r>
            <a:endParaRPr lang="es-AR" sz="1400" dirty="0" smtClean="0"/>
          </a:p>
          <a:p>
            <a:pPr algn="ctr"/>
            <a:r>
              <a:rPr lang="es-AR" sz="1400" dirty="0" smtClean="0"/>
              <a:t>2-PAM	</a:t>
            </a:r>
            <a:r>
              <a:rPr lang="es-AR" sz="1400" dirty="0" smtClean="0">
                <a:latin typeface="Bookman Old Style" panose="02050604050505020204" pitchFamily="18" charset="0"/>
              </a:rPr>
              <a:t>→ </a:t>
            </a:r>
            <a:r>
              <a:rPr lang="es-AR" sz="1400" dirty="0"/>
              <a:t>k = </a:t>
            </a:r>
            <a:r>
              <a:rPr lang="es-AR" sz="1400" dirty="0" smtClean="0"/>
              <a:t>1 </a:t>
            </a:r>
            <a:r>
              <a:rPr lang="es-AR" sz="1400" dirty="0">
                <a:latin typeface="Bookman Old Style" panose="02050604050505020204" pitchFamily="18" charset="0"/>
              </a:rPr>
              <a:t>→</a:t>
            </a:r>
            <a:r>
              <a:rPr lang="es-AR" sz="1400" dirty="0" smtClean="0"/>
              <a:t> </a:t>
            </a:r>
            <a:r>
              <a:rPr lang="es-AR" sz="1400" dirty="0"/>
              <a:t>Rb = 1.Rs = 2666 kbps</a:t>
            </a:r>
          </a:p>
          <a:p>
            <a:pPr algn="ctr"/>
            <a:r>
              <a:rPr lang="es-AR" sz="1400" dirty="0" smtClean="0"/>
              <a:t>4-PSK	</a:t>
            </a:r>
            <a:r>
              <a:rPr lang="es-AR" sz="1400" dirty="0" smtClean="0">
                <a:latin typeface="Bookman Old Style" panose="02050604050505020204" pitchFamily="18" charset="0"/>
              </a:rPr>
              <a:t>→ </a:t>
            </a:r>
            <a:r>
              <a:rPr lang="es-AR" sz="1400" dirty="0"/>
              <a:t>k = </a:t>
            </a:r>
            <a:r>
              <a:rPr lang="es-AR" sz="1400" dirty="0" smtClean="0"/>
              <a:t>2 </a:t>
            </a:r>
            <a:r>
              <a:rPr lang="es-AR" sz="1400" dirty="0">
                <a:latin typeface="Bookman Old Style" panose="02050604050505020204" pitchFamily="18" charset="0"/>
              </a:rPr>
              <a:t>→</a:t>
            </a:r>
            <a:r>
              <a:rPr lang="es-AR" sz="1400" dirty="0"/>
              <a:t> Rb = </a:t>
            </a:r>
            <a:r>
              <a:rPr lang="es-AR" sz="1400" dirty="0" smtClean="0"/>
              <a:t>2.Rs </a:t>
            </a:r>
            <a:r>
              <a:rPr lang="es-AR" sz="1400" dirty="0"/>
              <a:t>= </a:t>
            </a:r>
            <a:r>
              <a:rPr lang="es-AR" sz="1400" dirty="0" smtClean="0"/>
              <a:t>5333 kbps</a:t>
            </a:r>
          </a:p>
          <a:p>
            <a:pPr algn="ctr"/>
            <a:r>
              <a:rPr lang="es-AR" sz="1400" dirty="0" smtClean="0"/>
              <a:t>8-QAM	</a:t>
            </a:r>
            <a:r>
              <a:rPr lang="es-AR" sz="1400" dirty="0" smtClean="0">
                <a:latin typeface="Bookman Old Style" panose="02050604050505020204" pitchFamily="18" charset="0"/>
              </a:rPr>
              <a:t>→ </a:t>
            </a:r>
            <a:r>
              <a:rPr lang="es-AR" sz="1400" dirty="0"/>
              <a:t>k = </a:t>
            </a:r>
            <a:r>
              <a:rPr lang="es-AR" sz="1400" dirty="0" smtClean="0"/>
              <a:t>3 </a:t>
            </a:r>
            <a:r>
              <a:rPr lang="es-AR" sz="1400" dirty="0">
                <a:latin typeface="Bookman Old Style" panose="02050604050505020204" pitchFamily="18" charset="0"/>
              </a:rPr>
              <a:t>→</a:t>
            </a:r>
            <a:r>
              <a:rPr lang="es-AR" sz="1400" dirty="0"/>
              <a:t> Rb = </a:t>
            </a:r>
            <a:r>
              <a:rPr lang="es-AR" sz="1400" dirty="0" smtClean="0"/>
              <a:t>3.Rs </a:t>
            </a:r>
            <a:r>
              <a:rPr lang="es-AR" sz="1400" dirty="0"/>
              <a:t>= </a:t>
            </a:r>
            <a:r>
              <a:rPr lang="es-AR" sz="1400" dirty="0" smtClean="0"/>
              <a:t>8000 </a:t>
            </a:r>
            <a:r>
              <a:rPr lang="es-AR" sz="1400" dirty="0"/>
              <a:t>kbps</a:t>
            </a:r>
          </a:p>
          <a:p>
            <a:pPr algn="ctr"/>
            <a:endParaRPr lang="es-AR" sz="14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1979712" y="3717032"/>
            <a:ext cx="525658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Forma libre"/>
          <p:cNvSpPr/>
          <p:nvPr/>
        </p:nvSpPr>
        <p:spPr>
          <a:xfrm>
            <a:off x="3520210" y="3009257"/>
            <a:ext cx="591025" cy="712552"/>
          </a:xfrm>
          <a:custGeom>
            <a:avLst/>
            <a:gdLst>
              <a:gd name="connsiteX0" fmla="*/ 0 w 807522"/>
              <a:gd name="connsiteY0" fmla="*/ 993828 h 1002779"/>
              <a:gd name="connsiteX1" fmla="*/ 285008 w 807522"/>
              <a:gd name="connsiteY1" fmla="*/ 875075 h 1002779"/>
              <a:gd name="connsiteX2" fmla="*/ 486889 w 807522"/>
              <a:gd name="connsiteY2" fmla="*/ 103179 h 1002779"/>
              <a:gd name="connsiteX3" fmla="*/ 807522 w 807522"/>
              <a:gd name="connsiteY3" fmla="*/ 8176 h 1002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7522" h="1002779">
                <a:moveTo>
                  <a:pt x="0" y="993828"/>
                </a:moveTo>
                <a:cubicBezTo>
                  <a:pt x="101930" y="1008672"/>
                  <a:pt x="203860" y="1023516"/>
                  <a:pt x="285008" y="875075"/>
                </a:cubicBezTo>
                <a:cubicBezTo>
                  <a:pt x="366156" y="726634"/>
                  <a:pt x="399803" y="247662"/>
                  <a:pt x="486889" y="103179"/>
                </a:cubicBezTo>
                <a:cubicBezTo>
                  <a:pt x="573975" y="-41304"/>
                  <a:pt x="807522" y="8176"/>
                  <a:pt x="807522" y="8176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Forma libre"/>
          <p:cNvSpPr/>
          <p:nvPr/>
        </p:nvSpPr>
        <p:spPr>
          <a:xfrm flipH="1">
            <a:off x="5133681" y="3005578"/>
            <a:ext cx="591025" cy="712552"/>
          </a:xfrm>
          <a:custGeom>
            <a:avLst/>
            <a:gdLst>
              <a:gd name="connsiteX0" fmla="*/ 0 w 807522"/>
              <a:gd name="connsiteY0" fmla="*/ 993828 h 1002779"/>
              <a:gd name="connsiteX1" fmla="*/ 285008 w 807522"/>
              <a:gd name="connsiteY1" fmla="*/ 875075 h 1002779"/>
              <a:gd name="connsiteX2" fmla="*/ 486889 w 807522"/>
              <a:gd name="connsiteY2" fmla="*/ 103179 h 1002779"/>
              <a:gd name="connsiteX3" fmla="*/ 807522 w 807522"/>
              <a:gd name="connsiteY3" fmla="*/ 8176 h 1002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7522" h="1002779">
                <a:moveTo>
                  <a:pt x="0" y="993828"/>
                </a:moveTo>
                <a:cubicBezTo>
                  <a:pt x="101930" y="1008672"/>
                  <a:pt x="203860" y="1023516"/>
                  <a:pt x="285008" y="875075"/>
                </a:cubicBezTo>
                <a:cubicBezTo>
                  <a:pt x="366156" y="726634"/>
                  <a:pt x="399803" y="247662"/>
                  <a:pt x="486889" y="103179"/>
                </a:cubicBezTo>
                <a:cubicBezTo>
                  <a:pt x="573975" y="-41304"/>
                  <a:pt x="807522" y="8176"/>
                  <a:pt x="807522" y="8176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4" name="13 Conector recto"/>
          <p:cNvCxnSpPr/>
          <p:nvPr/>
        </p:nvCxnSpPr>
        <p:spPr>
          <a:xfrm flipV="1">
            <a:off x="4111235" y="3006199"/>
            <a:ext cx="1022445" cy="16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Rectángulo"/>
          <p:cNvSpPr/>
          <p:nvPr/>
        </p:nvSpPr>
        <p:spPr>
          <a:xfrm>
            <a:off x="5508939" y="2924944"/>
            <a:ext cx="7328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1400" dirty="0"/>
              <a:t>β</a:t>
            </a:r>
            <a:r>
              <a:rPr lang="es-AR" sz="1400" dirty="0"/>
              <a:t> = 0,5</a:t>
            </a:r>
          </a:p>
        </p:txBody>
      </p:sp>
      <p:sp>
        <p:nvSpPr>
          <p:cNvPr id="29" name="28 Cerrar llave"/>
          <p:cNvSpPr/>
          <p:nvPr/>
        </p:nvSpPr>
        <p:spPr>
          <a:xfrm rot="5400000">
            <a:off x="5121028" y="3528044"/>
            <a:ext cx="144016" cy="109805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29 Rectángulo"/>
          <p:cNvSpPr/>
          <p:nvPr/>
        </p:nvSpPr>
        <p:spPr>
          <a:xfrm>
            <a:off x="4671304" y="4129335"/>
            <a:ext cx="10871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/>
              <a:t>AB </a:t>
            </a:r>
            <a:r>
              <a:rPr lang="es-AR" sz="1400" dirty="0"/>
              <a:t>= 2</a:t>
            </a:r>
            <a:r>
              <a:rPr lang="es-AR" sz="1400" dirty="0" smtClean="0"/>
              <a:t> kHz</a:t>
            </a:r>
            <a:endParaRPr lang="es-AR" sz="1400" dirty="0"/>
          </a:p>
        </p:txBody>
      </p:sp>
      <p:sp>
        <p:nvSpPr>
          <p:cNvPr id="31" name="30 Rectángulo"/>
          <p:cNvSpPr/>
          <p:nvPr/>
        </p:nvSpPr>
        <p:spPr>
          <a:xfrm>
            <a:off x="7217960" y="3717032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/>
              <a:t>f</a:t>
            </a:r>
            <a:endParaRPr lang="es-AR" sz="1400" dirty="0"/>
          </a:p>
        </p:txBody>
      </p:sp>
      <p:sp>
        <p:nvSpPr>
          <p:cNvPr id="32" name="31 Rectángulo"/>
          <p:cNvSpPr/>
          <p:nvPr/>
        </p:nvSpPr>
        <p:spPr>
          <a:xfrm>
            <a:off x="4644008" y="2132856"/>
            <a:ext cx="6719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err="1" smtClean="0"/>
              <a:t>Xbb</a:t>
            </a:r>
            <a:r>
              <a:rPr lang="es-AR" sz="1400" dirty="0" smtClean="0"/>
              <a:t>(f)</a:t>
            </a:r>
            <a:endParaRPr lang="es-AR" sz="1400" dirty="0"/>
          </a:p>
        </p:txBody>
      </p:sp>
      <p:cxnSp>
        <p:nvCxnSpPr>
          <p:cNvPr id="17" name="16 Conector recto de flecha"/>
          <p:cNvCxnSpPr/>
          <p:nvPr/>
        </p:nvCxnSpPr>
        <p:spPr>
          <a:xfrm flipV="1">
            <a:off x="4644008" y="2276872"/>
            <a:ext cx="0" cy="15925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97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36 – Canal telefónico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13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AR" sz="1800" dirty="0" smtClean="0"/>
              <a:t>Sabiendo que el pulso formador es de tipo coseno elevado, el canal es de tipo </a:t>
            </a:r>
            <a:r>
              <a:rPr lang="es-AR" sz="1800" dirty="0" err="1" smtClean="0"/>
              <a:t>pasabanda</a:t>
            </a:r>
            <a:r>
              <a:rPr lang="es-AR" sz="1800" dirty="0" smtClean="0"/>
              <a:t> entre 300 y 3300 Hz, la tasa de símbolos es 2400 baudios y la tasa de bits es 9600 bps, nos encontramos en la siguiente situación: </a:t>
            </a:r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Aplique esta última expresión para obtener el factor de roll-off, y la relación entre </a:t>
            </a:r>
            <a:r>
              <a:rPr lang="es-AR" sz="1800" dirty="0" err="1" smtClean="0"/>
              <a:t>R</a:t>
            </a:r>
            <a:r>
              <a:rPr lang="es-AR" sz="1800" baseline="-25000" dirty="0" err="1" smtClean="0"/>
              <a:t>s</a:t>
            </a:r>
            <a:r>
              <a:rPr lang="es-AR" sz="1800" dirty="0" smtClean="0"/>
              <a:t> y R</a:t>
            </a:r>
            <a:r>
              <a:rPr lang="es-AR" sz="1800" baseline="-25000" dirty="0" smtClean="0"/>
              <a:t>b</a:t>
            </a:r>
            <a:r>
              <a:rPr lang="es-AR" sz="1800" dirty="0" smtClean="0"/>
              <a:t> para obtener el orden de la modulación M-QAM.  Resulta k = 4; M = 16 y </a:t>
            </a:r>
            <a:r>
              <a:rPr lang="el-GR" sz="1800" dirty="0" smtClean="0">
                <a:latin typeface="Bookman Old Style" panose="02050604050505020204" pitchFamily="18" charset="0"/>
              </a:rPr>
              <a:t>β</a:t>
            </a:r>
            <a:r>
              <a:rPr lang="es-AR" sz="1800" dirty="0" smtClean="0">
                <a:latin typeface="Bookman Old Style" panose="02050604050505020204" pitchFamily="18" charset="0"/>
              </a:rPr>
              <a:t> = 0,25.</a:t>
            </a:r>
            <a:endParaRPr lang="es-AR" sz="1800" dirty="0" smtClean="0"/>
          </a:p>
        </p:txBody>
      </p:sp>
      <p:sp>
        <p:nvSpPr>
          <p:cNvPr id="9" name="8 CuadroTexto"/>
          <p:cNvSpPr txBox="1"/>
          <p:nvPr/>
        </p:nvSpPr>
        <p:spPr>
          <a:xfrm>
            <a:off x="683568" y="4581128"/>
            <a:ext cx="77768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400" dirty="0" err="1" smtClean="0"/>
              <a:t>ABrc</a:t>
            </a:r>
            <a:r>
              <a:rPr lang="es-AR" sz="1400" dirty="0" smtClean="0"/>
              <a:t> = </a:t>
            </a:r>
            <a:r>
              <a:rPr lang="es-AR" sz="1400" dirty="0" err="1" smtClean="0"/>
              <a:t>Rs</a:t>
            </a:r>
            <a:r>
              <a:rPr lang="es-AR" sz="1400" dirty="0" smtClean="0"/>
              <a:t>.(1+</a:t>
            </a:r>
            <a:r>
              <a:rPr lang="el-GR" sz="1400" dirty="0" smtClean="0"/>
              <a:t>β</a:t>
            </a:r>
            <a:r>
              <a:rPr lang="es-AR" sz="1400" dirty="0" smtClean="0"/>
              <a:t>)	</a:t>
            </a:r>
            <a:r>
              <a:rPr lang="es-AR" sz="1400" dirty="0" err="1" smtClean="0"/>
              <a:t>Rs</a:t>
            </a:r>
            <a:r>
              <a:rPr lang="es-AR" sz="1400" dirty="0" smtClean="0"/>
              <a:t> ≤ </a:t>
            </a:r>
            <a:r>
              <a:rPr lang="es-AR" sz="1400" dirty="0" err="1" smtClean="0"/>
              <a:t>ABrc</a:t>
            </a:r>
            <a:r>
              <a:rPr lang="es-AR" sz="1400" dirty="0" smtClean="0"/>
              <a:t> ≤ 2.Rs</a:t>
            </a:r>
          </a:p>
          <a:p>
            <a:pPr algn="ctr"/>
            <a:endParaRPr lang="es-AR" sz="1400" dirty="0"/>
          </a:p>
          <a:p>
            <a:pPr algn="ctr"/>
            <a:r>
              <a:rPr lang="es-AR" sz="1400" dirty="0" smtClean="0"/>
              <a:t>(Ancho de banda del filtro coseno elevado en banda pasante)</a:t>
            </a:r>
            <a:endParaRPr lang="es-AR" sz="14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1979712" y="3717032"/>
            <a:ext cx="525658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Forma libre"/>
          <p:cNvSpPr/>
          <p:nvPr/>
        </p:nvSpPr>
        <p:spPr>
          <a:xfrm>
            <a:off x="4932040" y="3009257"/>
            <a:ext cx="591025" cy="712552"/>
          </a:xfrm>
          <a:custGeom>
            <a:avLst/>
            <a:gdLst>
              <a:gd name="connsiteX0" fmla="*/ 0 w 807522"/>
              <a:gd name="connsiteY0" fmla="*/ 993828 h 1002779"/>
              <a:gd name="connsiteX1" fmla="*/ 285008 w 807522"/>
              <a:gd name="connsiteY1" fmla="*/ 875075 h 1002779"/>
              <a:gd name="connsiteX2" fmla="*/ 486889 w 807522"/>
              <a:gd name="connsiteY2" fmla="*/ 103179 h 1002779"/>
              <a:gd name="connsiteX3" fmla="*/ 807522 w 807522"/>
              <a:gd name="connsiteY3" fmla="*/ 8176 h 1002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7522" h="1002779">
                <a:moveTo>
                  <a:pt x="0" y="993828"/>
                </a:moveTo>
                <a:cubicBezTo>
                  <a:pt x="101930" y="1008672"/>
                  <a:pt x="203860" y="1023516"/>
                  <a:pt x="285008" y="875075"/>
                </a:cubicBezTo>
                <a:cubicBezTo>
                  <a:pt x="366156" y="726634"/>
                  <a:pt x="399803" y="247662"/>
                  <a:pt x="486889" y="103179"/>
                </a:cubicBezTo>
                <a:cubicBezTo>
                  <a:pt x="573975" y="-41304"/>
                  <a:pt x="807522" y="8176"/>
                  <a:pt x="807522" y="8176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Forma libre"/>
          <p:cNvSpPr/>
          <p:nvPr/>
        </p:nvSpPr>
        <p:spPr>
          <a:xfrm flipH="1">
            <a:off x="6545511" y="3005578"/>
            <a:ext cx="591025" cy="712552"/>
          </a:xfrm>
          <a:custGeom>
            <a:avLst/>
            <a:gdLst>
              <a:gd name="connsiteX0" fmla="*/ 0 w 807522"/>
              <a:gd name="connsiteY0" fmla="*/ 993828 h 1002779"/>
              <a:gd name="connsiteX1" fmla="*/ 285008 w 807522"/>
              <a:gd name="connsiteY1" fmla="*/ 875075 h 1002779"/>
              <a:gd name="connsiteX2" fmla="*/ 486889 w 807522"/>
              <a:gd name="connsiteY2" fmla="*/ 103179 h 1002779"/>
              <a:gd name="connsiteX3" fmla="*/ 807522 w 807522"/>
              <a:gd name="connsiteY3" fmla="*/ 8176 h 1002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7522" h="1002779">
                <a:moveTo>
                  <a:pt x="0" y="993828"/>
                </a:moveTo>
                <a:cubicBezTo>
                  <a:pt x="101930" y="1008672"/>
                  <a:pt x="203860" y="1023516"/>
                  <a:pt x="285008" y="875075"/>
                </a:cubicBezTo>
                <a:cubicBezTo>
                  <a:pt x="366156" y="726634"/>
                  <a:pt x="399803" y="247662"/>
                  <a:pt x="486889" y="103179"/>
                </a:cubicBezTo>
                <a:cubicBezTo>
                  <a:pt x="573975" y="-41304"/>
                  <a:pt x="807522" y="8176"/>
                  <a:pt x="807522" y="8176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4" name="13 Conector recto"/>
          <p:cNvCxnSpPr/>
          <p:nvPr/>
        </p:nvCxnSpPr>
        <p:spPr>
          <a:xfrm flipV="1">
            <a:off x="5523065" y="3006199"/>
            <a:ext cx="1022445" cy="16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 de flecha"/>
          <p:cNvCxnSpPr/>
          <p:nvPr/>
        </p:nvCxnSpPr>
        <p:spPr>
          <a:xfrm flipV="1">
            <a:off x="4572000" y="2276872"/>
            <a:ext cx="0" cy="15925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Forma libre"/>
          <p:cNvSpPr/>
          <p:nvPr/>
        </p:nvSpPr>
        <p:spPr>
          <a:xfrm>
            <a:off x="2007464" y="3007585"/>
            <a:ext cx="591025" cy="712552"/>
          </a:xfrm>
          <a:custGeom>
            <a:avLst/>
            <a:gdLst>
              <a:gd name="connsiteX0" fmla="*/ 0 w 807522"/>
              <a:gd name="connsiteY0" fmla="*/ 993828 h 1002779"/>
              <a:gd name="connsiteX1" fmla="*/ 285008 w 807522"/>
              <a:gd name="connsiteY1" fmla="*/ 875075 h 1002779"/>
              <a:gd name="connsiteX2" fmla="*/ 486889 w 807522"/>
              <a:gd name="connsiteY2" fmla="*/ 103179 h 1002779"/>
              <a:gd name="connsiteX3" fmla="*/ 807522 w 807522"/>
              <a:gd name="connsiteY3" fmla="*/ 8176 h 1002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7522" h="1002779">
                <a:moveTo>
                  <a:pt x="0" y="993828"/>
                </a:moveTo>
                <a:cubicBezTo>
                  <a:pt x="101930" y="1008672"/>
                  <a:pt x="203860" y="1023516"/>
                  <a:pt x="285008" y="875075"/>
                </a:cubicBezTo>
                <a:cubicBezTo>
                  <a:pt x="366156" y="726634"/>
                  <a:pt x="399803" y="247662"/>
                  <a:pt x="486889" y="103179"/>
                </a:cubicBezTo>
                <a:cubicBezTo>
                  <a:pt x="573975" y="-41304"/>
                  <a:pt x="807522" y="8176"/>
                  <a:pt x="807522" y="8176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25 Forma libre"/>
          <p:cNvSpPr/>
          <p:nvPr/>
        </p:nvSpPr>
        <p:spPr>
          <a:xfrm flipH="1">
            <a:off x="3620935" y="3003906"/>
            <a:ext cx="591025" cy="712552"/>
          </a:xfrm>
          <a:custGeom>
            <a:avLst/>
            <a:gdLst>
              <a:gd name="connsiteX0" fmla="*/ 0 w 807522"/>
              <a:gd name="connsiteY0" fmla="*/ 993828 h 1002779"/>
              <a:gd name="connsiteX1" fmla="*/ 285008 w 807522"/>
              <a:gd name="connsiteY1" fmla="*/ 875075 h 1002779"/>
              <a:gd name="connsiteX2" fmla="*/ 486889 w 807522"/>
              <a:gd name="connsiteY2" fmla="*/ 103179 h 1002779"/>
              <a:gd name="connsiteX3" fmla="*/ 807522 w 807522"/>
              <a:gd name="connsiteY3" fmla="*/ 8176 h 1002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7522" h="1002779">
                <a:moveTo>
                  <a:pt x="0" y="993828"/>
                </a:moveTo>
                <a:cubicBezTo>
                  <a:pt x="101930" y="1008672"/>
                  <a:pt x="203860" y="1023516"/>
                  <a:pt x="285008" y="875075"/>
                </a:cubicBezTo>
                <a:cubicBezTo>
                  <a:pt x="366156" y="726634"/>
                  <a:pt x="399803" y="247662"/>
                  <a:pt x="486889" y="103179"/>
                </a:cubicBezTo>
                <a:cubicBezTo>
                  <a:pt x="573975" y="-41304"/>
                  <a:pt x="807522" y="8176"/>
                  <a:pt x="807522" y="8176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7" name="26 Conector recto"/>
          <p:cNvCxnSpPr/>
          <p:nvPr/>
        </p:nvCxnSpPr>
        <p:spPr>
          <a:xfrm flipV="1">
            <a:off x="2598489" y="3004527"/>
            <a:ext cx="1022445" cy="16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Rectángulo"/>
          <p:cNvSpPr/>
          <p:nvPr/>
        </p:nvSpPr>
        <p:spPr>
          <a:xfrm>
            <a:off x="6920769" y="2924944"/>
            <a:ext cx="5838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1400" dirty="0"/>
              <a:t>β</a:t>
            </a:r>
            <a:r>
              <a:rPr lang="es-AR" sz="1400" dirty="0"/>
              <a:t> = </a:t>
            </a:r>
            <a:r>
              <a:rPr lang="es-AR" sz="1400" dirty="0" smtClean="0"/>
              <a:t>?</a:t>
            </a:r>
            <a:endParaRPr lang="es-AR" sz="1400" dirty="0"/>
          </a:p>
        </p:txBody>
      </p:sp>
      <p:sp>
        <p:nvSpPr>
          <p:cNvPr id="30" name="29 Rectángulo"/>
          <p:cNvSpPr/>
          <p:nvPr/>
        </p:nvSpPr>
        <p:spPr>
          <a:xfrm>
            <a:off x="4644008" y="3789040"/>
            <a:ext cx="26981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/>
              <a:t>300 Hz          </a:t>
            </a:r>
            <a:r>
              <a:rPr lang="es-AR" sz="1400" dirty="0" err="1" smtClean="0"/>
              <a:t>fp</a:t>
            </a:r>
            <a:r>
              <a:rPr lang="es-AR" sz="1400" dirty="0" smtClean="0"/>
              <a:t> = ?	3300 Hz</a:t>
            </a:r>
            <a:endParaRPr lang="es-AR" sz="1400" dirty="0"/>
          </a:p>
        </p:txBody>
      </p:sp>
      <p:sp>
        <p:nvSpPr>
          <p:cNvPr id="31" name="30 Rectángulo"/>
          <p:cNvSpPr/>
          <p:nvPr/>
        </p:nvSpPr>
        <p:spPr>
          <a:xfrm>
            <a:off x="7217960" y="3717032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/>
              <a:t>f</a:t>
            </a:r>
            <a:endParaRPr lang="es-AR" sz="1400" dirty="0"/>
          </a:p>
        </p:txBody>
      </p:sp>
      <p:sp>
        <p:nvSpPr>
          <p:cNvPr id="32" name="31 Rectángulo"/>
          <p:cNvSpPr/>
          <p:nvPr/>
        </p:nvSpPr>
        <p:spPr>
          <a:xfrm>
            <a:off x="4644008" y="2132856"/>
            <a:ext cx="4732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/>
              <a:t>X(f)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4048999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37 – Pulso Gaussiano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14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 algn="just">
                  <a:buNone/>
                </a:pPr>
                <a:r>
                  <a:rPr lang="es-AR" sz="1800" dirty="0" smtClean="0"/>
                  <a:t>El pulso propuesto para este ejercicio tiene la forma:</a:t>
                </a:r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:r>
                  <a:rPr lang="es-AR" sz="1800" b="0" dirty="0" smtClean="0"/>
                  <a:t>		</a:t>
                </a:r>
                <a:endParaRPr lang="es-AR" sz="1800" b="0" i="1" dirty="0" smtClean="0">
                  <a:latin typeface="Cambria Math"/>
                </a:endParaRPr>
              </a:p>
              <a:p>
                <a:pPr marL="0" indent="0" algn="just">
                  <a:buNone/>
                </a:pPr>
                <a:endParaRPr lang="es-AR" sz="1800" b="0" i="1" dirty="0" smtClean="0">
                  <a:latin typeface="Cambria Math"/>
                </a:endParaRPr>
              </a:p>
              <a:p>
                <a:pPr marL="0" indent="0" algn="just">
                  <a:buNone/>
                </a:pPr>
                <a:endParaRPr lang="es-AR" sz="1800" b="0" i="1" dirty="0" smtClean="0">
                  <a:latin typeface="Cambria Math"/>
                </a:endParaRPr>
              </a:p>
              <a:p>
                <a:pPr marL="0" indent="0" algn="just">
                  <a:buNone/>
                </a:pPr>
                <a:r>
                  <a:rPr lang="es-AR" sz="1800" b="0" dirty="0" smtClean="0"/>
                  <a:t>	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s-AR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s-AR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s-AR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s-AR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s-AR" b="0" i="1" smtClean="0">
                            <a:latin typeface="Cambria Math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/>
                          </a:rPr>
                          <m:t>π</m:t>
                        </m:r>
                        <m:sSup>
                          <m:sSupPr>
                            <m:ctrlPr>
                              <a:rPr lang="el-GR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AR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s-AR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l-GR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AR" b="0" i="1" smtClean="0">
                                <a:latin typeface="Cambria Math"/>
                              </a:rPr>
                              <m:t>𝑡</m:t>
                            </m:r>
                          </m:e>
                          <m:sup>
                            <m:r>
                              <a:rPr lang="es-AR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lang="es-AR" sz="1800" b="0" dirty="0" smtClean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0" indent="0" algn="just">
                  <a:buNone/>
                </a:pPr>
                <a:endParaRPr lang="es-AR" sz="1800" dirty="0"/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algn="just">
                  <a:buFont typeface="Wingdings" pitchFamily="2" charset="2"/>
                  <a:buChar char="Ø"/>
                </a:pPr>
                <a:r>
                  <a:rPr lang="es-AR" sz="1800" dirty="0" smtClean="0"/>
                  <a:t>Sabiendo que g(T) = 0,01, es posible despejar y obtener el período de símbolo T que se considera reduce la ISI al valor deseado (en función del parámetro a).</a:t>
                </a:r>
              </a:p>
              <a:p>
                <a:pPr algn="just">
                  <a:buFont typeface="Wingdings" pitchFamily="2" charset="2"/>
                  <a:buChar char="Ø"/>
                </a:pPr>
                <a:r>
                  <a:rPr lang="es-AR" sz="1800" dirty="0" smtClean="0"/>
                  <a:t>Obtenga la TF del pulso Gaussiano, G(f).</a:t>
                </a:r>
              </a:p>
              <a:p>
                <a:pPr algn="just">
                  <a:buFont typeface="Wingdings" pitchFamily="2" charset="2"/>
                  <a:buChar char="Ø"/>
                </a:pPr>
                <a:r>
                  <a:rPr lang="es-AR" sz="1800" dirty="0" smtClean="0"/>
                  <a:t>Obtenga la relación G(W) / G(0) = 0,01 y despeje W, el ancho de banda del pulso, en función del parámetro a. Expréselo en función de T con la relación encontrada previamente.</a:t>
                </a:r>
              </a:p>
              <a:p>
                <a:pPr algn="just">
                  <a:buFont typeface="Wingdings" pitchFamily="2" charset="2"/>
                  <a:buChar char="Ø"/>
                </a:pPr>
                <a:r>
                  <a:rPr lang="es-AR" sz="1800" dirty="0" smtClean="0"/>
                  <a:t>Para comparar el ancho de banda W con el del pulso coseno elevado, calcule el ancho de banda de este último, en banda base, en función de T = 1/</a:t>
                </a:r>
                <a:r>
                  <a:rPr lang="es-AR" sz="1800" dirty="0" err="1" smtClean="0"/>
                  <a:t>R</a:t>
                </a:r>
                <a:r>
                  <a:rPr lang="es-AR" sz="1800" baseline="-25000" dirty="0" err="1" smtClean="0"/>
                  <a:t>s</a:t>
                </a:r>
                <a:r>
                  <a:rPr lang="es-AR" sz="1800" dirty="0" smtClean="0"/>
                  <a:t>:</a:t>
                </a:r>
              </a:p>
              <a:p>
                <a:pPr marL="0" indent="0" algn="just">
                  <a:buNone/>
                </a:pPr>
                <a:endParaRPr lang="es-AR" sz="1800" dirty="0" smtClean="0"/>
              </a:p>
              <a:p>
                <a:pPr marL="342900" indent="-342900" algn="just">
                  <a:buFont typeface="+mj-lt"/>
                  <a:buAutoNum type="arabicParenR"/>
                </a:pPr>
                <a:endParaRPr lang="es-AR" sz="1800" dirty="0" smtClean="0"/>
              </a:p>
              <a:p>
                <a:pPr marL="0" indent="0" algn="just">
                  <a:buNone/>
                </a:pPr>
                <a:r>
                  <a:rPr lang="es-AR" sz="1800" dirty="0" smtClean="0"/>
                  <a:t>:</a:t>
                </a:r>
                <a:endParaRPr lang="es-AR" sz="1800" dirty="0"/>
              </a:p>
              <a:p>
                <a:pPr marL="0" indent="0" algn="just">
                  <a:buNone/>
                </a:pPr>
                <a:r>
                  <a:rPr lang="es-AR" sz="1800" smtClean="0"/>
                  <a:t>Resultado: En banda base, ABrc = Rs = 1/T	&lt;   ABpg = 1,46/T</a:t>
                </a:r>
                <a:endParaRPr lang="es-AR" sz="1800" dirty="0" smtClean="0"/>
              </a:p>
            </p:txBody>
          </p:sp>
        </mc:Choice>
        <mc:Fallback xmlns="">
          <p:sp>
            <p:nvSpPr>
              <p:cNvPr id="8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4" t="-864" r="-7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6 CuadroTexto"/>
          <p:cNvSpPr txBox="1"/>
          <p:nvPr/>
        </p:nvSpPr>
        <p:spPr>
          <a:xfrm>
            <a:off x="2376748" y="5157192"/>
            <a:ext cx="4355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err="1" smtClean="0"/>
              <a:t>AB</a:t>
            </a:r>
            <a:r>
              <a:rPr lang="es-AR" baseline="-25000" dirty="0" err="1" smtClean="0"/>
              <a:t>rc</a:t>
            </a:r>
            <a:r>
              <a:rPr lang="es-AR" dirty="0" smtClean="0"/>
              <a:t> = 0,5.R</a:t>
            </a:r>
            <a:r>
              <a:rPr lang="es-AR" baseline="-25000" dirty="0" smtClean="0"/>
              <a:t>s</a:t>
            </a:r>
            <a:r>
              <a:rPr lang="es-AR" dirty="0" smtClean="0"/>
              <a:t>(1+</a:t>
            </a:r>
            <a:r>
              <a:rPr lang="el-GR" dirty="0" smtClean="0"/>
              <a:t>β</a:t>
            </a:r>
            <a:r>
              <a:rPr lang="es-AR" dirty="0" smtClean="0"/>
              <a:t>)	</a:t>
            </a:r>
            <a:r>
              <a:rPr lang="el-GR" dirty="0"/>
              <a:t> </a:t>
            </a:r>
            <a:r>
              <a:rPr lang="el-GR" dirty="0" smtClean="0"/>
              <a:t>β</a:t>
            </a:r>
            <a:r>
              <a:rPr lang="es-AR" dirty="0" smtClean="0"/>
              <a:t> = 1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506363"/>
            <a:ext cx="3211830" cy="1922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914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39 – Criterio de Nyquist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15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es-AR" sz="1800" dirty="0" smtClean="0"/>
              <a:t>Sea la respuesta en frecuencia del canal, H(f):</a:t>
            </a:r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0" indent="0" algn="just">
              <a:buNone/>
            </a:pPr>
            <a:r>
              <a:rPr lang="es-AR" sz="1800" dirty="0" smtClean="0"/>
              <a:t>Y la transformada de Fourier del Pulso formador, G</a:t>
            </a:r>
            <a:r>
              <a:rPr lang="es-AR" sz="1800" baseline="-25000" dirty="0" smtClean="0"/>
              <a:t>T</a:t>
            </a:r>
            <a:r>
              <a:rPr lang="es-AR" sz="1800" dirty="0" smtClean="0"/>
              <a:t>(f):</a:t>
            </a:r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772816"/>
            <a:ext cx="2448272" cy="1517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6 Conector recto de flecha"/>
          <p:cNvCxnSpPr/>
          <p:nvPr/>
        </p:nvCxnSpPr>
        <p:spPr>
          <a:xfrm flipV="1">
            <a:off x="4572000" y="3861048"/>
            <a:ext cx="0" cy="144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/>
          <p:nvPr/>
        </p:nvCxnSpPr>
        <p:spPr>
          <a:xfrm>
            <a:off x="3059832" y="5157192"/>
            <a:ext cx="29523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Rectángulo"/>
          <p:cNvSpPr/>
          <p:nvPr/>
        </p:nvSpPr>
        <p:spPr>
          <a:xfrm>
            <a:off x="4048125" y="4653136"/>
            <a:ext cx="1047750" cy="50405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2 Rectángulo"/>
          <p:cNvSpPr/>
          <p:nvPr/>
        </p:nvSpPr>
        <p:spPr>
          <a:xfrm>
            <a:off x="4604659" y="3758482"/>
            <a:ext cx="676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/>
              <a:t>G</a:t>
            </a:r>
            <a:r>
              <a:rPr lang="es-AR" baseline="-25000" dirty="0"/>
              <a:t>T</a:t>
            </a:r>
            <a:r>
              <a:rPr lang="es-AR" dirty="0"/>
              <a:t>(f)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4860032" y="5219908"/>
            <a:ext cx="1210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/>
              <a:t>3/4          f</a:t>
            </a:r>
            <a:endParaRPr lang="es-AR" dirty="0"/>
          </a:p>
        </p:txBody>
      </p:sp>
      <p:sp>
        <p:nvSpPr>
          <p:cNvPr id="14" name="13 Rectángulo"/>
          <p:cNvSpPr/>
          <p:nvPr/>
        </p:nvSpPr>
        <p:spPr>
          <a:xfrm>
            <a:off x="4558944" y="4293096"/>
            <a:ext cx="692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/>
              <a:t>(T)</a:t>
            </a:r>
            <a:r>
              <a:rPr lang="es-AR" baseline="30000" dirty="0" smtClean="0"/>
              <a:t>1/2</a:t>
            </a:r>
            <a:endParaRPr lang="es-AR" baseline="30000" dirty="0"/>
          </a:p>
        </p:txBody>
      </p:sp>
    </p:spTree>
    <p:extLst>
      <p:ext uri="{BB962C8B-B14F-4D97-AF65-F5344CB8AC3E}">
        <p14:creationId xmlns:p14="http://schemas.microsoft.com/office/powerpoint/2010/main" val="346955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39 – Criterio de Nyquist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16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AR" sz="1800" dirty="0" smtClean="0"/>
              <a:t>Si el filtro adaptado tiene la forma G</a:t>
            </a:r>
            <a:r>
              <a:rPr lang="es-AR" sz="1800" baseline="-25000" dirty="0" smtClean="0"/>
              <a:t>R</a:t>
            </a:r>
            <a:r>
              <a:rPr lang="es-AR" sz="1800" dirty="0" smtClean="0"/>
              <a:t>(f) = G</a:t>
            </a:r>
            <a:r>
              <a:rPr lang="es-AR" sz="1800" baseline="-25000" dirty="0" smtClean="0"/>
              <a:t>T</a:t>
            </a:r>
            <a:r>
              <a:rPr lang="es-AR" sz="1800" dirty="0" smtClean="0"/>
              <a:t>(f).H(f), entonces la transferencia total del sistema es X(f) = G</a:t>
            </a:r>
            <a:r>
              <a:rPr lang="es-AR" sz="1800" baseline="-25000" dirty="0" smtClean="0"/>
              <a:t>R</a:t>
            </a:r>
            <a:r>
              <a:rPr lang="es-AR" sz="1800" dirty="0" smtClean="0"/>
              <a:t>(f).G</a:t>
            </a:r>
            <a:r>
              <a:rPr lang="es-AR" sz="1800" baseline="-25000" dirty="0" smtClean="0"/>
              <a:t>T</a:t>
            </a:r>
            <a:r>
              <a:rPr lang="es-AR" sz="1800" dirty="0" smtClean="0"/>
              <a:t>(f).H(f) = G</a:t>
            </a:r>
            <a:r>
              <a:rPr lang="es-AR" sz="1800" baseline="-25000" dirty="0" smtClean="0"/>
              <a:t>T</a:t>
            </a:r>
            <a:r>
              <a:rPr lang="es-AR" sz="1800" baseline="30000" dirty="0" smtClean="0"/>
              <a:t>2</a:t>
            </a:r>
            <a:r>
              <a:rPr lang="es-AR" sz="1800" dirty="0" smtClean="0"/>
              <a:t>(f).H</a:t>
            </a:r>
            <a:r>
              <a:rPr lang="es-AR" sz="1800" baseline="30000" dirty="0" smtClean="0"/>
              <a:t>2</a:t>
            </a:r>
            <a:r>
              <a:rPr lang="es-AR" sz="1800" dirty="0" smtClean="0"/>
              <a:t>(f).</a:t>
            </a:r>
          </a:p>
          <a:p>
            <a:pPr marL="0" indent="0" algn="just">
              <a:buNone/>
            </a:pPr>
            <a:r>
              <a:rPr lang="es-AR" sz="1800" dirty="0" smtClean="0"/>
              <a:t>Obtenga gráficamente X(f) y plantee la condición de 0-ISI, que viene dada por el Criterio de Nyquist, para obtener </a:t>
            </a:r>
            <a:r>
              <a:rPr lang="es-AR" sz="1800" dirty="0" err="1" smtClean="0"/>
              <a:t>R</a:t>
            </a:r>
            <a:r>
              <a:rPr lang="es-AR" sz="1800" baseline="-25000" dirty="0" err="1" smtClean="0"/>
              <a:t>s</a:t>
            </a:r>
            <a:r>
              <a:rPr lang="es-AR" sz="1800" dirty="0" smtClean="0"/>
              <a:t>:</a:t>
            </a:r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 startAt="2"/>
            </a:pPr>
            <a:r>
              <a:rPr lang="es-AR" sz="1800" dirty="0" smtClean="0"/>
              <a:t>Repita el procedimiento modificando previamente G</a:t>
            </a:r>
            <a:r>
              <a:rPr lang="es-AR" sz="1800" baseline="-25000" dirty="0" smtClean="0"/>
              <a:t>T</a:t>
            </a:r>
            <a:r>
              <a:rPr lang="es-AR" sz="1800" dirty="0" smtClean="0"/>
              <a:t>(f) por aquel que permite sacar el máximo provecho a la transferencia del canal.</a:t>
            </a:r>
          </a:p>
          <a:p>
            <a:pPr algn="just"/>
            <a:r>
              <a:rPr lang="es-AR" sz="1800" dirty="0" smtClean="0"/>
              <a:t>Plantear en forma similar el </a:t>
            </a:r>
            <a:r>
              <a:rPr lang="es-AR" sz="1800" b="1" dirty="0" smtClean="0"/>
              <a:t>Ejercicio 13</a:t>
            </a:r>
            <a:r>
              <a:rPr lang="es-AR" sz="1800" dirty="0" smtClean="0"/>
              <a:t>.</a:t>
            </a:r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  <a:p>
            <a:pPr marL="342900" indent="-342900" algn="just">
              <a:buFont typeface="+mj-lt"/>
              <a:buAutoNum type="arabicParenR"/>
            </a:pPr>
            <a:endParaRPr lang="es-AR" sz="1800" dirty="0" smtClean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7" t="31771" r="29502" b="39323"/>
          <a:stretch/>
        </p:blipFill>
        <p:spPr bwMode="auto">
          <a:xfrm>
            <a:off x="1679711" y="3284984"/>
            <a:ext cx="5784577" cy="172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CuadroTexto"/>
              <p:cNvSpPr txBox="1"/>
              <p:nvPr/>
            </p:nvSpPr>
            <p:spPr>
              <a:xfrm>
                <a:off x="3132182" y="2492896"/>
                <a:ext cx="2879634" cy="8476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AR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=−∞</m:t>
                          </m:r>
                        </m:sub>
                        <m:sup>
                          <m:r>
                            <a:rPr lang="es-AR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s-AR" b="0" i="1" smtClean="0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𝑓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AR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  <m:r>
                            <a:rPr lang="es-AR" b="0" i="1" smtClean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s-AR" b="0" i="1" smtClean="0">
                              <a:latin typeface="Cambria Math"/>
                              <a:ea typeface="Cambria Math"/>
                            </a:rPr>
                            <m:t>𝑇</m:t>
                          </m:r>
                        </m:e>
                      </m:nary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</a:rPr>
                        <m:t>𝑐𝑡𝑒</m:t>
                      </m:r>
                      <m:r>
                        <a:rPr lang="es-AR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182" y="2492896"/>
                <a:ext cx="2879634" cy="84760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522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39 – Criterio de Nyquist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17</a:t>
            </a:fld>
            <a:endParaRPr lang="es-ES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7" t="31771" r="29502" b="39323"/>
          <a:stretch/>
        </p:blipFill>
        <p:spPr bwMode="auto">
          <a:xfrm>
            <a:off x="1718976" y="1268760"/>
            <a:ext cx="5784577" cy="172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" name="15 Grupo"/>
          <p:cNvGrpSpPr/>
          <p:nvPr/>
        </p:nvGrpSpPr>
        <p:grpSpPr>
          <a:xfrm>
            <a:off x="3419872" y="4293096"/>
            <a:ext cx="1800200" cy="1080120"/>
            <a:chOff x="3419872" y="3717032"/>
            <a:chExt cx="1800200" cy="1368152"/>
          </a:xfrm>
        </p:grpSpPr>
        <p:sp>
          <p:nvSpPr>
            <p:cNvPr id="10" name="9 Rectángulo"/>
            <p:cNvSpPr/>
            <p:nvPr/>
          </p:nvSpPr>
          <p:spPr>
            <a:xfrm>
              <a:off x="3707904" y="3717032"/>
              <a:ext cx="1224136" cy="136815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3419872" y="4365104"/>
              <a:ext cx="1800200" cy="7200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mtClean="0">
                  <a:solidFill>
                    <a:schemeClr val="bg1"/>
                  </a:solidFill>
                </a:rPr>
                <a:t>G</a:t>
              </a:r>
              <a:r>
                <a:rPr lang="es-AR" sz="1000" smtClean="0">
                  <a:solidFill>
                    <a:schemeClr val="bg1"/>
                  </a:solidFill>
                </a:rPr>
                <a:t>T</a:t>
              </a:r>
              <a:r>
                <a:rPr lang="es-AR" smtClean="0">
                  <a:solidFill>
                    <a:schemeClr val="bg1"/>
                  </a:solidFill>
                </a:rPr>
                <a:t>(f)</a:t>
              </a:r>
              <a:r>
                <a:rPr lang="es-AR" baseline="30000" smtClean="0">
                  <a:solidFill>
                    <a:schemeClr val="bg1"/>
                  </a:solidFill>
                </a:rPr>
                <a:t>2</a:t>
              </a:r>
              <a:r>
                <a:rPr lang="es-AR" smtClean="0">
                  <a:solidFill>
                    <a:schemeClr val="bg1"/>
                  </a:solidFill>
                </a:rPr>
                <a:t>.H(f)</a:t>
              </a:r>
              <a:r>
                <a:rPr lang="es-AR" baseline="30000" smtClean="0">
                  <a:solidFill>
                    <a:schemeClr val="bg1"/>
                  </a:solidFill>
                </a:rPr>
                <a:t>2</a:t>
              </a:r>
              <a:endParaRPr lang="es-AR" baseline="30000">
                <a:solidFill>
                  <a:schemeClr val="bg1"/>
                </a:solidFill>
              </a:endParaRPr>
            </a:p>
          </p:txBody>
        </p:sp>
      </p:grpSp>
      <p:cxnSp>
        <p:nvCxnSpPr>
          <p:cNvPr id="13" name="12 Conector recto de flecha"/>
          <p:cNvCxnSpPr/>
          <p:nvPr/>
        </p:nvCxnSpPr>
        <p:spPr>
          <a:xfrm>
            <a:off x="1013968" y="5369448"/>
            <a:ext cx="698477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CuadroTexto"/>
          <p:cNvSpPr txBox="1"/>
          <p:nvPr/>
        </p:nvSpPr>
        <p:spPr>
          <a:xfrm>
            <a:off x="251520" y="3203684"/>
            <a:ext cx="469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Para nuestra transferencia total del sistema:</a:t>
            </a:r>
            <a:endParaRPr lang="es-AR"/>
          </a:p>
        </p:txBody>
      </p:sp>
      <p:sp>
        <p:nvSpPr>
          <p:cNvPr id="14" name="24 CuadroTexto"/>
          <p:cNvSpPr txBox="1"/>
          <p:nvPr/>
        </p:nvSpPr>
        <p:spPr>
          <a:xfrm>
            <a:off x="4822334" y="392376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mtClean="0"/>
              <a:t>T</a:t>
            </a:r>
            <a:endParaRPr lang="es-AR"/>
          </a:p>
        </p:txBody>
      </p:sp>
      <p:sp>
        <p:nvSpPr>
          <p:cNvPr id="15" name="24 CuadroTexto"/>
          <p:cNvSpPr txBox="1"/>
          <p:nvPr/>
        </p:nvSpPr>
        <p:spPr>
          <a:xfrm>
            <a:off x="4918005" y="449982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mtClean="0"/>
              <a:t>T/2</a:t>
            </a:r>
            <a:endParaRPr lang="es-AR"/>
          </a:p>
        </p:txBody>
      </p:sp>
      <p:cxnSp>
        <p:nvCxnSpPr>
          <p:cNvPr id="17" name="16 Conector recto de flecha"/>
          <p:cNvCxnSpPr/>
          <p:nvPr/>
        </p:nvCxnSpPr>
        <p:spPr>
          <a:xfrm flipV="1">
            <a:off x="4319972" y="3861048"/>
            <a:ext cx="0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17 CuadroTexto"/>
          <p:cNvSpPr txBox="1"/>
          <p:nvPr/>
        </p:nvSpPr>
        <p:spPr>
          <a:xfrm>
            <a:off x="4211960" y="5435932"/>
            <a:ext cx="2937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0           ¾     Rs = 1/T = ¿?</a:t>
            </a:r>
            <a:endParaRPr lang="es-AR"/>
          </a:p>
        </p:txBody>
      </p:sp>
      <p:sp>
        <p:nvSpPr>
          <p:cNvPr id="19" name="24 CuadroTexto"/>
          <p:cNvSpPr txBox="1"/>
          <p:nvPr/>
        </p:nvSpPr>
        <p:spPr>
          <a:xfrm>
            <a:off x="7995622" y="5363924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mtClean="0"/>
              <a:t>f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648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39 – Criterio de Nyquist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18</a:t>
            </a:fld>
            <a:endParaRPr lang="es-ES"/>
          </a:p>
        </p:txBody>
      </p:sp>
      <p:grpSp>
        <p:nvGrpSpPr>
          <p:cNvPr id="16" name="15 Grupo"/>
          <p:cNvGrpSpPr/>
          <p:nvPr/>
        </p:nvGrpSpPr>
        <p:grpSpPr>
          <a:xfrm>
            <a:off x="3419872" y="4293096"/>
            <a:ext cx="1800200" cy="1080120"/>
            <a:chOff x="3419872" y="3717032"/>
            <a:chExt cx="1800200" cy="1368152"/>
          </a:xfrm>
        </p:grpSpPr>
        <p:sp>
          <p:nvSpPr>
            <p:cNvPr id="10" name="9 Rectángulo"/>
            <p:cNvSpPr/>
            <p:nvPr/>
          </p:nvSpPr>
          <p:spPr>
            <a:xfrm>
              <a:off x="3707904" y="3717032"/>
              <a:ext cx="1224136" cy="136815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3419872" y="4365104"/>
              <a:ext cx="1800200" cy="7200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mtClean="0">
                  <a:solidFill>
                    <a:schemeClr val="bg1"/>
                  </a:solidFill>
                </a:rPr>
                <a:t>G</a:t>
              </a:r>
              <a:r>
                <a:rPr lang="es-AR" sz="1000" smtClean="0">
                  <a:solidFill>
                    <a:schemeClr val="bg1"/>
                  </a:solidFill>
                </a:rPr>
                <a:t>T</a:t>
              </a:r>
              <a:r>
                <a:rPr lang="es-AR" smtClean="0">
                  <a:solidFill>
                    <a:schemeClr val="bg1"/>
                  </a:solidFill>
                </a:rPr>
                <a:t>(f)</a:t>
              </a:r>
              <a:r>
                <a:rPr lang="es-AR" baseline="30000" smtClean="0">
                  <a:solidFill>
                    <a:schemeClr val="bg1"/>
                  </a:solidFill>
                </a:rPr>
                <a:t>2</a:t>
              </a:r>
              <a:r>
                <a:rPr lang="es-AR" smtClean="0">
                  <a:solidFill>
                    <a:schemeClr val="bg1"/>
                  </a:solidFill>
                </a:rPr>
                <a:t>.H(f)</a:t>
              </a:r>
              <a:r>
                <a:rPr lang="es-AR" baseline="30000" smtClean="0">
                  <a:solidFill>
                    <a:schemeClr val="bg1"/>
                  </a:solidFill>
                </a:rPr>
                <a:t>2</a:t>
              </a:r>
              <a:endParaRPr lang="es-AR" baseline="30000">
                <a:solidFill>
                  <a:schemeClr val="bg1"/>
                </a:solidFill>
              </a:endParaRPr>
            </a:p>
          </p:txBody>
        </p:sp>
      </p:grpSp>
      <p:cxnSp>
        <p:nvCxnSpPr>
          <p:cNvPr id="13" name="12 Conector recto de flecha"/>
          <p:cNvCxnSpPr/>
          <p:nvPr/>
        </p:nvCxnSpPr>
        <p:spPr>
          <a:xfrm>
            <a:off x="1013968" y="5369448"/>
            <a:ext cx="698477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16 Grupo"/>
          <p:cNvGrpSpPr/>
          <p:nvPr/>
        </p:nvGrpSpPr>
        <p:grpSpPr>
          <a:xfrm>
            <a:off x="4932040" y="4293096"/>
            <a:ext cx="1800200" cy="1080120"/>
            <a:chOff x="3419872" y="3717032"/>
            <a:chExt cx="1800200" cy="1368152"/>
          </a:xfrm>
          <a:solidFill>
            <a:schemeClr val="accent3">
              <a:lumMod val="75000"/>
            </a:schemeClr>
          </a:solidFill>
        </p:grpSpPr>
        <p:sp>
          <p:nvSpPr>
            <p:cNvPr id="18" name="17 Rectángulo"/>
            <p:cNvSpPr/>
            <p:nvPr/>
          </p:nvSpPr>
          <p:spPr>
            <a:xfrm>
              <a:off x="3707904" y="3717032"/>
              <a:ext cx="1224136" cy="136815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9" name="18 Rectángulo"/>
            <p:cNvSpPr/>
            <p:nvPr/>
          </p:nvSpPr>
          <p:spPr>
            <a:xfrm>
              <a:off x="3419872" y="4365104"/>
              <a:ext cx="1800200" cy="7200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mtClean="0">
                  <a:solidFill>
                    <a:schemeClr val="bg1"/>
                  </a:solidFill>
                </a:rPr>
                <a:t>G</a:t>
              </a:r>
              <a:r>
                <a:rPr lang="es-AR" sz="1000" smtClean="0">
                  <a:solidFill>
                    <a:schemeClr val="bg1"/>
                  </a:solidFill>
                </a:rPr>
                <a:t>T</a:t>
              </a:r>
              <a:r>
                <a:rPr lang="es-AR" smtClean="0">
                  <a:solidFill>
                    <a:schemeClr val="bg1"/>
                  </a:solidFill>
                </a:rPr>
                <a:t>(f)</a:t>
              </a:r>
              <a:r>
                <a:rPr lang="es-AR" baseline="30000" smtClean="0">
                  <a:solidFill>
                    <a:schemeClr val="bg1"/>
                  </a:solidFill>
                </a:rPr>
                <a:t>2</a:t>
              </a:r>
              <a:r>
                <a:rPr lang="es-AR" smtClean="0">
                  <a:solidFill>
                    <a:schemeClr val="bg1"/>
                  </a:solidFill>
                </a:rPr>
                <a:t>.H(f)</a:t>
              </a:r>
              <a:r>
                <a:rPr lang="es-AR" baseline="30000" smtClean="0">
                  <a:solidFill>
                    <a:schemeClr val="bg1"/>
                  </a:solidFill>
                </a:rPr>
                <a:t>2</a:t>
              </a:r>
              <a:endParaRPr lang="es-AR" baseline="3000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19 Grupo"/>
          <p:cNvGrpSpPr/>
          <p:nvPr/>
        </p:nvGrpSpPr>
        <p:grpSpPr>
          <a:xfrm>
            <a:off x="1907704" y="4293096"/>
            <a:ext cx="1800200" cy="1080120"/>
            <a:chOff x="3419872" y="3717032"/>
            <a:chExt cx="1800200" cy="1368152"/>
          </a:xfrm>
          <a:solidFill>
            <a:srgbClr val="C00000"/>
          </a:solidFill>
        </p:grpSpPr>
        <p:sp>
          <p:nvSpPr>
            <p:cNvPr id="21" name="20 Rectángulo"/>
            <p:cNvSpPr/>
            <p:nvPr/>
          </p:nvSpPr>
          <p:spPr>
            <a:xfrm>
              <a:off x="3707904" y="3717032"/>
              <a:ext cx="1224136" cy="136815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2" name="21 Rectángulo"/>
            <p:cNvSpPr/>
            <p:nvPr/>
          </p:nvSpPr>
          <p:spPr>
            <a:xfrm>
              <a:off x="3419872" y="4365104"/>
              <a:ext cx="1800200" cy="7200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mtClean="0">
                  <a:solidFill>
                    <a:schemeClr val="bg1"/>
                  </a:solidFill>
                </a:rPr>
                <a:t>G</a:t>
              </a:r>
              <a:r>
                <a:rPr lang="es-AR" sz="1000" smtClean="0">
                  <a:solidFill>
                    <a:schemeClr val="bg1"/>
                  </a:solidFill>
                </a:rPr>
                <a:t>T</a:t>
              </a:r>
              <a:r>
                <a:rPr lang="es-AR" smtClean="0">
                  <a:solidFill>
                    <a:schemeClr val="bg1"/>
                  </a:solidFill>
                </a:rPr>
                <a:t>(f)</a:t>
              </a:r>
              <a:r>
                <a:rPr lang="es-AR" baseline="30000" smtClean="0">
                  <a:solidFill>
                    <a:schemeClr val="bg1"/>
                  </a:solidFill>
                </a:rPr>
                <a:t>2</a:t>
              </a:r>
              <a:r>
                <a:rPr lang="es-AR" smtClean="0">
                  <a:solidFill>
                    <a:schemeClr val="bg1"/>
                  </a:solidFill>
                </a:rPr>
                <a:t>.H(f)</a:t>
              </a:r>
              <a:r>
                <a:rPr lang="es-AR" baseline="30000" smtClean="0">
                  <a:solidFill>
                    <a:schemeClr val="bg1"/>
                  </a:solidFill>
                </a:rPr>
                <a:t>2</a:t>
              </a:r>
              <a:endParaRPr lang="es-AR" baseline="30000">
                <a:solidFill>
                  <a:schemeClr val="bg1"/>
                </a:solidFill>
              </a:endParaRPr>
            </a:p>
          </p:txBody>
        </p:sp>
      </p:grpSp>
      <p:cxnSp>
        <p:nvCxnSpPr>
          <p:cNvPr id="12" name="11 Conector recto"/>
          <p:cNvCxnSpPr/>
          <p:nvPr/>
        </p:nvCxnSpPr>
        <p:spPr>
          <a:xfrm>
            <a:off x="1115616" y="4293096"/>
            <a:ext cx="662473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7" t="31771" r="29502" b="39323"/>
          <a:stretch/>
        </p:blipFill>
        <p:spPr bwMode="auto">
          <a:xfrm>
            <a:off x="1718976" y="1268760"/>
            <a:ext cx="5784577" cy="172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24 CuadroTexto"/>
          <p:cNvSpPr txBox="1"/>
          <p:nvPr/>
        </p:nvSpPr>
        <p:spPr>
          <a:xfrm>
            <a:off x="251520" y="3203684"/>
            <a:ext cx="469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Para nuestra transferencia total del sistema:</a:t>
            </a:r>
            <a:endParaRPr lang="es-AR"/>
          </a:p>
        </p:txBody>
      </p:sp>
      <p:sp>
        <p:nvSpPr>
          <p:cNvPr id="26" name="24 CuadroTexto"/>
          <p:cNvSpPr txBox="1"/>
          <p:nvPr/>
        </p:nvSpPr>
        <p:spPr>
          <a:xfrm>
            <a:off x="4822334" y="392376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mtClean="0"/>
              <a:t>T</a:t>
            </a:r>
            <a:endParaRPr lang="es-AR"/>
          </a:p>
        </p:txBody>
      </p:sp>
      <p:sp>
        <p:nvSpPr>
          <p:cNvPr id="27" name="24 CuadroTexto"/>
          <p:cNvSpPr txBox="1"/>
          <p:nvPr/>
        </p:nvSpPr>
        <p:spPr>
          <a:xfrm>
            <a:off x="4918005" y="449982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mtClean="0"/>
              <a:t>T/2</a:t>
            </a:r>
            <a:endParaRPr lang="es-AR"/>
          </a:p>
        </p:txBody>
      </p:sp>
      <p:sp>
        <p:nvSpPr>
          <p:cNvPr id="28" name="27 CuadroTexto"/>
          <p:cNvSpPr txBox="1"/>
          <p:nvPr/>
        </p:nvSpPr>
        <p:spPr>
          <a:xfrm>
            <a:off x="4211960" y="5435932"/>
            <a:ext cx="2937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0           ¾     Rs = 1/T = ¿?</a:t>
            </a:r>
            <a:endParaRPr lang="es-AR"/>
          </a:p>
        </p:txBody>
      </p:sp>
      <p:cxnSp>
        <p:nvCxnSpPr>
          <p:cNvPr id="29" name="28 Conector recto"/>
          <p:cNvCxnSpPr/>
          <p:nvPr/>
        </p:nvCxnSpPr>
        <p:spPr>
          <a:xfrm flipV="1">
            <a:off x="5809784" y="4068688"/>
            <a:ext cx="0" cy="130452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 flipV="1">
            <a:off x="2812744" y="4077072"/>
            <a:ext cx="0" cy="130452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 de flecha"/>
          <p:cNvCxnSpPr>
            <a:stCxn id="7" idx="2"/>
          </p:cNvCxnSpPr>
          <p:nvPr/>
        </p:nvCxnSpPr>
        <p:spPr>
          <a:xfrm flipV="1">
            <a:off x="4319972" y="3861048"/>
            <a:ext cx="0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24 CuadroTexto"/>
          <p:cNvSpPr txBox="1"/>
          <p:nvPr/>
        </p:nvSpPr>
        <p:spPr>
          <a:xfrm>
            <a:off x="7995622" y="5363924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mtClean="0"/>
              <a:t>f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61631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39 – Criterio de Nyquist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19</a:t>
            </a:fld>
            <a:endParaRPr lang="es-ES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7" t="31771" r="29502" b="39323"/>
          <a:stretch/>
        </p:blipFill>
        <p:spPr bwMode="auto">
          <a:xfrm>
            <a:off x="1718976" y="1268760"/>
            <a:ext cx="5784577" cy="172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3" name="12 Conector recto de flecha"/>
          <p:cNvCxnSpPr/>
          <p:nvPr/>
        </p:nvCxnSpPr>
        <p:spPr>
          <a:xfrm>
            <a:off x="1013968" y="5369448"/>
            <a:ext cx="698477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CuadroTexto"/>
          <p:cNvSpPr txBox="1"/>
          <p:nvPr/>
        </p:nvSpPr>
        <p:spPr>
          <a:xfrm>
            <a:off x="142337" y="3203684"/>
            <a:ext cx="8892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mtClean="0"/>
              <a:t>Para resolver el punto (2), planteamos la siguiente función G</a:t>
            </a:r>
            <a:r>
              <a:rPr lang="es-AR" baseline="-25000" smtClean="0"/>
              <a:t>T</a:t>
            </a:r>
            <a:r>
              <a:rPr lang="es-AR" smtClean="0"/>
              <a:t>(f) que aprovecha el ancho de banda y «ecualiza» la transferencia del canal:</a:t>
            </a:r>
            <a:endParaRPr lang="es-AR"/>
          </a:p>
        </p:txBody>
      </p:sp>
      <p:sp>
        <p:nvSpPr>
          <p:cNvPr id="14" name="24 CuadroTexto"/>
          <p:cNvSpPr txBox="1"/>
          <p:nvPr/>
        </p:nvSpPr>
        <p:spPr>
          <a:xfrm>
            <a:off x="4254997" y="4005652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mtClean="0"/>
              <a:t>(2T)</a:t>
            </a:r>
            <a:r>
              <a:rPr lang="es-AR" baseline="30000" smtClean="0"/>
              <a:t>1/2</a:t>
            </a:r>
            <a:endParaRPr lang="es-AR" baseline="30000"/>
          </a:p>
        </p:txBody>
      </p:sp>
      <p:sp>
        <p:nvSpPr>
          <p:cNvPr id="15" name="24 CuadroTexto"/>
          <p:cNvSpPr txBox="1"/>
          <p:nvPr/>
        </p:nvSpPr>
        <p:spPr>
          <a:xfrm>
            <a:off x="3619949" y="4499828"/>
            <a:ext cx="124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mtClean="0"/>
              <a:t>           T</a:t>
            </a:r>
            <a:r>
              <a:rPr lang="es-AR" baseline="30000" smtClean="0"/>
              <a:t>1/2</a:t>
            </a:r>
            <a:endParaRPr lang="es-AR" baseline="30000"/>
          </a:p>
        </p:txBody>
      </p:sp>
      <p:cxnSp>
        <p:nvCxnSpPr>
          <p:cNvPr id="17" name="16 Conector recto de flecha"/>
          <p:cNvCxnSpPr/>
          <p:nvPr/>
        </p:nvCxnSpPr>
        <p:spPr>
          <a:xfrm flipV="1">
            <a:off x="4319972" y="3861048"/>
            <a:ext cx="0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17 CuadroTexto"/>
          <p:cNvSpPr txBox="1"/>
          <p:nvPr/>
        </p:nvSpPr>
        <p:spPr>
          <a:xfrm>
            <a:off x="4211960" y="5435932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0     ½       1</a:t>
            </a:r>
            <a:endParaRPr lang="es-AR"/>
          </a:p>
        </p:txBody>
      </p:sp>
      <p:sp>
        <p:nvSpPr>
          <p:cNvPr id="3" name="2 Rectángulo"/>
          <p:cNvSpPr/>
          <p:nvPr/>
        </p:nvSpPr>
        <p:spPr>
          <a:xfrm>
            <a:off x="3663807" y="4800964"/>
            <a:ext cx="1336086" cy="5684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Rectángulo"/>
          <p:cNvSpPr/>
          <p:nvPr/>
        </p:nvSpPr>
        <p:spPr>
          <a:xfrm rot="16200000">
            <a:off x="3041859" y="4548914"/>
            <a:ext cx="1080120" cy="5684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Rectángulo"/>
          <p:cNvSpPr/>
          <p:nvPr/>
        </p:nvSpPr>
        <p:spPr>
          <a:xfrm rot="16200000">
            <a:off x="4584498" y="4535267"/>
            <a:ext cx="1080120" cy="5684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4 CuadroTexto"/>
          <p:cNvSpPr txBox="1"/>
          <p:nvPr/>
        </p:nvSpPr>
        <p:spPr>
          <a:xfrm>
            <a:off x="7995622" y="5363924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mtClean="0"/>
              <a:t>f</a:t>
            </a:r>
            <a:endParaRPr lang="es-AR"/>
          </a:p>
        </p:txBody>
      </p:sp>
      <p:sp>
        <p:nvSpPr>
          <p:cNvPr id="22" name="21 CuadroTexto"/>
          <p:cNvSpPr txBox="1"/>
          <p:nvPr/>
        </p:nvSpPr>
        <p:spPr>
          <a:xfrm>
            <a:off x="121152" y="5867980"/>
            <a:ext cx="889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mtClean="0"/>
              <a:t>Luego procedemos como en el punto (1), obteniendo la transferencia total y Rs.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47902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40 – Modelo simple de ISI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20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es-AR" sz="1800" dirty="0"/>
              <a:t>S</a:t>
            </a:r>
            <a:r>
              <a:rPr lang="es-AR" sz="1800" dirty="0" smtClean="0"/>
              <a:t>ea la entrada al receptor 2-PAM</a:t>
            </a:r>
          </a:p>
          <a:p>
            <a:pPr marL="0" indent="0" algn="ctr">
              <a:buNone/>
            </a:pPr>
            <a:r>
              <a:rPr lang="es-AR" sz="1800" dirty="0" err="1" smtClean="0"/>
              <a:t>x</a:t>
            </a:r>
            <a:r>
              <a:rPr lang="es-AR" sz="1800" baseline="-25000" dirty="0" err="1" smtClean="0"/>
              <a:t>k</a:t>
            </a:r>
            <a:r>
              <a:rPr lang="es-AR" sz="1800" dirty="0" smtClean="0"/>
              <a:t> = </a:t>
            </a:r>
            <a:r>
              <a:rPr lang="es-AR" sz="1800" dirty="0" err="1" smtClean="0"/>
              <a:t>A</a:t>
            </a:r>
            <a:r>
              <a:rPr lang="es-AR" sz="1800" baseline="-25000" dirty="0" err="1" smtClean="0"/>
              <a:t>k</a:t>
            </a:r>
            <a:r>
              <a:rPr lang="es-AR" sz="1800" dirty="0" smtClean="0"/>
              <a:t> + </a:t>
            </a:r>
            <a:r>
              <a:rPr lang="es-AR" sz="1800" dirty="0" err="1" smtClean="0"/>
              <a:t>n</a:t>
            </a:r>
            <a:r>
              <a:rPr lang="es-AR" sz="1800" baseline="-25000" dirty="0" err="1" smtClean="0"/>
              <a:t>k</a:t>
            </a:r>
            <a:r>
              <a:rPr lang="es-AR" sz="1800" dirty="0" smtClean="0"/>
              <a:t> + </a:t>
            </a:r>
            <a:r>
              <a:rPr lang="es-AR" sz="1800" dirty="0" err="1" smtClean="0"/>
              <a:t>v</a:t>
            </a:r>
            <a:r>
              <a:rPr lang="es-AR" sz="1800" baseline="-25000" dirty="0" err="1" smtClean="0"/>
              <a:t>k</a:t>
            </a:r>
            <a:r>
              <a:rPr lang="es-AR" sz="1800" baseline="-25000" dirty="0" smtClean="0"/>
              <a:t>			</a:t>
            </a:r>
            <a:r>
              <a:rPr lang="es-AR" sz="1800" dirty="0" smtClean="0"/>
              <a:t> 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err="1" smtClean="0"/>
              <a:t>A</a:t>
            </a:r>
            <a:r>
              <a:rPr lang="es-AR" sz="1800" baseline="-25000" dirty="0" err="1" smtClean="0"/>
              <a:t>k</a:t>
            </a:r>
            <a:r>
              <a:rPr lang="es-AR" sz="1800" dirty="0" smtClean="0"/>
              <a:t> </a:t>
            </a:r>
            <a:r>
              <a:rPr lang="es-AR" sz="1800" dirty="0"/>
              <a:t>= ±1 (</a:t>
            </a:r>
            <a:r>
              <a:rPr lang="es-AR" sz="1800" dirty="0" err="1" smtClean="0"/>
              <a:t>equiprobable</a:t>
            </a:r>
            <a:r>
              <a:rPr lang="es-AR" sz="1800" dirty="0" smtClean="0"/>
              <a:t>)</a:t>
            </a:r>
            <a:r>
              <a:rPr lang="es-AR" sz="1800" dirty="0"/>
              <a:t>	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err="1" smtClean="0"/>
              <a:t>n</a:t>
            </a:r>
            <a:r>
              <a:rPr lang="es-AR" sz="1800" baseline="-25000" dirty="0" err="1" smtClean="0"/>
              <a:t>k</a:t>
            </a:r>
            <a:r>
              <a:rPr lang="es-AR" sz="1800" dirty="0" smtClean="0"/>
              <a:t> = N(0,</a:t>
            </a:r>
            <a:r>
              <a:rPr lang="el-GR" sz="1800" dirty="0" smtClean="0">
                <a:latin typeface="Cambria Math"/>
                <a:ea typeface="Cambria Math"/>
              </a:rPr>
              <a:t>σ</a:t>
            </a:r>
            <a:r>
              <a:rPr lang="es-AR" sz="1800" baseline="-25000" dirty="0" smtClean="0">
                <a:latin typeface="Cambria Math"/>
                <a:ea typeface="Cambria Math"/>
              </a:rPr>
              <a:t>n2</a:t>
            </a:r>
            <a:r>
              <a:rPr lang="es-AR" sz="1800" dirty="0" smtClean="0">
                <a:latin typeface="Cambria Math"/>
                <a:ea typeface="Cambria Math"/>
              </a:rPr>
              <a:t>)</a:t>
            </a:r>
            <a:endParaRPr lang="es-AR" sz="1800" baseline="-250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	-1/2 	p = 1/4</a:t>
            </a:r>
          </a:p>
          <a:p>
            <a:pPr marL="0" indent="0" algn="just">
              <a:buNone/>
            </a:pPr>
            <a:r>
              <a:rPr lang="es-AR" sz="1800" dirty="0" err="1" smtClean="0"/>
              <a:t>v</a:t>
            </a:r>
            <a:r>
              <a:rPr lang="es-AR" sz="1800" baseline="-25000" dirty="0" err="1" smtClean="0"/>
              <a:t>k</a:t>
            </a:r>
            <a:r>
              <a:rPr lang="es-AR" sz="1800" dirty="0" smtClean="0"/>
              <a:t> =         0	p = 1/2</a:t>
            </a:r>
          </a:p>
          <a:p>
            <a:pPr marL="0" indent="0" algn="just">
              <a:buNone/>
            </a:pPr>
            <a:r>
              <a:rPr lang="es-AR" sz="1800" dirty="0"/>
              <a:t>	</a:t>
            </a:r>
            <a:r>
              <a:rPr lang="es-AR" sz="1800" dirty="0" smtClean="0"/>
              <a:t>1/2 	</a:t>
            </a:r>
            <a:r>
              <a:rPr lang="es-AR" sz="1800" smtClean="0"/>
              <a:t>p = 1/4</a:t>
            </a: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r>
              <a:rPr lang="es-AR" sz="1800" dirty="0" smtClean="0"/>
              <a:t>Plantee la probabilidad </a:t>
            </a:r>
            <a:r>
              <a:rPr lang="es-AR" sz="1800" dirty="0"/>
              <a:t>de error  </a:t>
            </a:r>
            <a:endParaRPr lang="es-AR" sz="1800" dirty="0" smtClean="0"/>
          </a:p>
          <a:p>
            <a:pPr marL="0" indent="0" algn="ctr">
              <a:buNone/>
            </a:pPr>
            <a:r>
              <a:rPr lang="es-AR" sz="1800" dirty="0" smtClean="0"/>
              <a:t>Pe = </a:t>
            </a:r>
            <a:r>
              <a:rPr lang="es-AR" sz="1800" dirty="0"/>
              <a:t>p(s0/s1).p(s1) + p(s1/s0).</a:t>
            </a:r>
            <a:r>
              <a:rPr lang="es-AR" sz="1800"/>
              <a:t>p(s0</a:t>
            </a:r>
            <a:r>
              <a:rPr lang="es-AR" sz="1800" smtClean="0"/>
              <a:t>)</a:t>
            </a:r>
            <a:endParaRPr lang="es-AR" sz="1800" dirty="0"/>
          </a:p>
          <a:p>
            <a:pPr marL="0" indent="0" algn="just">
              <a:buNone/>
            </a:pPr>
            <a:r>
              <a:rPr lang="es-AR" sz="1800" dirty="0" smtClean="0"/>
              <a:t> </a:t>
            </a:r>
          </a:p>
          <a:p>
            <a:pPr marL="0" indent="0" algn="just">
              <a:buNone/>
            </a:pPr>
            <a:endParaRPr lang="es-AR" sz="1800" dirty="0" smtClean="0"/>
          </a:p>
        </p:txBody>
      </p:sp>
      <p:sp>
        <p:nvSpPr>
          <p:cNvPr id="3" name="2 Abrir llave"/>
          <p:cNvSpPr/>
          <p:nvPr/>
        </p:nvSpPr>
        <p:spPr>
          <a:xfrm>
            <a:off x="1187624" y="3645024"/>
            <a:ext cx="72008" cy="11521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CuadroTexto"/>
          <p:cNvSpPr txBox="1"/>
          <p:nvPr/>
        </p:nvSpPr>
        <p:spPr>
          <a:xfrm>
            <a:off x="3995936" y="3131676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Símbolo 2-PAM muestreado</a:t>
            </a:r>
            <a:endParaRPr lang="es-AR" dirty="0"/>
          </a:p>
        </p:txBody>
      </p:sp>
      <p:sp>
        <p:nvSpPr>
          <p:cNvPr id="9" name="8 CuadroTexto"/>
          <p:cNvSpPr txBox="1"/>
          <p:nvPr/>
        </p:nvSpPr>
        <p:spPr>
          <a:xfrm>
            <a:off x="4355976" y="2723378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Ruido muestreado</a:t>
            </a:r>
            <a:endParaRPr lang="es-AR" dirty="0"/>
          </a:p>
        </p:txBody>
      </p:sp>
      <p:sp>
        <p:nvSpPr>
          <p:cNvPr id="10" name="9 CuadroTexto"/>
          <p:cNvSpPr txBox="1"/>
          <p:nvPr/>
        </p:nvSpPr>
        <p:spPr>
          <a:xfrm>
            <a:off x="4716016" y="2339588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ISI muestreada</a:t>
            </a:r>
            <a:endParaRPr lang="es-AR" dirty="0"/>
          </a:p>
        </p:txBody>
      </p:sp>
      <p:cxnSp>
        <p:nvCxnSpPr>
          <p:cNvPr id="12" name="11 Conector angular"/>
          <p:cNvCxnSpPr>
            <a:endCxn id="7" idx="1"/>
          </p:cNvCxnSpPr>
          <p:nvPr/>
        </p:nvCxnSpPr>
        <p:spPr>
          <a:xfrm rot="16200000" flipH="1">
            <a:off x="3080157" y="2400563"/>
            <a:ext cx="1255494" cy="57606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angular"/>
          <p:cNvCxnSpPr>
            <a:endCxn id="9" idx="1"/>
          </p:cNvCxnSpPr>
          <p:nvPr/>
        </p:nvCxnSpPr>
        <p:spPr>
          <a:xfrm rot="16200000" flipH="1">
            <a:off x="3716356" y="2268423"/>
            <a:ext cx="847195" cy="43204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angular"/>
          <p:cNvCxnSpPr>
            <a:endCxn id="10" idx="1"/>
          </p:cNvCxnSpPr>
          <p:nvPr/>
        </p:nvCxnSpPr>
        <p:spPr>
          <a:xfrm rot="16200000" flipH="1">
            <a:off x="4322295" y="2130532"/>
            <a:ext cx="463407" cy="32403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90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40 – Modelo simple de ISI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21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dirty="0" smtClean="0"/>
              <a:t>En este modelo, el símbolo S0 es afectado no sólo por el ruido sino por ISI. Podemos considerar entonces que existen 3 valores discretos posibles para S0, y modificar los límites correspondientes al evaluar la función Q para estimar la probabilidad de error en presencia de ruido:</a:t>
            </a:r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r>
              <a:rPr lang="es-AR" sz="1800" dirty="0" smtClean="0"/>
              <a:t>Para obtener la probabilidad de error de s</a:t>
            </a:r>
            <a:r>
              <a:rPr lang="es-AR" sz="1800" baseline="-25000" dirty="0" smtClean="0"/>
              <a:t>0</a:t>
            </a:r>
            <a:r>
              <a:rPr lang="es-AR" sz="1800" dirty="0" smtClean="0"/>
              <a:t> teniendo en cuenta los 3 posibles valores de ISI, promediamos las respectivas Pe para v = -1/2, 0 y +1/2, es decir:</a:t>
            </a:r>
          </a:p>
          <a:p>
            <a:pPr marL="0" indent="0" algn="ctr">
              <a:buNone/>
            </a:pPr>
            <a:r>
              <a:rPr lang="es-AR" sz="1400" dirty="0" smtClean="0"/>
              <a:t>P(s</a:t>
            </a:r>
            <a:r>
              <a:rPr lang="es-AR" sz="1400" baseline="-25000" dirty="0" smtClean="0"/>
              <a:t>1</a:t>
            </a:r>
            <a:r>
              <a:rPr lang="es-AR" sz="1400" dirty="0" smtClean="0"/>
              <a:t>/s</a:t>
            </a:r>
            <a:r>
              <a:rPr lang="es-AR" sz="1400" baseline="-25000" dirty="0" smtClean="0"/>
              <a:t>0</a:t>
            </a:r>
            <a:r>
              <a:rPr lang="es-AR" sz="1400" dirty="0" smtClean="0"/>
              <a:t>) = </a:t>
            </a:r>
            <a:r>
              <a:rPr lang="es-AR" sz="1400" dirty="0" smtClean="0">
                <a:solidFill>
                  <a:srgbClr val="FF0000"/>
                </a:solidFill>
              </a:rPr>
              <a:t>P(s</a:t>
            </a:r>
            <a:r>
              <a:rPr lang="es-AR" sz="1400" baseline="-25000" dirty="0" smtClean="0">
                <a:solidFill>
                  <a:srgbClr val="FF0000"/>
                </a:solidFill>
              </a:rPr>
              <a:t>1</a:t>
            </a:r>
            <a:r>
              <a:rPr lang="es-AR" sz="1400" dirty="0" smtClean="0">
                <a:solidFill>
                  <a:srgbClr val="FF0000"/>
                </a:solidFill>
              </a:rPr>
              <a:t>/s</a:t>
            </a:r>
            <a:r>
              <a:rPr lang="es-AR" sz="1400" baseline="-25000" dirty="0" smtClean="0">
                <a:solidFill>
                  <a:srgbClr val="FF0000"/>
                </a:solidFill>
              </a:rPr>
              <a:t>0</a:t>
            </a:r>
            <a:r>
              <a:rPr lang="es-AR" sz="1400" dirty="0" smtClean="0">
                <a:solidFill>
                  <a:srgbClr val="FF0000"/>
                </a:solidFill>
              </a:rPr>
              <a:t>,v=-1/2).P(v=-1/2) </a:t>
            </a:r>
            <a:r>
              <a:rPr lang="es-AR" sz="1400" dirty="0"/>
              <a:t>+ </a:t>
            </a:r>
            <a:r>
              <a:rPr lang="es-AR" sz="1400" dirty="0" smtClean="0">
                <a:solidFill>
                  <a:srgbClr val="00B050"/>
                </a:solidFill>
              </a:rPr>
              <a:t>P(s</a:t>
            </a:r>
            <a:r>
              <a:rPr lang="es-AR" sz="1400" baseline="-25000" dirty="0" smtClean="0">
                <a:solidFill>
                  <a:srgbClr val="00B050"/>
                </a:solidFill>
              </a:rPr>
              <a:t>1</a:t>
            </a:r>
            <a:r>
              <a:rPr lang="es-AR" sz="1400" dirty="0" smtClean="0">
                <a:solidFill>
                  <a:srgbClr val="00B050"/>
                </a:solidFill>
              </a:rPr>
              <a:t>/s</a:t>
            </a:r>
            <a:r>
              <a:rPr lang="es-AR" sz="1400" baseline="-25000" dirty="0" smtClean="0">
                <a:solidFill>
                  <a:srgbClr val="00B050"/>
                </a:solidFill>
              </a:rPr>
              <a:t>0</a:t>
            </a:r>
            <a:r>
              <a:rPr lang="es-AR" sz="1400" dirty="0" smtClean="0">
                <a:solidFill>
                  <a:srgbClr val="00B050"/>
                </a:solidFill>
              </a:rPr>
              <a:t>,v=0).P(v=0) </a:t>
            </a:r>
            <a:r>
              <a:rPr lang="es-AR" sz="1400" dirty="0" smtClean="0"/>
              <a:t>+</a:t>
            </a:r>
            <a:r>
              <a:rPr lang="es-AR" sz="1400" dirty="0"/>
              <a:t> </a:t>
            </a:r>
            <a:r>
              <a:rPr lang="es-AR" sz="1400" dirty="0" smtClean="0"/>
              <a:t>P(s</a:t>
            </a:r>
            <a:r>
              <a:rPr lang="es-AR" sz="1400" baseline="-25000" dirty="0" smtClean="0"/>
              <a:t>1</a:t>
            </a:r>
            <a:r>
              <a:rPr lang="es-AR" sz="1400" dirty="0" smtClean="0"/>
              <a:t>/s</a:t>
            </a:r>
            <a:r>
              <a:rPr lang="es-AR" sz="1400" baseline="-25000" dirty="0" smtClean="0"/>
              <a:t>0</a:t>
            </a:r>
            <a:r>
              <a:rPr lang="es-AR" sz="1400" dirty="0" smtClean="0"/>
              <a:t>,v=1/2</a:t>
            </a:r>
            <a:r>
              <a:rPr lang="es-AR" sz="1400" dirty="0"/>
              <a:t>).</a:t>
            </a:r>
            <a:r>
              <a:rPr lang="es-AR" sz="1400" dirty="0" smtClean="0"/>
              <a:t>P(v=1/2</a:t>
            </a:r>
            <a:r>
              <a:rPr lang="es-AR" sz="1400" dirty="0"/>
              <a:t>) </a:t>
            </a:r>
            <a:endParaRPr lang="es-AR" sz="1400" dirty="0" smtClean="0"/>
          </a:p>
          <a:p>
            <a:pPr marL="0" indent="0" algn="just">
              <a:buNone/>
            </a:pPr>
            <a:endParaRPr lang="es-AR" sz="1800" dirty="0" smtClean="0"/>
          </a:p>
          <a:p>
            <a:pPr marL="0" indent="0" algn="just">
              <a:buNone/>
            </a:pPr>
            <a:endParaRPr lang="es-AR" sz="1800" dirty="0" smtClean="0"/>
          </a:p>
        </p:txBody>
      </p:sp>
      <p:cxnSp>
        <p:nvCxnSpPr>
          <p:cNvPr id="13" name="12 Conector recto de flecha"/>
          <p:cNvCxnSpPr/>
          <p:nvPr/>
        </p:nvCxnSpPr>
        <p:spPr>
          <a:xfrm>
            <a:off x="2627784" y="2996952"/>
            <a:ext cx="42484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Elipse"/>
          <p:cNvSpPr/>
          <p:nvPr/>
        </p:nvSpPr>
        <p:spPr>
          <a:xfrm>
            <a:off x="3419872" y="2924944"/>
            <a:ext cx="144512" cy="1445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17 Elipse"/>
          <p:cNvSpPr/>
          <p:nvPr/>
        </p:nvSpPr>
        <p:spPr>
          <a:xfrm>
            <a:off x="5579616" y="2924944"/>
            <a:ext cx="144512" cy="1445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0" name="19 Conector recto"/>
          <p:cNvCxnSpPr/>
          <p:nvPr/>
        </p:nvCxnSpPr>
        <p:spPr>
          <a:xfrm>
            <a:off x="4572000" y="2924944"/>
            <a:ext cx="0" cy="144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35 CuadroTexto"/>
          <p:cNvSpPr txBox="1"/>
          <p:nvPr/>
        </p:nvSpPr>
        <p:spPr>
          <a:xfrm>
            <a:off x="3083582" y="2529279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s</a:t>
            </a:r>
            <a:r>
              <a:rPr lang="es-AR" baseline="-25000" dirty="0" smtClean="0"/>
              <a:t>0 = </a:t>
            </a:r>
            <a:r>
              <a:rPr lang="es-AR" dirty="0" smtClean="0"/>
              <a:t>-1</a:t>
            </a:r>
            <a:r>
              <a:rPr lang="es-AR" baseline="-25000" dirty="0" smtClean="0"/>
              <a:t>		</a:t>
            </a:r>
            <a:r>
              <a:rPr lang="es-AR" dirty="0"/>
              <a:t> </a:t>
            </a:r>
            <a:r>
              <a:rPr lang="es-AR" dirty="0" smtClean="0"/>
              <a:t>    s</a:t>
            </a:r>
            <a:r>
              <a:rPr lang="es-AR" baseline="-25000" dirty="0" smtClean="0"/>
              <a:t>1 =</a:t>
            </a:r>
            <a:r>
              <a:rPr lang="es-AR" dirty="0" smtClean="0"/>
              <a:t> +1</a:t>
            </a:r>
            <a:endParaRPr lang="es-AR" dirty="0"/>
          </a:p>
        </p:txBody>
      </p:sp>
      <p:cxnSp>
        <p:nvCxnSpPr>
          <p:cNvPr id="38" name="37 Conector recto de flecha"/>
          <p:cNvCxnSpPr/>
          <p:nvPr/>
        </p:nvCxnSpPr>
        <p:spPr>
          <a:xfrm>
            <a:off x="2615909" y="4211300"/>
            <a:ext cx="42484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4560125" y="4139292"/>
            <a:ext cx="0" cy="144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39 Elipse"/>
          <p:cNvSpPr/>
          <p:nvPr/>
        </p:nvSpPr>
        <p:spPr>
          <a:xfrm>
            <a:off x="3983565" y="4139788"/>
            <a:ext cx="144512" cy="1445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1" name="40 Elipse"/>
          <p:cNvSpPr/>
          <p:nvPr/>
        </p:nvSpPr>
        <p:spPr>
          <a:xfrm>
            <a:off x="2831933" y="4139788"/>
            <a:ext cx="144512" cy="1445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2" name="41 Elipse"/>
          <p:cNvSpPr/>
          <p:nvPr/>
        </p:nvSpPr>
        <p:spPr>
          <a:xfrm>
            <a:off x="3407501" y="4139292"/>
            <a:ext cx="144512" cy="1445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3" name="42 Elipse"/>
          <p:cNvSpPr/>
          <p:nvPr/>
        </p:nvSpPr>
        <p:spPr>
          <a:xfrm>
            <a:off x="6143805" y="4139292"/>
            <a:ext cx="144512" cy="1445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4" name="43 Elipse"/>
          <p:cNvSpPr/>
          <p:nvPr/>
        </p:nvSpPr>
        <p:spPr>
          <a:xfrm>
            <a:off x="4992173" y="4139292"/>
            <a:ext cx="144512" cy="1445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5" name="44 Elipse"/>
          <p:cNvSpPr/>
          <p:nvPr/>
        </p:nvSpPr>
        <p:spPr>
          <a:xfrm>
            <a:off x="5567741" y="4138796"/>
            <a:ext cx="144512" cy="1445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6" name="45 CuadroTexto"/>
          <p:cNvSpPr txBox="1"/>
          <p:nvPr/>
        </p:nvSpPr>
        <p:spPr>
          <a:xfrm>
            <a:off x="2604792" y="4283804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-3/2    -1    </a:t>
            </a:r>
            <a:r>
              <a:rPr lang="es-AR" dirty="0"/>
              <a:t>-</a:t>
            </a:r>
            <a:r>
              <a:rPr lang="es-AR" dirty="0" smtClean="0"/>
              <a:t>1/2	</a:t>
            </a:r>
            <a:r>
              <a:rPr lang="es-AR" smtClean="0"/>
              <a:t>     +1/2    </a:t>
            </a:r>
            <a:r>
              <a:rPr lang="es-AR" dirty="0" smtClean="0"/>
              <a:t>+1   +3/2          S</a:t>
            </a:r>
            <a:r>
              <a:rPr lang="es-AR" baseline="-25000" dirty="0" smtClean="0"/>
              <a:t>i</a:t>
            </a:r>
            <a:r>
              <a:rPr lang="es-AR" dirty="0" smtClean="0"/>
              <a:t> + v </a:t>
            </a:r>
            <a:endParaRPr lang="es-AR" baseline="-25000" dirty="0"/>
          </a:p>
        </p:txBody>
      </p:sp>
      <p:grpSp>
        <p:nvGrpSpPr>
          <p:cNvPr id="56" name="55 Grupo"/>
          <p:cNvGrpSpPr/>
          <p:nvPr/>
        </p:nvGrpSpPr>
        <p:grpSpPr>
          <a:xfrm>
            <a:off x="3396343" y="3068960"/>
            <a:ext cx="1295923" cy="1070828"/>
            <a:chOff x="3396343" y="3068960"/>
            <a:chExt cx="1295923" cy="1070828"/>
          </a:xfrm>
        </p:grpSpPr>
        <p:grpSp>
          <p:nvGrpSpPr>
            <p:cNvPr id="50" name="49 Grupo"/>
            <p:cNvGrpSpPr/>
            <p:nvPr/>
          </p:nvGrpSpPr>
          <p:grpSpPr>
            <a:xfrm>
              <a:off x="3396343" y="3297392"/>
              <a:ext cx="1295923" cy="769550"/>
              <a:chOff x="3396343" y="4089480"/>
              <a:chExt cx="1295923" cy="769550"/>
            </a:xfrm>
          </p:grpSpPr>
          <p:sp>
            <p:nvSpPr>
              <p:cNvPr id="47" name="46 Forma libre"/>
              <p:cNvSpPr/>
              <p:nvPr/>
            </p:nvSpPr>
            <p:spPr>
              <a:xfrm>
                <a:off x="3396343" y="4089480"/>
                <a:ext cx="712519" cy="758208"/>
              </a:xfrm>
              <a:custGeom>
                <a:avLst/>
                <a:gdLst>
                  <a:gd name="connsiteX0" fmla="*/ 0 w 676893"/>
                  <a:gd name="connsiteY0" fmla="*/ 752321 h 766752"/>
                  <a:gd name="connsiteX1" fmla="*/ 320634 w 676893"/>
                  <a:gd name="connsiteY1" fmla="*/ 681069 h 766752"/>
                  <a:gd name="connsiteX2" fmla="*/ 546265 w 676893"/>
                  <a:gd name="connsiteY2" fmla="*/ 99178 h 766752"/>
                  <a:gd name="connsiteX3" fmla="*/ 676893 w 676893"/>
                  <a:gd name="connsiteY3" fmla="*/ 27926 h 766752"/>
                  <a:gd name="connsiteX0" fmla="*/ 0 w 736270"/>
                  <a:gd name="connsiteY0" fmla="*/ 752321 h 766752"/>
                  <a:gd name="connsiteX1" fmla="*/ 320634 w 736270"/>
                  <a:gd name="connsiteY1" fmla="*/ 681069 h 766752"/>
                  <a:gd name="connsiteX2" fmla="*/ 546265 w 736270"/>
                  <a:gd name="connsiteY2" fmla="*/ 99178 h 766752"/>
                  <a:gd name="connsiteX3" fmla="*/ 736270 w 736270"/>
                  <a:gd name="connsiteY3" fmla="*/ 27926 h 766752"/>
                  <a:gd name="connsiteX0" fmla="*/ 0 w 712519"/>
                  <a:gd name="connsiteY0" fmla="*/ 743777 h 758208"/>
                  <a:gd name="connsiteX1" fmla="*/ 320634 w 712519"/>
                  <a:gd name="connsiteY1" fmla="*/ 672525 h 758208"/>
                  <a:gd name="connsiteX2" fmla="*/ 546265 w 712519"/>
                  <a:gd name="connsiteY2" fmla="*/ 90634 h 758208"/>
                  <a:gd name="connsiteX3" fmla="*/ 712519 w 712519"/>
                  <a:gd name="connsiteY3" fmla="*/ 31257 h 758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2519" h="758208">
                    <a:moveTo>
                      <a:pt x="0" y="743777"/>
                    </a:moveTo>
                    <a:cubicBezTo>
                      <a:pt x="114795" y="762579"/>
                      <a:pt x="229590" y="781382"/>
                      <a:pt x="320634" y="672525"/>
                    </a:cubicBezTo>
                    <a:cubicBezTo>
                      <a:pt x="411678" y="563668"/>
                      <a:pt x="480951" y="197512"/>
                      <a:pt x="546265" y="90634"/>
                    </a:cubicBezTo>
                    <a:cubicBezTo>
                      <a:pt x="611579" y="-16244"/>
                      <a:pt x="641267" y="-18223"/>
                      <a:pt x="712519" y="31257"/>
                    </a:cubicBezTo>
                  </a:path>
                </a:pathLst>
              </a:cu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49" name="48 Forma libre"/>
              <p:cNvSpPr/>
              <p:nvPr/>
            </p:nvSpPr>
            <p:spPr>
              <a:xfrm flipH="1">
                <a:off x="3979747" y="4100822"/>
                <a:ext cx="712519" cy="758208"/>
              </a:xfrm>
              <a:custGeom>
                <a:avLst/>
                <a:gdLst>
                  <a:gd name="connsiteX0" fmla="*/ 0 w 676893"/>
                  <a:gd name="connsiteY0" fmla="*/ 752321 h 766752"/>
                  <a:gd name="connsiteX1" fmla="*/ 320634 w 676893"/>
                  <a:gd name="connsiteY1" fmla="*/ 681069 h 766752"/>
                  <a:gd name="connsiteX2" fmla="*/ 546265 w 676893"/>
                  <a:gd name="connsiteY2" fmla="*/ 99178 h 766752"/>
                  <a:gd name="connsiteX3" fmla="*/ 676893 w 676893"/>
                  <a:gd name="connsiteY3" fmla="*/ 27926 h 766752"/>
                  <a:gd name="connsiteX0" fmla="*/ 0 w 736270"/>
                  <a:gd name="connsiteY0" fmla="*/ 752321 h 766752"/>
                  <a:gd name="connsiteX1" fmla="*/ 320634 w 736270"/>
                  <a:gd name="connsiteY1" fmla="*/ 681069 h 766752"/>
                  <a:gd name="connsiteX2" fmla="*/ 546265 w 736270"/>
                  <a:gd name="connsiteY2" fmla="*/ 99178 h 766752"/>
                  <a:gd name="connsiteX3" fmla="*/ 736270 w 736270"/>
                  <a:gd name="connsiteY3" fmla="*/ 27926 h 766752"/>
                  <a:gd name="connsiteX0" fmla="*/ 0 w 712519"/>
                  <a:gd name="connsiteY0" fmla="*/ 743777 h 758208"/>
                  <a:gd name="connsiteX1" fmla="*/ 320634 w 712519"/>
                  <a:gd name="connsiteY1" fmla="*/ 672525 h 758208"/>
                  <a:gd name="connsiteX2" fmla="*/ 546265 w 712519"/>
                  <a:gd name="connsiteY2" fmla="*/ 90634 h 758208"/>
                  <a:gd name="connsiteX3" fmla="*/ 712519 w 712519"/>
                  <a:gd name="connsiteY3" fmla="*/ 31257 h 758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2519" h="758208">
                    <a:moveTo>
                      <a:pt x="0" y="743777"/>
                    </a:moveTo>
                    <a:cubicBezTo>
                      <a:pt x="114795" y="762579"/>
                      <a:pt x="229590" y="781382"/>
                      <a:pt x="320634" y="672525"/>
                    </a:cubicBezTo>
                    <a:cubicBezTo>
                      <a:pt x="411678" y="563668"/>
                      <a:pt x="480951" y="197512"/>
                      <a:pt x="546265" y="90634"/>
                    </a:cubicBezTo>
                    <a:cubicBezTo>
                      <a:pt x="611579" y="-16244"/>
                      <a:pt x="641267" y="-18223"/>
                      <a:pt x="712519" y="31257"/>
                    </a:cubicBezTo>
                  </a:path>
                </a:pathLst>
              </a:cu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cxnSp>
          <p:nvCxnSpPr>
            <p:cNvPr id="52" name="51 Conector recto"/>
            <p:cNvCxnSpPr/>
            <p:nvPr/>
          </p:nvCxnSpPr>
          <p:spPr>
            <a:xfrm>
              <a:off x="4043946" y="3068960"/>
              <a:ext cx="0" cy="10708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52 CuadroTexto"/>
          <p:cNvSpPr txBox="1"/>
          <p:nvPr/>
        </p:nvSpPr>
        <p:spPr>
          <a:xfrm>
            <a:off x="4932040" y="3297392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Q(1/2</a:t>
            </a:r>
            <a:r>
              <a:rPr lang="el-GR" dirty="0" smtClean="0">
                <a:latin typeface="Cambria Math"/>
                <a:ea typeface="Cambria Math"/>
              </a:rPr>
              <a:t>σ</a:t>
            </a:r>
            <a:r>
              <a:rPr lang="es-AR" dirty="0"/>
              <a:t>)</a:t>
            </a:r>
          </a:p>
        </p:txBody>
      </p:sp>
      <p:cxnSp>
        <p:nvCxnSpPr>
          <p:cNvPr id="55" name="54 Conector recto de flecha"/>
          <p:cNvCxnSpPr/>
          <p:nvPr/>
        </p:nvCxnSpPr>
        <p:spPr>
          <a:xfrm flipH="1">
            <a:off x="4739766" y="3687838"/>
            <a:ext cx="396919" cy="4509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56 Grupo"/>
          <p:cNvGrpSpPr/>
          <p:nvPr/>
        </p:nvGrpSpPr>
        <p:grpSpPr>
          <a:xfrm>
            <a:off x="2820279" y="3068960"/>
            <a:ext cx="1295923" cy="1070828"/>
            <a:chOff x="3396343" y="3068960"/>
            <a:chExt cx="1295923" cy="1070828"/>
          </a:xfrm>
        </p:grpSpPr>
        <p:grpSp>
          <p:nvGrpSpPr>
            <p:cNvPr id="58" name="57 Grupo"/>
            <p:cNvGrpSpPr/>
            <p:nvPr/>
          </p:nvGrpSpPr>
          <p:grpSpPr>
            <a:xfrm>
              <a:off x="3396343" y="3297392"/>
              <a:ext cx="1295923" cy="769550"/>
              <a:chOff x="3396343" y="4089480"/>
              <a:chExt cx="1295923" cy="769550"/>
            </a:xfrm>
          </p:grpSpPr>
          <p:sp>
            <p:nvSpPr>
              <p:cNvPr id="60" name="59 Forma libre"/>
              <p:cNvSpPr/>
              <p:nvPr/>
            </p:nvSpPr>
            <p:spPr>
              <a:xfrm>
                <a:off x="3396343" y="4089480"/>
                <a:ext cx="712519" cy="758208"/>
              </a:xfrm>
              <a:custGeom>
                <a:avLst/>
                <a:gdLst>
                  <a:gd name="connsiteX0" fmla="*/ 0 w 676893"/>
                  <a:gd name="connsiteY0" fmla="*/ 752321 h 766752"/>
                  <a:gd name="connsiteX1" fmla="*/ 320634 w 676893"/>
                  <a:gd name="connsiteY1" fmla="*/ 681069 h 766752"/>
                  <a:gd name="connsiteX2" fmla="*/ 546265 w 676893"/>
                  <a:gd name="connsiteY2" fmla="*/ 99178 h 766752"/>
                  <a:gd name="connsiteX3" fmla="*/ 676893 w 676893"/>
                  <a:gd name="connsiteY3" fmla="*/ 27926 h 766752"/>
                  <a:gd name="connsiteX0" fmla="*/ 0 w 736270"/>
                  <a:gd name="connsiteY0" fmla="*/ 752321 h 766752"/>
                  <a:gd name="connsiteX1" fmla="*/ 320634 w 736270"/>
                  <a:gd name="connsiteY1" fmla="*/ 681069 h 766752"/>
                  <a:gd name="connsiteX2" fmla="*/ 546265 w 736270"/>
                  <a:gd name="connsiteY2" fmla="*/ 99178 h 766752"/>
                  <a:gd name="connsiteX3" fmla="*/ 736270 w 736270"/>
                  <a:gd name="connsiteY3" fmla="*/ 27926 h 766752"/>
                  <a:gd name="connsiteX0" fmla="*/ 0 w 712519"/>
                  <a:gd name="connsiteY0" fmla="*/ 743777 h 758208"/>
                  <a:gd name="connsiteX1" fmla="*/ 320634 w 712519"/>
                  <a:gd name="connsiteY1" fmla="*/ 672525 h 758208"/>
                  <a:gd name="connsiteX2" fmla="*/ 546265 w 712519"/>
                  <a:gd name="connsiteY2" fmla="*/ 90634 h 758208"/>
                  <a:gd name="connsiteX3" fmla="*/ 712519 w 712519"/>
                  <a:gd name="connsiteY3" fmla="*/ 31257 h 758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2519" h="758208">
                    <a:moveTo>
                      <a:pt x="0" y="743777"/>
                    </a:moveTo>
                    <a:cubicBezTo>
                      <a:pt x="114795" y="762579"/>
                      <a:pt x="229590" y="781382"/>
                      <a:pt x="320634" y="672525"/>
                    </a:cubicBezTo>
                    <a:cubicBezTo>
                      <a:pt x="411678" y="563668"/>
                      <a:pt x="480951" y="197512"/>
                      <a:pt x="546265" y="90634"/>
                    </a:cubicBezTo>
                    <a:cubicBezTo>
                      <a:pt x="611579" y="-16244"/>
                      <a:pt x="641267" y="-18223"/>
                      <a:pt x="712519" y="31257"/>
                    </a:cubicBezTo>
                  </a:path>
                </a:pathLst>
              </a:cu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61" name="60 Forma libre"/>
              <p:cNvSpPr/>
              <p:nvPr/>
            </p:nvSpPr>
            <p:spPr>
              <a:xfrm flipH="1">
                <a:off x="3979747" y="4100822"/>
                <a:ext cx="712519" cy="758208"/>
              </a:xfrm>
              <a:custGeom>
                <a:avLst/>
                <a:gdLst>
                  <a:gd name="connsiteX0" fmla="*/ 0 w 676893"/>
                  <a:gd name="connsiteY0" fmla="*/ 752321 h 766752"/>
                  <a:gd name="connsiteX1" fmla="*/ 320634 w 676893"/>
                  <a:gd name="connsiteY1" fmla="*/ 681069 h 766752"/>
                  <a:gd name="connsiteX2" fmla="*/ 546265 w 676893"/>
                  <a:gd name="connsiteY2" fmla="*/ 99178 h 766752"/>
                  <a:gd name="connsiteX3" fmla="*/ 676893 w 676893"/>
                  <a:gd name="connsiteY3" fmla="*/ 27926 h 766752"/>
                  <a:gd name="connsiteX0" fmla="*/ 0 w 736270"/>
                  <a:gd name="connsiteY0" fmla="*/ 752321 h 766752"/>
                  <a:gd name="connsiteX1" fmla="*/ 320634 w 736270"/>
                  <a:gd name="connsiteY1" fmla="*/ 681069 h 766752"/>
                  <a:gd name="connsiteX2" fmla="*/ 546265 w 736270"/>
                  <a:gd name="connsiteY2" fmla="*/ 99178 h 766752"/>
                  <a:gd name="connsiteX3" fmla="*/ 736270 w 736270"/>
                  <a:gd name="connsiteY3" fmla="*/ 27926 h 766752"/>
                  <a:gd name="connsiteX0" fmla="*/ 0 w 712519"/>
                  <a:gd name="connsiteY0" fmla="*/ 743777 h 758208"/>
                  <a:gd name="connsiteX1" fmla="*/ 320634 w 712519"/>
                  <a:gd name="connsiteY1" fmla="*/ 672525 h 758208"/>
                  <a:gd name="connsiteX2" fmla="*/ 546265 w 712519"/>
                  <a:gd name="connsiteY2" fmla="*/ 90634 h 758208"/>
                  <a:gd name="connsiteX3" fmla="*/ 712519 w 712519"/>
                  <a:gd name="connsiteY3" fmla="*/ 31257 h 758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2519" h="758208">
                    <a:moveTo>
                      <a:pt x="0" y="743777"/>
                    </a:moveTo>
                    <a:cubicBezTo>
                      <a:pt x="114795" y="762579"/>
                      <a:pt x="229590" y="781382"/>
                      <a:pt x="320634" y="672525"/>
                    </a:cubicBezTo>
                    <a:cubicBezTo>
                      <a:pt x="411678" y="563668"/>
                      <a:pt x="480951" y="197512"/>
                      <a:pt x="546265" y="90634"/>
                    </a:cubicBezTo>
                    <a:cubicBezTo>
                      <a:pt x="611579" y="-16244"/>
                      <a:pt x="641267" y="-18223"/>
                      <a:pt x="712519" y="31257"/>
                    </a:cubicBezTo>
                  </a:path>
                </a:pathLst>
              </a:cu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cxnSp>
          <p:nvCxnSpPr>
            <p:cNvPr id="59" name="58 Conector recto"/>
            <p:cNvCxnSpPr/>
            <p:nvPr/>
          </p:nvCxnSpPr>
          <p:spPr>
            <a:xfrm>
              <a:off x="4043946" y="3068960"/>
              <a:ext cx="0" cy="1070828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61 Grupo"/>
          <p:cNvGrpSpPr/>
          <p:nvPr/>
        </p:nvGrpSpPr>
        <p:grpSpPr>
          <a:xfrm>
            <a:off x="2256090" y="3068960"/>
            <a:ext cx="1295923" cy="1070828"/>
            <a:chOff x="3396343" y="3068960"/>
            <a:chExt cx="1295923" cy="1070828"/>
          </a:xfrm>
        </p:grpSpPr>
        <p:grpSp>
          <p:nvGrpSpPr>
            <p:cNvPr id="63" name="62 Grupo"/>
            <p:cNvGrpSpPr/>
            <p:nvPr/>
          </p:nvGrpSpPr>
          <p:grpSpPr>
            <a:xfrm>
              <a:off x="3396343" y="3297392"/>
              <a:ext cx="1295923" cy="769550"/>
              <a:chOff x="3396343" y="4089480"/>
              <a:chExt cx="1295923" cy="769550"/>
            </a:xfrm>
          </p:grpSpPr>
          <p:sp>
            <p:nvSpPr>
              <p:cNvPr id="65" name="64 Forma libre"/>
              <p:cNvSpPr/>
              <p:nvPr/>
            </p:nvSpPr>
            <p:spPr>
              <a:xfrm>
                <a:off x="3396343" y="4089480"/>
                <a:ext cx="712519" cy="758208"/>
              </a:xfrm>
              <a:custGeom>
                <a:avLst/>
                <a:gdLst>
                  <a:gd name="connsiteX0" fmla="*/ 0 w 676893"/>
                  <a:gd name="connsiteY0" fmla="*/ 752321 h 766752"/>
                  <a:gd name="connsiteX1" fmla="*/ 320634 w 676893"/>
                  <a:gd name="connsiteY1" fmla="*/ 681069 h 766752"/>
                  <a:gd name="connsiteX2" fmla="*/ 546265 w 676893"/>
                  <a:gd name="connsiteY2" fmla="*/ 99178 h 766752"/>
                  <a:gd name="connsiteX3" fmla="*/ 676893 w 676893"/>
                  <a:gd name="connsiteY3" fmla="*/ 27926 h 766752"/>
                  <a:gd name="connsiteX0" fmla="*/ 0 w 736270"/>
                  <a:gd name="connsiteY0" fmla="*/ 752321 h 766752"/>
                  <a:gd name="connsiteX1" fmla="*/ 320634 w 736270"/>
                  <a:gd name="connsiteY1" fmla="*/ 681069 h 766752"/>
                  <a:gd name="connsiteX2" fmla="*/ 546265 w 736270"/>
                  <a:gd name="connsiteY2" fmla="*/ 99178 h 766752"/>
                  <a:gd name="connsiteX3" fmla="*/ 736270 w 736270"/>
                  <a:gd name="connsiteY3" fmla="*/ 27926 h 766752"/>
                  <a:gd name="connsiteX0" fmla="*/ 0 w 712519"/>
                  <a:gd name="connsiteY0" fmla="*/ 743777 h 758208"/>
                  <a:gd name="connsiteX1" fmla="*/ 320634 w 712519"/>
                  <a:gd name="connsiteY1" fmla="*/ 672525 h 758208"/>
                  <a:gd name="connsiteX2" fmla="*/ 546265 w 712519"/>
                  <a:gd name="connsiteY2" fmla="*/ 90634 h 758208"/>
                  <a:gd name="connsiteX3" fmla="*/ 712519 w 712519"/>
                  <a:gd name="connsiteY3" fmla="*/ 31257 h 758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2519" h="758208">
                    <a:moveTo>
                      <a:pt x="0" y="743777"/>
                    </a:moveTo>
                    <a:cubicBezTo>
                      <a:pt x="114795" y="762579"/>
                      <a:pt x="229590" y="781382"/>
                      <a:pt x="320634" y="672525"/>
                    </a:cubicBezTo>
                    <a:cubicBezTo>
                      <a:pt x="411678" y="563668"/>
                      <a:pt x="480951" y="197512"/>
                      <a:pt x="546265" y="90634"/>
                    </a:cubicBezTo>
                    <a:cubicBezTo>
                      <a:pt x="611579" y="-16244"/>
                      <a:pt x="641267" y="-18223"/>
                      <a:pt x="712519" y="31257"/>
                    </a:cubicBezTo>
                  </a:path>
                </a:pathLst>
              </a:cu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66" name="65 Forma libre"/>
              <p:cNvSpPr/>
              <p:nvPr/>
            </p:nvSpPr>
            <p:spPr>
              <a:xfrm flipH="1">
                <a:off x="3979747" y="4100822"/>
                <a:ext cx="712519" cy="758208"/>
              </a:xfrm>
              <a:custGeom>
                <a:avLst/>
                <a:gdLst>
                  <a:gd name="connsiteX0" fmla="*/ 0 w 676893"/>
                  <a:gd name="connsiteY0" fmla="*/ 752321 h 766752"/>
                  <a:gd name="connsiteX1" fmla="*/ 320634 w 676893"/>
                  <a:gd name="connsiteY1" fmla="*/ 681069 h 766752"/>
                  <a:gd name="connsiteX2" fmla="*/ 546265 w 676893"/>
                  <a:gd name="connsiteY2" fmla="*/ 99178 h 766752"/>
                  <a:gd name="connsiteX3" fmla="*/ 676893 w 676893"/>
                  <a:gd name="connsiteY3" fmla="*/ 27926 h 766752"/>
                  <a:gd name="connsiteX0" fmla="*/ 0 w 736270"/>
                  <a:gd name="connsiteY0" fmla="*/ 752321 h 766752"/>
                  <a:gd name="connsiteX1" fmla="*/ 320634 w 736270"/>
                  <a:gd name="connsiteY1" fmla="*/ 681069 h 766752"/>
                  <a:gd name="connsiteX2" fmla="*/ 546265 w 736270"/>
                  <a:gd name="connsiteY2" fmla="*/ 99178 h 766752"/>
                  <a:gd name="connsiteX3" fmla="*/ 736270 w 736270"/>
                  <a:gd name="connsiteY3" fmla="*/ 27926 h 766752"/>
                  <a:gd name="connsiteX0" fmla="*/ 0 w 712519"/>
                  <a:gd name="connsiteY0" fmla="*/ 743777 h 758208"/>
                  <a:gd name="connsiteX1" fmla="*/ 320634 w 712519"/>
                  <a:gd name="connsiteY1" fmla="*/ 672525 h 758208"/>
                  <a:gd name="connsiteX2" fmla="*/ 546265 w 712519"/>
                  <a:gd name="connsiteY2" fmla="*/ 90634 h 758208"/>
                  <a:gd name="connsiteX3" fmla="*/ 712519 w 712519"/>
                  <a:gd name="connsiteY3" fmla="*/ 31257 h 758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2519" h="758208">
                    <a:moveTo>
                      <a:pt x="0" y="743777"/>
                    </a:moveTo>
                    <a:cubicBezTo>
                      <a:pt x="114795" y="762579"/>
                      <a:pt x="229590" y="781382"/>
                      <a:pt x="320634" y="672525"/>
                    </a:cubicBezTo>
                    <a:cubicBezTo>
                      <a:pt x="411678" y="563668"/>
                      <a:pt x="480951" y="197512"/>
                      <a:pt x="546265" y="90634"/>
                    </a:cubicBezTo>
                    <a:cubicBezTo>
                      <a:pt x="611579" y="-16244"/>
                      <a:pt x="641267" y="-18223"/>
                      <a:pt x="712519" y="31257"/>
                    </a:cubicBezTo>
                  </a:path>
                </a:pathLst>
              </a:cu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cxnSp>
          <p:nvCxnSpPr>
            <p:cNvPr id="64" name="63 Conector recto"/>
            <p:cNvCxnSpPr/>
            <p:nvPr/>
          </p:nvCxnSpPr>
          <p:spPr>
            <a:xfrm>
              <a:off x="4043946" y="3068960"/>
              <a:ext cx="0" cy="107082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66 CuadroTexto"/>
          <p:cNvSpPr txBox="1"/>
          <p:nvPr/>
        </p:nvSpPr>
        <p:spPr>
          <a:xfrm>
            <a:off x="1547664" y="2708920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Q(1/</a:t>
            </a:r>
            <a:r>
              <a:rPr lang="el-GR" dirty="0" smtClean="0">
                <a:latin typeface="Cambria Math"/>
                <a:ea typeface="Cambria Math"/>
              </a:rPr>
              <a:t>σ</a:t>
            </a:r>
            <a:r>
              <a:rPr lang="es-AR" dirty="0"/>
              <a:t>)</a:t>
            </a:r>
          </a:p>
        </p:txBody>
      </p:sp>
      <p:sp>
        <p:nvSpPr>
          <p:cNvPr id="68" name="67 CuadroTexto"/>
          <p:cNvSpPr txBox="1"/>
          <p:nvPr/>
        </p:nvSpPr>
        <p:spPr>
          <a:xfrm>
            <a:off x="1259632" y="3491716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Q(3/2</a:t>
            </a:r>
            <a:r>
              <a:rPr lang="el-GR" dirty="0" smtClean="0">
                <a:latin typeface="Cambria Math"/>
                <a:ea typeface="Cambria Math"/>
              </a:rPr>
              <a:t>σ</a:t>
            </a:r>
            <a:r>
              <a:rPr lang="es-AR" dirty="0"/>
              <a:t>)</a:t>
            </a:r>
          </a:p>
        </p:txBody>
      </p:sp>
      <p:cxnSp>
        <p:nvCxnSpPr>
          <p:cNvPr id="69" name="68 Conector recto de flecha"/>
          <p:cNvCxnSpPr>
            <a:stCxn id="67" idx="2"/>
          </p:cNvCxnSpPr>
          <p:nvPr/>
        </p:nvCxnSpPr>
        <p:spPr>
          <a:xfrm>
            <a:off x="1968613" y="3078252"/>
            <a:ext cx="1564185" cy="5261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Conector recto de flecha"/>
          <p:cNvCxnSpPr/>
          <p:nvPr/>
        </p:nvCxnSpPr>
        <p:spPr>
          <a:xfrm>
            <a:off x="1744700" y="3913317"/>
            <a:ext cx="1038065" cy="1422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12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40 – Modelo simple de ISI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22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smtClean="0"/>
              <a:t>Finalmente,</a:t>
            </a:r>
            <a:endParaRPr lang="es-AR" sz="1800" dirty="0" smtClean="0"/>
          </a:p>
          <a:p>
            <a:pPr marL="0" indent="0" algn="ctr">
              <a:buNone/>
            </a:pPr>
            <a:r>
              <a:rPr lang="es-AR" sz="1400" smtClean="0"/>
              <a:t>Pe = 0,5.P(s</a:t>
            </a:r>
            <a:r>
              <a:rPr lang="es-AR" sz="1400" baseline="-25000" smtClean="0"/>
              <a:t>0</a:t>
            </a:r>
            <a:r>
              <a:rPr lang="es-AR" sz="1400" smtClean="0"/>
              <a:t>/s</a:t>
            </a:r>
            <a:r>
              <a:rPr lang="es-AR" sz="1400" baseline="-25000" smtClean="0"/>
              <a:t>1</a:t>
            </a:r>
            <a:r>
              <a:rPr lang="es-AR" sz="1400" smtClean="0"/>
              <a:t>) + 0,5.P(s</a:t>
            </a:r>
            <a:r>
              <a:rPr lang="es-AR" sz="1400" baseline="-25000" smtClean="0"/>
              <a:t>1</a:t>
            </a:r>
            <a:r>
              <a:rPr lang="es-AR" sz="1400" smtClean="0"/>
              <a:t>/s</a:t>
            </a:r>
            <a:r>
              <a:rPr lang="es-AR" sz="1400" baseline="-25000" smtClean="0"/>
              <a:t>0</a:t>
            </a:r>
            <a:r>
              <a:rPr lang="es-AR" sz="1400" dirty="0" smtClean="0"/>
              <a:t>) </a:t>
            </a:r>
            <a:r>
              <a:rPr lang="es-AR" sz="1400" smtClean="0"/>
              <a:t>= P(s</a:t>
            </a:r>
            <a:r>
              <a:rPr lang="es-AR" sz="1400" baseline="-25000" smtClean="0"/>
              <a:t>0</a:t>
            </a:r>
            <a:r>
              <a:rPr lang="es-AR" sz="1400" smtClean="0"/>
              <a:t>/s</a:t>
            </a:r>
            <a:r>
              <a:rPr lang="es-AR" sz="1400" baseline="-25000" smtClean="0"/>
              <a:t>1</a:t>
            </a:r>
            <a:r>
              <a:rPr lang="es-AR" sz="1400"/>
              <a:t>)</a:t>
            </a:r>
            <a:endParaRPr lang="es-AR" sz="1400" dirty="0" smtClean="0"/>
          </a:p>
          <a:p>
            <a:pPr marL="0" indent="0" algn="just">
              <a:buNone/>
            </a:pPr>
            <a:endParaRPr lang="es-AR" sz="1800" smtClean="0"/>
          </a:p>
          <a:p>
            <a:pPr marL="0" indent="0" algn="just">
              <a:buNone/>
            </a:pPr>
            <a:r>
              <a:rPr lang="es-AR" sz="1800" smtClean="0"/>
              <a:t>Por otro lado, la varianza del término de ISI se obtiene como</a:t>
            </a:r>
          </a:p>
          <a:p>
            <a:pPr marL="0" indent="0" algn="just">
              <a:buNone/>
            </a:pPr>
            <a:endParaRPr lang="es-AR" sz="1800"/>
          </a:p>
          <a:p>
            <a:pPr marL="0" indent="0" algn="just">
              <a:buNone/>
            </a:pPr>
            <a:r>
              <a:rPr lang="es-AR" sz="1800" smtClean="0">
                <a:latin typeface="Cambria Math"/>
                <a:ea typeface="Cambria Math"/>
              </a:rPr>
              <a:t>σ</a:t>
            </a:r>
            <a:r>
              <a:rPr lang="es-AR" sz="1800" baseline="-25000" smtClean="0">
                <a:latin typeface="Cambria Math"/>
                <a:ea typeface="Cambria Math"/>
              </a:rPr>
              <a:t>v</a:t>
            </a:r>
            <a:r>
              <a:rPr lang="es-AR" sz="1800" baseline="30000" smtClean="0">
                <a:latin typeface="Cambria Math"/>
                <a:ea typeface="Cambria Math"/>
              </a:rPr>
              <a:t>2</a:t>
            </a:r>
            <a:r>
              <a:rPr lang="es-AR" sz="1800" smtClean="0">
                <a:latin typeface="Cambria Math"/>
                <a:ea typeface="Cambria Math"/>
              </a:rPr>
              <a:t> = ¼.(-1/2)</a:t>
            </a:r>
            <a:r>
              <a:rPr lang="es-AR" sz="1800" baseline="30000" smtClean="0">
                <a:latin typeface="Cambria Math"/>
                <a:ea typeface="Cambria Math"/>
              </a:rPr>
              <a:t>2</a:t>
            </a:r>
            <a:r>
              <a:rPr lang="es-AR" sz="1800" smtClean="0">
                <a:latin typeface="Cambria Math"/>
                <a:ea typeface="Cambria Math"/>
              </a:rPr>
              <a:t> + ½.(0)</a:t>
            </a:r>
            <a:r>
              <a:rPr lang="es-AR" sz="1800" baseline="30000" smtClean="0">
                <a:latin typeface="Cambria Math"/>
                <a:ea typeface="Cambria Math"/>
              </a:rPr>
              <a:t>2</a:t>
            </a:r>
            <a:r>
              <a:rPr lang="es-AR" sz="1800" smtClean="0">
                <a:latin typeface="Cambria Math"/>
                <a:ea typeface="Cambria Math"/>
              </a:rPr>
              <a:t> + ¼.(1/2)</a:t>
            </a:r>
            <a:r>
              <a:rPr lang="es-AR" sz="1800" baseline="30000" smtClean="0">
                <a:latin typeface="Cambria Math"/>
                <a:ea typeface="Cambria Math"/>
              </a:rPr>
              <a:t>2</a:t>
            </a:r>
            <a:endParaRPr lang="es-AR" sz="1800" baseline="30000" dirty="0" smtClean="0"/>
          </a:p>
          <a:p>
            <a:pPr marL="0" indent="0" algn="just">
              <a:buNone/>
            </a:pPr>
            <a:endParaRPr lang="es-AR" sz="1800" dirty="0" smtClean="0"/>
          </a:p>
        </p:txBody>
      </p:sp>
    </p:spTree>
    <p:extLst>
      <p:ext uri="{BB962C8B-B14F-4D97-AF65-F5344CB8AC3E}">
        <p14:creationId xmlns:p14="http://schemas.microsoft.com/office/powerpoint/2010/main" val="142526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– Ecualizadores ZFE y MMSE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23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dirty="0" smtClean="0"/>
              <a:t>Un sistema de comunicaciones posee la siguiente respuesta impulsiva:</a:t>
            </a:r>
          </a:p>
          <a:p>
            <a:pPr marL="0" indent="0" algn="just">
              <a:buNone/>
            </a:pPr>
            <a:endParaRPr lang="es-AR" sz="1800" dirty="0"/>
          </a:p>
        </p:txBody>
      </p:sp>
      <p:cxnSp>
        <p:nvCxnSpPr>
          <p:cNvPr id="7" name="6 Conector recto de flecha"/>
          <p:cNvCxnSpPr/>
          <p:nvPr/>
        </p:nvCxnSpPr>
        <p:spPr>
          <a:xfrm>
            <a:off x="2195736" y="5858131"/>
            <a:ext cx="47525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/>
          <p:nvPr/>
        </p:nvCxnSpPr>
        <p:spPr>
          <a:xfrm flipV="1">
            <a:off x="4572000" y="4437112"/>
            <a:ext cx="0" cy="17810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 de flecha"/>
          <p:cNvCxnSpPr/>
          <p:nvPr/>
        </p:nvCxnSpPr>
        <p:spPr>
          <a:xfrm flipV="1">
            <a:off x="4572000" y="4922027"/>
            <a:ext cx="0" cy="93610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/>
          <p:nvPr/>
        </p:nvCxnSpPr>
        <p:spPr>
          <a:xfrm>
            <a:off x="3851920" y="5848282"/>
            <a:ext cx="0" cy="35165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/>
          <p:nvPr/>
        </p:nvCxnSpPr>
        <p:spPr>
          <a:xfrm>
            <a:off x="5292080" y="5867980"/>
            <a:ext cx="0" cy="35165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CuadroTexto"/>
          <p:cNvSpPr txBox="1"/>
          <p:nvPr/>
        </p:nvSpPr>
        <p:spPr>
          <a:xfrm>
            <a:off x="6798223" y="59399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k</a:t>
            </a:r>
            <a:endParaRPr lang="es-AR"/>
          </a:p>
        </p:txBody>
      </p:sp>
      <p:sp>
        <p:nvSpPr>
          <p:cNvPr id="17" name="16 CuadroTexto"/>
          <p:cNvSpPr txBox="1"/>
          <p:nvPr/>
        </p:nvSpPr>
        <p:spPr>
          <a:xfrm>
            <a:off x="4644008" y="4211796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/>
              <a:t>q</a:t>
            </a:r>
            <a:r>
              <a:rPr lang="es-AR" baseline="-25000" smtClean="0"/>
              <a:t>k</a:t>
            </a:r>
            <a:r>
              <a:rPr lang="es-AR" smtClean="0"/>
              <a:t> = q(t=k.T)</a:t>
            </a:r>
            <a:endParaRPr lang="es-AR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2195736" y="3249001"/>
            <a:ext cx="47525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 de flecha"/>
          <p:cNvCxnSpPr/>
          <p:nvPr/>
        </p:nvCxnSpPr>
        <p:spPr>
          <a:xfrm flipV="1">
            <a:off x="4572000" y="1818690"/>
            <a:ext cx="0" cy="17903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22 CuadroTexto"/>
          <p:cNvSpPr txBox="1"/>
          <p:nvPr/>
        </p:nvSpPr>
        <p:spPr>
          <a:xfrm>
            <a:off x="6798223" y="3330858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t</a:t>
            </a:r>
            <a:endParaRPr lang="es-AR"/>
          </a:p>
        </p:txBody>
      </p:sp>
      <p:sp>
        <p:nvSpPr>
          <p:cNvPr id="24" name="23 CuadroTexto"/>
          <p:cNvSpPr txBox="1"/>
          <p:nvPr/>
        </p:nvSpPr>
        <p:spPr>
          <a:xfrm>
            <a:off x="4644008" y="1602666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q(t)</a:t>
            </a:r>
            <a:endParaRPr lang="es-AR"/>
          </a:p>
        </p:txBody>
      </p:sp>
      <p:sp>
        <p:nvSpPr>
          <p:cNvPr id="29" name="28 Forma libre"/>
          <p:cNvSpPr/>
          <p:nvPr/>
        </p:nvSpPr>
        <p:spPr>
          <a:xfrm>
            <a:off x="2083699" y="2351701"/>
            <a:ext cx="5429322" cy="1250852"/>
          </a:xfrm>
          <a:custGeom>
            <a:avLst/>
            <a:gdLst>
              <a:gd name="connsiteX0" fmla="*/ 0 w 4517409"/>
              <a:gd name="connsiteY0" fmla="*/ 397341 h 1259749"/>
              <a:gd name="connsiteX1" fmla="*/ 1023582 w 4517409"/>
              <a:gd name="connsiteY1" fmla="*/ 629353 h 1259749"/>
              <a:gd name="connsiteX2" fmla="*/ 1351129 w 4517409"/>
              <a:gd name="connsiteY2" fmla="*/ 1038785 h 1259749"/>
              <a:gd name="connsiteX3" fmla="*/ 1555845 w 4517409"/>
              <a:gd name="connsiteY3" fmla="*/ 1216206 h 1259749"/>
              <a:gd name="connsiteX4" fmla="*/ 1897039 w 4517409"/>
              <a:gd name="connsiteY4" fmla="*/ 329102 h 1259749"/>
              <a:gd name="connsiteX5" fmla="*/ 2251881 w 4517409"/>
              <a:gd name="connsiteY5" fmla="*/ 1556 h 1259749"/>
              <a:gd name="connsiteX6" fmla="*/ 2702257 w 4517409"/>
              <a:gd name="connsiteY6" fmla="*/ 438284 h 1259749"/>
              <a:gd name="connsiteX7" fmla="*/ 2975212 w 4517409"/>
              <a:gd name="connsiteY7" fmla="*/ 1216206 h 1259749"/>
              <a:gd name="connsiteX8" fmla="*/ 3370997 w 4517409"/>
              <a:gd name="connsiteY8" fmla="*/ 1147968 h 1259749"/>
              <a:gd name="connsiteX9" fmla="*/ 3821373 w 4517409"/>
              <a:gd name="connsiteY9" fmla="*/ 1038785 h 1259749"/>
              <a:gd name="connsiteX10" fmla="*/ 4162567 w 4517409"/>
              <a:gd name="connsiteY10" fmla="*/ 219920 h 1259749"/>
              <a:gd name="connsiteX11" fmla="*/ 4517409 w 4517409"/>
              <a:gd name="connsiteY11" fmla="*/ 83442 h 1259749"/>
              <a:gd name="connsiteX0" fmla="*/ 0 w 4517409"/>
              <a:gd name="connsiteY0" fmla="*/ 397341 h 1252796"/>
              <a:gd name="connsiteX1" fmla="*/ 1023582 w 4517409"/>
              <a:gd name="connsiteY1" fmla="*/ 629353 h 1252796"/>
              <a:gd name="connsiteX2" fmla="*/ 1351129 w 4517409"/>
              <a:gd name="connsiteY2" fmla="*/ 1038785 h 1252796"/>
              <a:gd name="connsiteX3" fmla="*/ 1555845 w 4517409"/>
              <a:gd name="connsiteY3" fmla="*/ 1216206 h 1252796"/>
              <a:gd name="connsiteX4" fmla="*/ 1897039 w 4517409"/>
              <a:gd name="connsiteY4" fmla="*/ 329102 h 1252796"/>
              <a:gd name="connsiteX5" fmla="*/ 2251881 w 4517409"/>
              <a:gd name="connsiteY5" fmla="*/ 1556 h 1252796"/>
              <a:gd name="connsiteX6" fmla="*/ 2702257 w 4517409"/>
              <a:gd name="connsiteY6" fmla="*/ 438284 h 1252796"/>
              <a:gd name="connsiteX7" fmla="*/ 2975212 w 4517409"/>
              <a:gd name="connsiteY7" fmla="*/ 1216206 h 1252796"/>
              <a:gd name="connsiteX8" fmla="*/ 3446862 w 4517409"/>
              <a:gd name="connsiteY8" fmla="*/ 1052434 h 1252796"/>
              <a:gd name="connsiteX9" fmla="*/ 3821373 w 4517409"/>
              <a:gd name="connsiteY9" fmla="*/ 1038785 h 1252796"/>
              <a:gd name="connsiteX10" fmla="*/ 4162567 w 4517409"/>
              <a:gd name="connsiteY10" fmla="*/ 219920 h 1252796"/>
              <a:gd name="connsiteX11" fmla="*/ 4517409 w 4517409"/>
              <a:gd name="connsiteY11" fmla="*/ 83442 h 1252796"/>
              <a:gd name="connsiteX0" fmla="*/ 0 w 4517409"/>
              <a:gd name="connsiteY0" fmla="*/ 397341 h 1252796"/>
              <a:gd name="connsiteX1" fmla="*/ 1023582 w 4517409"/>
              <a:gd name="connsiteY1" fmla="*/ 629353 h 1252796"/>
              <a:gd name="connsiteX2" fmla="*/ 1351129 w 4517409"/>
              <a:gd name="connsiteY2" fmla="*/ 1038785 h 1252796"/>
              <a:gd name="connsiteX3" fmla="*/ 1555845 w 4517409"/>
              <a:gd name="connsiteY3" fmla="*/ 1216206 h 1252796"/>
              <a:gd name="connsiteX4" fmla="*/ 1897039 w 4517409"/>
              <a:gd name="connsiteY4" fmla="*/ 329102 h 1252796"/>
              <a:gd name="connsiteX5" fmla="*/ 2251881 w 4517409"/>
              <a:gd name="connsiteY5" fmla="*/ 1556 h 1252796"/>
              <a:gd name="connsiteX6" fmla="*/ 2702257 w 4517409"/>
              <a:gd name="connsiteY6" fmla="*/ 438284 h 1252796"/>
              <a:gd name="connsiteX7" fmla="*/ 2975212 w 4517409"/>
              <a:gd name="connsiteY7" fmla="*/ 1216206 h 1252796"/>
              <a:gd name="connsiteX8" fmla="*/ 3446862 w 4517409"/>
              <a:gd name="connsiteY8" fmla="*/ 1052434 h 1252796"/>
              <a:gd name="connsiteX9" fmla="*/ 3745509 w 4517409"/>
              <a:gd name="connsiteY9" fmla="*/ 956898 h 1252796"/>
              <a:gd name="connsiteX10" fmla="*/ 4162567 w 4517409"/>
              <a:gd name="connsiteY10" fmla="*/ 219920 h 1252796"/>
              <a:gd name="connsiteX11" fmla="*/ 4517409 w 4517409"/>
              <a:gd name="connsiteY11" fmla="*/ 83442 h 1252796"/>
              <a:gd name="connsiteX0" fmla="*/ 0 w 4517409"/>
              <a:gd name="connsiteY0" fmla="*/ 397341 h 1252796"/>
              <a:gd name="connsiteX1" fmla="*/ 1023582 w 4517409"/>
              <a:gd name="connsiteY1" fmla="*/ 629353 h 1252796"/>
              <a:gd name="connsiteX2" fmla="*/ 1351129 w 4517409"/>
              <a:gd name="connsiteY2" fmla="*/ 1038785 h 1252796"/>
              <a:gd name="connsiteX3" fmla="*/ 1555845 w 4517409"/>
              <a:gd name="connsiteY3" fmla="*/ 1216206 h 1252796"/>
              <a:gd name="connsiteX4" fmla="*/ 1897039 w 4517409"/>
              <a:gd name="connsiteY4" fmla="*/ 329102 h 1252796"/>
              <a:gd name="connsiteX5" fmla="*/ 2251881 w 4517409"/>
              <a:gd name="connsiteY5" fmla="*/ 1556 h 1252796"/>
              <a:gd name="connsiteX6" fmla="*/ 2702257 w 4517409"/>
              <a:gd name="connsiteY6" fmla="*/ 438284 h 1252796"/>
              <a:gd name="connsiteX7" fmla="*/ 2975212 w 4517409"/>
              <a:gd name="connsiteY7" fmla="*/ 1216206 h 1252796"/>
              <a:gd name="connsiteX8" fmla="*/ 3446862 w 4517409"/>
              <a:gd name="connsiteY8" fmla="*/ 1052434 h 1252796"/>
              <a:gd name="connsiteX9" fmla="*/ 3745509 w 4517409"/>
              <a:gd name="connsiteY9" fmla="*/ 956898 h 1252796"/>
              <a:gd name="connsiteX10" fmla="*/ 4119216 w 4517409"/>
              <a:gd name="connsiteY10" fmla="*/ 793126 h 1252796"/>
              <a:gd name="connsiteX11" fmla="*/ 4517409 w 4517409"/>
              <a:gd name="connsiteY11" fmla="*/ 83442 h 1252796"/>
              <a:gd name="connsiteX0" fmla="*/ 0 w 4593274"/>
              <a:gd name="connsiteY0" fmla="*/ 397341 h 1252796"/>
              <a:gd name="connsiteX1" fmla="*/ 1023582 w 4593274"/>
              <a:gd name="connsiteY1" fmla="*/ 629353 h 1252796"/>
              <a:gd name="connsiteX2" fmla="*/ 1351129 w 4593274"/>
              <a:gd name="connsiteY2" fmla="*/ 1038785 h 1252796"/>
              <a:gd name="connsiteX3" fmla="*/ 1555845 w 4593274"/>
              <a:gd name="connsiteY3" fmla="*/ 1216206 h 1252796"/>
              <a:gd name="connsiteX4" fmla="*/ 1897039 w 4593274"/>
              <a:gd name="connsiteY4" fmla="*/ 329102 h 1252796"/>
              <a:gd name="connsiteX5" fmla="*/ 2251881 w 4593274"/>
              <a:gd name="connsiteY5" fmla="*/ 1556 h 1252796"/>
              <a:gd name="connsiteX6" fmla="*/ 2702257 w 4593274"/>
              <a:gd name="connsiteY6" fmla="*/ 438284 h 1252796"/>
              <a:gd name="connsiteX7" fmla="*/ 2975212 w 4593274"/>
              <a:gd name="connsiteY7" fmla="*/ 1216206 h 1252796"/>
              <a:gd name="connsiteX8" fmla="*/ 3446862 w 4593274"/>
              <a:gd name="connsiteY8" fmla="*/ 1052434 h 1252796"/>
              <a:gd name="connsiteX9" fmla="*/ 3745509 w 4593274"/>
              <a:gd name="connsiteY9" fmla="*/ 956898 h 1252796"/>
              <a:gd name="connsiteX10" fmla="*/ 4119216 w 4593274"/>
              <a:gd name="connsiteY10" fmla="*/ 793126 h 1252796"/>
              <a:gd name="connsiteX11" fmla="*/ 4593274 w 4593274"/>
              <a:gd name="connsiteY11" fmla="*/ 997842 h 1252796"/>
              <a:gd name="connsiteX0" fmla="*/ 0 w 4593274"/>
              <a:gd name="connsiteY0" fmla="*/ 397341 h 1252796"/>
              <a:gd name="connsiteX1" fmla="*/ 1023582 w 4593274"/>
              <a:gd name="connsiteY1" fmla="*/ 629353 h 1252796"/>
              <a:gd name="connsiteX2" fmla="*/ 1351129 w 4593274"/>
              <a:gd name="connsiteY2" fmla="*/ 1038785 h 1252796"/>
              <a:gd name="connsiteX3" fmla="*/ 1555845 w 4593274"/>
              <a:gd name="connsiteY3" fmla="*/ 1216206 h 1252796"/>
              <a:gd name="connsiteX4" fmla="*/ 1897039 w 4593274"/>
              <a:gd name="connsiteY4" fmla="*/ 329102 h 1252796"/>
              <a:gd name="connsiteX5" fmla="*/ 2251881 w 4593274"/>
              <a:gd name="connsiteY5" fmla="*/ 1556 h 1252796"/>
              <a:gd name="connsiteX6" fmla="*/ 2702257 w 4593274"/>
              <a:gd name="connsiteY6" fmla="*/ 438284 h 1252796"/>
              <a:gd name="connsiteX7" fmla="*/ 2975212 w 4593274"/>
              <a:gd name="connsiteY7" fmla="*/ 1216206 h 1252796"/>
              <a:gd name="connsiteX8" fmla="*/ 3446862 w 4593274"/>
              <a:gd name="connsiteY8" fmla="*/ 1052434 h 1252796"/>
              <a:gd name="connsiteX9" fmla="*/ 3745509 w 4593274"/>
              <a:gd name="connsiteY9" fmla="*/ 956898 h 1252796"/>
              <a:gd name="connsiteX10" fmla="*/ 4130053 w 4593274"/>
              <a:gd name="connsiteY10" fmla="*/ 902308 h 1252796"/>
              <a:gd name="connsiteX11" fmla="*/ 4593274 w 4593274"/>
              <a:gd name="connsiteY11" fmla="*/ 997842 h 1252796"/>
              <a:gd name="connsiteX0" fmla="*/ 0 w 4625787"/>
              <a:gd name="connsiteY0" fmla="*/ 397341 h 1252796"/>
              <a:gd name="connsiteX1" fmla="*/ 1023582 w 4625787"/>
              <a:gd name="connsiteY1" fmla="*/ 629353 h 1252796"/>
              <a:gd name="connsiteX2" fmla="*/ 1351129 w 4625787"/>
              <a:gd name="connsiteY2" fmla="*/ 1038785 h 1252796"/>
              <a:gd name="connsiteX3" fmla="*/ 1555845 w 4625787"/>
              <a:gd name="connsiteY3" fmla="*/ 1216206 h 1252796"/>
              <a:gd name="connsiteX4" fmla="*/ 1897039 w 4625787"/>
              <a:gd name="connsiteY4" fmla="*/ 329102 h 1252796"/>
              <a:gd name="connsiteX5" fmla="*/ 2251881 w 4625787"/>
              <a:gd name="connsiteY5" fmla="*/ 1556 h 1252796"/>
              <a:gd name="connsiteX6" fmla="*/ 2702257 w 4625787"/>
              <a:gd name="connsiteY6" fmla="*/ 438284 h 1252796"/>
              <a:gd name="connsiteX7" fmla="*/ 2975212 w 4625787"/>
              <a:gd name="connsiteY7" fmla="*/ 1216206 h 1252796"/>
              <a:gd name="connsiteX8" fmla="*/ 3446862 w 4625787"/>
              <a:gd name="connsiteY8" fmla="*/ 1052434 h 1252796"/>
              <a:gd name="connsiteX9" fmla="*/ 3745509 w 4625787"/>
              <a:gd name="connsiteY9" fmla="*/ 956898 h 1252796"/>
              <a:gd name="connsiteX10" fmla="*/ 4130053 w 4625787"/>
              <a:gd name="connsiteY10" fmla="*/ 902308 h 1252796"/>
              <a:gd name="connsiteX11" fmla="*/ 4625787 w 4625787"/>
              <a:gd name="connsiteY11" fmla="*/ 943251 h 1252796"/>
              <a:gd name="connsiteX0" fmla="*/ 0 w 4625787"/>
              <a:gd name="connsiteY0" fmla="*/ 397341 h 1250852"/>
              <a:gd name="connsiteX1" fmla="*/ 1045258 w 4625787"/>
              <a:gd name="connsiteY1" fmla="*/ 738535 h 1250852"/>
              <a:gd name="connsiteX2" fmla="*/ 1351129 w 4625787"/>
              <a:gd name="connsiteY2" fmla="*/ 1038785 h 1250852"/>
              <a:gd name="connsiteX3" fmla="*/ 1555845 w 4625787"/>
              <a:gd name="connsiteY3" fmla="*/ 1216206 h 1250852"/>
              <a:gd name="connsiteX4" fmla="*/ 1897039 w 4625787"/>
              <a:gd name="connsiteY4" fmla="*/ 329102 h 1250852"/>
              <a:gd name="connsiteX5" fmla="*/ 2251881 w 4625787"/>
              <a:gd name="connsiteY5" fmla="*/ 1556 h 1250852"/>
              <a:gd name="connsiteX6" fmla="*/ 2702257 w 4625787"/>
              <a:gd name="connsiteY6" fmla="*/ 438284 h 1250852"/>
              <a:gd name="connsiteX7" fmla="*/ 2975212 w 4625787"/>
              <a:gd name="connsiteY7" fmla="*/ 1216206 h 1250852"/>
              <a:gd name="connsiteX8" fmla="*/ 3446862 w 4625787"/>
              <a:gd name="connsiteY8" fmla="*/ 1052434 h 1250852"/>
              <a:gd name="connsiteX9" fmla="*/ 3745509 w 4625787"/>
              <a:gd name="connsiteY9" fmla="*/ 956898 h 1250852"/>
              <a:gd name="connsiteX10" fmla="*/ 4130053 w 4625787"/>
              <a:gd name="connsiteY10" fmla="*/ 902308 h 1250852"/>
              <a:gd name="connsiteX11" fmla="*/ 4625787 w 4625787"/>
              <a:gd name="connsiteY11" fmla="*/ 943251 h 1250852"/>
              <a:gd name="connsiteX0" fmla="*/ 0 w 4625787"/>
              <a:gd name="connsiteY0" fmla="*/ 397341 h 1250852"/>
              <a:gd name="connsiteX1" fmla="*/ 1045258 w 4625787"/>
              <a:gd name="connsiteY1" fmla="*/ 738535 h 1250852"/>
              <a:gd name="connsiteX2" fmla="*/ 1351129 w 4625787"/>
              <a:gd name="connsiteY2" fmla="*/ 1038785 h 1250852"/>
              <a:gd name="connsiteX3" fmla="*/ 1555845 w 4625787"/>
              <a:gd name="connsiteY3" fmla="*/ 1216206 h 1250852"/>
              <a:gd name="connsiteX4" fmla="*/ 1897039 w 4625787"/>
              <a:gd name="connsiteY4" fmla="*/ 329102 h 1250852"/>
              <a:gd name="connsiteX5" fmla="*/ 2251881 w 4625787"/>
              <a:gd name="connsiteY5" fmla="*/ 1556 h 1250852"/>
              <a:gd name="connsiteX6" fmla="*/ 2702257 w 4625787"/>
              <a:gd name="connsiteY6" fmla="*/ 438284 h 1250852"/>
              <a:gd name="connsiteX7" fmla="*/ 2975212 w 4625787"/>
              <a:gd name="connsiteY7" fmla="*/ 1216206 h 1250852"/>
              <a:gd name="connsiteX8" fmla="*/ 3446862 w 4625787"/>
              <a:gd name="connsiteY8" fmla="*/ 1052434 h 1250852"/>
              <a:gd name="connsiteX9" fmla="*/ 3745509 w 4625787"/>
              <a:gd name="connsiteY9" fmla="*/ 956898 h 1250852"/>
              <a:gd name="connsiteX10" fmla="*/ 4130053 w 4625787"/>
              <a:gd name="connsiteY10" fmla="*/ 902308 h 1250852"/>
              <a:gd name="connsiteX11" fmla="*/ 4625787 w 4625787"/>
              <a:gd name="connsiteY11" fmla="*/ 943251 h 1250852"/>
              <a:gd name="connsiteX0" fmla="*/ 0 w 4311489"/>
              <a:gd name="connsiteY0" fmla="*/ 888660 h 1250852"/>
              <a:gd name="connsiteX1" fmla="*/ 730960 w 4311489"/>
              <a:gd name="connsiteY1" fmla="*/ 738535 h 1250852"/>
              <a:gd name="connsiteX2" fmla="*/ 1036831 w 4311489"/>
              <a:gd name="connsiteY2" fmla="*/ 1038785 h 1250852"/>
              <a:gd name="connsiteX3" fmla="*/ 1241547 w 4311489"/>
              <a:gd name="connsiteY3" fmla="*/ 1216206 h 1250852"/>
              <a:gd name="connsiteX4" fmla="*/ 1582741 w 4311489"/>
              <a:gd name="connsiteY4" fmla="*/ 329102 h 1250852"/>
              <a:gd name="connsiteX5" fmla="*/ 1937583 w 4311489"/>
              <a:gd name="connsiteY5" fmla="*/ 1556 h 1250852"/>
              <a:gd name="connsiteX6" fmla="*/ 2387959 w 4311489"/>
              <a:gd name="connsiteY6" fmla="*/ 438284 h 1250852"/>
              <a:gd name="connsiteX7" fmla="*/ 2660914 w 4311489"/>
              <a:gd name="connsiteY7" fmla="*/ 1216206 h 1250852"/>
              <a:gd name="connsiteX8" fmla="*/ 3132564 w 4311489"/>
              <a:gd name="connsiteY8" fmla="*/ 1052434 h 1250852"/>
              <a:gd name="connsiteX9" fmla="*/ 3431211 w 4311489"/>
              <a:gd name="connsiteY9" fmla="*/ 956898 h 1250852"/>
              <a:gd name="connsiteX10" fmla="*/ 3815755 w 4311489"/>
              <a:gd name="connsiteY10" fmla="*/ 902308 h 1250852"/>
              <a:gd name="connsiteX11" fmla="*/ 4311489 w 4311489"/>
              <a:gd name="connsiteY11" fmla="*/ 943251 h 1250852"/>
              <a:gd name="connsiteX0" fmla="*/ 0 w 4311489"/>
              <a:gd name="connsiteY0" fmla="*/ 888660 h 1250852"/>
              <a:gd name="connsiteX1" fmla="*/ 730960 w 4311489"/>
              <a:gd name="connsiteY1" fmla="*/ 738535 h 1250852"/>
              <a:gd name="connsiteX2" fmla="*/ 1036831 w 4311489"/>
              <a:gd name="connsiteY2" fmla="*/ 1038785 h 1250852"/>
              <a:gd name="connsiteX3" fmla="*/ 1241547 w 4311489"/>
              <a:gd name="connsiteY3" fmla="*/ 1216206 h 1250852"/>
              <a:gd name="connsiteX4" fmla="*/ 1582741 w 4311489"/>
              <a:gd name="connsiteY4" fmla="*/ 329102 h 1250852"/>
              <a:gd name="connsiteX5" fmla="*/ 1937583 w 4311489"/>
              <a:gd name="connsiteY5" fmla="*/ 1556 h 1250852"/>
              <a:gd name="connsiteX6" fmla="*/ 2387959 w 4311489"/>
              <a:gd name="connsiteY6" fmla="*/ 438284 h 1250852"/>
              <a:gd name="connsiteX7" fmla="*/ 2660914 w 4311489"/>
              <a:gd name="connsiteY7" fmla="*/ 1216206 h 1250852"/>
              <a:gd name="connsiteX8" fmla="*/ 3132564 w 4311489"/>
              <a:gd name="connsiteY8" fmla="*/ 1052434 h 1250852"/>
              <a:gd name="connsiteX9" fmla="*/ 3431211 w 4311489"/>
              <a:gd name="connsiteY9" fmla="*/ 956898 h 1250852"/>
              <a:gd name="connsiteX10" fmla="*/ 3815755 w 4311489"/>
              <a:gd name="connsiteY10" fmla="*/ 902308 h 1250852"/>
              <a:gd name="connsiteX11" fmla="*/ 4311489 w 4311489"/>
              <a:gd name="connsiteY11" fmla="*/ 943251 h 125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11489" h="1250852">
                <a:moveTo>
                  <a:pt x="0" y="888660"/>
                </a:moveTo>
                <a:cubicBezTo>
                  <a:pt x="442548" y="951212"/>
                  <a:pt x="558155" y="713514"/>
                  <a:pt x="730960" y="738535"/>
                </a:cubicBezTo>
                <a:cubicBezTo>
                  <a:pt x="903765" y="763556"/>
                  <a:pt x="951733" y="959173"/>
                  <a:pt x="1036831" y="1038785"/>
                </a:cubicBezTo>
                <a:cubicBezTo>
                  <a:pt x="1121929" y="1118397"/>
                  <a:pt x="1150562" y="1334486"/>
                  <a:pt x="1241547" y="1216206"/>
                </a:cubicBezTo>
                <a:cubicBezTo>
                  <a:pt x="1332532" y="1097926"/>
                  <a:pt x="1466735" y="531544"/>
                  <a:pt x="1582741" y="329102"/>
                </a:cubicBezTo>
                <a:cubicBezTo>
                  <a:pt x="1698747" y="126660"/>
                  <a:pt x="1803380" y="-16641"/>
                  <a:pt x="1937583" y="1556"/>
                </a:cubicBezTo>
                <a:cubicBezTo>
                  <a:pt x="2071786" y="19753"/>
                  <a:pt x="2267404" y="235842"/>
                  <a:pt x="2387959" y="438284"/>
                </a:cubicBezTo>
                <a:cubicBezTo>
                  <a:pt x="2508514" y="640726"/>
                  <a:pt x="2536813" y="1113848"/>
                  <a:pt x="2660914" y="1216206"/>
                </a:cubicBezTo>
                <a:cubicBezTo>
                  <a:pt x="2785015" y="1318564"/>
                  <a:pt x="3004181" y="1095652"/>
                  <a:pt x="3132564" y="1052434"/>
                </a:cubicBezTo>
                <a:cubicBezTo>
                  <a:pt x="3260947" y="1009216"/>
                  <a:pt x="3317346" y="981919"/>
                  <a:pt x="3431211" y="956898"/>
                </a:cubicBezTo>
                <a:cubicBezTo>
                  <a:pt x="3545076" y="931877"/>
                  <a:pt x="3669042" y="904583"/>
                  <a:pt x="3815755" y="902308"/>
                </a:cubicBezTo>
                <a:cubicBezTo>
                  <a:pt x="3962468" y="900033"/>
                  <a:pt x="4192071" y="931878"/>
                  <a:pt x="4311489" y="943251"/>
                </a:cubicBezTo>
              </a:path>
            </a:pathLst>
          </a:cu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29 CuadroTexto"/>
          <p:cNvSpPr txBox="1"/>
          <p:nvPr/>
        </p:nvSpPr>
        <p:spPr>
          <a:xfrm>
            <a:off x="2108213" y="2926983"/>
            <a:ext cx="4925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-2T               -T                0             T             2T</a:t>
            </a:r>
            <a:endParaRPr lang="es-AR"/>
          </a:p>
        </p:txBody>
      </p:sp>
      <p:sp>
        <p:nvSpPr>
          <p:cNvPr id="31" name="30 CuadroTexto"/>
          <p:cNvSpPr txBox="1"/>
          <p:nvPr/>
        </p:nvSpPr>
        <p:spPr>
          <a:xfrm>
            <a:off x="2915816" y="550794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-2         -1           0        1          2</a:t>
            </a:r>
            <a:endParaRPr lang="es-AR"/>
          </a:p>
        </p:txBody>
      </p:sp>
      <p:sp>
        <p:nvSpPr>
          <p:cNvPr id="32" name="31 CuadroTexto"/>
          <p:cNvSpPr txBox="1"/>
          <p:nvPr/>
        </p:nvSpPr>
        <p:spPr>
          <a:xfrm>
            <a:off x="107504" y="2106722"/>
            <a:ext cx="1881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Tiempo continuo</a:t>
            </a:r>
            <a:endParaRPr lang="es-AR"/>
          </a:p>
        </p:txBody>
      </p:sp>
      <p:sp>
        <p:nvSpPr>
          <p:cNvPr id="33" name="32 CuadroTexto"/>
          <p:cNvSpPr txBox="1"/>
          <p:nvPr/>
        </p:nvSpPr>
        <p:spPr>
          <a:xfrm>
            <a:off x="107504" y="4005064"/>
            <a:ext cx="1817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Tiempo discreto</a:t>
            </a:r>
            <a:endParaRPr lang="es-AR"/>
          </a:p>
        </p:txBody>
      </p:sp>
      <p:sp>
        <p:nvSpPr>
          <p:cNvPr id="34" name="33 Elipse"/>
          <p:cNvSpPr/>
          <p:nvPr/>
        </p:nvSpPr>
        <p:spPr>
          <a:xfrm>
            <a:off x="3563888" y="3474874"/>
            <a:ext cx="164452" cy="1696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5" name="34 Elipse"/>
          <p:cNvSpPr/>
          <p:nvPr/>
        </p:nvSpPr>
        <p:spPr>
          <a:xfrm>
            <a:off x="5652120" y="3474874"/>
            <a:ext cx="164452" cy="1696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6" name="35 Elipse"/>
          <p:cNvSpPr/>
          <p:nvPr/>
        </p:nvSpPr>
        <p:spPr>
          <a:xfrm>
            <a:off x="4499992" y="2309098"/>
            <a:ext cx="164452" cy="1696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7" name="36 Elipse"/>
          <p:cNvSpPr/>
          <p:nvPr/>
        </p:nvSpPr>
        <p:spPr>
          <a:xfrm>
            <a:off x="2319316" y="3186842"/>
            <a:ext cx="164452" cy="1696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37 Elipse"/>
          <p:cNvSpPr/>
          <p:nvPr/>
        </p:nvSpPr>
        <p:spPr>
          <a:xfrm>
            <a:off x="6711804" y="3186842"/>
            <a:ext cx="164452" cy="1696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365104"/>
            <a:ext cx="2828925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5" name="44 Grupo"/>
          <p:cNvGrpSpPr/>
          <p:nvPr/>
        </p:nvGrpSpPr>
        <p:grpSpPr>
          <a:xfrm>
            <a:off x="6464821" y="4653136"/>
            <a:ext cx="2271113" cy="262333"/>
            <a:chOff x="6549359" y="4971653"/>
            <a:chExt cx="2271113" cy="262333"/>
          </a:xfrm>
          <a:solidFill>
            <a:srgbClr val="000000">
              <a:alpha val="20000"/>
            </a:srgbClr>
          </a:solidFill>
        </p:grpSpPr>
        <p:sp>
          <p:nvSpPr>
            <p:cNvPr id="43" name="42 Rectángulo"/>
            <p:cNvSpPr/>
            <p:nvPr/>
          </p:nvSpPr>
          <p:spPr>
            <a:xfrm rot="20215092">
              <a:off x="6588224" y="4971653"/>
              <a:ext cx="2232248" cy="25754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4" name="43 Rectángulo"/>
            <p:cNvSpPr/>
            <p:nvPr/>
          </p:nvSpPr>
          <p:spPr>
            <a:xfrm rot="1384908" flipH="1">
              <a:off x="6549359" y="4976439"/>
              <a:ext cx="2232248" cy="25754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46" name="45 CuadroTexto"/>
          <p:cNvSpPr txBox="1"/>
          <p:nvPr/>
        </p:nvSpPr>
        <p:spPr>
          <a:xfrm>
            <a:off x="7183741" y="5518973"/>
            <a:ext cx="1852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mtClean="0"/>
              <a:t>No cumple el T.N. para 0-ISI</a:t>
            </a:r>
            <a:endParaRPr lang="es-AR"/>
          </a:p>
        </p:txBody>
      </p:sp>
      <p:sp>
        <p:nvSpPr>
          <p:cNvPr id="47" name="46 CuadroTexto"/>
          <p:cNvSpPr txBox="1"/>
          <p:nvPr/>
        </p:nvSpPr>
        <p:spPr>
          <a:xfrm>
            <a:off x="4499992" y="2034714"/>
            <a:ext cx="7104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2</a:t>
            </a:r>
          </a:p>
          <a:p>
            <a:endParaRPr lang="es-AR"/>
          </a:p>
          <a:p>
            <a:endParaRPr lang="es-AR" smtClean="0"/>
          </a:p>
          <a:p>
            <a:endParaRPr lang="es-AR"/>
          </a:p>
          <a:p>
            <a:endParaRPr lang="es-AR" smtClean="0"/>
          </a:p>
          <a:p>
            <a:r>
              <a:rPr lang="es-AR" smtClean="0"/>
              <a:t>-0,25</a:t>
            </a:r>
            <a:endParaRPr lang="es-AR"/>
          </a:p>
        </p:txBody>
      </p:sp>
      <p:sp>
        <p:nvSpPr>
          <p:cNvPr id="48" name="47 CuadroTexto"/>
          <p:cNvSpPr txBox="1"/>
          <p:nvPr/>
        </p:nvSpPr>
        <p:spPr>
          <a:xfrm>
            <a:off x="4499992" y="4653136"/>
            <a:ext cx="7104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2</a:t>
            </a:r>
          </a:p>
          <a:p>
            <a:endParaRPr lang="es-AR"/>
          </a:p>
          <a:p>
            <a:endParaRPr lang="es-AR" smtClean="0"/>
          </a:p>
          <a:p>
            <a:endParaRPr lang="es-AR"/>
          </a:p>
          <a:p>
            <a:endParaRPr lang="es-AR" smtClean="0"/>
          </a:p>
          <a:p>
            <a:r>
              <a:rPr lang="es-AR" smtClean="0"/>
              <a:t>-0,25</a:t>
            </a:r>
            <a:endParaRPr lang="es-AR"/>
          </a:p>
        </p:txBody>
      </p:sp>
      <p:sp>
        <p:nvSpPr>
          <p:cNvPr id="3" name="2 Rectángulo"/>
          <p:cNvSpPr/>
          <p:nvPr/>
        </p:nvSpPr>
        <p:spPr>
          <a:xfrm>
            <a:off x="429315" y="4653136"/>
            <a:ext cx="335059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s-AR"/>
              <a:t>q</a:t>
            </a:r>
            <a:r>
              <a:rPr lang="es-AR" baseline="-25000"/>
              <a:t>k</a:t>
            </a:r>
            <a:r>
              <a:rPr lang="es-AR"/>
              <a:t> = 2.</a:t>
            </a:r>
            <a:r>
              <a:rPr lang="el-GR"/>
              <a:t>δ</a:t>
            </a:r>
            <a:r>
              <a:rPr lang="es-AR" baseline="-25000"/>
              <a:t>k</a:t>
            </a:r>
            <a:r>
              <a:rPr lang="es-AR"/>
              <a:t> – 0,25.</a:t>
            </a:r>
            <a:r>
              <a:rPr lang="el-GR"/>
              <a:t>δ</a:t>
            </a:r>
            <a:r>
              <a:rPr lang="es-AR" baseline="-25000"/>
              <a:t>k-1</a:t>
            </a:r>
            <a:r>
              <a:rPr lang="es-AR"/>
              <a:t> – 0,25.</a:t>
            </a:r>
            <a:r>
              <a:rPr lang="el-GR"/>
              <a:t>δ</a:t>
            </a:r>
            <a:r>
              <a:rPr lang="es-AR" baseline="-25000"/>
              <a:t>k+1</a:t>
            </a:r>
            <a:r>
              <a:rPr lang="es-AR"/>
              <a:t>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01753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– Ecualizadores ZFE y MMSE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24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 algn="just">
              <a:buAutoNum type="arabicParenR"/>
            </a:pPr>
            <a:r>
              <a:rPr lang="es-AR" sz="1800" smtClean="0"/>
              <a:t>Calcule </a:t>
            </a:r>
            <a:r>
              <a:rPr lang="es-AR" sz="1800" dirty="0" smtClean="0"/>
              <a:t>la Distorsión pico (</a:t>
            </a:r>
            <a:r>
              <a:rPr lang="es-AR" sz="1800" dirty="0" err="1" smtClean="0"/>
              <a:t>D</a:t>
            </a:r>
            <a:r>
              <a:rPr lang="es-AR" sz="1800" baseline="-25000" dirty="0" err="1"/>
              <a:t>p</a:t>
            </a:r>
            <a:r>
              <a:rPr lang="es-AR" sz="1800" dirty="0" smtClean="0"/>
              <a:t>) y la Distorsión media cuadrática (</a:t>
            </a:r>
            <a:r>
              <a:rPr lang="es-AR" sz="1800" dirty="0" err="1" smtClean="0"/>
              <a:t>D</a:t>
            </a:r>
            <a:r>
              <a:rPr lang="es-AR" sz="1800" baseline="-25000" dirty="0" err="1"/>
              <a:t>ms</a:t>
            </a:r>
            <a:r>
              <a:rPr lang="es-AR" sz="1800" dirty="0" smtClean="0"/>
              <a:t>). Explique cómo se calcula la Pe con cada una de ellas. Asuma 4-PAM y ||p|| = 1.</a:t>
            </a:r>
          </a:p>
          <a:p>
            <a:pPr marL="342900" indent="-342900" algn="just">
              <a:buAutoNum type="arabicParenR"/>
            </a:pPr>
            <a:r>
              <a:rPr lang="es-AR" sz="1800" dirty="0" smtClean="0"/>
              <a:t>Realice un diagrama en bloques del sistema, indicando las señales involucradas en cada uno de los bloques.</a:t>
            </a:r>
          </a:p>
          <a:p>
            <a:pPr marL="342900" indent="-342900" algn="just">
              <a:buAutoNum type="arabicParenR"/>
            </a:pPr>
            <a:r>
              <a:rPr lang="es-AR" sz="1800" dirty="0" smtClean="0"/>
              <a:t>Explique conceptualmente la formación de ISI con esta respuesta impulsiva.</a:t>
            </a:r>
          </a:p>
          <a:p>
            <a:pPr marL="342900" indent="-342900" algn="just">
              <a:buAutoNum type="arabicParenR"/>
            </a:pPr>
            <a:r>
              <a:rPr lang="es-AR" sz="1800" dirty="0" smtClean="0"/>
              <a:t>Determine la transformada Z del sistema, Q(z), y su transformada de Fourier;</a:t>
            </a:r>
          </a:p>
          <a:p>
            <a:pPr marL="342900" indent="-342900" algn="just">
              <a:buAutoNum type="arabicParenR"/>
            </a:pPr>
            <a:r>
              <a:rPr lang="es-AR" sz="1800" dirty="0" smtClean="0"/>
              <a:t>Diseñe el ecualizador ZFE mediante su transformada Z y su ROC.</a:t>
            </a:r>
          </a:p>
          <a:p>
            <a:pPr marL="342900" indent="-342900" algn="just">
              <a:buAutoNum type="arabicParenR"/>
            </a:pPr>
            <a:r>
              <a:rPr lang="es-AR" sz="1800" dirty="0" smtClean="0"/>
              <a:t>Calcule la </a:t>
            </a:r>
            <a:r>
              <a:rPr lang="es-AR" sz="1800" dirty="0" err="1" smtClean="0"/>
              <a:t>autocorrelación</a:t>
            </a:r>
            <a:r>
              <a:rPr lang="es-AR" sz="1800" dirty="0" smtClean="0"/>
              <a:t>/DEP del ruido a la salida del ecualizador y obtenga la expresión para calcular la varianza del ruido a la salida del ecualizador.</a:t>
            </a:r>
          </a:p>
          <a:p>
            <a:pPr marL="342900" indent="-342900" algn="just">
              <a:buAutoNum type="arabicParenR"/>
            </a:pPr>
            <a:r>
              <a:rPr lang="es-AR" sz="1800" dirty="0"/>
              <a:t>¿</a:t>
            </a:r>
            <a:r>
              <a:rPr lang="es-AR" sz="1800" dirty="0" smtClean="0"/>
              <a:t>Qué inconvenientes presenta el ZFE para baja SNR?</a:t>
            </a:r>
          </a:p>
          <a:p>
            <a:pPr marL="342900" indent="-342900" algn="just">
              <a:buAutoNum type="arabicParenR"/>
            </a:pPr>
            <a:r>
              <a:rPr lang="es-AR" sz="1800" dirty="0" smtClean="0"/>
              <a:t>Ahora suponga que SNR</a:t>
            </a:r>
            <a:r>
              <a:rPr lang="es-AR" sz="1800" baseline="-25000" dirty="0" smtClean="0"/>
              <a:t>MFB</a:t>
            </a:r>
            <a:r>
              <a:rPr lang="es-AR" sz="1800" dirty="0" smtClean="0"/>
              <a:t> = 3 dB. Repita los puntos anteriores para el ecualizador MMSE.</a:t>
            </a:r>
          </a:p>
          <a:p>
            <a:pPr marL="342900" indent="-342900" algn="just">
              <a:buAutoNum type="arabicParenR"/>
            </a:pPr>
            <a:r>
              <a:rPr lang="es-AR" sz="1800" dirty="0" smtClean="0"/>
              <a:t>Si el MMSE no corrige el sesgo, de valor </a:t>
            </a:r>
            <a:r>
              <a:rPr lang="el-GR" sz="1800" dirty="0" smtClean="0"/>
              <a:t>α</a:t>
            </a:r>
            <a:r>
              <a:rPr lang="es-AR" sz="1800" dirty="0" smtClean="0"/>
              <a:t>, exprese y calcule la probabilidad de error para una modulación a) 4-PAM; b) 4-PSK. Evalúe qué sucede si se diseñan las regiones de decisión para la constelación </a:t>
            </a:r>
            <a:r>
              <a:rPr lang="es-AR" sz="1800" dirty="0" err="1" smtClean="0"/>
              <a:t>insesgada</a:t>
            </a:r>
            <a:r>
              <a:rPr lang="es-AR" sz="18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735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– Ecualizadores ZFE y MMSE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25</a:t>
            </a:fld>
            <a:endParaRPr lang="es-E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534469"/>
            <a:ext cx="8604448" cy="4293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Y"/>
          <p:cNvSpPr/>
          <p:nvPr/>
        </p:nvSpPr>
        <p:spPr>
          <a:xfrm>
            <a:off x="8550696" y="4383360"/>
            <a:ext cx="413792" cy="413792"/>
          </a:xfrm>
          <a:prstGeom prst="flowChartSummingJunction">
            <a:avLst/>
          </a:prstGeom>
          <a:solidFill>
            <a:srgbClr val="EA7D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recto de flecha"/>
          <p:cNvCxnSpPr>
            <a:endCxn id="8" idx="0"/>
          </p:cNvCxnSpPr>
          <p:nvPr/>
        </p:nvCxnSpPr>
        <p:spPr>
          <a:xfrm>
            <a:off x="8757592" y="4086200"/>
            <a:ext cx="0" cy="297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CuadroTexto"/>
          <p:cNvSpPr txBox="1"/>
          <p:nvPr/>
        </p:nvSpPr>
        <p:spPr>
          <a:xfrm>
            <a:off x="8514375" y="375622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1/</a:t>
            </a:r>
            <a:r>
              <a:rPr lang="el-GR" dirty="0" smtClean="0"/>
              <a:t>α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2143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489720"/>
            <a:ext cx="637222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220" y="3024485"/>
            <a:ext cx="3537244" cy="1101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Ejercicio – Ecualizadores ZFE y MMSE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26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1" name="10 CuadroTexto"/>
          <p:cNvSpPr txBox="1"/>
          <p:nvPr/>
        </p:nvSpPr>
        <p:spPr>
          <a:xfrm>
            <a:off x="330842" y="2644267"/>
            <a:ext cx="3133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u="sng" dirty="0" smtClean="0"/>
              <a:t>Distorsión pico:</a:t>
            </a:r>
            <a:endParaRPr lang="es-AR" b="1" u="sng" dirty="0"/>
          </a:p>
        </p:txBody>
      </p:sp>
      <p:sp>
        <p:nvSpPr>
          <p:cNvPr id="18" name="17 CuadroTexto"/>
          <p:cNvSpPr txBox="1"/>
          <p:nvPr/>
        </p:nvSpPr>
        <p:spPr>
          <a:xfrm>
            <a:off x="323528" y="4355812"/>
            <a:ext cx="4628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u="sng" dirty="0" smtClean="0"/>
              <a:t>Distorsión cuadrática media:</a:t>
            </a:r>
            <a:endParaRPr lang="es-AR" b="1" u="sng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19" y="3149146"/>
            <a:ext cx="3107403" cy="791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186" y="4719633"/>
            <a:ext cx="3359274" cy="941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11 Flecha derecha"/>
          <p:cNvSpPr/>
          <p:nvPr/>
        </p:nvSpPr>
        <p:spPr>
          <a:xfrm>
            <a:off x="4154234" y="324953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28 Flecha derecha"/>
          <p:cNvSpPr/>
          <p:nvPr/>
        </p:nvSpPr>
        <p:spPr>
          <a:xfrm>
            <a:off x="4139952" y="496059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2" name="31 Elipse"/>
          <p:cNvSpPr/>
          <p:nvPr/>
        </p:nvSpPr>
        <p:spPr>
          <a:xfrm>
            <a:off x="5580112" y="1395360"/>
            <a:ext cx="2039800" cy="7026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32 CuadroTexto"/>
          <p:cNvSpPr txBox="1"/>
          <p:nvPr/>
        </p:nvSpPr>
        <p:spPr>
          <a:xfrm>
            <a:off x="6171874" y="4057327"/>
            <a:ext cx="2720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ISI = reducción de la distancia</a:t>
            </a:r>
            <a:endParaRPr lang="es-AR" sz="1400" dirty="0"/>
          </a:p>
        </p:txBody>
      </p:sp>
      <p:sp>
        <p:nvSpPr>
          <p:cNvPr id="34" name="33 CuadroTexto"/>
          <p:cNvSpPr txBox="1"/>
          <p:nvPr/>
        </p:nvSpPr>
        <p:spPr>
          <a:xfrm>
            <a:off x="6169824" y="5713511"/>
            <a:ext cx="2720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ISI = aumento del ruido</a:t>
            </a:r>
            <a:endParaRPr lang="es-AR" sz="1400" dirty="0"/>
          </a:p>
        </p:txBody>
      </p:sp>
      <p:sp>
        <p:nvSpPr>
          <p:cNvPr id="35" name="34 Elipse"/>
          <p:cNvSpPr/>
          <p:nvPr/>
        </p:nvSpPr>
        <p:spPr>
          <a:xfrm>
            <a:off x="7929080" y="3113672"/>
            <a:ext cx="648072" cy="4786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6" name="35 Elipse"/>
          <p:cNvSpPr/>
          <p:nvPr/>
        </p:nvSpPr>
        <p:spPr>
          <a:xfrm>
            <a:off x="7938960" y="5182556"/>
            <a:ext cx="648072" cy="4786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7" name="6 Grupo"/>
          <p:cNvGrpSpPr/>
          <p:nvPr/>
        </p:nvGrpSpPr>
        <p:grpSpPr>
          <a:xfrm>
            <a:off x="306352" y="4792112"/>
            <a:ext cx="3617576" cy="941143"/>
            <a:chOff x="306352" y="4792112"/>
            <a:chExt cx="3617576" cy="941143"/>
          </a:xfrm>
        </p:grpSpPr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5823" y="4848908"/>
              <a:ext cx="2568105" cy="8843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" name="Picture 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352" y="4792112"/>
              <a:ext cx="1013842" cy="671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4" name="23 CuadroTexto"/>
          <p:cNvSpPr txBox="1"/>
          <p:nvPr/>
        </p:nvSpPr>
        <p:spPr>
          <a:xfrm>
            <a:off x="5094328" y="5991365"/>
            <a:ext cx="3584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smtClean="0"/>
              <a:t>Nota: Varianza y DCM por dimensión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377686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Ejercicio – Ecualizadores ZFE y MMSE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27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1" name="10 CuadroTexto"/>
          <p:cNvSpPr txBox="1"/>
          <p:nvPr/>
        </p:nvSpPr>
        <p:spPr>
          <a:xfrm>
            <a:off x="330842" y="1412776"/>
            <a:ext cx="3809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u="sng" dirty="0" smtClean="0"/>
              <a:t>Diseño del ecualizador ZFE:</a:t>
            </a:r>
            <a:endParaRPr lang="es-AR" b="1" u="sng" dirty="0"/>
          </a:p>
        </p:txBody>
      </p:sp>
      <p:sp>
        <p:nvSpPr>
          <p:cNvPr id="18" name="17 CuadroTexto"/>
          <p:cNvSpPr txBox="1"/>
          <p:nvPr/>
        </p:nvSpPr>
        <p:spPr>
          <a:xfrm>
            <a:off x="323528" y="2771636"/>
            <a:ext cx="4628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u="sng" dirty="0" smtClean="0"/>
              <a:t>Performance del ZFE:</a:t>
            </a:r>
            <a:endParaRPr lang="es-AR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CuadroTexto"/>
              <p:cNvSpPr txBox="1"/>
              <p:nvPr/>
            </p:nvSpPr>
            <p:spPr>
              <a:xfrm>
                <a:off x="6795563" y="1857832"/>
                <a:ext cx="2312941" cy="6619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𝑍𝐹𝐸</m:t>
                          </m:r>
                        </m:sub>
                      </m:sSub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  <m:r>
                            <a:rPr lang="es-AR" b="0" i="1" smtClean="0">
                              <a:latin typeface="Cambria Math"/>
                            </a:rPr>
                            <m:t>.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𝑄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𝑧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563" y="1857832"/>
                <a:ext cx="2312941" cy="66191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6 CuadroTexto"/>
              <p:cNvSpPr txBox="1"/>
              <p:nvPr/>
            </p:nvSpPr>
            <p:spPr>
              <a:xfrm>
                <a:off x="3274666" y="2014834"/>
                <a:ext cx="18733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𝑞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</a:rPr>
                        <m:t>𝑞</m:t>
                      </m:r>
                      <m:r>
                        <a:rPr lang="es-AR" b="0" i="1" smtClean="0">
                          <a:latin typeface="Cambria Math"/>
                        </a:rPr>
                        <m:t>(</m:t>
                      </m:r>
                      <m:r>
                        <a:rPr lang="es-AR" b="0" i="1" smtClean="0">
                          <a:latin typeface="Cambria Math"/>
                        </a:rPr>
                        <m:t>𝑡</m:t>
                      </m:r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</a:rPr>
                        <m:t>𝑘</m:t>
                      </m:r>
                      <m:r>
                        <a:rPr lang="es-AR" b="0" i="1" smtClean="0">
                          <a:latin typeface="Cambria Math"/>
                        </a:rPr>
                        <m:t>.</m:t>
                      </m:r>
                      <m:r>
                        <a:rPr lang="es-AR" b="0" i="1" smtClean="0">
                          <a:latin typeface="Cambria Math"/>
                        </a:rPr>
                        <m:t>𝑇</m:t>
                      </m:r>
                      <m:r>
                        <a:rPr lang="es-AR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7" name="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666" y="2014834"/>
                <a:ext cx="1873398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23 CuadroTexto"/>
              <p:cNvSpPr txBox="1"/>
              <p:nvPr/>
            </p:nvSpPr>
            <p:spPr>
              <a:xfrm>
                <a:off x="323528" y="4196795"/>
                <a:ext cx="3907032" cy="856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  <a:ea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𝑍𝐹𝐸</m:t>
                              </m:r>
                            </m:sub>
                          </m:sSub>
                        </m:e>
                        <m:sup>
                          <m:r>
                            <a:rPr lang="es-AR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𝑇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.</m:t>
                          </m:r>
                          <m:f>
                            <m:fPr>
                              <m:type m:val="skw"/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l-GR" i="1">
                              <a:latin typeface="Cambria Math"/>
                            </a:rPr>
                            <m:t>π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den>
                      </m:f>
                      <m:nary>
                        <m:nary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b="0" i="1" smtClean="0"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</a:rPr>
                            <m:t>π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/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𝑇</m:t>
                          </m:r>
                        </m:sub>
                        <m:sup>
                          <m:r>
                            <m:rPr>
                              <m:sty m:val="p"/>
                              <m:brk m:alnAt="23"/>
                            </m:rPr>
                            <a:rPr lang="el-GR" i="1">
                              <a:latin typeface="Cambria Math"/>
                            </a:rPr>
                            <m:t>π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/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AR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AR" i="1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s-AR" i="1">
                                  <a:latin typeface="Cambria Math"/>
                                </a:rPr>
                                <m:t>.</m:t>
                              </m:r>
                              <m:r>
                                <a:rPr lang="es-AR" i="1">
                                  <a:latin typeface="Cambria Math"/>
                                </a:rPr>
                                <m:t>𝑄</m:t>
                              </m:r>
                              <m:r>
                                <a:rPr lang="es-AR" i="1">
                                  <a:latin typeface="Cambria Math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s-AR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𝑗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b="0" i="1" smtClean="0">
                                      <a:latin typeface="Cambria Math"/>
                                      <a:ea typeface="Cambria Math"/>
                                    </a:rPr>
                                    <m:t>Ω</m:t>
                                  </m:r>
                                </m:sup>
                              </m:sSup>
                              <m:r>
                                <a:rPr lang="es-AR" i="1">
                                  <a:latin typeface="Cambria Math"/>
                                </a:rPr>
                                <m:t>)</m:t>
                              </m:r>
                            </m:den>
                          </m:f>
                          <m:r>
                            <a:rPr lang="es-AR" b="0" i="1" smtClean="0">
                              <a:latin typeface="Cambria Math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</m:nary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4" name="2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196795"/>
                <a:ext cx="3907032" cy="85606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7 CuadroTexto"/>
              <p:cNvSpPr txBox="1"/>
              <p:nvPr/>
            </p:nvSpPr>
            <p:spPr>
              <a:xfrm>
                <a:off x="5101982" y="4201343"/>
                <a:ext cx="4076179" cy="911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𝑆𝑁𝑅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𝑍𝐹𝐸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</a:rPr>
                                    <m:t>ε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  <a:ea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/>
                                    </a:rPr>
                                    <m:t>𝑍𝐹𝐸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s-A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i="1">
                                  <a:latin typeface="Cambria Math"/>
                                </a:rPr>
                                <m:t>𝑆𝑁𝑅</m:t>
                              </m:r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𝑀𝐹𝐵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AR" b="0" i="1" smtClean="0">
                                  <a:latin typeface="Cambria Math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s-AR" i="1">
                                  <a:latin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  <m:brk m:alnAt="23"/>
                                </m:rPr>
                                <a:rPr lang="el-GR" i="1">
                                  <a:latin typeface="Cambria Math"/>
                                </a:rPr>
                                <m:t>π</m:t>
                              </m:r>
                            </m:den>
                          </m:f>
                          <m:nary>
                            <m:nary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AR" i="1">
                                  <a:latin typeface="Cambria Math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</a:rPr>
                                <m:t>π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/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𝑇</m:t>
                              </m:r>
                            </m:sub>
                            <m:sup>
                              <m:r>
                                <m:rPr>
                                  <m:sty m:val="p"/>
                                  <m:brk m:alnAt="23"/>
                                </m:rPr>
                                <a:rPr lang="el-GR" i="1">
                                  <a:latin typeface="Cambria Math"/>
                                </a:rPr>
                                <m:t>π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/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𝑇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AR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AR" i="1">
                                      <a:latin typeface="Cambria Math"/>
                                    </a:rPr>
                                    <m:t>𝑄</m:t>
                                  </m:r>
                                  <m:r>
                                    <a:rPr lang="es-AR" i="1">
                                      <a:latin typeface="Cambria Math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s-AR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𝑗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/>
                                          <a:ea typeface="Cambria Math"/>
                                        </a:rPr>
                                        <m:t>Ω</m:t>
                                      </m:r>
                                    </m:sup>
                                  </m:sSup>
                                  <m:r>
                                    <a:rPr lang="es-AR" i="1">
                                      <a:latin typeface="Cambria Math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s-AR" i="1">
                                  <a:latin typeface="Cambria Math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  <a:ea typeface="Cambria Math"/>
                                </a:rPr>
                                <m:t>Ω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8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982" y="4201343"/>
                <a:ext cx="4076179" cy="9115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25 CuadroTexto"/>
              <p:cNvSpPr txBox="1"/>
              <p:nvPr/>
            </p:nvSpPr>
            <p:spPr>
              <a:xfrm>
                <a:off x="5364088" y="3150260"/>
                <a:ext cx="2150076" cy="8361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𝑆𝑁𝑅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𝑀𝐹𝐵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b="0" i="1" smtClean="0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</a:rPr>
                                    <m:t>ε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b="0" i="1" smtClean="0"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  <m:r>
                            <a:rPr lang="es-AR" b="0" i="1" smtClean="0">
                              <a:latin typeface="Cambria Math"/>
                            </a:rPr>
                            <m:t>.</m:t>
                          </m:r>
                          <m:sSup>
                            <m:sSup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AR" i="1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s-A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f>
                            <m:fPr>
                              <m:type m:val="skw"/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6" name="2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3150260"/>
                <a:ext cx="2150076" cy="83619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12 CuadroTexto"/>
              <p:cNvSpPr txBox="1"/>
              <p:nvPr/>
            </p:nvSpPr>
            <p:spPr>
              <a:xfrm>
                <a:off x="7982296" y="3294276"/>
                <a:ext cx="10334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AR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/>
                              </a:rPr>
                              <m:t>ε</m:t>
                            </m:r>
                          </m:e>
                        </m:acc>
                      </m:e>
                      <m:sub>
                        <m:r>
                          <a:rPr lang="es-AR" i="1">
                            <a:latin typeface="Cambria Math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s-AR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</a:rPr>
                          <m:t>ε</m:t>
                        </m:r>
                      </m:e>
                      <m:sub>
                        <m:r>
                          <a:rPr lang="es-AR" i="1">
                            <a:latin typeface="Cambria Math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s-AR" dirty="0" smtClean="0"/>
                  <a:t>/N</a:t>
                </a:r>
                <a:endParaRPr lang="es-AR" dirty="0"/>
              </a:p>
            </p:txBody>
          </p:sp>
        </mc:Choice>
        <mc:Fallback xmlns="">
          <p:sp>
            <p:nvSpPr>
              <p:cNvPr id="13" name="1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296" y="3294276"/>
                <a:ext cx="1033488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6557" r="-4118" b="-2623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29 CuadroTexto"/>
          <p:cNvSpPr txBox="1"/>
          <p:nvPr/>
        </p:nvSpPr>
        <p:spPr>
          <a:xfrm>
            <a:off x="5101982" y="2708920"/>
            <a:ext cx="335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Cota del Filtro Adaptado:</a:t>
            </a:r>
            <a:endParaRPr lang="es-AR" dirty="0"/>
          </a:p>
        </p:txBody>
      </p:sp>
      <p:sp>
        <p:nvSpPr>
          <p:cNvPr id="31" name="30 CuadroTexto"/>
          <p:cNvSpPr txBox="1"/>
          <p:nvPr/>
        </p:nvSpPr>
        <p:spPr>
          <a:xfrm>
            <a:off x="5678046" y="5137447"/>
            <a:ext cx="335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AR" sz="1400" dirty="0" smtClean="0">
                <a:solidFill>
                  <a:srgbClr val="FF0000"/>
                </a:solidFill>
              </a:rPr>
              <a:t>Pérdida del ZFE = </a:t>
            </a:r>
            <a:r>
              <a:rPr lang="el-GR" sz="1400" dirty="0" smtClean="0">
                <a:solidFill>
                  <a:srgbClr val="FF0000"/>
                </a:solidFill>
                <a:latin typeface="Cambria Math"/>
                <a:ea typeface="Cambria Math"/>
              </a:rPr>
              <a:t>γ</a:t>
            </a:r>
            <a:r>
              <a:rPr lang="es-AR" sz="1400" baseline="-25000" dirty="0" smtClean="0">
                <a:solidFill>
                  <a:srgbClr val="FF0000"/>
                </a:solidFill>
                <a:latin typeface="Cambria Math"/>
                <a:ea typeface="Cambria Math"/>
              </a:rPr>
              <a:t>ZFE</a:t>
            </a:r>
            <a:r>
              <a:rPr lang="es-AR" sz="1400" dirty="0" smtClean="0">
                <a:solidFill>
                  <a:srgbClr val="FF0000"/>
                </a:solidFill>
                <a:latin typeface="Cambria Math"/>
                <a:ea typeface="Cambria Math"/>
              </a:rPr>
              <a:t> ≥ 1</a:t>
            </a:r>
            <a:endParaRPr lang="es-AR" sz="1400" dirty="0">
              <a:solidFill>
                <a:srgbClr val="FF0000"/>
              </a:solidFill>
            </a:endParaRPr>
          </a:p>
        </p:txBody>
      </p:sp>
      <p:sp>
        <p:nvSpPr>
          <p:cNvPr id="33" name="32 Elipse"/>
          <p:cNvSpPr/>
          <p:nvPr/>
        </p:nvSpPr>
        <p:spPr>
          <a:xfrm>
            <a:off x="7022622" y="4443900"/>
            <a:ext cx="2039800" cy="7026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18 CuadroTexto"/>
              <p:cNvSpPr txBox="1"/>
              <p:nvPr/>
            </p:nvSpPr>
            <p:spPr>
              <a:xfrm>
                <a:off x="5580636" y="1988840"/>
                <a:ext cx="7195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>
                          <a:latin typeface="Cambria Math"/>
                        </a:rPr>
                        <m:t>𝑄</m:t>
                      </m:r>
                      <m:r>
                        <a:rPr lang="es-AR" i="1">
                          <a:latin typeface="Cambria Math"/>
                        </a:rPr>
                        <m:t>(</m:t>
                      </m:r>
                      <m:r>
                        <a:rPr lang="es-AR" i="1">
                          <a:latin typeface="Cambria Math"/>
                        </a:rPr>
                        <m:t>𝑧</m:t>
                      </m:r>
                      <m:r>
                        <a:rPr lang="es-AR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9" name="1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636" y="1988840"/>
                <a:ext cx="719556" cy="369332"/>
              </a:xfrm>
              <a:prstGeom prst="rect">
                <a:avLst/>
              </a:prstGeom>
              <a:blipFill rotWithShape="1"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19 Flecha derecha"/>
          <p:cNvSpPr/>
          <p:nvPr/>
        </p:nvSpPr>
        <p:spPr>
          <a:xfrm>
            <a:off x="5090908" y="1957184"/>
            <a:ext cx="48920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24 CuadroTexto"/>
              <p:cNvSpPr txBox="1"/>
              <p:nvPr/>
            </p:nvSpPr>
            <p:spPr>
              <a:xfrm>
                <a:off x="2029609" y="2016136"/>
                <a:ext cx="6701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𝑞</m:t>
                      </m:r>
                      <m:r>
                        <a:rPr lang="es-AR" b="0" i="1" smtClean="0">
                          <a:latin typeface="Cambria Math"/>
                        </a:rPr>
                        <m:t>(</m:t>
                      </m:r>
                      <m:r>
                        <a:rPr lang="es-AR" b="0" i="1" smtClean="0">
                          <a:latin typeface="Cambria Math"/>
                        </a:rPr>
                        <m:t>𝑡</m:t>
                      </m:r>
                      <m:r>
                        <a:rPr lang="es-AR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5" name="2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609" y="2016136"/>
                <a:ext cx="670183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26 Flecha derecha"/>
          <p:cNvSpPr/>
          <p:nvPr/>
        </p:nvSpPr>
        <p:spPr>
          <a:xfrm>
            <a:off x="2786652" y="1957776"/>
            <a:ext cx="48920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27 Flecha derecha"/>
          <p:cNvSpPr/>
          <p:nvPr/>
        </p:nvSpPr>
        <p:spPr>
          <a:xfrm>
            <a:off x="6315044" y="1961544"/>
            <a:ext cx="48920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28 Flecha derecha"/>
          <p:cNvSpPr/>
          <p:nvPr/>
        </p:nvSpPr>
        <p:spPr>
          <a:xfrm>
            <a:off x="1490508" y="1961544"/>
            <a:ext cx="48920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31 CuadroTexto"/>
              <p:cNvSpPr txBox="1"/>
              <p:nvPr/>
            </p:nvSpPr>
            <p:spPr>
              <a:xfrm>
                <a:off x="-36512" y="1924921"/>
                <a:ext cx="1555598" cy="639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==</m:t>
                      </m:r>
                      <m:r>
                        <a:rPr lang="es-AR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∗</m:t>
                      </m:r>
                      <m:r>
                        <a:rPr lang="es-AR" b="0" i="1" smtClean="0">
                          <a:latin typeface="Cambria Math"/>
                        </a:rPr>
                        <m:t>h</m:t>
                      </m:r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AR" b="0" i="0" smtClean="0">
                              <a:latin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es-AR" b="0" dirty="0" smtClean="0"/>
              </a:p>
            </p:txBody>
          </p:sp>
        </mc:Choice>
        <mc:Fallback xmlns="">
          <p:sp>
            <p:nvSpPr>
              <p:cNvPr id="32" name="3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512" y="1924921"/>
                <a:ext cx="1555598" cy="639983"/>
              </a:xfrm>
              <a:prstGeom prst="rect">
                <a:avLst/>
              </a:prstGeom>
              <a:blipFill rotWithShape="1">
                <a:blip r:embed="rId10"/>
                <a:stretch>
                  <a:fillRect b="-381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8 CuadroTexto"/>
              <p:cNvSpPr txBox="1"/>
              <p:nvPr/>
            </p:nvSpPr>
            <p:spPr>
              <a:xfrm>
                <a:off x="391761" y="3225158"/>
                <a:ext cx="1873975" cy="6090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𝑄</m:t>
                      </m:r>
                      <m:r>
                        <a:rPr lang="es-AR" b="0" i="1" smtClean="0">
                          <a:latin typeface="Cambria Math"/>
                        </a:rPr>
                        <m:t>(</m:t>
                      </m:r>
                      <m:r>
                        <a:rPr lang="es-AR" b="0" i="1" smtClean="0">
                          <a:latin typeface="Cambria Math"/>
                        </a:rPr>
                        <m:t>𝑧</m:t>
                      </m:r>
                      <m:r>
                        <a:rPr lang="es-AR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9" name="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61" y="3225158"/>
                <a:ext cx="1873975" cy="609077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33 CuadroTexto"/>
          <p:cNvSpPr txBox="1"/>
          <p:nvPr/>
        </p:nvSpPr>
        <p:spPr>
          <a:xfrm>
            <a:off x="2076672" y="3412737"/>
            <a:ext cx="335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= Ruido a la entrada del ZFE</a:t>
            </a:r>
            <a:endParaRPr lang="es-AR" sz="1400" dirty="0"/>
          </a:p>
        </p:txBody>
      </p:sp>
      <p:sp>
        <p:nvSpPr>
          <p:cNvPr id="35" name="34 CuadroTexto"/>
          <p:cNvSpPr txBox="1"/>
          <p:nvPr/>
        </p:nvSpPr>
        <p:spPr>
          <a:xfrm>
            <a:off x="6326118" y="1412776"/>
            <a:ext cx="278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>
                <a:solidFill>
                  <a:srgbClr val="FF0000"/>
                </a:solidFill>
              </a:rPr>
              <a:t>Ignora el ruido térmico!!!</a:t>
            </a:r>
            <a:endParaRPr lang="es-AR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35 CuadroTexto"/>
              <p:cNvSpPr txBox="1"/>
              <p:nvPr/>
            </p:nvSpPr>
            <p:spPr>
              <a:xfrm>
                <a:off x="3578434" y="5299540"/>
                <a:ext cx="2130007" cy="663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 smtClean="0">
                          <a:latin typeface="Cambria Math"/>
                        </a:rPr>
                        <m:t>𝑃</m:t>
                      </m:r>
                      <m:r>
                        <a:rPr lang="es-AR" b="0" i="1" smtClean="0">
                          <a:latin typeface="Cambria Math"/>
                        </a:rPr>
                        <m:t>𝑒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𝑁𝑒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.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𝑄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(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/>
                                  <a:ea typeface="Cambria Math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r>
                            <a:rPr lang="es-AR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  <a:ea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𝑍𝐹𝐸</m:t>
                              </m:r>
                            </m:sub>
                          </m:sSub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6" name="3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434" y="5299540"/>
                <a:ext cx="2130007" cy="66358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36 Elipse"/>
          <p:cNvSpPr/>
          <p:nvPr/>
        </p:nvSpPr>
        <p:spPr>
          <a:xfrm rot="5400000">
            <a:off x="1161294" y="3284018"/>
            <a:ext cx="648072" cy="4786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2482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Ejercicio – Ecualizadores ZFE y MMSE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28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1" name="10 CuadroTexto"/>
          <p:cNvSpPr txBox="1"/>
          <p:nvPr/>
        </p:nvSpPr>
        <p:spPr>
          <a:xfrm>
            <a:off x="330842" y="1412776"/>
            <a:ext cx="3809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u="sng" dirty="0" smtClean="0"/>
              <a:t>Diseño del ecualizador MMSE:</a:t>
            </a:r>
            <a:endParaRPr lang="es-AR" b="1" u="sng" dirty="0"/>
          </a:p>
        </p:txBody>
      </p:sp>
      <p:sp>
        <p:nvSpPr>
          <p:cNvPr id="18" name="17 CuadroTexto"/>
          <p:cNvSpPr txBox="1"/>
          <p:nvPr/>
        </p:nvSpPr>
        <p:spPr>
          <a:xfrm>
            <a:off x="323528" y="3356992"/>
            <a:ext cx="4628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u="sng" dirty="0" smtClean="0"/>
              <a:t>Performance del MMSE:</a:t>
            </a:r>
            <a:endParaRPr lang="es-AR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CuadroTexto"/>
              <p:cNvSpPr txBox="1"/>
              <p:nvPr/>
            </p:nvSpPr>
            <p:spPr>
              <a:xfrm>
                <a:off x="2773560" y="2564904"/>
                <a:ext cx="3740896" cy="8815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𝑀𝑀𝑆𝐸</m:t>
                          </m:r>
                        </m:sub>
                      </m:sSub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  <m:r>
                            <a:rPr lang="es-AR" b="0" i="1" smtClean="0">
                              <a:latin typeface="Cambria Math"/>
                            </a:rPr>
                            <m:t>.[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𝑄</m:t>
                          </m:r>
                          <m:d>
                            <m:d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es-AR" b="0" i="1" smtClean="0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AR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s-AR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𝑆𝑁𝑅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𝑀𝐹𝐵</m:t>
                                  </m:r>
                                </m:sub>
                              </m:sSub>
                            </m:den>
                          </m:f>
                          <m:r>
                            <a:rPr lang="es-AR" b="0" i="1" smtClean="0">
                              <a:latin typeface="Cambria Math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560" y="2564904"/>
                <a:ext cx="3740896" cy="88158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6 CuadroTexto"/>
              <p:cNvSpPr txBox="1"/>
              <p:nvPr/>
            </p:nvSpPr>
            <p:spPr>
              <a:xfrm>
                <a:off x="4354786" y="2014834"/>
                <a:ext cx="18733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𝑞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</a:rPr>
                        <m:t>𝑞</m:t>
                      </m:r>
                      <m:r>
                        <a:rPr lang="es-AR" b="0" i="1" smtClean="0">
                          <a:latin typeface="Cambria Math"/>
                        </a:rPr>
                        <m:t>(</m:t>
                      </m:r>
                      <m:r>
                        <a:rPr lang="es-AR" b="0" i="1" smtClean="0">
                          <a:latin typeface="Cambria Math"/>
                        </a:rPr>
                        <m:t>𝑡</m:t>
                      </m:r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</a:rPr>
                        <m:t>𝑘</m:t>
                      </m:r>
                      <m:r>
                        <a:rPr lang="es-AR" b="0" i="1" smtClean="0">
                          <a:latin typeface="Cambria Math"/>
                        </a:rPr>
                        <m:t>.</m:t>
                      </m:r>
                      <m:r>
                        <a:rPr lang="es-AR" b="0" i="1" smtClean="0">
                          <a:latin typeface="Cambria Math"/>
                        </a:rPr>
                        <m:t>𝑇</m:t>
                      </m:r>
                      <m:r>
                        <a:rPr lang="es-AR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7" name="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786" y="2014834"/>
                <a:ext cx="1873398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23 CuadroTexto"/>
              <p:cNvSpPr txBox="1"/>
              <p:nvPr/>
            </p:nvSpPr>
            <p:spPr>
              <a:xfrm>
                <a:off x="323528" y="3865792"/>
                <a:ext cx="6245364" cy="1027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  <a:ea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/>
                                </a:rPr>
                                <m:t>𝑀𝑀𝑆𝐸</m:t>
                              </m:r>
                            </m:sub>
                          </m:sSub>
                        </m:e>
                        <m:sup>
                          <m:r>
                            <a:rPr lang="es-AR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𝑇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.</m:t>
                          </m:r>
                          <m:f>
                            <m:fPr>
                              <m:type m:val="skw"/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l-GR" i="1">
                              <a:latin typeface="Cambria Math"/>
                            </a:rPr>
                            <m:t>π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den>
                      </m:f>
                      <m:nary>
                        <m:nary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b="0" i="1" smtClean="0"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</a:rPr>
                            <m:t>π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/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𝑇</m:t>
                          </m:r>
                        </m:sub>
                        <m:sup>
                          <m:r>
                            <m:rPr>
                              <m:sty m:val="p"/>
                              <m:brk m:alnAt="23"/>
                            </m:rPr>
                            <a:rPr lang="el-GR" i="1">
                              <a:latin typeface="Cambria Math"/>
                            </a:rPr>
                            <m:t>π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/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AR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AR" i="1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s-AR" i="1">
                                  <a:latin typeface="Cambria Math"/>
                                </a:rPr>
                                <m:t>.</m:t>
                              </m:r>
                              <m:r>
                                <a:rPr lang="es-AR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s-AR" i="1">
                                  <a:latin typeface="Cambria Math"/>
                                </a:rPr>
                                <m:t>[</m:t>
                              </m:r>
                              <m:r>
                                <a:rPr lang="es-AR" i="1">
                                  <a:latin typeface="Cambria Math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s-AR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𝑗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/>
                                          <a:ea typeface="Cambria Math"/>
                                        </a:rPr>
                                        <m:t>Ω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s-AR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AR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𝑆𝑁𝑅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𝑀𝐹𝐵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AR" i="1">
                                  <a:latin typeface="Cambria Math"/>
                                </a:rPr>
                                <m:t>]</m:t>
                              </m:r>
                            </m:den>
                          </m:f>
                          <m:r>
                            <a:rPr lang="es-AR" b="0" i="1" smtClean="0">
                              <a:latin typeface="Cambria Math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  <a:ea typeface="Cambria Math"/>
                            </a:rPr>
                            <m:t>Ω</m:t>
                          </m:r>
                          <m:r>
                            <a:rPr lang="el-GR" b="0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sSup>
                            <m:sSup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  <a:ea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/>
                                    </a:rPr>
                                    <m:t>𝑍𝐹𝐸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s-A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4" name="2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865792"/>
                <a:ext cx="6245364" cy="102726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7 CuadroTexto"/>
              <p:cNvSpPr txBox="1"/>
              <p:nvPr/>
            </p:nvSpPr>
            <p:spPr>
              <a:xfrm>
                <a:off x="6761656" y="4053888"/>
                <a:ext cx="2245423" cy="6510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𝑆𝑁𝑅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𝑀𝑀𝑆𝐸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</a:rPr>
                                    <m:t>ε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  <a:ea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𝑀𝑀𝑆𝐸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s-A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8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656" y="4053888"/>
                <a:ext cx="2245423" cy="65107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18 CuadroTexto"/>
              <p:cNvSpPr txBox="1"/>
              <p:nvPr/>
            </p:nvSpPr>
            <p:spPr>
              <a:xfrm>
                <a:off x="6660756" y="1988840"/>
                <a:ext cx="7195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>
                          <a:latin typeface="Cambria Math"/>
                        </a:rPr>
                        <m:t>𝑄</m:t>
                      </m:r>
                      <m:r>
                        <a:rPr lang="es-AR" i="1">
                          <a:latin typeface="Cambria Math"/>
                        </a:rPr>
                        <m:t>(</m:t>
                      </m:r>
                      <m:r>
                        <a:rPr lang="es-AR" i="1">
                          <a:latin typeface="Cambria Math"/>
                        </a:rPr>
                        <m:t>𝑧</m:t>
                      </m:r>
                      <m:r>
                        <a:rPr lang="es-AR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9" name="1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756" y="1988840"/>
                <a:ext cx="719556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19 Flecha derecha"/>
          <p:cNvSpPr/>
          <p:nvPr/>
        </p:nvSpPr>
        <p:spPr>
          <a:xfrm>
            <a:off x="6171028" y="1957184"/>
            <a:ext cx="48920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24 CuadroTexto"/>
              <p:cNvSpPr txBox="1"/>
              <p:nvPr/>
            </p:nvSpPr>
            <p:spPr>
              <a:xfrm>
                <a:off x="2965713" y="2016136"/>
                <a:ext cx="6701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𝑞</m:t>
                      </m:r>
                      <m:r>
                        <a:rPr lang="es-AR" b="0" i="1" smtClean="0">
                          <a:latin typeface="Cambria Math"/>
                        </a:rPr>
                        <m:t>(</m:t>
                      </m:r>
                      <m:r>
                        <a:rPr lang="es-AR" b="0" i="1" smtClean="0">
                          <a:latin typeface="Cambria Math"/>
                        </a:rPr>
                        <m:t>𝑡</m:t>
                      </m:r>
                      <m:r>
                        <a:rPr lang="es-AR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5" name="2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713" y="2016136"/>
                <a:ext cx="670183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26 Flecha derecha"/>
          <p:cNvSpPr/>
          <p:nvPr/>
        </p:nvSpPr>
        <p:spPr>
          <a:xfrm>
            <a:off x="3722756" y="1957776"/>
            <a:ext cx="48920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27 Flecha derecha"/>
          <p:cNvSpPr/>
          <p:nvPr/>
        </p:nvSpPr>
        <p:spPr>
          <a:xfrm>
            <a:off x="7395164" y="1961544"/>
            <a:ext cx="48920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28 Flecha derecha"/>
          <p:cNvSpPr/>
          <p:nvPr/>
        </p:nvSpPr>
        <p:spPr>
          <a:xfrm>
            <a:off x="2426612" y="1961544"/>
            <a:ext cx="48920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35 CuadroTexto"/>
              <p:cNvSpPr txBox="1"/>
              <p:nvPr/>
            </p:nvSpPr>
            <p:spPr>
              <a:xfrm>
                <a:off x="640138" y="1924921"/>
                <a:ext cx="1555598" cy="639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==</m:t>
                      </m:r>
                      <m:r>
                        <a:rPr lang="es-AR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∗</m:t>
                      </m:r>
                      <m:r>
                        <a:rPr lang="es-AR" b="0" i="1" smtClean="0">
                          <a:latin typeface="Cambria Math"/>
                        </a:rPr>
                        <m:t>h</m:t>
                      </m:r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AR" b="0" i="0" smtClean="0">
                              <a:latin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es-AR" b="0" dirty="0" smtClean="0"/>
              </a:p>
            </p:txBody>
          </p:sp>
        </mc:Choice>
        <mc:Fallback xmlns="">
          <p:sp>
            <p:nvSpPr>
              <p:cNvPr id="36" name="3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38" y="1924921"/>
                <a:ext cx="1555598" cy="639983"/>
              </a:xfrm>
              <a:prstGeom prst="rect">
                <a:avLst/>
              </a:prstGeom>
              <a:blipFill rotWithShape="1">
                <a:blip r:embed="rId8"/>
                <a:stretch>
                  <a:fillRect b="-381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20 CuadroTexto"/>
              <p:cNvSpPr txBox="1"/>
              <p:nvPr/>
            </p:nvSpPr>
            <p:spPr>
              <a:xfrm>
                <a:off x="3992347" y="5055585"/>
                <a:ext cx="4345036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/>
                          </a:rPr>
                          <m:t>𝑆𝑁𝑅</m:t>
                        </m:r>
                      </m:e>
                      <m:sub>
                        <m:r>
                          <a:rPr lang="es-AR" b="0" i="1" smtClean="0">
                            <a:latin typeface="Cambria Math"/>
                          </a:rPr>
                          <m:t>𝑀𝑀𝑆𝐸</m:t>
                        </m:r>
                        <m:r>
                          <a:rPr lang="es-AR" b="0" i="1" smtClean="0">
                            <a:latin typeface="Cambria Math"/>
                          </a:rPr>
                          <m:t>,</m:t>
                        </m:r>
                        <m:r>
                          <a:rPr lang="es-AR" b="0" i="1" smtClean="0">
                            <a:latin typeface="Cambria Math"/>
                          </a:rPr>
                          <m:t>𝑈</m:t>
                        </m:r>
                      </m:sub>
                    </m:sSub>
                    <m:r>
                      <a:rPr lang="es-AR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s-AR" i="1">
                            <a:latin typeface="Cambria Math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/>
                          </a:rPr>
                          <m:t>𝑆𝑁𝑅</m:t>
                        </m:r>
                      </m:e>
                      <m:sub>
                        <m:r>
                          <a:rPr lang="es-AR" i="1">
                            <a:latin typeface="Cambria Math"/>
                          </a:rPr>
                          <m:t>𝑀𝑀𝑆𝐸</m:t>
                        </m:r>
                      </m:sub>
                    </m:sSub>
                  </m:oMath>
                </a14:m>
                <a:r>
                  <a:rPr lang="es-AR" dirty="0" smtClean="0"/>
                  <a:t>.</a:t>
                </a:r>
                <a:r>
                  <a:rPr lang="el-GR" dirty="0" smtClean="0"/>
                  <a:t>α</a:t>
                </a:r>
                <a:r>
                  <a:rPr lang="es-AR" dirty="0" smtClean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/>
                          </a:rPr>
                          <m:t>𝑆𝑁𝑅</m:t>
                        </m:r>
                      </m:e>
                      <m:sub>
                        <m:r>
                          <a:rPr lang="es-AR" i="1">
                            <a:latin typeface="Cambria Math"/>
                          </a:rPr>
                          <m:t>𝑀𝑀𝑆𝐸</m:t>
                        </m:r>
                      </m:sub>
                    </m:sSub>
                    <m:r>
                      <a:rPr lang="es-AR" b="0" i="0" smtClean="0">
                        <a:latin typeface="Cambria Math"/>
                      </a:rPr>
                      <m:t>−1</m:t>
                    </m:r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21" name="2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347" y="5055585"/>
                <a:ext cx="4345036" cy="381515"/>
              </a:xfrm>
              <a:prstGeom prst="rect">
                <a:avLst/>
              </a:prstGeom>
              <a:blipFill rotWithShape="1">
                <a:blip r:embed="rId9"/>
                <a:stretch>
                  <a:fillRect t="-6349" b="-2222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21 CuadroTexto"/>
              <p:cNvSpPr txBox="1"/>
              <p:nvPr/>
            </p:nvSpPr>
            <p:spPr>
              <a:xfrm>
                <a:off x="823995" y="5022468"/>
                <a:ext cx="3069045" cy="5195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dirty="0" smtClean="0"/>
                  <a:t>α</a:t>
                </a:r>
                <a:r>
                  <a:rPr lang="es-AR" dirty="0" smtClean="0"/>
                  <a:t> = </a:t>
                </a:r>
                <a14:m>
                  <m:oMath xmlns:m="http://schemas.openxmlformats.org/officeDocument/2006/math">
                    <m:r>
                      <a:rPr lang="es-AR" b="0" i="0" smtClean="0">
                        <a:latin typeface="Cambria Math"/>
                      </a:rPr>
                      <m:t>1−</m:t>
                    </m:r>
                    <m:f>
                      <m:fPr>
                        <m:ctrlPr>
                          <a:rPr lang="es-AR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s-AR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/>
                              </a:rPr>
                              <m:t>𝑆𝑁𝑅</m:t>
                            </m:r>
                          </m:e>
                          <m:sub>
                            <m:r>
                              <a:rPr lang="es-AR" i="1">
                                <a:latin typeface="Cambria Math"/>
                              </a:rPr>
                              <m:t>𝑀𝑀𝑆𝐸</m:t>
                            </m:r>
                          </m:sub>
                        </m:sSub>
                      </m:den>
                    </m:f>
                  </m:oMath>
                </a14:m>
                <a:r>
                  <a:rPr lang="es-AR" dirty="0" smtClean="0"/>
                  <a:t> = sesgo </a:t>
                </a:r>
                <a:r>
                  <a:rPr lang="es-AR" dirty="0" smtClean="0">
                    <a:latin typeface="Cambria Math"/>
                    <a:ea typeface="Cambria Math"/>
                  </a:rPr>
                  <a:t>≤ 1</a:t>
                </a:r>
                <a:endParaRPr lang="es-AR" dirty="0"/>
              </a:p>
            </p:txBody>
          </p:sp>
        </mc:Choice>
        <mc:Fallback xmlns="">
          <p:sp>
            <p:nvSpPr>
              <p:cNvPr id="22" name="2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95" y="5022468"/>
                <a:ext cx="3069045" cy="519501"/>
              </a:xfrm>
              <a:prstGeom prst="rect">
                <a:avLst/>
              </a:prstGeom>
              <a:blipFill rotWithShape="1">
                <a:blip r:embed="rId10"/>
                <a:stretch>
                  <a:fillRect l="-1587" r="-794" b="-117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22 CuadroTexto"/>
              <p:cNvSpPr txBox="1"/>
              <p:nvPr/>
            </p:nvSpPr>
            <p:spPr>
              <a:xfrm>
                <a:off x="3991651" y="5573093"/>
                <a:ext cx="4828821" cy="808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 smtClean="0">
                          <a:latin typeface="Cambria Math"/>
                        </a:rPr>
                        <m:t>𝑃</m:t>
                      </m:r>
                      <m:r>
                        <a:rPr lang="es-AR" b="0" i="1" smtClean="0">
                          <a:latin typeface="Cambria Math"/>
                        </a:rPr>
                        <m:t>𝑒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≈</m:t>
                      </m:r>
                      <m:sSub>
                        <m:sSubPr>
                          <m:ctrlPr>
                            <a:rPr lang="es-A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𝑁𝑒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.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𝑄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(</m:t>
                          </m:r>
                          <m:r>
                            <a:rPr lang="el-GR" b="0" i="1" smtClean="0">
                              <a:latin typeface="Cambria Math"/>
                            </a:rPr>
                            <m:t>𝛽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.</m:t>
                          </m:r>
                          <m:r>
                            <a:rPr lang="es-AR" i="1">
                              <a:latin typeface="Cambria Math"/>
                            </a:rPr>
                            <m:t>𝑆𝑁𝑅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𝑀𝑀𝑆𝐸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,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)</m:t>
                      </m:r>
                      <m:r>
                        <a:rPr lang="es-AR" b="0" i="0" smtClean="0">
                          <a:latin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</a:rPr>
                        <m:t>𝑁𝑒</m:t>
                      </m:r>
                      <m:r>
                        <a:rPr lang="es-AR" b="0" i="1" smtClean="0">
                          <a:latin typeface="Cambria Math"/>
                        </a:rPr>
                        <m:t>.</m:t>
                      </m:r>
                      <m:r>
                        <a:rPr lang="es-AR" b="0" i="1" smtClean="0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/>
                                    </a:rPr>
                                    <m:t>𝑚𝑖𝑛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i="1">
                                  <a:latin typeface="Cambria Math"/>
                                </a:rPr>
                                <m:t>2</m:t>
                              </m:r>
                              <m:f>
                                <m:f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/>
                                          <a:ea typeface="Cambria Math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es-AR" b="0" i="1" smtClean="0">
                                          <a:latin typeface="Cambria Math"/>
                                          <a:ea typeface="Cambria Math"/>
                                        </a:rPr>
                                        <m:t>𝑀𝑀𝑆</m:t>
                                      </m:r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𝐸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s-AR" i="1">
                                      <a:latin typeface="Cambria Math"/>
                                    </a:rPr>
                                    <m:t>α</m:t>
                                  </m:r>
                                </m:den>
                              </m:f>
                            </m:den>
                          </m:f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3" name="2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651" y="5573093"/>
                <a:ext cx="4828821" cy="80823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9 CuadroTexto"/>
              <p:cNvSpPr txBox="1"/>
              <p:nvPr/>
            </p:nvSpPr>
            <p:spPr>
              <a:xfrm>
                <a:off x="971600" y="5628349"/>
                <a:ext cx="2285049" cy="6807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  <a:ea typeface="Cambria Math"/>
                            </a:rPr>
                            <m:t>γ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𝑀𝑀𝑆𝐸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𝑆𝑁𝑅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/>
                                </a:rPr>
                                <m:t>𝑀𝐹𝐵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𝑆𝑁𝑅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/>
                                </a:rPr>
                                <m:t>𝑀𝑀𝑆𝐸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𝑈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0" name="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5628349"/>
                <a:ext cx="2285049" cy="680764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94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Ejercicio – Ecualizadores ZFE y MMSE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29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547" y="1762125"/>
            <a:ext cx="6715125" cy="33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9961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Ejercicio – Ecualizadores ZFE y MMSE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30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835" y="1432610"/>
            <a:ext cx="6213205" cy="3292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9 Conector recto de flecha"/>
          <p:cNvCxnSpPr/>
          <p:nvPr/>
        </p:nvCxnSpPr>
        <p:spPr>
          <a:xfrm>
            <a:off x="2710909" y="5363428"/>
            <a:ext cx="42484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4655125" y="5291420"/>
            <a:ext cx="0" cy="144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Elipse"/>
          <p:cNvSpPr/>
          <p:nvPr/>
        </p:nvSpPr>
        <p:spPr>
          <a:xfrm>
            <a:off x="3995440" y="5291916"/>
            <a:ext cx="144512" cy="14451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Elipse"/>
          <p:cNvSpPr/>
          <p:nvPr/>
        </p:nvSpPr>
        <p:spPr>
          <a:xfrm>
            <a:off x="2926933" y="5291916"/>
            <a:ext cx="144512" cy="14451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Elipse"/>
          <p:cNvSpPr/>
          <p:nvPr/>
        </p:nvSpPr>
        <p:spPr>
          <a:xfrm>
            <a:off x="6238805" y="5291420"/>
            <a:ext cx="144512" cy="14451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Elipse"/>
          <p:cNvSpPr/>
          <p:nvPr/>
        </p:nvSpPr>
        <p:spPr>
          <a:xfrm>
            <a:off x="5148064" y="5291420"/>
            <a:ext cx="144512" cy="14451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17 CuadroTexto"/>
          <p:cNvSpPr txBox="1"/>
          <p:nvPr/>
        </p:nvSpPr>
        <p:spPr>
          <a:xfrm>
            <a:off x="2699792" y="5435932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 -3A            -A                </a:t>
            </a:r>
            <a:r>
              <a:rPr lang="es-AR" dirty="0" err="1" smtClean="0"/>
              <a:t>A</a:t>
            </a:r>
            <a:r>
              <a:rPr lang="es-AR" dirty="0" smtClean="0"/>
              <a:t>              3A </a:t>
            </a:r>
            <a:endParaRPr lang="es-AR" baseline="-25000" dirty="0"/>
          </a:p>
        </p:txBody>
      </p:sp>
      <p:sp>
        <p:nvSpPr>
          <p:cNvPr id="21" name="20 Elipse"/>
          <p:cNvSpPr/>
          <p:nvPr/>
        </p:nvSpPr>
        <p:spPr>
          <a:xfrm>
            <a:off x="3217000" y="5287560"/>
            <a:ext cx="144512" cy="144512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21 Elipse"/>
          <p:cNvSpPr/>
          <p:nvPr/>
        </p:nvSpPr>
        <p:spPr>
          <a:xfrm>
            <a:off x="4211464" y="5301208"/>
            <a:ext cx="144512" cy="144512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22 Elipse"/>
          <p:cNvSpPr/>
          <p:nvPr/>
        </p:nvSpPr>
        <p:spPr>
          <a:xfrm>
            <a:off x="4931544" y="5301208"/>
            <a:ext cx="144512" cy="144512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23 Elipse"/>
          <p:cNvSpPr/>
          <p:nvPr/>
        </p:nvSpPr>
        <p:spPr>
          <a:xfrm>
            <a:off x="5939656" y="5301208"/>
            <a:ext cx="144512" cy="144512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CuadroTexto"/>
          <p:cNvSpPr txBox="1"/>
          <p:nvPr/>
        </p:nvSpPr>
        <p:spPr>
          <a:xfrm>
            <a:off x="2627784" y="4941168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 -</a:t>
            </a:r>
            <a:r>
              <a:rPr lang="es-AR" smtClean="0"/>
              <a:t>3A.(1-</a:t>
            </a:r>
            <a:r>
              <a:rPr lang="el-GR" smtClean="0"/>
              <a:t>α</a:t>
            </a:r>
            <a:r>
              <a:rPr lang="es-AR" smtClean="0"/>
              <a:t>)    </a:t>
            </a:r>
            <a:r>
              <a:rPr lang="es-AR" dirty="0" smtClean="0"/>
              <a:t>-</a:t>
            </a:r>
            <a:r>
              <a:rPr lang="es-AR" smtClean="0"/>
              <a:t>A.(1-</a:t>
            </a:r>
            <a:r>
              <a:rPr lang="el-GR" smtClean="0"/>
              <a:t>α</a:t>
            </a:r>
            <a:r>
              <a:rPr lang="es-AR" smtClean="0"/>
              <a:t>)    A.(1-</a:t>
            </a:r>
            <a:r>
              <a:rPr lang="el-GR" smtClean="0"/>
              <a:t>α</a:t>
            </a:r>
            <a:r>
              <a:rPr lang="es-AR" smtClean="0"/>
              <a:t>)     3A.(1-</a:t>
            </a:r>
            <a:r>
              <a:rPr lang="el-GR" smtClean="0"/>
              <a:t>α</a:t>
            </a:r>
            <a:r>
              <a:rPr lang="es-AR" smtClean="0"/>
              <a:t>) </a:t>
            </a:r>
            <a:endParaRPr lang="es-AR" baseline="-25000" dirty="0"/>
          </a:p>
        </p:txBody>
      </p:sp>
      <p:sp>
        <p:nvSpPr>
          <p:cNvPr id="20" name="19 CuadroTexto"/>
          <p:cNvSpPr txBox="1"/>
          <p:nvPr/>
        </p:nvSpPr>
        <p:spPr>
          <a:xfrm>
            <a:off x="307974" y="3236504"/>
            <a:ext cx="24029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mtClean="0"/>
              <a:t>En M-PSK, no se alteran las regiones de decisión…</a:t>
            </a:r>
            <a:endParaRPr lang="es-AR"/>
          </a:p>
        </p:txBody>
      </p:sp>
      <p:sp>
        <p:nvSpPr>
          <p:cNvPr id="26" name="25 CuadroTexto"/>
          <p:cNvSpPr txBox="1"/>
          <p:nvPr/>
        </p:nvSpPr>
        <p:spPr>
          <a:xfrm>
            <a:off x="315145" y="5032936"/>
            <a:ext cx="2096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mtClean="0"/>
              <a:t>… pero en M-ASK o M-QAM sí.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4027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– Ecualizadores ZFE y MMSE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31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/>
              <a:t>Aplicando las expresiones anteriores a q</a:t>
            </a:r>
            <a:r>
              <a:rPr lang="es-AR" sz="1800" baseline="-25000"/>
              <a:t>k</a:t>
            </a:r>
            <a:r>
              <a:rPr lang="es-AR" sz="1800"/>
              <a:t> = 2.</a:t>
            </a:r>
            <a:r>
              <a:rPr lang="el-GR" sz="1800"/>
              <a:t>δ</a:t>
            </a:r>
            <a:r>
              <a:rPr lang="es-AR" sz="1800" baseline="-25000"/>
              <a:t>k</a:t>
            </a:r>
            <a:r>
              <a:rPr lang="es-AR" sz="1800"/>
              <a:t> – 0,25.</a:t>
            </a:r>
            <a:r>
              <a:rPr lang="el-GR" sz="1800"/>
              <a:t>δ</a:t>
            </a:r>
            <a:r>
              <a:rPr lang="es-AR" sz="1800" baseline="-25000"/>
              <a:t>k-1</a:t>
            </a:r>
            <a:r>
              <a:rPr lang="es-AR" sz="1800"/>
              <a:t> – 0,25.</a:t>
            </a:r>
            <a:r>
              <a:rPr lang="el-GR" sz="1800"/>
              <a:t>δ</a:t>
            </a:r>
            <a:r>
              <a:rPr lang="es-AR" sz="1800" baseline="-25000"/>
              <a:t>k+1</a:t>
            </a:r>
            <a:r>
              <a:rPr lang="es-AR" sz="1800"/>
              <a:t> </a:t>
            </a:r>
          </a:p>
          <a:p>
            <a:pPr marL="0" indent="0" algn="just">
              <a:buNone/>
            </a:pPr>
            <a:endParaRPr lang="es-AR" sz="1800" dirty="0" smtClean="0"/>
          </a:p>
          <a:p>
            <a:pPr marL="0" indent="0">
              <a:buNone/>
            </a:pPr>
            <a:r>
              <a:rPr lang="es-AR" sz="1800" smtClean="0"/>
              <a:t>D</a:t>
            </a:r>
            <a:r>
              <a:rPr lang="es-AR" sz="1800" baseline="-25000" smtClean="0"/>
              <a:t>p</a:t>
            </a:r>
            <a:r>
              <a:rPr lang="es-AR" sz="1800" smtClean="0"/>
              <a:t> = 3/2 . A</a:t>
            </a:r>
            <a:r>
              <a:rPr lang="es-AR" sz="1800" baseline="30000" smtClean="0"/>
              <a:t>2</a:t>
            </a:r>
          </a:p>
          <a:p>
            <a:pPr marL="0" indent="0">
              <a:buNone/>
            </a:pPr>
            <a:r>
              <a:rPr lang="es-AR" sz="1800" smtClean="0"/>
              <a:t>D</a:t>
            </a:r>
            <a:r>
              <a:rPr lang="es-AR" sz="1800" baseline="-25000" smtClean="0"/>
              <a:t>ms</a:t>
            </a:r>
            <a:r>
              <a:rPr lang="es-AR" sz="1800" smtClean="0"/>
              <a:t> = 5/8 A</a:t>
            </a:r>
            <a:r>
              <a:rPr lang="es-AR" sz="1800" baseline="30000" smtClean="0"/>
              <a:t>2</a:t>
            </a:r>
          </a:p>
          <a:p>
            <a:pPr marL="0" indent="0">
              <a:buNone/>
            </a:pPr>
            <a:r>
              <a:rPr lang="es-AR" sz="1800" smtClean="0"/>
              <a:t>Q(z) = (2z – 0,25z</a:t>
            </a:r>
            <a:r>
              <a:rPr lang="es-AR" sz="1800" baseline="30000" smtClean="0"/>
              <a:t>2</a:t>
            </a:r>
            <a:r>
              <a:rPr lang="es-AR" sz="1800" smtClean="0"/>
              <a:t> – 0,25) / z</a:t>
            </a:r>
          </a:p>
          <a:p>
            <a:pPr marL="0" indent="0">
              <a:buNone/>
            </a:pPr>
            <a:r>
              <a:rPr lang="es-AR" sz="1800" smtClean="0"/>
              <a:t>W</a:t>
            </a:r>
            <a:r>
              <a:rPr lang="es-AR" sz="1800" baseline="-25000" smtClean="0"/>
              <a:t>zfe</a:t>
            </a:r>
            <a:r>
              <a:rPr lang="es-AR" sz="1800" smtClean="0"/>
              <a:t>(z) = z / (2z </a:t>
            </a:r>
            <a:r>
              <a:rPr lang="es-AR" sz="1800"/>
              <a:t>– 0,25z</a:t>
            </a:r>
            <a:r>
              <a:rPr lang="es-AR" sz="1800" baseline="30000"/>
              <a:t>2</a:t>
            </a:r>
            <a:r>
              <a:rPr lang="es-AR" sz="1800"/>
              <a:t> – </a:t>
            </a:r>
            <a:r>
              <a:rPr lang="es-AR" sz="1800" smtClean="0"/>
              <a:t>0,25)		Con polos en z = 0,12 y z = 7,9</a:t>
            </a:r>
          </a:p>
          <a:p>
            <a:pPr marL="0" indent="0">
              <a:buNone/>
            </a:pPr>
            <a:r>
              <a:rPr lang="es-AR" sz="1800"/>
              <a:t>W</a:t>
            </a:r>
            <a:r>
              <a:rPr lang="es-AR" sz="1800" baseline="-25000"/>
              <a:t>MMSE</a:t>
            </a:r>
            <a:r>
              <a:rPr lang="es-AR" sz="1800"/>
              <a:t>(z) = 2z / (-0,5z</a:t>
            </a:r>
            <a:r>
              <a:rPr lang="es-AR" sz="1800" baseline="30000"/>
              <a:t>2</a:t>
            </a:r>
            <a:r>
              <a:rPr lang="es-AR" sz="1800"/>
              <a:t> + 5z – 0,5)	Con polos en z = 0,1 y z = 9,9</a:t>
            </a:r>
          </a:p>
          <a:p>
            <a:pPr marL="0" indent="0">
              <a:buNone/>
            </a:pPr>
            <a:endParaRPr lang="es-AR" sz="1800" smtClean="0"/>
          </a:p>
          <a:p>
            <a:pPr marL="0" indent="0">
              <a:buNone/>
            </a:pPr>
            <a:endParaRPr lang="es-AR" sz="1800"/>
          </a:p>
          <a:p>
            <a:pPr marL="0" indent="0">
              <a:buNone/>
            </a:pPr>
            <a:r>
              <a:rPr lang="es-AR" sz="1800" smtClean="0"/>
              <a:t>Q(e</a:t>
            </a:r>
            <a:r>
              <a:rPr lang="es-AR" sz="1800" baseline="30000" smtClean="0"/>
              <a:t>j</a:t>
            </a:r>
            <a:r>
              <a:rPr lang="el-GR" sz="1800" baseline="30000" smtClean="0">
                <a:latin typeface="Cambria Math"/>
                <a:ea typeface="Cambria Math"/>
              </a:rPr>
              <a:t>Ω</a:t>
            </a:r>
            <a:r>
              <a:rPr lang="es-AR" sz="1800" smtClean="0">
                <a:latin typeface="Cambria Math"/>
                <a:ea typeface="Cambria Math"/>
              </a:rPr>
              <a:t>) = 2 – 0,5.cos(</a:t>
            </a:r>
            <a:r>
              <a:rPr lang="el-GR" sz="1800">
                <a:latin typeface="Cambria Math"/>
                <a:ea typeface="Cambria Math"/>
              </a:rPr>
              <a:t>Ω</a:t>
            </a:r>
            <a:r>
              <a:rPr lang="es-AR" sz="1800" smtClean="0">
                <a:latin typeface="Cambria Math"/>
                <a:ea typeface="Cambria Math"/>
              </a:rPr>
              <a:t>) → </a:t>
            </a:r>
            <a:r>
              <a:rPr lang="el-GR" sz="1800" smtClean="0">
                <a:latin typeface="Cambria Math"/>
                <a:ea typeface="Cambria Math"/>
              </a:rPr>
              <a:t>σ</a:t>
            </a:r>
            <a:r>
              <a:rPr lang="es-AR" sz="1800" baseline="-25000" smtClean="0"/>
              <a:t>ZFE</a:t>
            </a:r>
            <a:r>
              <a:rPr lang="es-AR" sz="1800" baseline="30000" smtClean="0"/>
              <a:t>2  </a:t>
            </a:r>
            <a:r>
              <a:rPr lang="es-AR" sz="1800" smtClean="0"/>
              <a:t>;  </a:t>
            </a:r>
            <a:r>
              <a:rPr lang="el-GR" sz="1800" smtClean="0">
                <a:latin typeface="Cambria Math"/>
                <a:ea typeface="Cambria Math"/>
              </a:rPr>
              <a:t>σ</a:t>
            </a:r>
            <a:r>
              <a:rPr lang="es-AR" sz="1800" baseline="-25000" smtClean="0"/>
              <a:t>MMSE</a:t>
            </a:r>
            <a:r>
              <a:rPr lang="es-AR" sz="1800" baseline="30000" smtClean="0"/>
              <a:t>2 </a:t>
            </a:r>
            <a:endParaRPr lang="es-AR" sz="1800" smtClean="0"/>
          </a:p>
          <a:p>
            <a:pPr marL="0" indent="0">
              <a:buNone/>
            </a:pPr>
            <a:endParaRPr lang="es-AR" sz="1800" smtClean="0"/>
          </a:p>
          <a:p>
            <a:pPr marL="342900" indent="-342900">
              <a:buAutoNum type="alphaLcParenR"/>
            </a:pPr>
            <a:endParaRPr lang="es-AR" sz="1800" dirty="0" smtClean="0"/>
          </a:p>
          <a:p>
            <a:pPr marL="342900" indent="-342900">
              <a:buAutoNum type="alphaL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</p:txBody>
      </p:sp>
    </p:spTree>
    <p:extLst>
      <p:ext uri="{BB962C8B-B14F-4D97-AF65-F5344CB8AC3E}">
        <p14:creationId xmlns:p14="http://schemas.microsoft.com/office/powerpoint/2010/main" val="233064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– Ecualizadores ZFE y MMSE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32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800" dirty="0" smtClean="0"/>
              <a:t>Repita el ejercicio anterior para las siguientes variantes:</a:t>
            </a:r>
          </a:p>
          <a:p>
            <a:pPr marL="342900" indent="-342900">
              <a:buFont typeface="Wingdings 3"/>
              <a:buAutoNum type="alphaLcParenR"/>
            </a:pPr>
            <a:r>
              <a:rPr lang="es-AR" sz="1800" dirty="0" err="1"/>
              <a:t>q</a:t>
            </a:r>
            <a:r>
              <a:rPr lang="es-AR" sz="1800" baseline="-25000" dirty="0" err="1"/>
              <a:t>k</a:t>
            </a:r>
            <a:r>
              <a:rPr lang="es-AR" sz="1800" dirty="0"/>
              <a:t> </a:t>
            </a:r>
            <a:r>
              <a:rPr lang="es-AR" sz="1800"/>
              <a:t>= </a:t>
            </a:r>
            <a:r>
              <a:rPr lang="es-AR" sz="1800" smtClean="0"/>
              <a:t>2.</a:t>
            </a:r>
            <a:r>
              <a:rPr lang="el-GR" sz="1800" smtClean="0"/>
              <a:t>δ</a:t>
            </a:r>
            <a:r>
              <a:rPr lang="es-AR" sz="1800" baseline="-25000" dirty="0"/>
              <a:t>k</a:t>
            </a:r>
            <a:r>
              <a:rPr lang="es-AR" sz="1800" dirty="0"/>
              <a:t> </a:t>
            </a:r>
            <a:r>
              <a:rPr lang="es-AR" sz="1800" smtClean="0"/>
              <a:t>+ ¼ .</a:t>
            </a:r>
            <a:r>
              <a:rPr lang="el-GR" sz="1800" dirty="0" smtClean="0"/>
              <a:t>δ</a:t>
            </a:r>
            <a:r>
              <a:rPr lang="es-AR" sz="1800" baseline="-25000" dirty="0"/>
              <a:t>k-1</a:t>
            </a:r>
            <a:r>
              <a:rPr lang="es-AR" sz="1800" dirty="0"/>
              <a:t> </a:t>
            </a:r>
            <a:r>
              <a:rPr lang="es-AR" sz="1800" smtClean="0"/>
              <a:t>+ ¼ .</a:t>
            </a:r>
            <a:r>
              <a:rPr lang="el-GR" sz="1800" dirty="0" smtClean="0"/>
              <a:t>δ</a:t>
            </a:r>
            <a:r>
              <a:rPr lang="es-AR" sz="1800" baseline="-25000" dirty="0"/>
              <a:t>k+1</a:t>
            </a:r>
            <a:r>
              <a:rPr lang="es-AR" sz="1800" dirty="0"/>
              <a:t> </a:t>
            </a:r>
          </a:p>
          <a:p>
            <a:pPr marL="342900" indent="-342900">
              <a:buAutoNum type="alphaLcParenR"/>
            </a:pPr>
            <a:r>
              <a:rPr lang="es-AR" sz="1800" dirty="0" smtClean="0"/>
              <a:t>10.q</a:t>
            </a:r>
            <a:r>
              <a:rPr lang="es-AR" sz="1800" baseline="-25000" dirty="0" smtClean="0"/>
              <a:t>k</a:t>
            </a:r>
            <a:r>
              <a:rPr lang="es-AR" sz="1800" dirty="0" smtClean="0"/>
              <a:t> = 3q</a:t>
            </a:r>
            <a:r>
              <a:rPr lang="es-AR" sz="1800" baseline="-25000" dirty="0" smtClean="0"/>
              <a:t>k+1</a:t>
            </a:r>
            <a:r>
              <a:rPr lang="es-AR" sz="1800" dirty="0" smtClean="0"/>
              <a:t> +3q</a:t>
            </a:r>
            <a:r>
              <a:rPr lang="es-AR" sz="1800" baseline="-25000" dirty="0" smtClean="0"/>
              <a:t>k-1</a:t>
            </a:r>
            <a:r>
              <a:rPr lang="es-AR" sz="1800" dirty="0" smtClean="0"/>
              <a:t> + </a:t>
            </a:r>
            <a:r>
              <a:rPr lang="el-GR" sz="1800" dirty="0" smtClean="0"/>
              <a:t>δ</a:t>
            </a:r>
            <a:r>
              <a:rPr lang="es-AR" sz="1800" baseline="-25000" dirty="0" smtClean="0"/>
              <a:t>k</a:t>
            </a:r>
            <a:r>
              <a:rPr lang="es-AR" sz="1800" dirty="0" smtClean="0"/>
              <a:t> </a:t>
            </a:r>
          </a:p>
          <a:p>
            <a:pPr marL="342900" indent="-342900">
              <a:buAutoNum type="alphaLcParenR"/>
            </a:pPr>
            <a:r>
              <a:rPr lang="es-AR" sz="1800" dirty="0"/>
              <a:t>p</a:t>
            </a:r>
            <a:r>
              <a:rPr lang="es-AR" sz="1800" dirty="0" smtClean="0"/>
              <a:t>(t) = e</a:t>
            </a:r>
            <a:r>
              <a:rPr lang="es-AR" sz="1800" baseline="30000" dirty="0" smtClean="0"/>
              <a:t>-t/T</a:t>
            </a:r>
            <a:r>
              <a:rPr lang="es-AR" sz="1800" dirty="0" smtClean="0"/>
              <a:t>.</a:t>
            </a:r>
            <a:r>
              <a:rPr lang="es-AR" sz="1800" b="1" dirty="0" smtClean="0"/>
              <a:t>1</a:t>
            </a:r>
            <a:r>
              <a:rPr lang="es-AR" sz="1800" dirty="0" smtClean="0"/>
              <a:t>(t </a:t>
            </a:r>
            <a:r>
              <a:rPr lang="es-AR" sz="1800" dirty="0" smtClean="0">
                <a:latin typeface="Cambria Math"/>
                <a:ea typeface="Cambria Math"/>
              </a:rPr>
              <a:t>≥ 0)</a:t>
            </a:r>
          </a:p>
          <a:p>
            <a:pPr marL="342900" indent="-342900">
              <a:buFont typeface="Wingdings 3"/>
              <a:buAutoNum type="alphaLcParenR"/>
            </a:pPr>
            <a:r>
              <a:rPr lang="es-AR" sz="1800" dirty="0" smtClean="0">
                <a:latin typeface="Cambria Math"/>
                <a:ea typeface="Cambria Math"/>
              </a:rPr>
              <a:t>g(t) = </a:t>
            </a:r>
            <a:r>
              <a:rPr lang="es-AR" sz="1800" dirty="0" err="1">
                <a:latin typeface="Cambria Math"/>
                <a:ea typeface="Cambria Math"/>
              </a:rPr>
              <a:t>sinc</a:t>
            </a:r>
            <a:r>
              <a:rPr lang="es-AR" sz="1800" dirty="0">
                <a:latin typeface="Cambria Math"/>
                <a:ea typeface="Cambria Math"/>
              </a:rPr>
              <a:t>(t/T</a:t>
            </a:r>
            <a:r>
              <a:rPr lang="es-AR" sz="1800" dirty="0" smtClean="0">
                <a:latin typeface="Cambria Math"/>
                <a:ea typeface="Cambria Math"/>
              </a:rPr>
              <a:t>) ; </a:t>
            </a:r>
            <a:r>
              <a:rPr lang="es-AR" sz="1800" dirty="0"/>
              <a:t>e</a:t>
            </a:r>
            <a:r>
              <a:rPr lang="es-AR" sz="1800" baseline="30000" dirty="0"/>
              <a:t>-t/T</a:t>
            </a:r>
            <a:r>
              <a:rPr lang="es-AR" sz="1800" dirty="0"/>
              <a:t>.</a:t>
            </a:r>
            <a:r>
              <a:rPr lang="es-AR" sz="1800" b="1" dirty="0"/>
              <a:t>1</a:t>
            </a:r>
            <a:r>
              <a:rPr lang="es-AR" sz="1800" dirty="0"/>
              <a:t>(t </a:t>
            </a:r>
            <a:r>
              <a:rPr lang="es-AR" sz="1800" dirty="0">
                <a:latin typeface="Cambria Math"/>
                <a:ea typeface="Cambria Math"/>
              </a:rPr>
              <a:t>≥ 0</a:t>
            </a:r>
            <a:r>
              <a:rPr lang="es-AR" sz="1800" dirty="0" smtClean="0">
                <a:latin typeface="Cambria Math"/>
                <a:ea typeface="Cambria Math"/>
              </a:rPr>
              <a:t>)</a:t>
            </a:r>
            <a:r>
              <a:rPr lang="es-AR" sz="1800" dirty="0" smtClean="0"/>
              <a:t> </a:t>
            </a:r>
            <a:r>
              <a:rPr lang="es-AR" sz="1800" dirty="0"/>
              <a:t>; </a:t>
            </a:r>
            <a:r>
              <a:rPr lang="es-AR" sz="1800" dirty="0" err="1"/>
              <a:t>R</a:t>
            </a:r>
            <a:r>
              <a:rPr lang="es-AR" sz="1800" baseline="-25000" dirty="0" err="1"/>
              <a:t>s</a:t>
            </a:r>
            <a:r>
              <a:rPr lang="es-AR" sz="1800" dirty="0"/>
              <a:t> = 1/2T</a:t>
            </a:r>
            <a:endParaRPr lang="es-AR" sz="1800" dirty="0">
              <a:latin typeface="Cambria Math"/>
              <a:ea typeface="Cambria Math"/>
            </a:endParaRPr>
          </a:p>
          <a:p>
            <a:pPr marL="342900" indent="-342900">
              <a:buFont typeface="Wingdings 3"/>
              <a:buAutoNum type="alphaLcParenR"/>
            </a:pPr>
            <a:r>
              <a:rPr lang="es-AR" sz="1800" dirty="0" smtClean="0">
                <a:latin typeface="Cambria Math"/>
                <a:ea typeface="Cambria Math"/>
              </a:rPr>
              <a:t>g(t) = </a:t>
            </a:r>
            <a:r>
              <a:rPr lang="es-AR" sz="1800" dirty="0" err="1" smtClean="0">
                <a:latin typeface="Cambria Math"/>
                <a:ea typeface="Cambria Math"/>
              </a:rPr>
              <a:t>sinc</a:t>
            </a:r>
            <a:r>
              <a:rPr lang="es-AR" sz="1800" dirty="0" smtClean="0">
                <a:latin typeface="Cambria Math"/>
                <a:ea typeface="Cambria Math"/>
              </a:rPr>
              <a:t>(t/T) ; h(t) = </a:t>
            </a:r>
            <a:r>
              <a:rPr lang="el-GR" sz="1800" dirty="0" smtClean="0"/>
              <a:t>δ</a:t>
            </a:r>
            <a:r>
              <a:rPr lang="es-AR" sz="1800" dirty="0"/>
              <a:t>(t) + </a:t>
            </a:r>
            <a:r>
              <a:rPr lang="es-AR" sz="1800" dirty="0" smtClean="0"/>
              <a:t>0,25.</a:t>
            </a:r>
            <a:r>
              <a:rPr lang="el-GR" sz="1800" dirty="0" smtClean="0"/>
              <a:t>δ</a:t>
            </a:r>
            <a:r>
              <a:rPr lang="es-AR" sz="1800" dirty="0" smtClean="0"/>
              <a:t>(t-T) ; </a:t>
            </a:r>
            <a:r>
              <a:rPr lang="es-AR" sz="1800" dirty="0" err="1" smtClean="0"/>
              <a:t>R</a:t>
            </a:r>
            <a:r>
              <a:rPr lang="es-AR" sz="1800" baseline="-25000" dirty="0" err="1" smtClean="0"/>
              <a:t>s</a:t>
            </a:r>
            <a:r>
              <a:rPr lang="es-AR" sz="1800" dirty="0" smtClean="0"/>
              <a:t> = 1/2T</a:t>
            </a:r>
            <a:endParaRPr lang="es-AR" sz="1800" dirty="0">
              <a:latin typeface="Cambria Math"/>
              <a:ea typeface="Cambria Math"/>
            </a:endParaRPr>
          </a:p>
          <a:p>
            <a:pPr marL="342900" indent="-342900">
              <a:buAutoNum type="alphaLcParenR"/>
            </a:pPr>
            <a:r>
              <a:rPr lang="es-AR" sz="1800" dirty="0" smtClean="0">
                <a:latin typeface="Cambria Math"/>
                <a:ea typeface="Cambria Math"/>
              </a:rPr>
              <a:t>g(t) = </a:t>
            </a:r>
            <a:r>
              <a:rPr lang="es-AR" sz="1800" b="1" dirty="0" smtClean="0"/>
              <a:t>1</a:t>
            </a:r>
            <a:r>
              <a:rPr lang="es-AR" sz="1800" dirty="0" smtClean="0"/>
              <a:t>(0 </a:t>
            </a:r>
            <a:r>
              <a:rPr lang="es-AR" sz="1800" dirty="0" smtClean="0">
                <a:latin typeface="Cambria Math"/>
                <a:ea typeface="Cambria Math"/>
              </a:rPr>
              <a:t>≤ t≤</a:t>
            </a:r>
            <a:r>
              <a:rPr lang="es-AR" sz="1800" dirty="0" smtClean="0"/>
              <a:t> T</a:t>
            </a:r>
            <a:r>
              <a:rPr lang="es-AR" sz="1800" dirty="0" smtClean="0">
                <a:latin typeface="Cambria Math"/>
                <a:ea typeface="Cambria Math"/>
              </a:rPr>
              <a:t>) ; h(t) = h</a:t>
            </a:r>
            <a:r>
              <a:rPr lang="es-AR" sz="1800" baseline="-25000" dirty="0" smtClean="0">
                <a:latin typeface="Cambria Math"/>
                <a:ea typeface="Cambria Math"/>
              </a:rPr>
              <a:t>0</a:t>
            </a:r>
            <a:r>
              <a:rPr lang="es-AR" sz="1800" dirty="0" smtClean="0">
                <a:latin typeface="Cambria Math"/>
                <a:ea typeface="Cambria Math"/>
              </a:rPr>
              <a:t>.</a:t>
            </a:r>
            <a:r>
              <a:rPr lang="el-GR" sz="1800" dirty="0" smtClean="0"/>
              <a:t>δ</a:t>
            </a:r>
            <a:r>
              <a:rPr lang="es-AR" sz="1800" dirty="0" smtClean="0"/>
              <a:t>(t) </a:t>
            </a:r>
            <a:r>
              <a:rPr lang="es-AR" sz="1800" dirty="0"/>
              <a:t>+ </a:t>
            </a:r>
            <a:r>
              <a:rPr lang="es-AR" sz="1800" dirty="0" smtClean="0"/>
              <a:t>h</a:t>
            </a:r>
            <a:r>
              <a:rPr lang="es-AR" sz="1800" baseline="-25000" dirty="0" smtClean="0"/>
              <a:t>1</a:t>
            </a:r>
            <a:r>
              <a:rPr lang="es-AR" sz="1800" dirty="0" smtClean="0"/>
              <a:t>.</a:t>
            </a:r>
            <a:r>
              <a:rPr lang="el-GR" sz="1800" dirty="0" smtClean="0"/>
              <a:t>δ</a:t>
            </a:r>
            <a:r>
              <a:rPr lang="es-AR" sz="1800" dirty="0" smtClean="0"/>
              <a:t>(t-</a:t>
            </a:r>
            <a:r>
              <a:rPr lang="es-AR" sz="1800" dirty="0"/>
              <a:t> t</a:t>
            </a:r>
            <a:r>
              <a:rPr lang="es-AR" sz="1800" baseline="-25000" dirty="0"/>
              <a:t>0</a:t>
            </a:r>
            <a:r>
              <a:rPr lang="es-AR" sz="1800" dirty="0" smtClean="0"/>
              <a:t>) con t</a:t>
            </a:r>
            <a:r>
              <a:rPr lang="es-AR" sz="1800" baseline="-25000" dirty="0" smtClean="0"/>
              <a:t>0</a:t>
            </a:r>
            <a:r>
              <a:rPr lang="es-AR" sz="1800" dirty="0" smtClean="0"/>
              <a:t> &lt; T; no hay FA.</a:t>
            </a:r>
          </a:p>
          <a:p>
            <a:pPr marL="342900" indent="-342900">
              <a:buAutoNum type="alphaLcParenR"/>
            </a:pPr>
            <a:r>
              <a:rPr lang="es-AR" sz="1800" dirty="0" smtClean="0">
                <a:latin typeface="Cambria Math"/>
                <a:ea typeface="Cambria Math"/>
              </a:rPr>
              <a:t>g(t</a:t>
            </a:r>
            <a:r>
              <a:rPr lang="es-AR" sz="1800" dirty="0">
                <a:latin typeface="Cambria Math"/>
                <a:ea typeface="Cambria Math"/>
              </a:rPr>
              <a:t>) = </a:t>
            </a:r>
            <a:r>
              <a:rPr lang="es-AR" sz="1800" dirty="0" smtClean="0">
                <a:latin typeface="Cambria Math"/>
                <a:ea typeface="Cambria Math"/>
              </a:rPr>
              <a:t>(T)</a:t>
            </a:r>
            <a:r>
              <a:rPr lang="es-AR" sz="1800" baseline="30000" dirty="0" smtClean="0">
                <a:latin typeface="Cambria Math"/>
                <a:ea typeface="Cambria Math"/>
              </a:rPr>
              <a:t>-1/2</a:t>
            </a:r>
            <a:r>
              <a:rPr lang="es-AR" sz="1800" dirty="0" smtClean="0">
                <a:latin typeface="Cambria Math"/>
                <a:ea typeface="Cambria Math"/>
              </a:rPr>
              <a:t>.sinc(t/T) </a:t>
            </a:r>
            <a:r>
              <a:rPr lang="es-AR" sz="1800" dirty="0">
                <a:latin typeface="Cambria Math"/>
                <a:ea typeface="Cambria Math"/>
              </a:rPr>
              <a:t>; h(t) = </a:t>
            </a:r>
            <a:r>
              <a:rPr lang="es-AR" sz="1800" dirty="0" smtClean="0">
                <a:latin typeface="Cambria Math"/>
                <a:ea typeface="Cambria Math"/>
              </a:rPr>
              <a:t>A.</a:t>
            </a:r>
            <a:r>
              <a:rPr lang="el-GR" sz="1800" dirty="0"/>
              <a:t>δ</a:t>
            </a:r>
            <a:r>
              <a:rPr lang="es-AR" sz="1800" dirty="0"/>
              <a:t>(t) + </a:t>
            </a:r>
            <a:r>
              <a:rPr lang="es-AR" sz="1800" dirty="0" smtClean="0"/>
              <a:t>A/2.</a:t>
            </a:r>
            <a:r>
              <a:rPr lang="el-GR" sz="1800" dirty="0"/>
              <a:t>δ</a:t>
            </a:r>
            <a:r>
              <a:rPr lang="es-AR" sz="1800" dirty="0" smtClean="0"/>
              <a:t>(t-2T)</a:t>
            </a:r>
            <a:endParaRPr lang="es-AR" sz="1800" dirty="0" smtClean="0">
              <a:latin typeface="Cambria Math"/>
              <a:ea typeface="Cambria Math"/>
            </a:endParaRPr>
          </a:p>
          <a:p>
            <a:pPr marL="342900" indent="-342900">
              <a:buAutoNum type="alphaLcParenR"/>
            </a:pPr>
            <a:endParaRPr lang="es-AR" sz="1800" dirty="0" smtClean="0"/>
          </a:p>
          <a:p>
            <a:pPr marL="342900" indent="-342900">
              <a:buAutoNum type="alphaLcParenR"/>
            </a:pPr>
            <a:endParaRPr lang="es-AR" sz="1800" dirty="0" smtClean="0"/>
          </a:p>
          <a:p>
            <a:pPr marL="342900" indent="-342900">
              <a:buAutoNum type="alphaL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</p:txBody>
      </p:sp>
    </p:spTree>
    <p:extLst>
      <p:ext uri="{BB962C8B-B14F-4D97-AF65-F5344CB8AC3E}">
        <p14:creationId xmlns:p14="http://schemas.microsoft.com/office/powerpoint/2010/main" val="3622075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</a:t>
            </a:r>
            <a:r>
              <a:rPr lang="es-AR" smtClean="0"/>
              <a:t>– Parcial 24/06/2020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33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lphaLcParenR"/>
            </a:pPr>
            <a:endParaRPr lang="es-AR" sz="1800" dirty="0" smtClean="0"/>
          </a:p>
          <a:p>
            <a:pPr marL="342900" indent="-342900">
              <a:buAutoNum type="alphaLcParenR"/>
            </a:pPr>
            <a:endParaRPr lang="es-AR" sz="1800" dirty="0" smtClean="0"/>
          </a:p>
          <a:p>
            <a:pPr marL="342900" indent="-342900">
              <a:buAutoNum type="alphaL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37" t="50019" r="21550" b="13787"/>
          <a:stretch/>
        </p:blipFill>
        <p:spPr bwMode="auto">
          <a:xfrm>
            <a:off x="0" y="1628800"/>
            <a:ext cx="9150220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8 Conector recto de flecha"/>
          <p:cNvCxnSpPr/>
          <p:nvPr/>
        </p:nvCxnSpPr>
        <p:spPr>
          <a:xfrm>
            <a:off x="2195736" y="5786123"/>
            <a:ext cx="47525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/>
          <p:nvPr/>
        </p:nvCxnSpPr>
        <p:spPr>
          <a:xfrm flipV="1">
            <a:off x="4572000" y="4355812"/>
            <a:ext cx="0" cy="17903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CuadroTexto"/>
          <p:cNvSpPr txBox="1"/>
          <p:nvPr/>
        </p:nvSpPr>
        <p:spPr>
          <a:xfrm>
            <a:off x="6798223" y="586798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t</a:t>
            </a:r>
            <a:endParaRPr lang="es-AR"/>
          </a:p>
        </p:txBody>
      </p:sp>
      <p:sp>
        <p:nvSpPr>
          <p:cNvPr id="12" name="11 CuadroTexto"/>
          <p:cNvSpPr txBox="1"/>
          <p:nvPr/>
        </p:nvSpPr>
        <p:spPr>
          <a:xfrm>
            <a:off x="4644008" y="413978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q(t)</a:t>
            </a:r>
            <a:endParaRPr lang="es-AR"/>
          </a:p>
        </p:txBody>
      </p:sp>
      <p:sp>
        <p:nvSpPr>
          <p:cNvPr id="14" name="13 CuadroTexto"/>
          <p:cNvSpPr txBox="1"/>
          <p:nvPr/>
        </p:nvSpPr>
        <p:spPr>
          <a:xfrm>
            <a:off x="2108213" y="5464105"/>
            <a:ext cx="4925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-2T               -T                0             T             2T</a:t>
            </a:r>
            <a:endParaRPr lang="es-AR"/>
          </a:p>
        </p:txBody>
      </p:sp>
      <p:sp>
        <p:nvSpPr>
          <p:cNvPr id="16" name="15 Elipse"/>
          <p:cNvSpPr/>
          <p:nvPr/>
        </p:nvSpPr>
        <p:spPr>
          <a:xfrm>
            <a:off x="3550240" y="5264635"/>
            <a:ext cx="164452" cy="1696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Elipse"/>
          <p:cNvSpPr/>
          <p:nvPr/>
        </p:nvSpPr>
        <p:spPr>
          <a:xfrm>
            <a:off x="5503780" y="5261427"/>
            <a:ext cx="164452" cy="1696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17 Elipse"/>
          <p:cNvSpPr/>
          <p:nvPr/>
        </p:nvSpPr>
        <p:spPr>
          <a:xfrm>
            <a:off x="4509655" y="4603061"/>
            <a:ext cx="164452" cy="1696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CuadroTexto"/>
          <p:cNvSpPr txBox="1"/>
          <p:nvPr/>
        </p:nvSpPr>
        <p:spPr>
          <a:xfrm>
            <a:off x="4527288" y="4337808"/>
            <a:ext cx="6335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2</a:t>
            </a:r>
          </a:p>
          <a:p>
            <a:endParaRPr lang="es-AR"/>
          </a:p>
          <a:p>
            <a:endParaRPr lang="es-AR" smtClean="0"/>
          </a:p>
          <a:p>
            <a:r>
              <a:rPr lang="es-AR" smtClean="0"/>
              <a:t>0,25</a:t>
            </a:r>
            <a:endParaRPr lang="es-AR"/>
          </a:p>
        </p:txBody>
      </p:sp>
      <p:grpSp>
        <p:nvGrpSpPr>
          <p:cNvPr id="27" name="26 Grupo"/>
          <p:cNvGrpSpPr/>
          <p:nvPr/>
        </p:nvGrpSpPr>
        <p:grpSpPr>
          <a:xfrm>
            <a:off x="2771800" y="4653136"/>
            <a:ext cx="3615352" cy="1638482"/>
            <a:chOff x="2771800" y="4653136"/>
            <a:chExt cx="3615352" cy="1638482"/>
          </a:xfrm>
        </p:grpSpPr>
        <p:sp>
          <p:nvSpPr>
            <p:cNvPr id="26" name="25 Forma libre"/>
            <p:cNvSpPr/>
            <p:nvPr/>
          </p:nvSpPr>
          <p:spPr>
            <a:xfrm>
              <a:off x="4572000" y="4653887"/>
              <a:ext cx="1815152" cy="1637731"/>
            </a:xfrm>
            <a:custGeom>
              <a:avLst/>
              <a:gdLst>
                <a:gd name="connsiteX0" fmla="*/ 0 w 1815152"/>
                <a:gd name="connsiteY0" fmla="*/ 0 h 1637731"/>
                <a:gd name="connsiteX1" fmla="*/ 873457 w 1815152"/>
                <a:gd name="connsiteY1" fmla="*/ 600501 h 1637731"/>
                <a:gd name="connsiteX2" fmla="*/ 1269242 w 1815152"/>
                <a:gd name="connsiteY2" fmla="*/ 1378423 h 1637731"/>
                <a:gd name="connsiteX3" fmla="*/ 1815152 w 1815152"/>
                <a:gd name="connsiteY3" fmla="*/ 1637731 h 1637731"/>
                <a:gd name="connsiteX0" fmla="*/ 0 w 1815152"/>
                <a:gd name="connsiteY0" fmla="*/ 0 h 1637731"/>
                <a:gd name="connsiteX1" fmla="*/ 272955 w 1815152"/>
                <a:gd name="connsiteY1" fmla="*/ 150125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  <a:gd name="connsiteX0" fmla="*/ 0 w 1815152"/>
                <a:gd name="connsiteY0" fmla="*/ 0 h 1637731"/>
                <a:gd name="connsiteX1" fmla="*/ 395785 w 1815152"/>
                <a:gd name="connsiteY1" fmla="*/ 122829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  <a:gd name="connsiteX0" fmla="*/ 0 w 1815152"/>
                <a:gd name="connsiteY0" fmla="*/ 0 h 1637731"/>
                <a:gd name="connsiteX1" fmla="*/ 395785 w 1815152"/>
                <a:gd name="connsiteY1" fmla="*/ 122829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5152" h="1637731">
                  <a:moveTo>
                    <a:pt x="0" y="0"/>
                  </a:moveTo>
                  <a:cubicBezTo>
                    <a:pt x="45492" y="25021"/>
                    <a:pt x="250209" y="22745"/>
                    <a:pt x="395785" y="122829"/>
                  </a:cubicBezTo>
                  <a:cubicBezTo>
                    <a:pt x="555009" y="222913"/>
                    <a:pt x="727881" y="391235"/>
                    <a:pt x="873457" y="600501"/>
                  </a:cubicBezTo>
                  <a:cubicBezTo>
                    <a:pt x="1019033" y="809767"/>
                    <a:pt x="1112293" y="1205551"/>
                    <a:pt x="1269242" y="1378423"/>
                  </a:cubicBezTo>
                  <a:cubicBezTo>
                    <a:pt x="1426191" y="1551295"/>
                    <a:pt x="1620671" y="1594513"/>
                    <a:pt x="1815152" y="1637731"/>
                  </a:cubicBezTo>
                </a:path>
              </a:pathLst>
            </a:custGeom>
            <a:ln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8" name="27 Forma libre"/>
            <p:cNvSpPr/>
            <p:nvPr/>
          </p:nvSpPr>
          <p:spPr>
            <a:xfrm flipH="1">
              <a:off x="2771800" y="4653136"/>
              <a:ext cx="1815152" cy="1637731"/>
            </a:xfrm>
            <a:custGeom>
              <a:avLst/>
              <a:gdLst>
                <a:gd name="connsiteX0" fmla="*/ 0 w 1815152"/>
                <a:gd name="connsiteY0" fmla="*/ 0 h 1637731"/>
                <a:gd name="connsiteX1" fmla="*/ 873457 w 1815152"/>
                <a:gd name="connsiteY1" fmla="*/ 600501 h 1637731"/>
                <a:gd name="connsiteX2" fmla="*/ 1269242 w 1815152"/>
                <a:gd name="connsiteY2" fmla="*/ 1378423 h 1637731"/>
                <a:gd name="connsiteX3" fmla="*/ 1815152 w 1815152"/>
                <a:gd name="connsiteY3" fmla="*/ 1637731 h 1637731"/>
                <a:gd name="connsiteX0" fmla="*/ 0 w 1815152"/>
                <a:gd name="connsiteY0" fmla="*/ 0 h 1637731"/>
                <a:gd name="connsiteX1" fmla="*/ 272955 w 1815152"/>
                <a:gd name="connsiteY1" fmla="*/ 150125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  <a:gd name="connsiteX0" fmla="*/ 0 w 1815152"/>
                <a:gd name="connsiteY0" fmla="*/ 0 h 1637731"/>
                <a:gd name="connsiteX1" fmla="*/ 395785 w 1815152"/>
                <a:gd name="connsiteY1" fmla="*/ 122829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  <a:gd name="connsiteX0" fmla="*/ 0 w 1815152"/>
                <a:gd name="connsiteY0" fmla="*/ 0 h 1637731"/>
                <a:gd name="connsiteX1" fmla="*/ 395785 w 1815152"/>
                <a:gd name="connsiteY1" fmla="*/ 122829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5152" h="1637731">
                  <a:moveTo>
                    <a:pt x="0" y="0"/>
                  </a:moveTo>
                  <a:cubicBezTo>
                    <a:pt x="45492" y="25021"/>
                    <a:pt x="250209" y="22745"/>
                    <a:pt x="395785" y="122829"/>
                  </a:cubicBezTo>
                  <a:cubicBezTo>
                    <a:pt x="555009" y="222913"/>
                    <a:pt x="727881" y="391235"/>
                    <a:pt x="873457" y="600501"/>
                  </a:cubicBezTo>
                  <a:cubicBezTo>
                    <a:pt x="1019033" y="809767"/>
                    <a:pt x="1112293" y="1205551"/>
                    <a:pt x="1269242" y="1378423"/>
                  </a:cubicBezTo>
                  <a:cubicBezTo>
                    <a:pt x="1426191" y="1551295"/>
                    <a:pt x="1620671" y="1594513"/>
                    <a:pt x="1815152" y="1637731"/>
                  </a:cubicBezTo>
                </a:path>
              </a:pathLst>
            </a:custGeom>
            <a:ln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30" name="29 Grupo"/>
          <p:cNvGrpSpPr/>
          <p:nvPr/>
        </p:nvGrpSpPr>
        <p:grpSpPr>
          <a:xfrm>
            <a:off x="3908976" y="5335809"/>
            <a:ext cx="3615352" cy="716838"/>
            <a:chOff x="2771800" y="4653136"/>
            <a:chExt cx="3615352" cy="1638482"/>
          </a:xfrm>
        </p:grpSpPr>
        <p:sp>
          <p:nvSpPr>
            <p:cNvPr id="31" name="30 Forma libre"/>
            <p:cNvSpPr/>
            <p:nvPr/>
          </p:nvSpPr>
          <p:spPr>
            <a:xfrm>
              <a:off x="4572000" y="4653887"/>
              <a:ext cx="1815152" cy="1637731"/>
            </a:xfrm>
            <a:custGeom>
              <a:avLst/>
              <a:gdLst>
                <a:gd name="connsiteX0" fmla="*/ 0 w 1815152"/>
                <a:gd name="connsiteY0" fmla="*/ 0 h 1637731"/>
                <a:gd name="connsiteX1" fmla="*/ 873457 w 1815152"/>
                <a:gd name="connsiteY1" fmla="*/ 600501 h 1637731"/>
                <a:gd name="connsiteX2" fmla="*/ 1269242 w 1815152"/>
                <a:gd name="connsiteY2" fmla="*/ 1378423 h 1637731"/>
                <a:gd name="connsiteX3" fmla="*/ 1815152 w 1815152"/>
                <a:gd name="connsiteY3" fmla="*/ 1637731 h 1637731"/>
                <a:gd name="connsiteX0" fmla="*/ 0 w 1815152"/>
                <a:gd name="connsiteY0" fmla="*/ 0 h 1637731"/>
                <a:gd name="connsiteX1" fmla="*/ 272955 w 1815152"/>
                <a:gd name="connsiteY1" fmla="*/ 150125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  <a:gd name="connsiteX0" fmla="*/ 0 w 1815152"/>
                <a:gd name="connsiteY0" fmla="*/ 0 h 1637731"/>
                <a:gd name="connsiteX1" fmla="*/ 395785 w 1815152"/>
                <a:gd name="connsiteY1" fmla="*/ 122829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  <a:gd name="connsiteX0" fmla="*/ 0 w 1815152"/>
                <a:gd name="connsiteY0" fmla="*/ 0 h 1637731"/>
                <a:gd name="connsiteX1" fmla="*/ 395785 w 1815152"/>
                <a:gd name="connsiteY1" fmla="*/ 122829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5152" h="1637731">
                  <a:moveTo>
                    <a:pt x="0" y="0"/>
                  </a:moveTo>
                  <a:cubicBezTo>
                    <a:pt x="45492" y="25021"/>
                    <a:pt x="250209" y="22745"/>
                    <a:pt x="395785" y="122829"/>
                  </a:cubicBezTo>
                  <a:cubicBezTo>
                    <a:pt x="555009" y="222913"/>
                    <a:pt x="727881" y="391235"/>
                    <a:pt x="873457" y="600501"/>
                  </a:cubicBezTo>
                  <a:cubicBezTo>
                    <a:pt x="1019033" y="809767"/>
                    <a:pt x="1112293" y="1205551"/>
                    <a:pt x="1269242" y="1378423"/>
                  </a:cubicBezTo>
                  <a:cubicBezTo>
                    <a:pt x="1426191" y="1551295"/>
                    <a:pt x="1620671" y="1594513"/>
                    <a:pt x="1815152" y="1637731"/>
                  </a:cubicBezTo>
                </a:path>
              </a:pathLst>
            </a:custGeom>
            <a:ln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2" name="31 Forma libre"/>
            <p:cNvSpPr/>
            <p:nvPr/>
          </p:nvSpPr>
          <p:spPr>
            <a:xfrm flipH="1">
              <a:off x="2771800" y="4653136"/>
              <a:ext cx="1815152" cy="1637731"/>
            </a:xfrm>
            <a:custGeom>
              <a:avLst/>
              <a:gdLst>
                <a:gd name="connsiteX0" fmla="*/ 0 w 1815152"/>
                <a:gd name="connsiteY0" fmla="*/ 0 h 1637731"/>
                <a:gd name="connsiteX1" fmla="*/ 873457 w 1815152"/>
                <a:gd name="connsiteY1" fmla="*/ 600501 h 1637731"/>
                <a:gd name="connsiteX2" fmla="*/ 1269242 w 1815152"/>
                <a:gd name="connsiteY2" fmla="*/ 1378423 h 1637731"/>
                <a:gd name="connsiteX3" fmla="*/ 1815152 w 1815152"/>
                <a:gd name="connsiteY3" fmla="*/ 1637731 h 1637731"/>
                <a:gd name="connsiteX0" fmla="*/ 0 w 1815152"/>
                <a:gd name="connsiteY0" fmla="*/ 0 h 1637731"/>
                <a:gd name="connsiteX1" fmla="*/ 272955 w 1815152"/>
                <a:gd name="connsiteY1" fmla="*/ 150125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  <a:gd name="connsiteX0" fmla="*/ 0 w 1815152"/>
                <a:gd name="connsiteY0" fmla="*/ 0 h 1637731"/>
                <a:gd name="connsiteX1" fmla="*/ 395785 w 1815152"/>
                <a:gd name="connsiteY1" fmla="*/ 122829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  <a:gd name="connsiteX0" fmla="*/ 0 w 1815152"/>
                <a:gd name="connsiteY0" fmla="*/ 0 h 1637731"/>
                <a:gd name="connsiteX1" fmla="*/ 395785 w 1815152"/>
                <a:gd name="connsiteY1" fmla="*/ 122829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5152" h="1637731">
                  <a:moveTo>
                    <a:pt x="0" y="0"/>
                  </a:moveTo>
                  <a:cubicBezTo>
                    <a:pt x="45492" y="25021"/>
                    <a:pt x="250209" y="22745"/>
                    <a:pt x="395785" y="122829"/>
                  </a:cubicBezTo>
                  <a:cubicBezTo>
                    <a:pt x="555009" y="222913"/>
                    <a:pt x="727881" y="391235"/>
                    <a:pt x="873457" y="600501"/>
                  </a:cubicBezTo>
                  <a:cubicBezTo>
                    <a:pt x="1019033" y="809767"/>
                    <a:pt x="1112293" y="1205551"/>
                    <a:pt x="1269242" y="1378423"/>
                  </a:cubicBezTo>
                  <a:cubicBezTo>
                    <a:pt x="1426191" y="1551295"/>
                    <a:pt x="1620671" y="1594513"/>
                    <a:pt x="1815152" y="1637731"/>
                  </a:cubicBezTo>
                </a:path>
              </a:pathLst>
            </a:custGeom>
            <a:ln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33" name="32 Grupo"/>
          <p:cNvGrpSpPr/>
          <p:nvPr/>
        </p:nvGrpSpPr>
        <p:grpSpPr>
          <a:xfrm>
            <a:off x="1717672" y="5345920"/>
            <a:ext cx="3615352" cy="716838"/>
            <a:chOff x="2771800" y="4653136"/>
            <a:chExt cx="3615352" cy="1638482"/>
          </a:xfrm>
        </p:grpSpPr>
        <p:sp>
          <p:nvSpPr>
            <p:cNvPr id="34" name="33 Forma libre"/>
            <p:cNvSpPr/>
            <p:nvPr/>
          </p:nvSpPr>
          <p:spPr>
            <a:xfrm>
              <a:off x="4572000" y="4653887"/>
              <a:ext cx="1815152" cy="1637731"/>
            </a:xfrm>
            <a:custGeom>
              <a:avLst/>
              <a:gdLst>
                <a:gd name="connsiteX0" fmla="*/ 0 w 1815152"/>
                <a:gd name="connsiteY0" fmla="*/ 0 h 1637731"/>
                <a:gd name="connsiteX1" fmla="*/ 873457 w 1815152"/>
                <a:gd name="connsiteY1" fmla="*/ 600501 h 1637731"/>
                <a:gd name="connsiteX2" fmla="*/ 1269242 w 1815152"/>
                <a:gd name="connsiteY2" fmla="*/ 1378423 h 1637731"/>
                <a:gd name="connsiteX3" fmla="*/ 1815152 w 1815152"/>
                <a:gd name="connsiteY3" fmla="*/ 1637731 h 1637731"/>
                <a:gd name="connsiteX0" fmla="*/ 0 w 1815152"/>
                <a:gd name="connsiteY0" fmla="*/ 0 h 1637731"/>
                <a:gd name="connsiteX1" fmla="*/ 272955 w 1815152"/>
                <a:gd name="connsiteY1" fmla="*/ 150125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  <a:gd name="connsiteX0" fmla="*/ 0 w 1815152"/>
                <a:gd name="connsiteY0" fmla="*/ 0 h 1637731"/>
                <a:gd name="connsiteX1" fmla="*/ 395785 w 1815152"/>
                <a:gd name="connsiteY1" fmla="*/ 122829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  <a:gd name="connsiteX0" fmla="*/ 0 w 1815152"/>
                <a:gd name="connsiteY0" fmla="*/ 0 h 1637731"/>
                <a:gd name="connsiteX1" fmla="*/ 395785 w 1815152"/>
                <a:gd name="connsiteY1" fmla="*/ 122829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5152" h="1637731">
                  <a:moveTo>
                    <a:pt x="0" y="0"/>
                  </a:moveTo>
                  <a:cubicBezTo>
                    <a:pt x="45492" y="25021"/>
                    <a:pt x="250209" y="22745"/>
                    <a:pt x="395785" y="122829"/>
                  </a:cubicBezTo>
                  <a:cubicBezTo>
                    <a:pt x="555009" y="222913"/>
                    <a:pt x="727881" y="391235"/>
                    <a:pt x="873457" y="600501"/>
                  </a:cubicBezTo>
                  <a:cubicBezTo>
                    <a:pt x="1019033" y="809767"/>
                    <a:pt x="1112293" y="1205551"/>
                    <a:pt x="1269242" y="1378423"/>
                  </a:cubicBezTo>
                  <a:cubicBezTo>
                    <a:pt x="1426191" y="1551295"/>
                    <a:pt x="1620671" y="1594513"/>
                    <a:pt x="1815152" y="1637731"/>
                  </a:cubicBezTo>
                </a:path>
              </a:pathLst>
            </a:custGeom>
            <a:ln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5" name="34 Forma libre"/>
            <p:cNvSpPr/>
            <p:nvPr/>
          </p:nvSpPr>
          <p:spPr>
            <a:xfrm flipH="1">
              <a:off x="2771800" y="4653136"/>
              <a:ext cx="1815152" cy="1637731"/>
            </a:xfrm>
            <a:custGeom>
              <a:avLst/>
              <a:gdLst>
                <a:gd name="connsiteX0" fmla="*/ 0 w 1815152"/>
                <a:gd name="connsiteY0" fmla="*/ 0 h 1637731"/>
                <a:gd name="connsiteX1" fmla="*/ 873457 w 1815152"/>
                <a:gd name="connsiteY1" fmla="*/ 600501 h 1637731"/>
                <a:gd name="connsiteX2" fmla="*/ 1269242 w 1815152"/>
                <a:gd name="connsiteY2" fmla="*/ 1378423 h 1637731"/>
                <a:gd name="connsiteX3" fmla="*/ 1815152 w 1815152"/>
                <a:gd name="connsiteY3" fmla="*/ 1637731 h 1637731"/>
                <a:gd name="connsiteX0" fmla="*/ 0 w 1815152"/>
                <a:gd name="connsiteY0" fmla="*/ 0 h 1637731"/>
                <a:gd name="connsiteX1" fmla="*/ 272955 w 1815152"/>
                <a:gd name="connsiteY1" fmla="*/ 150125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  <a:gd name="connsiteX0" fmla="*/ 0 w 1815152"/>
                <a:gd name="connsiteY0" fmla="*/ 0 h 1637731"/>
                <a:gd name="connsiteX1" fmla="*/ 395785 w 1815152"/>
                <a:gd name="connsiteY1" fmla="*/ 122829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  <a:gd name="connsiteX0" fmla="*/ 0 w 1815152"/>
                <a:gd name="connsiteY0" fmla="*/ 0 h 1637731"/>
                <a:gd name="connsiteX1" fmla="*/ 395785 w 1815152"/>
                <a:gd name="connsiteY1" fmla="*/ 122829 h 1637731"/>
                <a:gd name="connsiteX2" fmla="*/ 873457 w 1815152"/>
                <a:gd name="connsiteY2" fmla="*/ 600501 h 1637731"/>
                <a:gd name="connsiteX3" fmla="*/ 1269242 w 1815152"/>
                <a:gd name="connsiteY3" fmla="*/ 1378423 h 1637731"/>
                <a:gd name="connsiteX4" fmla="*/ 1815152 w 1815152"/>
                <a:gd name="connsiteY4" fmla="*/ 1637731 h 163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5152" h="1637731">
                  <a:moveTo>
                    <a:pt x="0" y="0"/>
                  </a:moveTo>
                  <a:cubicBezTo>
                    <a:pt x="45492" y="25021"/>
                    <a:pt x="250209" y="22745"/>
                    <a:pt x="395785" y="122829"/>
                  </a:cubicBezTo>
                  <a:cubicBezTo>
                    <a:pt x="555009" y="222913"/>
                    <a:pt x="727881" y="391235"/>
                    <a:pt x="873457" y="600501"/>
                  </a:cubicBezTo>
                  <a:cubicBezTo>
                    <a:pt x="1019033" y="809767"/>
                    <a:pt x="1112293" y="1205551"/>
                    <a:pt x="1269242" y="1378423"/>
                  </a:cubicBezTo>
                  <a:cubicBezTo>
                    <a:pt x="1426191" y="1551295"/>
                    <a:pt x="1620671" y="1594513"/>
                    <a:pt x="1815152" y="1637731"/>
                  </a:cubicBezTo>
                </a:path>
              </a:pathLst>
            </a:custGeom>
            <a:ln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9" name="28 Forma libre"/>
          <p:cNvSpPr/>
          <p:nvPr/>
        </p:nvSpPr>
        <p:spPr>
          <a:xfrm>
            <a:off x="2347414" y="4653886"/>
            <a:ext cx="2238233" cy="1376929"/>
          </a:xfrm>
          <a:custGeom>
            <a:avLst/>
            <a:gdLst>
              <a:gd name="connsiteX0" fmla="*/ 0 w 1924335"/>
              <a:gd name="connsiteY0" fmla="*/ 1583140 h 1583140"/>
              <a:gd name="connsiteX1" fmla="*/ 341194 w 1924335"/>
              <a:gd name="connsiteY1" fmla="*/ 1310185 h 1583140"/>
              <a:gd name="connsiteX2" fmla="*/ 941696 w 1924335"/>
              <a:gd name="connsiteY2" fmla="*/ 723331 h 1583140"/>
              <a:gd name="connsiteX3" fmla="*/ 1323833 w 1924335"/>
              <a:gd name="connsiteY3" fmla="*/ 109182 h 1583140"/>
              <a:gd name="connsiteX4" fmla="*/ 1924335 w 1924335"/>
              <a:gd name="connsiteY4" fmla="*/ 0 h 1583140"/>
              <a:gd name="connsiteX0" fmla="*/ 0 w 1924335"/>
              <a:gd name="connsiteY0" fmla="*/ 1583140 h 1583140"/>
              <a:gd name="connsiteX1" fmla="*/ 382138 w 1924335"/>
              <a:gd name="connsiteY1" fmla="*/ 1364776 h 1583140"/>
              <a:gd name="connsiteX2" fmla="*/ 941696 w 1924335"/>
              <a:gd name="connsiteY2" fmla="*/ 723331 h 1583140"/>
              <a:gd name="connsiteX3" fmla="*/ 1323833 w 1924335"/>
              <a:gd name="connsiteY3" fmla="*/ 109182 h 1583140"/>
              <a:gd name="connsiteX4" fmla="*/ 1924335 w 1924335"/>
              <a:gd name="connsiteY4" fmla="*/ 0 h 1583140"/>
              <a:gd name="connsiteX0" fmla="*/ 0 w 2183642"/>
              <a:gd name="connsiteY0" fmla="*/ 1228298 h 1380440"/>
              <a:gd name="connsiteX1" fmla="*/ 641445 w 2183642"/>
              <a:gd name="connsiteY1" fmla="*/ 1364776 h 1380440"/>
              <a:gd name="connsiteX2" fmla="*/ 1201003 w 2183642"/>
              <a:gd name="connsiteY2" fmla="*/ 723331 h 1380440"/>
              <a:gd name="connsiteX3" fmla="*/ 1583140 w 2183642"/>
              <a:gd name="connsiteY3" fmla="*/ 109182 h 1380440"/>
              <a:gd name="connsiteX4" fmla="*/ 2183642 w 2183642"/>
              <a:gd name="connsiteY4" fmla="*/ 0 h 1380440"/>
              <a:gd name="connsiteX0" fmla="*/ 0 w 2238233"/>
              <a:gd name="connsiteY0" fmla="*/ 1187354 h 1376929"/>
              <a:gd name="connsiteX1" fmla="*/ 696036 w 2238233"/>
              <a:gd name="connsiteY1" fmla="*/ 1364776 h 1376929"/>
              <a:gd name="connsiteX2" fmla="*/ 1255594 w 2238233"/>
              <a:gd name="connsiteY2" fmla="*/ 723331 h 1376929"/>
              <a:gd name="connsiteX3" fmla="*/ 1637731 w 2238233"/>
              <a:gd name="connsiteY3" fmla="*/ 109182 h 1376929"/>
              <a:gd name="connsiteX4" fmla="*/ 2238233 w 2238233"/>
              <a:gd name="connsiteY4" fmla="*/ 0 h 1376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8233" h="1376929">
                <a:moveTo>
                  <a:pt x="0" y="1187354"/>
                </a:moveTo>
                <a:cubicBezTo>
                  <a:pt x="92122" y="1122527"/>
                  <a:pt x="486770" y="1442113"/>
                  <a:pt x="696036" y="1364776"/>
                </a:cubicBezTo>
                <a:cubicBezTo>
                  <a:pt x="905302" y="1287439"/>
                  <a:pt x="1098645" y="932597"/>
                  <a:pt x="1255594" y="723331"/>
                </a:cubicBezTo>
                <a:cubicBezTo>
                  <a:pt x="1412543" y="514065"/>
                  <a:pt x="1473958" y="229737"/>
                  <a:pt x="1637731" y="109182"/>
                </a:cubicBezTo>
                <a:cubicBezTo>
                  <a:pt x="1801504" y="-11373"/>
                  <a:pt x="2129051" y="15922"/>
                  <a:pt x="2238233" y="0"/>
                </a:cubicBezTo>
              </a:path>
            </a:pathLst>
          </a:cu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37 Forma libre"/>
          <p:cNvSpPr/>
          <p:nvPr/>
        </p:nvSpPr>
        <p:spPr>
          <a:xfrm flipH="1">
            <a:off x="4562247" y="4656158"/>
            <a:ext cx="2238233" cy="1376929"/>
          </a:xfrm>
          <a:custGeom>
            <a:avLst/>
            <a:gdLst>
              <a:gd name="connsiteX0" fmla="*/ 0 w 1924335"/>
              <a:gd name="connsiteY0" fmla="*/ 1583140 h 1583140"/>
              <a:gd name="connsiteX1" fmla="*/ 341194 w 1924335"/>
              <a:gd name="connsiteY1" fmla="*/ 1310185 h 1583140"/>
              <a:gd name="connsiteX2" fmla="*/ 941696 w 1924335"/>
              <a:gd name="connsiteY2" fmla="*/ 723331 h 1583140"/>
              <a:gd name="connsiteX3" fmla="*/ 1323833 w 1924335"/>
              <a:gd name="connsiteY3" fmla="*/ 109182 h 1583140"/>
              <a:gd name="connsiteX4" fmla="*/ 1924335 w 1924335"/>
              <a:gd name="connsiteY4" fmla="*/ 0 h 1583140"/>
              <a:gd name="connsiteX0" fmla="*/ 0 w 1924335"/>
              <a:gd name="connsiteY0" fmla="*/ 1583140 h 1583140"/>
              <a:gd name="connsiteX1" fmla="*/ 382138 w 1924335"/>
              <a:gd name="connsiteY1" fmla="*/ 1364776 h 1583140"/>
              <a:gd name="connsiteX2" fmla="*/ 941696 w 1924335"/>
              <a:gd name="connsiteY2" fmla="*/ 723331 h 1583140"/>
              <a:gd name="connsiteX3" fmla="*/ 1323833 w 1924335"/>
              <a:gd name="connsiteY3" fmla="*/ 109182 h 1583140"/>
              <a:gd name="connsiteX4" fmla="*/ 1924335 w 1924335"/>
              <a:gd name="connsiteY4" fmla="*/ 0 h 1583140"/>
              <a:gd name="connsiteX0" fmla="*/ 0 w 2183642"/>
              <a:gd name="connsiteY0" fmla="*/ 1228298 h 1380440"/>
              <a:gd name="connsiteX1" fmla="*/ 641445 w 2183642"/>
              <a:gd name="connsiteY1" fmla="*/ 1364776 h 1380440"/>
              <a:gd name="connsiteX2" fmla="*/ 1201003 w 2183642"/>
              <a:gd name="connsiteY2" fmla="*/ 723331 h 1380440"/>
              <a:gd name="connsiteX3" fmla="*/ 1583140 w 2183642"/>
              <a:gd name="connsiteY3" fmla="*/ 109182 h 1380440"/>
              <a:gd name="connsiteX4" fmla="*/ 2183642 w 2183642"/>
              <a:gd name="connsiteY4" fmla="*/ 0 h 1380440"/>
              <a:gd name="connsiteX0" fmla="*/ 0 w 2238233"/>
              <a:gd name="connsiteY0" fmla="*/ 1187354 h 1376929"/>
              <a:gd name="connsiteX1" fmla="*/ 696036 w 2238233"/>
              <a:gd name="connsiteY1" fmla="*/ 1364776 h 1376929"/>
              <a:gd name="connsiteX2" fmla="*/ 1255594 w 2238233"/>
              <a:gd name="connsiteY2" fmla="*/ 723331 h 1376929"/>
              <a:gd name="connsiteX3" fmla="*/ 1637731 w 2238233"/>
              <a:gd name="connsiteY3" fmla="*/ 109182 h 1376929"/>
              <a:gd name="connsiteX4" fmla="*/ 2238233 w 2238233"/>
              <a:gd name="connsiteY4" fmla="*/ 0 h 1376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8233" h="1376929">
                <a:moveTo>
                  <a:pt x="0" y="1187354"/>
                </a:moveTo>
                <a:cubicBezTo>
                  <a:pt x="92122" y="1122527"/>
                  <a:pt x="486770" y="1442113"/>
                  <a:pt x="696036" y="1364776"/>
                </a:cubicBezTo>
                <a:cubicBezTo>
                  <a:pt x="905302" y="1287439"/>
                  <a:pt x="1098645" y="932597"/>
                  <a:pt x="1255594" y="723331"/>
                </a:cubicBezTo>
                <a:cubicBezTo>
                  <a:pt x="1412543" y="514065"/>
                  <a:pt x="1473958" y="229737"/>
                  <a:pt x="1637731" y="109182"/>
                </a:cubicBezTo>
                <a:cubicBezTo>
                  <a:pt x="1801504" y="-11373"/>
                  <a:pt x="2129051" y="15922"/>
                  <a:pt x="2238233" y="0"/>
                </a:cubicBezTo>
              </a:path>
            </a:pathLst>
          </a:cu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916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</a:t>
            </a:r>
            <a:r>
              <a:rPr lang="es-AR" smtClean="0"/>
              <a:t>– Parcial 24/06/2020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34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lphaLcParenR"/>
            </a:pPr>
            <a:endParaRPr lang="es-AR" sz="1800" dirty="0" smtClean="0"/>
          </a:p>
          <a:p>
            <a:pPr marL="342900" indent="-342900">
              <a:buAutoNum type="alphaLcParenR"/>
            </a:pPr>
            <a:endParaRPr lang="es-AR" sz="1800" dirty="0" smtClean="0"/>
          </a:p>
          <a:p>
            <a:pPr marL="342900" indent="-342900">
              <a:buAutoNum type="alphaL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</p:txBody>
      </p:sp>
      <p:cxnSp>
        <p:nvCxnSpPr>
          <p:cNvPr id="7" name="14 Conector recto de flecha"/>
          <p:cNvCxnSpPr/>
          <p:nvPr/>
        </p:nvCxnSpPr>
        <p:spPr>
          <a:xfrm flipV="1">
            <a:off x="2260922" y="3573016"/>
            <a:ext cx="0" cy="25922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15 Conector recto de flecha"/>
          <p:cNvCxnSpPr/>
          <p:nvPr/>
        </p:nvCxnSpPr>
        <p:spPr>
          <a:xfrm rot="5400000" flipV="1">
            <a:off x="2260922" y="3573016"/>
            <a:ext cx="0" cy="25922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17 Elipse"/>
          <p:cNvSpPr/>
          <p:nvPr/>
        </p:nvSpPr>
        <p:spPr>
          <a:xfrm>
            <a:off x="2921274" y="4739546"/>
            <a:ext cx="259200" cy="259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/>
          </a:p>
        </p:txBody>
      </p:sp>
      <p:sp>
        <p:nvSpPr>
          <p:cNvPr id="11" name="18 Elipse"/>
          <p:cNvSpPr/>
          <p:nvPr/>
        </p:nvSpPr>
        <p:spPr>
          <a:xfrm>
            <a:off x="1333191" y="4739546"/>
            <a:ext cx="259200" cy="259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/>
          </a:p>
        </p:txBody>
      </p:sp>
      <p:sp>
        <p:nvSpPr>
          <p:cNvPr id="12" name="19 Elipse"/>
          <p:cNvSpPr/>
          <p:nvPr/>
        </p:nvSpPr>
        <p:spPr>
          <a:xfrm>
            <a:off x="2147407" y="4034716"/>
            <a:ext cx="259200" cy="259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/>
          </a:p>
        </p:txBody>
      </p:sp>
      <p:sp>
        <p:nvSpPr>
          <p:cNvPr id="13" name="20 Elipse"/>
          <p:cNvSpPr/>
          <p:nvPr/>
        </p:nvSpPr>
        <p:spPr>
          <a:xfrm>
            <a:off x="2131308" y="5517261"/>
            <a:ext cx="259200" cy="259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8 CuadroTexto"/>
              <p:cNvSpPr txBox="1"/>
              <p:nvPr/>
            </p:nvSpPr>
            <p:spPr>
              <a:xfrm>
                <a:off x="2772898" y="5000613"/>
                <a:ext cx="502958" cy="3726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AR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ε</m:t>
                          </m:r>
                        </m:e>
                      </m:rad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4" name="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898" y="5000613"/>
                <a:ext cx="502958" cy="37260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9 CuadroTexto"/>
              <p:cNvSpPr txBox="1"/>
              <p:nvPr/>
            </p:nvSpPr>
            <p:spPr>
              <a:xfrm>
                <a:off x="1635438" y="3964588"/>
                <a:ext cx="502958" cy="3726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AR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ε</m:t>
                          </m:r>
                        </m:e>
                      </m:rad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5" name="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438" y="3964588"/>
                <a:ext cx="502958" cy="37260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11 CuadroTexto"/>
              <p:cNvSpPr txBox="1"/>
              <p:nvPr/>
            </p:nvSpPr>
            <p:spPr>
              <a:xfrm>
                <a:off x="720744" y="4856597"/>
                <a:ext cx="676083" cy="3726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s-AR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ε</m:t>
                          </m:r>
                        </m:e>
                      </m:rad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6" name="1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744" y="4856597"/>
                <a:ext cx="676083" cy="37260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12 CuadroTexto"/>
              <p:cNvSpPr txBox="1"/>
              <p:nvPr/>
            </p:nvSpPr>
            <p:spPr>
              <a:xfrm>
                <a:off x="1475656" y="5648685"/>
                <a:ext cx="676083" cy="3726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s-AR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ε</m:t>
                          </m:r>
                        </m:e>
                      </m:rad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7" name="1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5648685"/>
                <a:ext cx="676083" cy="37260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CuadroTexto"/>
              <p:cNvSpPr txBox="1"/>
              <p:nvPr/>
            </p:nvSpPr>
            <p:spPr>
              <a:xfrm>
                <a:off x="4114800" y="3933056"/>
                <a:ext cx="3963329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AR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s-AR" i="1" smtClean="0">
                              <a:latin typeface="Cambria Math"/>
                              <a:ea typeface="Cambria Math"/>
                            </a:rPr>
                            <m:t>𝜀</m:t>
                          </m:r>
                        </m:e>
                      </m:acc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s-AR" i="1">
                              <a:latin typeface="Cambria Math"/>
                              <a:ea typeface="Cambria Math"/>
                            </a:rPr>
                            <m:t>𝜀</m:t>
                          </m:r>
                        </m:num>
                        <m:den>
                          <m:r>
                            <a:rPr lang="es-AR" b="0" i="1" smtClean="0">
                              <a:latin typeface="Cambria Math"/>
                              <a:ea typeface="Cambria Math"/>
                            </a:rPr>
                            <m:t>𝑁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=1=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𝐸𝑛𝑒𝑟𝑔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í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𝑝𝑜𝑟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𝑑𝑖𝑚𝑒𝑛𝑠𝑖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ó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s-AR"/>
              </a:p>
            </p:txBody>
          </p:sp>
        </mc:Choice>
        <mc:Fallback xmlns=""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933056"/>
                <a:ext cx="3963329" cy="56489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17 CuadroTexto"/>
              <p:cNvSpPr txBox="1"/>
              <p:nvPr/>
            </p:nvSpPr>
            <p:spPr>
              <a:xfrm>
                <a:off x="4499992" y="4797152"/>
                <a:ext cx="2609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𝑁</m:t>
                      </m:r>
                      <m:r>
                        <a:rPr lang="es-AR" b="0" i="1" smtClean="0">
                          <a:latin typeface="Cambria Math"/>
                        </a:rPr>
                        <m:t>=2→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𝜀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=2→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𝑑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=2</m:t>
                      </m:r>
                    </m:oMath>
                  </m:oMathPara>
                </a14:m>
                <a:endParaRPr lang="es-AR"/>
              </a:p>
            </p:txBody>
          </p:sp>
        </mc:Choice>
        <mc:Fallback xmlns="">
          <p:sp>
            <p:nvSpPr>
              <p:cNvPr id="18" name="1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4797152"/>
                <a:ext cx="2609432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18 CuadroTexto"/>
          <p:cNvSpPr txBox="1"/>
          <p:nvPr/>
        </p:nvSpPr>
        <p:spPr>
          <a:xfrm>
            <a:off x="179513" y="1710100"/>
            <a:ext cx="8964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mtClean="0"/>
              <a:t>Si no se implementa un ecualizador, calculamos la probabilidad de error en presencia </a:t>
            </a:r>
          </a:p>
          <a:p>
            <a:r>
              <a:rPr lang="es-AR"/>
              <a:t>d</a:t>
            </a:r>
            <a:r>
              <a:rPr lang="es-AR" smtClean="0"/>
              <a:t>e ISI mediante la distorsión (aproximada ya que se asume Dms gaussiana):</a:t>
            </a:r>
            <a:endParaRPr lang="es-AR"/>
          </a:p>
        </p:txBody>
      </p:sp>
      <p:sp>
        <p:nvSpPr>
          <p:cNvPr id="22" name="21 CuadroTexto"/>
          <p:cNvSpPr txBox="1"/>
          <p:nvPr/>
        </p:nvSpPr>
        <p:spPr>
          <a:xfrm>
            <a:off x="179512" y="1340768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a)</a:t>
            </a:r>
            <a:endParaRPr lang="es-AR"/>
          </a:p>
        </p:txBody>
      </p:sp>
      <p:pic>
        <p:nvPicPr>
          <p:cNvPr id="27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429" y="2631401"/>
            <a:ext cx="3359274" cy="941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1" name="20 Conector recto de flecha"/>
          <p:cNvCxnSpPr/>
          <p:nvPr/>
        </p:nvCxnSpPr>
        <p:spPr>
          <a:xfrm>
            <a:off x="2277007" y="4164316"/>
            <a:ext cx="773867" cy="70484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22 CuadroTexto"/>
          <p:cNvSpPr txBox="1"/>
          <p:nvPr/>
        </p:nvSpPr>
        <p:spPr>
          <a:xfrm>
            <a:off x="2555776" y="4149080"/>
            <a:ext cx="128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d = (2.</a:t>
            </a:r>
            <a:r>
              <a:rPr lang="el-GR" smtClean="0">
                <a:latin typeface="Cambria Math"/>
                <a:ea typeface="Cambria Math"/>
              </a:rPr>
              <a:t>ε</a:t>
            </a:r>
            <a:r>
              <a:rPr lang="es-AR" smtClean="0">
                <a:latin typeface="Cambria Math"/>
                <a:ea typeface="Cambria Math"/>
              </a:rPr>
              <a:t>)</a:t>
            </a:r>
            <a:r>
              <a:rPr lang="es-AR" baseline="30000" smtClean="0">
                <a:latin typeface="Cambria Math"/>
                <a:ea typeface="Cambria Math"/>
              </a:rPr>
              <a:t>1/2</a:t>
            </a:r>
            <a:endParaRPr lang="es-AR" baseline="30000"/>
          </a:p>
        </p:txBody>
      </p:sp>
    </p:spTree>
    <p:extLst>
      <p:ext uri="{BB962C8B-B14F-4D97-AF65-F5344CB8AC3E}">
        <p14:creationId xmlns:p14="http://schemas.microsoft.com/office/powerpoint/2010/main" val="130228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</a:t>
            </a:r>
            <a:r>
              <a:rPr lang="es-AR" smtClean="0"/>
              <a:t>– Parcial 24/06/2020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35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lphaLcParenR"/>
            </a:pPr>
            <a:endParaRPr lang="es-AR" sz="1800" dirty="0" smtClean="0"/>
          </a:p>
          <a:p>
            <a:pPr marL="342900" indent="-342900">
              <a:buAutoNum type="alphaLcParenR"/>
            </a:pPr>
            <a:endParaRPr lang="es-AR" sz="1800" dirty="0" smtClean="0"/>
          </a:p>
          <a:p>
            <a:pPr marL="342900" indent="-342900">
              <a:buAutoNum type="alphaL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</p:txBody>
      </p:sp>
      <p:sp>
        <p:nvSpPr>
          <p:cNvPr id="19" name="18 CuadroTexto"/>
          <p:cNvSpPr txBox="1"/>
          <p:nvPr/>
        </p:nvSpPr>
        <p:spPr>
          <a:xfrm>
            <a:off x="646998" y="1403484"/>
            <a:ext cx="6949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Para calcular la distorsión, necesitamos previamente calcular q</a:t>
            </a:r>
            <a:r>
              <a:rPr lang="es-AR" baseline="-25000" smtClean="0"/>
              <a:t>k</a:t>
            </a:r>
            <a:r>
              <a:rPr lang="es-AR" smtClean="0"/>
              <a:t>:</a:t>
            </a:r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22 CuadroTexto"/>
              <p:cNvSpPr txBox="1"/>
              <p:nvPr/>
            </p:nvSpPr>
            <p:spPr>
              <a:xfrm>
                <a:off x="2568773" y="1962968"/>
                <a:ext cx="4224297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𝑞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</a:rPr>
                        <m:t>𝑞</m:t>
                      </m:r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=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.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𝑇</m:t>
                          </m:r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s-A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  <a:ea typeface="Cambria Math"/>
                            </a:rPr>
                            <m:t>𝛿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s-AR" b="0" i="0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/>
                                  <a:ea typeface="Cambria Math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r>
                            <a:rPr lang="es-AR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/>
                                  <a:ea typeface="Cambria Math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AR"/>
              </a:p>
            </p:txBody>
          </p:sp>
        </mc:Choice>
        <mc:Fallback xmlns="">
          <p:sp>
            <p:nvSpPr>
              <p:cNvPr id="23" name="2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773" y="1962968"/>
                <a:ext cx="4224297" cy="61093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23 CuadroTexto"/>
              <p:cNvSpPr txBox="1"/>
              <p:nvPr/>
            </p:nvSpPr>
            <p:spPr>
              <a:xfrm>
                <a:off x="2699792" y="2975212"/>
                <a:ext cx="4063998" cy="8174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𝑚𝑠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=2.</m:t>
                      </m:r>
                      <m:sSup>
                        <m:sSup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AR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AR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s-AR" b="0" i="1" smtClean="0">
                          <a:latin typeface="Cambria Math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AR" b="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AR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s-AR" b="0" i="1" smtClean="0">
                                          <a:latin typeface="Cambria Math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A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b="0" i="1" smtClean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AR" b="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AR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s-AR" b="0" i="1" smtClean="0">
                                          <a:latin typeface="Cambria Math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A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400</m:t>
                          </m:r>
                        </m:den>
                      </m:f>
                    </m:oMath>
                  </m:oMathPara>
                </a14:m>
                <a:endParaRPr lang="es-AR"/>
              </a:p>
            </p:txBody>
          </p:sp>
        </mc:Choice>
        <mc:Fallback xmlns="">
          <p:sp>
            <p:nvSpPr>
              <p:cNvPr id="24" name="2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2975212"/>
                <a:ext cx="4063998" cy="81740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CuadroTexto"/>
              <p:cNvSpPr txBox="1"/>
              <p:nvPr/>
            </p:nvSpPr>
            <p:spPr>
              <a:xfrm>
                <a:off x="3886372" y="4244482"/>
                <a:ext cx="23541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AR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s-AR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s-AR" b="0" i="1" smtClean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s-AR" b="0" i="1" smtClean="0">
                                    <a:latin typeface="Cambria Math"/>
                                  </a:rPr>
                                  <m:t>𝑚𝑠</m:t>
                                </m:r>
                              </m:sub>
                            </m:sSub>
                          </m:e>
                        </m:acc>
                        <m:r>
                          <a:rPr lang="es-AR" b="0" i="1" smtClean="0">
                            <a:latin typeface="Cambria Math"/>
                          </a:rPr>
                          <m:t>=</m:t>
                        </m:r>
                        <m:r>
                          <a:rPr lang="es-AR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s-AR" b="0" i="1" smtClean="0">
                            <a:latin typeface="Cambria Math"/>
                          </a:rPr>
                          <m:t>𝑚𝑠</m:t>
                        </m:r>
                      </m:sub>
                    </m:sSub>
                  </m:oMath>
                </a14:m>
                <a:r>
                  <a:rPr lang="es-AR" smtClean="0"/>
                  <a:t>/N = 1/800</a:t>
                </a:r>
                <a:endParaRPr lang="es-AR"/>
              </a:p>
            </p:txBody>
          </p:sp>
        </mc:Choice>
        <mc:Fallback xmlns=""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372" y="4244482"/>
                <a:ext cx="2354106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6557" r="-1295" b="-2623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10 CuadroTexto"/>
          <p:cNvSpPr txBox="1"/>
          <p:nvPr/>
        </p:nvSpPr>
        <p:spPr>
          <a:xfrm>
            <a:off x="638856" y="4787860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Finalmente,</a:t>
            </a:r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6 CuadroTexto"/>
              <p:cNvSpPr txBox="1"/>
              <p:nvPr/>
            </p:nvSpPr>
            <p:spPr>
              <a:xfrm>
                <a:off x="755576" y="5157192"/>
                <a:ext cx="6254341" cy="11384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𝑒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=2.</m:t>
                      </m:r>
                      <m:r>
                        <a:rPr lang="es-AR" b="0" i="1" smtClean="0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s-AR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s-AR" b="0" i="1" smtClean="0">
                                  <a:latin typeface="Cambria Math"/>
                                </a:rPr>
                                <m:t>.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s-AR" b="0" i="1" smtClean="0">
                                  <a:latin typeface="Cambria Math"/>
                                </a:rPr>
                                <m:t>2.</m:t>
                              </m:r>
                              <m:rad>
                                <m:radPr>
                                  <m:degHide m:val="on"/>
                                  <m:ctrlPr>
                                    <a:rPr lang="es-AR" b="0" i="1" smtClean="0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s-AR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AR" b="0" i="1" smtClean="0">
                                          <a:latin typeface="Cambria Math"/>
                                          <a:ea typeface="Cambria Math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s-AR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AR" b="0" i="1" smtClean="0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s-AR" b="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b="0" i="1" smtClean="0">
                                              <a:latin typeface="Cambria Math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s-AR" b="0" i="1" smtClean="0">
                                              <a:latin typeface="Cambria Math"/>
                                            </a:rPr>
                                            <m:t>𝑚𝑠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rad>
                            </m:den>
                          </m:f>
                        </m:e>
                      </m:d>
                      <m:r>
                        <a:rPr lang="es-AR" b="0" i="0" smtClean="0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2.</m:t>
                      </m:r>
                      <m:r>
                        <a:rPr lang="es-AR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s-AR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s-AR" b="0" i="1" smtClean="0">
                                  <a:latin typeface="Cambria Math"/>
                                </a:rPr>
                                <m:t>.2</m:t>
                              </m:r>
                            </m:num>
                            <m:den>
                              <m:r>
                                <a:rPr lang="es-AR" i="1">
                                  <a:latin typeface="Cambria Math"/>
                                </a:rPr>
                                <m:t>2.</m:t>
                              </m:r>
                              <m:rad>
                                <m:radPr>
                                  <m:degHide m:val="on"/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s-AR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AR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s-AR" b="0" i="1" smtClean="0">
                                          <a:latin typeface="Cambria Math"/>
                                        </a:rPr>
                                        <m:t>800</m:t>
                                      </m:r>
                                    </m:den>
                                  </m:f>
                                  <m:r>
                                    <a:rPr lang="es-AR" i="1">
                                      <a:latin typeface="Cambria Math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s-AR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AR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s-AR" b="0" i="1" smtClean="0">
                                          <a:latin typeface="Cambria Math"/>
                                        </a:rPr>
                                        <m:t>800</m:t>
                                      </m:r>
                                    </m:den>
                                  </m:f>
                                </m:e>
                              </m:rad>
                            </m:den>
                          </m:f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=2.</m:t>
                      </m:r>
                      <m:r>
                        <a:rPr lang="es-AR" b="0" i="1" smtClean="0">
                          <a:latin typeface="Cambria Math"/>
                        </a:rPr>
                        <m:t>𝑄</m:t>
                      </m:r>
                      <m:r>
                        <a:rPr lang="es-AR" b="0" i="1" smtClean="0">
                          <a:latin typeface="Cambria Math"/>
                        </a:rPr>
                        <m:t>(2)</m:t>
                      </m:r>
                    </m:oMath>
                  </m:oMathPara>
                </a14:m>
                <a:endParaRPr lang="es-AR"/>
              </a:p>
            </p:txBody>
          </p:sp>
        </mc:Choice>
        <mc:Fallback xmlns="">
          <p:sp>
            <p:nvSpPr>
              <p:cNvPr id="7" name="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5157192"/>
                <a:ext cx="6254341" cy="113845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8 CuadroTexto"/>
              <p:cNvSpPr txBox="1"/>
              <p:nvPr/>
            </p:nvSpPr>
            <p:spPr>
              <a:xfrm>
                <a:off x="2699792" y="4715852"/>
                <a:ext cx="52045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AR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s-AR" i="1" smtClean="0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p>
                        <m:r>
                          <a:rPr lang="es-AR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s-AR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s-AR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s-AR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s-AR" b="0" i="1" smtClean="0">
                        <a:latin typeface="Cambria Math"/>
                      </a:rPr>
                      <m:t> (</m:t>
                    </m:r>
                    <m:r>
                      <a:rPr lang="es-AR" b="0" i="1" smtClean="0">
                        <a:latin typeface="Cambria Math"/>
                      </a:rPr>
                      <m:t>𝑑𝑎𝑡𝑜</m:t>
                    </m:r>
                    <m:r>
                      <a:rPr lang="es-AR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s-AR" smtClean="0"/>
                  <a:t>= potencia de ruido por dimensión</a:t>
                </a:r>
                <a:endParaRPr lang="es-AR"/>
              </a:p>
            </p:txBody>
          </p:sp>
        </mc:Choice>
        <mc:Fallback xmlns="">
          <p:sp>
            <p:nvSpPr>
              <p:cNvPr id="9" name="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4715852"/>
                <a:ext cx="5204566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6667" r="-351" b="-28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11 Conector recto de flecha"/>
          <p:cNvCxnSpPr/>
          <p:nvPr/>
        </p:nvCxnSpPr>
        <p:spPr>
          <a:xfrm>
            <a:off x="3593274" y="5085184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509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Ejercicio </a:t>
            </a:r>
            <a:r>
              <a:rPr lang="es-AR" smtClean="0"/>
              <a:t>– Parcial 24/06/2020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36</a:t>
            </a:fld>
            <a:endParaRPr lang="es-ES"/>
          </a:p>
        </p:txBody>
      </p:sp>
      <p:sp>
        <p:nvSpPr>
          <p:cNvPr id="8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lphaLcParenR"/>
            </a:pPr>
            <a:endParaRPr lang="es-AR" sz="1800" dirty="0" smtClean="0"/>
          </a:p>
          <a:p>
            <a:pPr marL="342900" indent="-342900">
              <a:buAutoNum type="alphaLcParenR"/>
            </a:pPr>
            <a:endParaRPr lang="es-AR" sz="1800" dirty="0" smtClean="0"/>
          </a:p>
          <a:p>
            <a:pPr marL="342900" indent="-342900">
              <a:buAutoNum type="alphaLcParenR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</p:txBody>
      </p:sp>
      <p:sp>
        <p:nvSpPr>
          <p:cNvPr id="22" name="21 CuadroTexto"/>
          <p:cNvSpPr txBox="1"/>
          <p:nvPr/>
        </p:nvSpPr>
        <p:spPr>
          <a:xfrm>
            <a:off x="179512" y="1340768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/>
              <a:t>b</a:t>
            </a:r>
            <a:r>
              <a:rPr lang="es-AR" smtClean="0"/>
              <a:t>)</a:t>
            </a:r>
            <a:endParaRPr lang="es-AR"/>
          </a:p>
        </p:txBody>
      </p:sp>
      <p:sp>
        <p:nvSpPr>
          <p:cNvPr id="9" name="8 CuadroTexto"/>
          <p:cNvSpPr txBox="1"/>
          <p:nvPr/>
        </p:nvSpPr>
        <p:spPr>
          <a:xfrm>
            <a:off x="539553" y="1340768"/>
            <a:ext cx="8136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mtClean="0"/>
              <a:t>Primeramente, calculamos la T.Z. del ecualizador ZFE, a partir de q</a:t>
            </a:r>
            <a:r>
              <a:rPr lang="es-AR" baseline="-25000" smtClean="0"/>
              <a:t>k</a:t>
            </a:r>
            <a:r>
              <a:rPr lang="es-AR"/>
              <a:t> </a:t>
            </a:r>
            <a:r>
              <a:rPr lang="es-AR" smtClean="0"/>
              <a:t>y Q(z):</a:t>
            </a:r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9 CuadroTexto"/>
              <p:cNvSpPr txBox="1"/>
              <p:nvPr/>
            </p:nvSpPr>
            <p:spPr>
              <a:xfrm>
                <a:off x="212253" y="2276872"/>
                <a:ext cx="6198876" cy="8427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𝑍𝐹𝐸</m:t>
                          </m:r>
                        </m:sub>
                      </m:sSub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  <m:r>
                            <a:rPr lang="es-AR" b="0" i="1" smtClean="0">
                              <a:latin typeface="Cambria Math"/>
                            </a:rPr>
                            <m:t>.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𝑄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𝑧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AR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AR" b="0" i="1" smtClean="0">
                                  <a:latin typeface="Cambria Math"/>
                                </a:rPr>
                                <m:t>10</m:t>
                              </m:r>
                            </m:den>
                          </m:f>
                          <m:r>
                            <a:rPr lang="es-AR" b="0" i="1" smtClean="0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ctrlPr>
                                <a:rPr lang="es-AR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AR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s-AR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AR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AR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s-AR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s-AR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s-AR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s-AR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s-AR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AR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AR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s-AR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10.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𝑧</m:t>
                          </m:r>
                        </m:num>
                        <m:den>
                          <m:f>
                            <m:f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AR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AR" b="0" i="1" smtClean="0"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  <m:sSup>
                            <m:sSup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s-A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b="0" i="1" smtClean="0">
                              <a:latin typeface="Cambria Math"/>
                            </a:rPr>
                            <m:t>+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𝑧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AR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AR" b="0" i="1" smtClean="0"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0" name="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53" y="2276872"/>
                <a:ext cx="6198876" cy="84279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10 CuadroTexto"/>
              <p:cNvSpPr txBox="1"/>
              <p:nvPr/>
            </p:nvSpPr>
            <p:spPr>
              <a:xfrm>
                <a:off x="371172" y="3676684"/>
                <a:ext cx="7841377" cy="6905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  <a:ea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𝑍𝐹𝐸</m:t>
                              </m:r>
                            </m:sub>
                          </m:sSub>
                        </m:e>
                        <m:sup>
                          <m:r>
                            <a:rPr lang="es-AR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s-AR" i="1" smtClean="0">
                              <a:latin typeface="Cambria Math"/>
                            </a:rPr>
                            <m:t> </m:t>
                          </m:r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l-GR" i="1">
                              <a:latin typeface="Cambria Math"/>
                            </a:rPr>
                            <m:t>π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den>
                      </m:f>
                      <m:nary>
                        <m:nary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b="0" i="1" smtClean="0"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</a:rPr>
                            <m:t>π</m:t>
                          </m:r>
                        </m:sub>
                        <m:sup>
                          <m:r>
                            <m:rPr>
                              <m:sty m:val="p"/>
                              <m:brk m:alnAt="23"/>
                            </m:rPr>
                            <a:rPr lang="el-GR" i="1">
                              <a:latin typeface="Cambria Math"/>
                            </a:rPr>
                            <m:t>π</m:t>
                          </m:r>
                        </m:sup>
                        <m:e>
                          <m:f>
                            <m:f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AR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AR" i="1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s-AR" i="1">
                                  <a:latin typeface="Cambria Math"/>
                                </a:rPr>
                                <m:t>.</m:t>
                              </m:r>
                              <m:r>
                                <a:rPr lang="es-AR" i="1">
                                  <a:latin typeface="Cambria Math"/>
                                </a:rPr>
                                <m:t>𝑄</m:t>
                              </m:r>
                              <m:r>
                                <a:rPr lang="es-AR" i="1">
                                  <a:latin typeface="Cambria Math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s-AR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𝑗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b="0" i="1" smtClean="0">
                                      <a:latin typeface="Cambria Math"/>
                                      <a:ea typeface="Cambria Math"/>
                                    </a:rPr>
                                    <m:t>Ω</m:t>
                                  </m:r>
                                </m:sup>
                              </m:sSup>
                              <m:r>
                                <a:rPr lang="es-AR" i="1">
                                  <a:latin typeface="Cambria Math"/>
                                </a:rPr>
                                <m:t>)</m:t>
                              </m:r>
                            </m:den>
                          </m:f>
                          <m:r>
                            <a:rPr lang="es-AR" b="0" i="1" smtClean="0">
                              <a:latin typeface="Cambria Math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  <a:ea typeface="Cambria Math"/>
                            </a:rPr>
                            <m:t>Ω</m:t>
                          </m:r>
                          <m:r>
                            <a:rPr lang="es-AR" b="0" i="1" smtClean="0">
                              <a:latin typeface="Cambria Math"/>
                              <a:ea typeface="Cambria Math"/>
                            </a:rPr>
                            <m:t>=</m:t>
                          </m:r>
                        </m:e>
                      </m:nary>
                      <m:f>
                        <m:fPr>
                          <m:ctrlPr>
                            <a:rPr lang="es-AR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100</m:t>
                          </m:r>
                          <m:r>
                            <a:rPr lang="es-AR" i="1">
                              <a:latin typeface="Cambria Math"/>
                            </a:rPr>
                            <m:t> </m:t>
                          </m:r>
                        </m:num>
                        <m:den>
                          <m:r>
                            <a:rPr lang="es-AR" i="1">
                              <a:latin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l-GR" i="1">
                              <a:latin typeface="Cambria Math"/>
                            </a:rPr>
                            <m:t>π</m:t>
                          </m:r>
                          <m:r>
                            <a:rPr lang="es-AR" i="1">
                              <a:latin typeface="Cambria Math"/>
                            </a:rPr>
                            <m:t>.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800</m:t>
                          </m:r>
                          <m:r>
                            <a:rPr lang="es-AR" i="1" smtClean="0">
                              <a:latin typeface="Cambria Math"/>
                            </a:rPr>
                            <m:t> </m:t>
                          </m:r>
                        </m:den>
                      </m:f>
                      <m:nary>
                        <m:naryPr>
                          <m:ctrlPr>
                            <a:rPr lang="es-AR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i="1"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π</m:t>
                          </m:r>
                        </m:sub>
                        <m:sup>
                          <m:r>
                            <m:rPr>
                              <m:sty m:val="p"/>
                              <m:brk m:alnAt="23"/>
                            </m:rPr>
                            <a:rPr lang="el-GR" i="1">
                              <a:latin typeface="Cambria Math"/>
                            </a:rPr>
                            <m:t>π</m:t>
                          </m:r>
                        </m:sup>
                        <m:e>
                          <m:f>
                            <m:f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AR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AR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1+0,5</m:t>
                              </m:r>
                              <m: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.</m:t>
                              </m:r>
                              <m:r>
                                <a:rPr lang="es-AR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𝑐𝑜𝑠</m:t>
                              </m:r>
                              <m:r>
                                <a:rPr lang="es-AR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Ω</m:t>
                              </m:r>
                              <m:r>
                                <a:rPr lang="es-AR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den>
                          </m:f>
                          <m:r>
                            <a:rPr lang="es-AR" i="1">
                              <a:latin typeface="Cambria Math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  <a:ea typeface="Cambria Math"/>
                            </a:rPr>
                            <m:t>Ω</m:t>
                          </m:r>
                          <m:r>
                            <a:rPr lang="es-AR" i="1">
                              <a:latin typeface="Cambria Math"/>
                              <a:ea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s-AR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s-AR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AR" b="0" i="1" smtClean="0">
                                  <a:latin typeface="Cambria Math"/>
                                  <a:ea typeface="Cambria Math"/>
                                </a:rPr>
                                <m:t>4.</m:t>
                              </m:r>
                              <m:rad>
                                <m:radPr>
                                  <m:degHide m:val="on"/>
                                  <m:ctrlPr>
                                    <a:rPr lang="es-AR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b="0" i="1" smtClean="0">
                                      <a:latin typeface="Cambria Math"/>
                                      <a:ea typeface="Cambria Math"/>
                                    </a:rPr>
                                    <m:t>3</m:t>
                                  </m:r>
                                </m:e>
                              </m:rad>
                            </m:den>
                          </m:f>
                        </m:e>
                      </m:nary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1" name="1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72" y="3676684"/>
                <a:ext cx="7841377" cy="69057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11 CuadroTexto"/>
              <p:cNvSpPr txBox="1"/>
              <p:nvPr/>
            </p:nvSpPr>
            <p:spPr>
              <a:xfrm>
                <a:off x="2596361" y="4725144"/>
                <a:ext cx="4116319" cy="801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 smtClean="0">
                          <a:latin typeface="Cambria Math"/>
                        </a:rPr>
                        <m:t>𝑃</m:t>
                      </m:r>
                      <m:r>
                        <a:rPr lang="es-AR" b="0" i="1" smtClean="0">
                          <a:latin typeface="Cambria Math"/>
                        </a:rPr>
                        <m:t>𝑒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𝑁𝑒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.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𝑄</m:t>
                      </m:r>
                      <m:d>
                        <m:dPr>
                          <m:ctrlPr>
                            <a:rPr lang="es-AR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AR" b="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AR" b="0" i="1" smtClean="0">
                                      <a:latin typeface="Cambria Math"/>
                                      <a:ea typeface="Cambria Math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/>
                                      <a:ea typeface="Cambria Math"/>
                                    </a:rPr>
                                    <m:t>𝑚𝑖𝑛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  <a:ea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/>
                                    </a:rPr>
                                    <m:t>𝑍𝐹𝐸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s-AR" b="0" i="1" smtClean="0">
                          <a:latin typeface="Cambria Math"/>
                        </a:rPr>
                        <m:t>=2.</m:t>
                      </m:r>
                      <m:r>
                        <a:rPr lang="es-AR" b="0" i="1" smtClean="0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AR" b="0" i="1" smtClean="0">
                                  <a:latin typeface="Cambria Math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s-AR" b="0" i="1" smtClean="0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4.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s-AR" b="0" i="1" smtClean="0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s-AR" b="0" i="1" smtClean="0">
                                          <a:latin typeface="Cambria Math"/>
                                        </a:rPr>
                                        <m:t>3</m:t>
                                      </m:r>
                                    </m:e>
                                  </m:rad>
                                </m:e>
                              </m:rad>
                            </m:num>
                            <m:den>
                              <m:r>
                                <a:rPr lang="es-AR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2" name="1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361" y="4725144"/>
                <a:ext cx="4116319" cy="80195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Rectángulo"/>
              <p:cNvSpPr/>
              <p:nvPr/>
            </p:nvSpPr>
            <p:spPr>
              <a:xfrm>
                <a:off x="1463432" y="5698423"/>
                <a:ext cx="6195414" cy="5361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AR" i="1" smtClean="0"/>
                  <a:t>Gap</a:t>
                </a:r>
                <a:r>
                  <a:rPr lang="es-AR" smtClean="0"/>
                  <a:t> </a:t>
                </a:r>
                <a:r>
                  <a:rPr lang="es-AR"/>
                  <a:t>=</a:t>
                </a:r>
                <a:r>
                  <a:rPr lang="es-AR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  <a:ea typeface="Cambria Math"/>
                          </a:rPr>
                          <m:t>γ</m:t>
                        </m:r>
                      </m:e>
                      <m:sub>
                        <m:r>
                          <a:rPr lang="es-AR" b="0" i="1" smtClean="0">
                            <a:latin typeface="Cambria Math"/>
                            <a:ea typeface="Cambria Math"/>
                          </a:rPr>
                          <m:t>𝑍𝐹</m:t>
                        </m:r>
                        <m:r>
                          <a:rPr lang="es-AR" i="1">
                            <a:latin typeface="Cambria Math"/>
                          </a:rPr>
                          <m:t>𝐸</m:t>
                        </m:r>
                      </m:sub>
                    </m:sSub>
                    <m:r>
                      <a:rPr lang="es-AR" b="0" i="1" smtClean="0">
                        <a:latin typeface="Cambria Math"/>
                      </a:rPr>
                      <m:t>=</m:t>
                    </m:r>
                    <m:f>
                      <m:fPr>
                        <m:type m:val="lin"/>
                        <m:ctrlPr>
                          <a:rPr lang="es-AR" b="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AR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latin typeface="Cambria Math"/>
                              </a:rPr>
                              <m:t>𝑆𝑁𝑅</m:t>
                            </m:r>
                          </m:e>
                          <m:sub>
                            <m:r>
                              <a:rPr lang="es-AR" b="0" i="1" smtClean="0">
                                <a:latin typeface="Cambria Math"/>
                              </a:rPr>
                              <m:t>𝑀𝐹𝐵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AR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latin typeface="Cambria Math"/>
                              </a:rPr>
                              <m:t>𝑆𝑁𝑅</m:t>
                            </m:r>
                          </m:e>
                          <m:sub>
                            <m:r>
                              <a:rPr lang="es-AR" b="0" i="1" smtClean="0">
                                <a:latin typeface="Cambria Math"/>
                              </a:rPr>
                              <m:t>𝑍𝐹𝐸</m:t>
                            </m:r>
                          </m:sub>
                        </m:sSub>
                      </m:den>
                    </m:f>
                    <m:r>
                      <a:rPr lang="es-AR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/>
                          </a:rPr>
                        </m:ctrlPr>
                      </m:fPr>
                      <m:num>
                        <m:r>
                          <a:rPr lang="es-AR" i="1">
                            <a:latin typeface="Cambria Math"/>
                          </a:rPr>
                          <m:t>𝑇</m:t>
                        </m:r>
                      </m:num>
                      <m:den>
                        <m:r>
                          <a:rPr lang="es-AR" i="1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  <m:brk m:alnAt="23"/>
                          </m:rPr>
                          <a:rPr lang="el-GR" i="1">
                            <a:latin typeface="Cambria Math"/>
                          </a:rPr>
                          <m:t>π</m:t>
                        </m:r>
                      </m:den>
                    </m:f>
                    <m:nary>
                      <m:naryPr>
                        <m:ctrlPr>
                          <a:rPr lang="es-AR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AR" i="1">
                            <a:latin typeface="Cambria Math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</a:rPr>
                          <m:t>π</m:t>
                        </m:r>
                        <m:r>
                          <a:rPr lang="es-AR" i="1">
                            <a:latin typeface="Cambria Math"/>
                          </a:rPr>
                          <m:t>/</m:t>
                        </m:r>
                        <m:r>
                          <a:rPr lang="es-AR" i="1">
                            <a:latin typeface="Cambria Math"/>
                          </a:rPr>
                          <m:t>𝑇</m:t>
                        </m:r>
                      </m:sub>
                      <m:sup>
                        <m:r>
                          <m:rPr>
                            <m:sty m:val="p"/>
                            <m:brk m:alnAt="23"/>
                          </m:rPr>
                          <a:rPr lang="el-GR" i="1">
                            <a:latin typeface="Cambria Math"/>
                          </a:rPr>
                          <m:t>π</m:t>
                        </m:r>
                        <m:r>
                          <a:rPr lang="es-AR" i="1">
                            <a:latin typeface="Cambria Math"/>
                          </a:rPr>
                          <m:t>/</m:t>
                        </m:r>
                        <m:r>
                          <a:rPr lang="es-AR" i="1">
                            <a:latin typeface="Cambria Math"/>
                          </a:rPr>
                          <m:t>𝑇</m:t>
                        </m:r>
                      </m:sup>
                      <m:e>
                        <m:f>
                          <m:fPr>
                            <m:ctrlPr>
                              <a:rPr lang="es-AR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AR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s-AR" i="1">
                                <a:latin typeface="Cambria Math"/>
                              </a:rPr>
                              <m:t>𝑄</m:t>
                            </m:r>
                            <m:r>
                              <a:rPr lang="es-AR" i="1">
                                <a:latin typeface="Cambria Math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s-AR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s-AR" i="1">
                                    <a:latin typeface="Cambria Math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s-AR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latin typeface="Cambria Math"/>
                                    <a:ea typeface="Cambria Math"/>
                                  </a:rPr>
                                  <m:t>Ω</m:t>
                                </m:r>
                              </m:sup>
                            </m:sSup>
                            <m:r>
                              <a:rPr lang="es-AR" i="1">
                                <a:latin typeface="Cambria Math"/>
                              </a:rPr>
                              <m:t>)</m:t>
                            </m:r>
                          </m:den>
                        </m:f>
                        <m:r>
                          <a:rPr lang="es-AR" i="1">
                            <a:latin typeface="Cambria Math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  <a:ea typeface="Cambria Math"/>
                          </a:rPr>
                          <m:t>Ω</m:t>
                        </m:r>
                        <m:r>
                          <a:rPr lang="es-AR" b="0" i="1" smtClean="0">
                            <a:latin typeface="Cambria Math"/>
                            <a:ea typeface="Cambria Math"/>
                          </a:rPr>
                          <m:t>=1,154</m:t>
                        </m:r>
                      </m:e>
                    </m:nary>
                  </m:oMath>
                </a14:m>
                <a:endParaRPr lang="es-AR"/>
              </a:p>
            </p:txBody>
          </p:sp>
        </mc:Choice>
        <mc:Fallback xmlns="">
          <p:sp>
            <p:nvSpPr>
              <p:cNvPr id="3" name="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432" y="5698423"/>
                <a:ext cx="6195414" cy="536109"/>
              </a:xfrm>
              <a:prstGeom prst="rect">
                <a:avLst/>
              </a:prstGeom>
              <a:blipFill rotWithShape="1">
                <a:blip r:embed="rId5"/>
                <a:stretch>
                  <a:fillRect l="-787" t="-89773" b="-1375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6 CuadroTexto"/>
          <p:cNvSpPr txBox="1"/>
          <p:nvPr/>
        </p:nvSpPr>
        <p:spPr>
          <a:xfrm>
            <a:off x="7073078" y="2194064"/>
            <a:ext cx="19351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mtClean="0"/>
              <a:t>Cero en z = 0</a:t>
            </a:r>
          </a:p>
          <a:p>
            <a:r>
              <a:rPr lang="es-AR" smtClean="0"/>
              <a:t>Polo en z = -0,26</a:t>
            </a:r>
          </a:p>
          <a:p>
            <a:r>
              <a:rPr lang="es-AR" smtClean="0"/>
              <a:t>Polo en -3,73</a:t>
            </a:r>
            <a:endParaRPr lang="es-AR"/>
          </a:p>
        </p:txBody>
      </p:sp>
      <p:cxnSp>
        <p:nvCxnSpPr>
          <p:cNvPr id="15" name="14 Conector recto de flecha"/>
          <p:cNvCxnSpPr/>
          <p:nvPr/>
        </p:nvCxnSpPr>
        <p:spPr>
          <a:xfrm flipV="1">
            <a:off x="1259632" y="4180740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CuadroTexto"/>
          <p:cNvSpPr txBox="1"/>
          <p:nvPr/>
        </p:nvSpPr>
        <p:spPr>
          <a:xfrm>
            <a:off x="229741" y="4633972"/>
            <a:ext cx="2051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sz="1400" smtClean="0"/>
              <a:t>Varianza por dimensión</a:t>
            </a:r>
          </a:p>
          <a:p>
            <a:pPr algn="ctr"/>
            <a:r>
              <a:rPr lang="es-AR" sz="1400" smtClean="0"/>
              <a:t>(ver clase teórica)</a:t>
            </a:r>
            <a:endParaRPr lang="es-AR" sz="1400"/>
          </a:p>
        </p:txBody>
      </p:sp>
      <p:sp>
        <p:nvSpPr>
          <p:cNvPr id="17" name="16 CuadroTexto"/>
          <p:cNvSpPr txBox="1"/>
          <p:nvPr/>
        </p:nvSpPr>
        <p:spPr>
          <a:xfrm>
            <a:off x="4139952" y="328498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mtClean="0">
                <a:solidFill>
                  <a:srgbClr val="FF0000"/>
                </a:solidFill>
              </a:rPr>
              <a:t>Q(z)</a:t>
            </a:r>
            <a:endParaRPr lang="es-AR">
              <a:solidFill>
                <a:srgbClr val="FF0000"/>
              </a:solidFill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6704944" y="448182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mtClean="0">
                <a:solidFill>
                  <a:srgbClr val="FF0000"/>
                </a:solidFill>
              </a:rPr>
              <a:t>Q(e</a:t>
            </a:r>
            <a:r>
              <a:rPr lang="es-AR" baseline="30000" smtClean="0">
                <a:solidFill>
                  <a:srgbClr val="FF0000"/>
                </a:solidFill>
              </a:rPr>
              <a:t>j</a:t>
            </a:r>
            <a:r>
              <a:rPr lang="el-GR" baseline="30000" smtClean="0">
                <a:solidFill>
                  <a:srgbClr val="FF0000"/>
                </a:solidFill>
                <a:latin typeface="Cambria Math"/>
                <a:ea typeface="Cambria Math"/>
              </a:rPr>
              <a:t>Ω</a:t>
            </a:r>
            <a:r>
              <a:rPr lang="es-AR" smtClean="0">
                <a:solidFill>
                  <a:srgbClr val="FF0000"/>
                </a:solidFill>
              </a:rPr>
              <a:t>)</a:t>
            </a:r>
            <a:endParaRPr lang="es-AR">
              <a:solidFill>
                <a:srgbClr val="FF0000"/>
              </a:solidFill>
            </a:endParaRPr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067944" y="3068960"/>
            <a:ext cx="216024" cy="18466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 de flecha"/>
          <p:cNvCxnSpPr/>
          <p:nvPr/>
        </p:nvCxnSpPr>
        <p:spPr>
          <a:xfrm>
            <a:off x="6457856" y="4351750"/>
            <a:ext cx="216024" cy="18466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72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37</a:t>
            </a:fld>
            <a:endParaRPr lang="es-ES"/>
          </a:p>
        </p:txBody>
      </p:sp>
      <p:sp>
        <p:nvSpPr>
          <p:cNvPr id="9" name="8 Título"/>
          <p:cNvSpPr>
            <a:spLocks noGrp="1"/>
          </p:cNvSpPr>
          <p:nvPr>
            <p:ph type="title" idx="4294967295"/>
          </p:nvPr>
        </p:nvSpPr>
        <p:spPr>
          <a:xfrm>
            <a:off x="446856" y="2925134"/>
            <a:ext cx="82296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 smtClean="0"/>
              <a:t>¿Dudas?</a:t>
            </a:r>
            <a:br>
              <a:rPr lang="es-AR" dirty="0" smtClean="0"/>
            </a:br>
            <a:r>
              <a:rPr lang="es-AR" dirty="0" smtClean="0"/>
              <a:t>¿Consultas?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2764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 smtClean="0"/>
              <a:t>Abril 2024</a:t>
            </a:r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Ing. Leonel E. Hochman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38</a:t>
            </a:fld>
            <a:endParaRPr lang="es-ES"/>
          </a:p>
        </p:txBody>
      </p:sp>
      <p:sp>
        <p:nvSpPr>
          <p:cNvPr id="9" name="8 Título"/>
          <p:cNvSpPr>
            <a:spLocks noGrp="1"/>
          </p:cNvSpPr>
          <p:nvPr>
            <p:ph type="title" idx="4294967295"/>
          </p:nvPr>
        </p:nvSpPr>
        <p:spPr>
          <a:xfrm>
            <a:off x="446856" y="2420888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s-AR" dirty="0" smtClean="0"/>
              <a:t>Muchas gracias por su atención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2652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en">
  <a:themeElements>
    <a:clrScheme name="Orige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e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e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5195</TotalTime>
  <Words>3121</Words>
  <Application>Microsoft Office PowerPoint</Application>
  <PresentationFormat>Presentación en pantalla (4:3)</PresentationFormat>
  <Paragraphs>531</Paragraphs>
  <Slides>38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39" baseType="lpstr">
      <vt:lpstr>Origen</vt:lpstr>
      <vt:lpstr>G3 – Canal real con ISI   Orientación para la resolución de ejercicios seleccionados</vt:lpstr>
      <vt:lpstr>Canal no ideal – ISI</vt:lpstr>
      <vt:lpstr>Canal no ideal – ISI</vt:lpstr>
      <vt:lpstr>Canal no ideal – ISI</vt:lpstr>
      <vt:lpstr>Canal no ideal – ISI</vt:lpstr>
      <vt:lpstr>Canal no ideal – ISI</vt:lpstr>
      <vt:lpstr>Ejercicio 32 – Canal ideal</vt:lpstr>
      <vt:lpstr>Ejercicio 33 – Canal con distorsión</vt:lpstr>
      <vt:lpstr>Ejercicio 33 – Canal con distorsión</vt:lpstr>
      <vt:lpstr>Ejercicio 34 – Efecto Doppler y modulación</vt:lpstr>
      <vt:lpstr>Ejercicio 35 – Tasa máxima sin ISI</vt:lpstr>
      <vt:lpstr>Ejercicio 35 – Tasa máxima sin ISI</vt:lpstr>
      <vt:lpstr>Ejercicio 36 – Canal telefónico</vt:lpstr>
      <vt:lpstr>Ejercicio 37 – Pulso Gaussiano</vt:lpstr>
      <vt:lpstr>Ejercicio 39 – Criterio de Nyquist</vt:lpstr>
      <vt:lpstr>Ejercicio 39 – Criterio de Nyquist</vt:lpstr>
      <vt:lpstr>Ejercicio 39 – Criterio de Nyquist</vt:lpstr>
      <vt:lpstr>Ejercicio 39 – Criterio de Nyquist</vt:lpstr>
      <vt:lpstr>Ejercicio 39 – Criterio de Nyquist</vt:lpstr>
      <vt:lpstr>Ejercicio 40 – Modelo simple de ISI</vt:lpstr>
      <vt:lpstr>Ejercicio 40 – Modelo simple de ISI</vt:lpstr>
      <vt:lpstr>Ejercicio 40 – Modelo simple de ISI</vt:lpstr>
      <vt:lpstr>Ejercicio – Ecualizadores ZFE y MMSE</vt:lpstr>
      <vt:lpstr>Ejercicio – Ecualizadores ZFE y MMSE</vt:lpstr>
      <vt:lpstr>Ejercicio – Ecualizadores ZFE y MMSE</vt:lpstr>
      <vt:lpstr>Ejercicio – Ecualizadores ZFE y MMSE</vt:lpstr>
      <vt:lpstr>Ejercicio – Ecualizadores ZFE y MMSE</vt:lpstr>
      <vt:lpstr>Ejercicio – Ecualizadores ZFE y MMSE</vt:lpstr>
      <vt:lpstr>Ejercicio – Ecualizadores ZFE y MMSE</vt:lpstr>
      <vt:lpstr>Ejercicio – Ecualizadores ZFE y MMSE</vt:lpstr>
      <vt:lpstr>Ejercicio – Ecualizadores ZFE y MMSE</vt:lpstr>
      <vt:lpstr>Ejercicio – Ecualizadores ZFE y MMSE</vt:lpstr>
      <vt:lpstr>Ejercicio – Parcial 24/06/2020</vt:lpstr>
      <vt:lpstr>Ejercicio – Parcial 24/06/2020</vt:lpstr>
      <vt:lpstr>Ejercicio – Parcial 24/06/2020</vt:lpstr>
      <vt:lpstr>Ejercicio – Parcial 24/06/2020</vt:lpstr>
      <vt:lpstr>¿Dudas? ¿Consultas?</vt:lpstr>
      <vt:lpstr>Muchas gracias por su atención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Cálculo de probabilidad de error en sistemas M-PSK</dc:title>
  <dc:creator>Leonel Hochman</dc:creator>
  <cp:lastModifiedBy>Hochman Leonel Enrique</cp:lastModifiedBy>
  <cp:revision>653</cp:revision>
  <dcterms:created xsi:type="dcterms:W3CDTF">2014-11-17T01:34:56Z</dcterms:created>
  <dcterms:modified xsi:type="dcterms:W3CDTF">2024-04-10T17:54:32Z</dcterms:modified>
</cp:coreProperties>
</file>