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256" r:id="rId2"/>
    <p:sldId id="291" r:id="rId3"/>
    <p:sldId id="352" r:id="rId4"/>
    <p:sldId id="351" r:id="rId5"/>
    <p:sldId id="353" r:id="rId6"/>
    <p:sldId id="286" r:id="rId7"/>
    <p:sldId id="354" r:id="rId8"/>
    <p:sldId id="367" r:id="rId9"/>
    <p:sldId id="355" r:id="rId10"/>
    <p:sldId id="356" r:id="rId11"/>
    <p:sldId id="371" r:id="rId12"/>
    <p:sldId id="372" r:id="rId13"/>
    <p:sldId id="373" r:id="rId14"/>
    <p:sldId id="374" r:id="rId15"/>
    <p:sldId id="368" r:id="rId16"/>
    <p:sldId id="358" r:id="rId17"/>
    <p:sldId id="359" r:id="rId18"/>
    <p:sldId id="369" r:id="rId19"/>
    <p:sldId id="370" r:id="rId20"/>
    <p:sldId id="357" r:id="rId21"/>
    <p:sldId id="360" r:id="rId22"/>
    <p:sldId id="361" r:id="rId23"/>
    <p:sldId id="362" r:id="rId24"/>
    <p:sldId id="363" r:id="rId25"/>
    <p:sldId id="364" r:id="rId26"/>
    <p:sldId id="365" r:id="rId27"/>
    <p:sldId id="366" r:id="rId28"/>
    <p:sldId id="375" r:id="rId29"/>
    <p:sldId id="376" r:id="rId30"/>
    <p:sldId id="377" r:id="rId31"/>
    <p:sldId id="389" r:id="rId32"/>
    <p:sldId id="378" r:id="rId33"/>
    <p:sldId id="379" r:id="rId34"/>
    <p:sldId id="380" r:id="rId35"/>
    <p:sldId id="381" r:id="rId36"/>
    <p:sldId id="387" r:id="rId37"/>
    <p:sldId id="382" r:id="rId38"/>
    <p:sldId id="383" r:id="rId39"/>
    <p:sldId id="384" r:id="rId40"/>
    <p:sldId id="385" r:id="rId41"/>
    <p:sldId id="386" r:id="rId42"/>
    <p:sldId id="388" r:id="rId43"/>
    <p:sldId id="262" r:id="rId44"/>
    <p:sldId id="263" r:id="rId4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3"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7CA3"/>
    <a:srgbClr val="B88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0" autoAdjust="0"/>
    <p:restoredTop sz="94662" autoAdjust="0"/>
  </p:normalViewPr>
  <p:slideViewPr>
    <p:cSldViewPr>
      <p:cViewPr varScale="1">
        <p:scale>
          <a:sx n="105" d="100"/>
          <a:sy n="105" d="100"/>
        </p:scale>
        <p:origin x="1716" y="114"/>
      </p:cViewPr>
      <p:guideLst>
        <p:guide orient="horz" pos="2523"/>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5CEE00-3517-45F8-BD1F-4F8DABCD8C45}" type="doc">
      <dgm:prSet loTypeId="urn:microsoft.com/office/officeart/2005/8/layout/process1" loCatId="process" qsTypeId="urn:microsoft.com/office/officeart/2005/8/quickstyle/simple1" qsCatId="simple" csTypeId="urn:microsoft.com/office/officeart/2005/8/colors/colorful1" csCatId="colorful" phldr="1"/>
      <dgm:spPr/>
    </dgm:pt>
    <dgm:pt modelId="{F781956F-481F-491D-8EAC-823E6B5460FC}">
      <dgm:prSet phldrT="[Texto]" custT="1"/>
      <dgm:spPr>
        <a:solidFill>
          <a:schemeClr val="accent2">
            <a:lumMod val="75000"/>
          </a:schemeClr>
        </a:solidFill>
      </dgm:spPr>
      <dgm:t>
        <a:bodyPr/>
        <a:lstStyle/>
        <a:p>
          <a:r>
            <a:rPr lang="es-ES" sz="1800" dirty="0" smtClean="0"/>
            <a:t>De bloque</a:t>
          </a:r>
          <a:endParaRPr lang="es-ES" sz="1800" dirty="0"/>
        </a:p>
      </dgm:t>
    </dgm:pt>
    <dgm:pt modelId="{BE781C7F-0FE6-42D1-AF2C-A3D4D5BA37D6}" type="parTrans" cxnId="{0B5FFAD5-9547-43C0-83B1-A776ABC41364}">
      <dgm:prSet/>
      <dgm:spPr/>
      <dgm:t>
        <a:bodyPr/>
        <a:lstStyle/>
        <a:p>
          <a:endParaRPr lang="es-ES" sz="2800"/>
        </a:p>
      </dgm:t>
    </dgm:pt>
    <dgm:pt modelId="{DA6CC310-9B5F-455E-9AD1-644B48D3BF30}" type="sibTrans" cxnId="{0B5FFAD5-9547-43C0-83B1-A776ABC41364}">
      <dgm:prSet custT="1"/>
      <dgm:spPr/>
      <dgm:t>
        <a:bodyPr/>
        <a:lstStyle/>
        <a:p>
          <a:endParaRPr lang="es-ES" sz="1600"/>
        </a:p>
      </dgm:t>
    </dgm:pt>
    <dgm:pt modelId="{658A29B8-4EF2-4693-BC78-55AABECC6743}">
      <dgm:prSet phldrT="[Texto]" custT="1"/>
      <dgm:spPr>
        <a:solidFill>
          <a:schemeClr val="accent3">
            <a:lumMod val="75000"/>
          </a:schemeClr>
        </a:solidFill>
      </dgm:spPr>
      <dgm:t>
        <a:bodyPr/>
        <a:lstStyle/>
        <a:p>
          <a:r>
            <a:rPr lang="es-ES" sz="1800" dirty="0" smtClean="0"/>
            <a:t>No singular</a:t>
          </a:r>
          <a:endParaRPr lang="es-ES" sz="1800" dirty="0"/>
        </a:p>
      </dgm:t>
    </dgm:pt>
    <dgm:pt modelId="{86F22EE5-3E7F-46C7-A615-9EEF5EE72ACD}" type="parTrans" cxnId="{A87FD865-42EC-45D8-88A8-B8342C3F4409}">
      <dgm:prSet/>
      <dgm:spPr/>
      <dgm:t>
        <a:bodyPr/>
        <a:lstStyle/>
        <a:p>
          <a:endParaRPr lang="es-ES" sz="2800"/>
        </a:p>
      </dgm:t>
    </dgm:pt>
    <dgm:pt modelId="{36352AF8-5DC2-40B7-857C-D229008A4D5D}" type="sibTrans" cxnId="{A87FD865-42EC-45D8-88A8-B8342C3F4409}">
      <dgm:prSet custT="1"/>
      <dgm:spPr/>
      <dgm:t>
        <a:bodyPr/>
        <a:lstStyle/>
        <a:p>
          <a:endParaRPr lang="es-ES" sz="1600"/>
        </a:p>
      </dgm:t>
    </dgm:pt>
    <dgm:pt modelId="{B0A09423-E99F-4F4B-ACAC-B15D281A4B64}">
      <dgm:prSet phldrT="[Texto]" custT="1"/>
      <dgm:spPr>
        <a:solidFill>
          <a:schemeClr val="accent4">
            <a:lumMod val="75000"/>
          </a:schemeClr>
        </a:solidFill>
      </dgm:spPr>
      <dgm:t>
        <a:bodyPr/>
        <a:lstStyle/>
        <a:p>
          <a:r>
            <a:rPr lang="es-ES" sz="1800" dirty="0" smtClean="0"/>
            <a:t>Unívocamente Decodificable</a:t>
          </a:r>
          <a:endParaRPr lang="es-ES" sz="1800" dirty="0"/>
        </a:p>
      </dgm:t>
    </dgm:pt>
    <dgm:pt modelId="{A231D169-E9DA-4138-B348-3DDD42922F7F}" type="parTrans" cxnId="{7E797B64-820B-42C1-9CA9-EAE982EECB18}">
      <dgm:prSet/>
      <dgm:spPr/>
      <dgm:t>
        <a:bodyPr/>
        <a:lstStyle/>
        <a:p>
          <a:endParaRPr lang="es-ES" sz="2800"/>
        </a:p>
      </dgm:t>
    </dgm:pt>
    <dgm:pt modelId="{713C69E0-6AA4-4214-96DF-8F04930BA963}" type="sibTrans" cxnId="{7E797B64-820B-42C1-9CA9-EAE982EECB18}">
      <dgm:prSet custT="1"/>
      <dgm:spPr/>
      <dgm:t>
        <a:bodyPr/>
        <a:lstStyle/>
        <a:p>
          <a:endParaRPr lang="es-ES" sz="1600"/>
        </a:p>
      </dgm:t>
    </dgm:pt>
    <dgm:pt modelId="{C8798EF0-19AE-4C41-ABDB-D8AD191AD43A}">
      <dgm:prSet phldrT="[Texto]" custT="1"/>
      <dgm:spPr/>
      <dgm:t>
        <a:bodyPr/>
        <a:lstStyle/>
        <a:p>
          <a:r>
            <a:rPr lang="es-ES" sz="1800" dirty="0" smtClean="0"/>
            <a:t>Prefijo o Instantáneo</a:t>
          </a:r>
          <a:endParaRPr lang="es-ES" sz="1800" dirty="0"/>
        </a:p>
      </dgm:t>
    </dgm:pt>
    <dgm:pt modelId="{A04B5EAF-9376-48EA-9D8E-B49BA8631031}" type="parTrans" cxnId="{490C75E3-2394-4751-BDAA-7E24D013FDB6}">
      <dgm:prSet/>
      <dgm:spPr/>
      <dgm:t>
        <a:bodyPr/>
        <a:lstStyle/>
        <a:p>
          <a:endParaRPr lang="es-ES" sz="2800"/>
        </a:p>
      </dgm:t>
    </dgm:pt>
    <dgm:pt modelId="{F1494F0A-21B6-4795-B619-AAF2D8F2B1D2}" type="sibTrans" cxnId="{490C75E3-2394-4751-BDAA-7E24D013FDB6}">
      <dgm:prSet/>
      <dgm:spPr/>
      <dgm:t>
        <a:bodyPr/>
        <a:lstStyle/>
        <a:p>
          <a:endParaRPr lang="es-ES" sz="2800"/>
        </a:p>
      </dgm:t>
    </dgm:pt>
    <dgm:pt modelId="{09154364-5D0A-4157-96C8-3CA76F2E78B9}" type="pres">
      <dgm:prSet presAssocID="{335CEE00-3517-45F8-BD1F-4F8DABCD8C45}" presName="Name0" presStyleCnt="0">
        <dgm:presLayoutVars>
          <dgm:dir/>
          <dgm:resizeHandles val="exact"/>
        </dgm:presLayoutVars>
      </dgm:prSet>
      <dgm:spPr/>
    </dgm:pt>
    <dgm:pt modelId="{27EF7C55-7E28-401B-8C7C-800F744F9273}" type="pres">
      <dgm:prSet presAssocID="{F781956F-481F-491D-8EAC-823E6B5460FC}" presName="node" presStyleLbl="node1" presStyleIdx="0" presStyleCnt="4">
        <dgm:presLayoutVars>
          <dgm:bulletEnabled val="1"/>
        </dgm:presLayoutVars>
      </dgm:prSet>
      <dgm:spPr/>
      <dgm:t>
        <a:bodyPr/>
        <a:lstStyle/>
        <a:p>
          <a:endParaRPr lang="es-ES"/>
        </a:p>
      </dgm:t>
    </dgm:pt>
    <dgm:pt modelId="{B80DA79F-FE25-485D-81A4-5ED11958CB2C}" type="pres">
      <dgm:prSet presAssocID="{DA6CC310-9B5F-455E-9AD1-644B48D3BF30}" presName="sibTrans" presStyleLbl="sibTrans2D1" presStyleIdx="0" presStyleCnt="3"/>
      <dgm:spPr/>
      <dgm:t>
        <a:bodyPr/>
        <a:lstStyle/>
        <a:p>
          <a:endParaRPr lang="es-ES"/>
        </a:p>
      </dgm:t>
    </dgm:pt>
    <dgm:pt modelId="{F2AB06C8-C408-4572-A43F-C04B3A005E01}" type="pres">
      <dgm:prSet presAssocID="{DA6CC310-9B5F-455E-9AD1-644B48D3BF30}" presName="connectorText" presStyleLbl="sibTrans2D1" presStyleIdx="0" presStyleCnt="3"/>
      <dgm:spPr/>
      <dgm:t>
        <a:bodyPr/>
        <a:lstStyle/>
        <a:p>
          <a:endParaRPr lang="es-ES"/>
        </a:p>
      </dgm:t>
    </dgm:pt>
    <dgm:pt modelId="{103DA481-201D-43EE-808C-A912F0B90C58}" type="pres">
      <dgm:prSet presAssocID="{658A29B8-4EF2-4693-BC78-55AABECC6743}" presName="node" presStyleLbl="node1" presStyleIdx="1" presStyleCnt="4">
        <dgm:presLayoutVars>
          <dgm:bulletEnabled val="1"/>
        </dgm:presLayoutVars>
      </dgm:prSet>
      <dgm:spPr/>
      <dgm:t>
        <a:bodyPr/>
        <a:lstStyle/>
        <a:p>
          <a:endParaRPr lang="es-ES"/>
        </a:p>
      </dgm:t>
    </dgm:pt>
    <dgm:pt modelId="{A50054F3-9358-48DD-8082-D60A2C9B683B}" type="pres">
      <dgm:prSet presAssocID="{36352AF8-5DC2-40B7-857C-D229008A4D5D}" presName="sibTrans" presStyleLbl="sibTrans2D1" presStyleIdx="1" presStyleCnt="3"/>
      <dgm:spPr/>
      <dgm:t>
        <a:bodyPr/>
        <a:lstStyle/>
        <a:p>
          <a:endParaRPr lang="es-ES"/>
        </a:p>
      </dgm:t>
    </dgm:pt>
    <dgm:pt modelId="{96B98487-17C7-4F77-840E-2FB4D36949E3}" type="pres">
      <dgm:prSet presAssocID="{36352AF8-5DC2-40B7-857C-D229008A4D5D}" presName="connectorText" presStyleLbl="sibTrans2D1" presStyleIdx="1" presStyleCnt="3"/>
      <dgm:spPr/>
      <dgm:t>
        <a:bodyPr/>
        <a:lstStyle/>
        <a:p>
          <a:endParaRPr lang="es-ES"/>
        </a:p>
      </dgm:t>
    </dgm:pt>
    <dgm:pt modelId="{6E94C9BB-B9BF-4871-8C99-463987875E9C}" type="pres">
      <dgm:prSet presAssocID="{B0A09423-E99F-4F4B-ACAC-B15D281A4B64}" presName="node" presStyleLbl="node1" presStyleIdx="2" presStyleCnt="4">
        <dgm:presLayoutVars>
          <dgm:bulletEnabled val="1"/>
        </dgm:presLayoutVars>
      </dgm:prSet>
      <dgm:spPr/>
      <dgm:t>
        <a:bodyPr/>
        <a:lstStyle/>
        <a:p>
          <a:endParaRPr lang="es-ES"/>
        </a:p>
      </dgm:t>
    </dgm:pt>
    <dgm:pt modelId="{D4E5B147-5BB3-4277-9E60-6715BB6216D4}" type="pres">
      <dgm:prSet presAssocID="{713C69E0-6AA4-4214-96DF-8F04930BA963}" presName="sibTrans" presStyleLbl="sibTrans2D1" presStyleIdx="2" presStyleCnt="3"/>
      <dgm:spPr/>
      <dgm:t>
        <a:bodyPr/>
        <a:lstStyle/>
        <a:p>
          <a:endParaRPr lang="es-ES"/>
        </a:p>
      </dgm:t>
    </dgm:pt>
    <dgm:pt modelId="{8BE04705-89DF-4B53-86FD-ED6A5007E5C7}" type="pres">
      <dgm:prSet presAssocID="{713C69E0-6AA4-4214-96DF-8F04930BA963}" presName="connectorText" presStyleLbl="sibTrans2D1" presStyleIdx="2" presStyleCnt="3"/>
      <dgm:spPr/>
      <dgm:t>
        <a:bodyPr/>
        <a:lstStyle/>
        <a:p>
          <a:endParaRPr lang="es-ES"/>
        </a:p>
      </dgm:t>
    </dgm:pt>
    <dgm:pt modelId="{927761EB-58CB-47B4-BDEF-C2021D25DFFB}" type="pres">
      <dgm:prSet presAssocID="{C8798EF0-19AE-4C41-ABDB-D8AD191AD43A}" presName="node" presStyleLbl="node1" presStyleIdx="3" presStyleCnt="4">
        <dgm:presLayoutVars>
          <dgm:bulletEnabled val="1"/>
        </dgm:presLayoutVars>
      </dgm:prSet>
      <dgm:spPr/>
      <dgm:t>
        <a:bodyPr/>
        <a:lstStyle/>
        <a:p>
          <a:endParaRPr lang="es-ES"/>
        </a:p>
      </dgm:t>
    </dgm:pt>
  </dgm:ptLst>
  <dgm:cxnLst>
    <dgm:cxn modelId="{976F0825-C2C9-4F3A-AB2A-9B0294DC8BF4}" type="presOf" srcId="{36352AF8-5DC2-40B7-857C-D229008A4D5D}" destId="{96B98487-17C7-4F77-840E-2FB4D36949E3}" srcOrd="1" destOrd="0" presId="urn:microsoft.com/office/officeart/2005/8/layout/process1"/>
    <dgm:cxn modelId="{48DA14F5-27AF-4742-9743-C919025B173A}" type="presOf" srcId="{713C69E0-6AA4-4214-96DF-8F04930BA963}" destId="{D4E5B147-5BB3-4277-9E60-6715BB6216D4}" srcOrd="0" destOrd="0" presId="urn:microsoft.com/office/officeart/2005/8/layout/process1"/>
    <dgm:cxn modelId="{5A19B30A-514D-4064-BBA1-5A5AB33B4E15}" type="presOf" srcId="{C8798EF0-19AE-4C41-ABDB-D8AD191AD43A}" destId="{927761EB-58CB-47B4-BDEF-C2021D25DFFB}" srcOrd="0" destOrd="0" presId="urn:microsoft.com/office/officeart/2005/8/layout/process1"/>
    <dgm:cxn modelId="{C85509C1-6DE2-44C5-B23C-E90E4172235C}" type="presOf" srcId="{335CEE00-3517-45F8-BD1F-4F8DABCD8C45}" destId="{09154364-5D0A-4157-96C8-3CA76F2E78B9}" srcOrd="0" destOrd="0" presId="urn:microsoft.com/office/officeart/2005/8/layout/process1"/>
    <dgm:cxn modelId="{2C74AE24-CCFA-4ED7-A82E-1E9ACFBB9DED}" type="presOf" srcId="{DA6CC310-9B5F-455E-9AD1-644B48D3BF30}" destId="{F2AB06C8-C408-4572-A43F-C04B3A005E01}" srcOrd="1" destOrd="0" presId="urn:microsoft.com/office/officeart/2005/8/layout/process1"/>
    <dgm:cxn modelId="{1E32DAF6-10C4-4F51-803D-D7BB213B7E01}" type="presOf" srcId="{B0A09423-E99F-4F4B-ACAC-B15D281A4B64}" destId="{6E94C9BB-B9BF-4871-8C99-463987875E9C}" srcOrd="0" destOrd="0" presId="urn:microsoft.com/office/officeart/2005/8/layout/process1"/>
    <dgm:cxn modelId="{0BFCFF64-F0DD-4956-A6F0-6082FC0948C3}" type="presOf" srcId="{DA6CC310-9B5F-455E-9AD1-644B48D3BF30}" destId="{B80DA79F-FE25-485D-81A4-5ED11958CB2C}" srcOrd="0" destOrd="0" presId="urn:microsoft.com/office/officeart/2005/8/layout/process1"/>
    <dgm:cxn modelId="{12EF85B2-B1C1-4DE8-B1D8-E9F8D63F80E9}" type="presOf" srcId="{36352AF8-5DC2-40B7-857C-D229008A4D5D}" destId="{A50054F3-9358-48DD-8082-D60A2C9B683B}" srcOrd="0" destOrd="0" presId="urn:microsoft.com/office/officeart/2005/8/layout/process1"/>
    <dgm:cxn modelId="{0B5FFAD5-9547-43C0-83B1-A776ABC41364}" srcId="{335CEE00-3517-45F8-BD1F-4F8DABCD8C45}" destId="{F781956F-481F-491D-8EAC-823E6B5460FC}" srcOrd="0" destOrd="0" parTransId="{BE781C7F-0FE6-42D1-AF2C-A3D4D5BA37D6}" sibTransId="{DA6CC310-9B5F-455E-9AD1-644B48D3BF30}"/>
    <dgm:cxn modelId="{A87FD865-42EC-45D8-88A8-B8342C3F4409}" srcId="{335CEE00-3517-45F8-BD1F-4F8DABCD8C45}" destId="{658A29B8-4EF2-4693-BC78-55AABECC6743}" srcOrd="1" destOrd="0" parTransId="{86F22EE5-3E7F-46C7-A615-9EEF5EE72ACD}" sibTransId="{36352AF8-5DC2-40B7-857C-D229008A4D5D}"/>
    <dgm:cxn modelId="{490C75E3-2394-4751-BDAA-7E24D013FDB6}" srcId="{335CEE00-3517-45F8-BD1F-4F8DABCD8C45}" destId="{C8798EF0-19AE-4C41-ABDB-D8AD191AD43A}" srcOrd="3" destOrd="0" parTransId="{A04B5EAF-9376-48EA-9D8E-B49BA8631031}" sibTransId="{F1494F0A-21B6-4795-B619-AAF2D8F2B1D2}"/>
    <dgm:cxn modelId="{C7351055-DC62-4210-B87F-DFFEAB164963}" type="presOf" srcId="{713C69E0-6AA4-4214-96DF-8F04930BA963}" destId="{8BE04705-89DF-4B53-86FD-ED6A5007E5C7}" srcOrd="1" destOrd="0" presId="urn:microsoft.com/office/officeart/2005/8/layout/process1"/>
    <dgm:cxn modelId="{7E797B64-820B-42C1-9CA9-EAE982EECB18}" srcId="{335CEE00-3517-45F8-BD1F-4F8DABCD8C45}" destId="{B0A09423-E99F-4F4B-ACAC-B15D281A4B64}" srcOrd="2" destOrd="0" parTransId="{A231D169-E9DA-4138-B348-3DDD42922F7F}" sibTransId="{713C69E0-6AA4-4214-96DF-8F04930BA963}"/>
    <dgm:cxn modelId="{20D6D821-D00C-4C98-89C3-1CC1A4D73FDB}" type="presOf" srcId="{658A29B8-4EF2-4693-BC78-55AABECC6743}" destId="{103DA481-201D-43EE-808C-A912F0B90C58}" srcOrd="0" destOrd="0" presId="urn:microsoft.com/office/officeart/2005/8/layout/process1"/>
    <dgm:cxn modelId="{EBBF1D46-6D66-46F5-A341-FF90B74657D9}" type="presOf" srcId="{F781956F-481F-491D-8EAC-823E6B5460FC}" destId="{27EF7C55-7E28-401B-8C7C-800F744F9273}" srcOrd="0" destOrd="0" presId="urn:microsoft.com/office/officeart/2005/8/layout/process1"/>
    <dgm:cxn modelId="{07390F2C-BC8B-4727-85C9-532C74F5E259}" type="presParOf" srcId="{09154364-5D0A-4157-96C8-3CA76F2E78B9}" destId="{27EF7C55-7E28-401B-8C7C-800F744F9273}" srcOrd="0" destOrd="0" presId="urn:microsoft.com/office/officeart/2005/8/layout/process1"/>
    <dgm:cxn modelId="{488A942B-5481-4DED-A3D2-BE0E70BB7128}" type="presParOf" srcId="{09154364-5D0A-4157-96C8-3CA76F2E78B9}" destId="{B80DA79F-FE25-485D-81A4-5ED11958CB2C}" srcOrd="1" destOrd="0" presId="urn:microsoft.com/office/officeart/2005/8/layout/process1"/>
    <dgm:cxn modelId="{A0454DB2-82DF-46FA-AFFE-DC8B35149563}" type="presParOf" srcId="{B80DA79F-FE25-485D-81A4-5ED11958CB2C}" destId="{F2AB06C8-C408-4572-A43F-C04B3A005E01}" srcOrd="0" destOrd="0" presId="urn:microsoft.com/office/officeart/2005/8/layout/process1"/>
    <dgm:cxn modelId="{E57B6577-74CD-4A9F-8F70-47B7D2DF328D}" type="presParOf" srcId="{09154364-5D0A-4157-96C8-3CA76F2E78B9}" destId="{103DA481-201D-43EE-808C-A912F0B90C58}" srcOrd="2" destOrd="0" presId="urn:microsoft.com/office/officeart/2005/8/layout/process1"/>
    <dgm:cxn modelId="{BBFE72E8-1EF4-496C-B9CE-DD44C3AB7B13}" type="presParOf" srcId="{09154364-5D0A-4157-96C8-3CA76F2E78B9}" destId="{A50054F3-9358-48DD-8082-D60A2C9B683B}" srcOrd="3" destOrd="0" presId="urn:microsoft.com/office/officeart/2005/8/layout/process1"/>
    <dgm:cxn modelId="{A0FA0B9D-FB6A-4FFA-8D55-1820BA7CB8AB}" type="presParOf" srcId="{A50054F3-9358-48DD-8082-D60A2C9B683B}" destId="{96B98487-17C7-4F77-840E-2FB4D36949E3}" srcOrd="0" destOrd="0" presId="urn:microsoft.com/office/officeart/2005/8/layout/process1"/>
    <dgm:cxn modelId="{733158CA-44A7-4370-87CE-6235D6FEB4AC}" type="presParOf" srcId="{09154364-5D0A-4157-96C8-3CA76F2E78B9}" destId="{6E94C9BB-B9BF-4871-8C99-463987875E9C}" srcOrd="4" destOrd="0" presId="urn:microsoft.com/office/officeart/2005/8/layout/process1"/>
    <dgm:cxn modelId="{46C87A6D-68A7-470B-9CC6-C624306C667C}" type="presParOf" srcId="{09154364-5D0A-4157-96C8-3CA76F2E78B9}" destId="{D4E5B147-5BB3-4277-9E60-6715BB6216D4}" srcOrd="5" destOrd="0" presId="urn:microsoft.com/office/officeart/2005/8/layout/process1"/>
    <dgm:cxn modelId="{AA6083B8-5121-464D-8226-91CC1F054BC9}" type="presParOf" srcId="{D4E5B147-5BB3-4277-9E60-6715BB6216D4}" destId="{8BE04705-89DF-4B53-86FD-ED6A5007E5C7}" srcOrd="0" destOrd="0" presId="urn:microsoft.com/office/officeart/2005/8/layout/process1"/>
    <dgm:cxn modelId="{9C8590AA-7348-458E-9A0D-3FEBA829C212}" type="presParOf" srcId="{09154364-5D0A-4157-96C8-3CA76F2E78B9}" destId="{927761EB-58CB-47B4-BDEF-C2021D25DFF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5CEE00-3517-45F8-BD1F-4F8DABCD8C45}" type="doc">
      <dgm:prSet loTypeId="urn:microsoft.com/office/officeart/2005/8/layout/process1" loCatId="process" qsTypeId="urn:microsoft.com/office/officeart/2005/8/quickstyle/simple1" qsCatId="simple" csTypeId="urn:microsoft.com/office/officeart/2005/8/colors/colorful1" csCatId="colorful" phldr="1"/>
      <dgm:spPr/>
    </dgm:pt>
    <dgm:pt modelId="{F781956F-481F-491D-8EAC-823E6B5460FC}">
      <dgm:prSet phldrT="[Texto]" custT="1"/>
      <dgm:spPr>
        <a:solidFill>
          <a:schemeClr val="accent2">
            <a:lumMod val="75000"/>
          </a:schemeClr>
        </a:solidFill>
      </dgm:spPr>
      <dgm:t>
        <a:bodyPr/>
        <a:lstStyle/>
        <a:p>
          <a:r>
            <a:rPr lang="es-ES" sz="1800" dirty="0" smtClean="0"/>
            <a:t>De bloque</a:t>
          </a:r>
          <a:endParaRPr lang="es-ES" sz="1800" dirty="0"/>
        </a:p>
      </dgm:t>
    </dgm:pt>
    <dgm:pt modelId="{BE781C7F-0FE6-42D1-AF2C-A3D4D5BA37D6}" type="parTrans" cxnId="{0B5FFAD5-9547-43C0-83B1-A776ABC41364}">
      <dgm:prSet/>
      <dgm:spPr/>
      <dgm:t>
        <a:bodyPr/>
        <a:lstStyle/>
        <a:p>
          <a:endParaRPr lang="es-ES" sz="2800"/>
        </a:p>
      </dgm:t>
    </dgm:pt>
    <dgm:pt modelId="{DA6CC310-9B5F-455E-9AD1-644B48D3BF30}" type="sibTrans" cxnId="{0B5FFAD5-9547-43C0-83B1-A776ABC41364}">
      <dgm:prSet custT="1"/>
      <dgm:spPr/>
      <dgm:t>
        <a:bodyPr/>
        <a:lstStyle/>
        <a:p>
          <a:endParaRPr lang="es-ES" sz="1600"/>
        </a:p>
      </dgm:t>
    </dgm:pt>
    <dgm:pt modelId="{658A29B8-4EF2-4693-BC78-55AABECC6743}">
      <dgm:prSet phldrT="[Texto]" custT="1"/>
      <dgm:spPr>
        <a:solidFill>
          <a:schemeClr val="accent3">
            <a:lumMod val="75000"/>
          </a:schemeClr>
        </a:solidFill>
      </dgm:spPr>
      <dgm:t>
        <a:bodyPr/>
        <a:lstStyle/>
        <a:p>
          <a:r>
            <a:rPr lang="es-ES" sz="1800" dirty="0" smtClean="0"/>
            <a:t>No singular</a:t>
          </a:r>
          <a:endParaRPr lang="es-ES" sz="1800" dirty="0"/>
        </a:p>
      </dgm:t>
    </dgm:pt>
    <dgm:pt modelId="{86F22EE5-3E7F-46C7-A615-9EEF5EE72ACD}" type="parTrans" cxnId="{A87FD865-42EC-45D8-88A8-B8342C3F4409}">
      <dgm:prSet/>
      <dgm:spPr/>
      <dgm:t>
        <a:bodyPr/>
        <a:lstStyle/>
        <a:p>
          <a:endParaRPr lang="es-ES" sz="2800"/>
        </a:p>
      </dgm:t>
    </dgm:pt>
    <dgm:pt modelId="{36352AF8-5DC2-40B7-857C-D229008A4D5D}" type="sibTrans" cxnId="{A87FD865-42EC-45D8-88A8-B8342C3F4409}">
      <dgm:prSet custT="1"/>
      <dgm:spPr/>
      <dgm:t>
        <a:bodyPr/>
        <a:lstStyle/>
        <a:p>
          <a:endParaRPr lang="es-ES" sz="1600"/>
        </a:p>
      </dgm:t>
    </dgm:pt>
    <dgm:pt modelId="{B0A09423-E99F-4F4B-ACAC-B15D281A4B64}">
      <dgm:prSet phldrT="[Texto]" custT="1"/>
      <dgm:spPr>
        <a:solidFill>
          <a:schemeClr val="accent4">
            <a:lumMod val="75000"/>
          </a:schemeClr>
        </a:solidFill>
      </dgm:spPr>
      <dgm:t>
        <a:bodyPr/>
        <a:lstStyle/>
        <a:p>
          <a:r>
            <a:rPr lang="es-ES" sz="1800" dirty="0" smtClean="0"/>
            <a:t>Unívocamente Decodificable</a:t>
          </a:r>
          <a:endParaRPr lang="es-ES" sz="1800" dirty="0"/>
        </a:p>
      </dgm:t>
    </dgm:pt>
    <dgm:pt modelId="{A231D169-E9DA-4138-B348-3DDD42922F7F}" type="parTrans" cxnId="{7E797B64-820B-42C1-9CA9-EAE982EECB18}">
      <dgm:prSet/>
      <dgm:spPr/>
      <dgm:t>
        <a:bodyPr/>
        <a:lstStyle/>
        <a:p>
          <a:endParaRPr lang="es-ES" sz="2800"/>
        </a:p>
      </dgm:t>
    </dgm:pt>
    <dgm:pt modelId="{713C69E0-6AA4-4214-96DF-8F04930BA963}" type="sibTrans" cxnId="{7E797B64-820B-42C1-9CA9-EAE982EECB18}">
      <dgm:prSet custT="1"/>
      <dgm:spPr/>
      <dgm:t>
        <a:bodyPr/>
        <a:lstStyle/>
        <a:p>
          <a:endParaRPr lang="es-ES" sz="1600"/>
        </a:p>
      </dgm:t>
    </dgm:pt>
    <dgm:pt modelId="{C8798EF0-19AE-4C41-ABDB-D8AD191AD43A}">
      <dgm:prSet phldrT="[Texto]" custT="1"/>
      <dgm:spPr/>
      <dgm:t>
        <a:bodyPr/>
        <a:lstStyle/>
        <a:p>
          <a:r>
            <a:rPr lang="es-ES" sz="1800" dirty="0" smtClean="0"/>
            <a:t>Prefijo o Instantáneo</a:t>
          </a:r>
          <a:endParaRPr lang="es-ES" sz="1800" dirty="0"/>
        </a:p>
      </dgm:t>
    </dgm:pt>
    <dgm:pt modelId="{A04B5EAF-9376-48EA-9D8E-B49BA8631031}" type="parTrans" cxnId="{490C75E3-2394-4751-BDAA-7E24D013FDB6}">
      <dgm:prSet/>
      <dgm:spPr/>
      <dgm:t>
        <a:bodyPr/>
        <a:lstStyle/>
        <a:p>
          <a:endParaRPr lang="es-ES" sz="2800"/>
        </a:p>
      </dgm:t>
    </dgm:pt>
    <dgm:pt modelId="{F1494F0A-21B6-4795-B619-AAF2D8F2B1D2}" type="sibTrans" cxnId="{490C75E3-2394-4751-BDAA-7E24D013FDB6}">
      <dgm:prSet/>
      <dgm:spPr/>
      <dgm:t>
        <a:bodyPr/>
        <a:lstStyle/>
        <a:p>
          <a:endParaRPr lang="es-ES" sz="2800"/>
        </a:p>
      </dgm:t>
    </dgm:pt>
    <dgm:pt modelId="{09154364-5D0A-4157-96C8-3CA76F2E78B9}" type="pres">
      <dgm:prSet presAssocID="{335CEE00-3517-45F8-BD1F-4F8DABCD8C45}" presName="Name0" presStyleCnt="0">
        <dgm:presLayoutVars>
          <dgm:dir/>
          <dgm:resizeHandles val="exact"/>
        </dgm:presLayoutVars>
      </dgm:prSet>
      <dgm:spPr/>
    </dgm:pt>
    <dgm:pt modelId="{27EF7C55-7E28-401B-8C7C-800F744F9273}" type="pres">
      <dgm:prSet presAssocID="{F781956F-481F-491D-8EAC-823E6B5460FC}" presName="node" presStyleLbl="node1" presStyleIdx="0" presStyleCnt="4">
        <dgm:presLayoutVars>
          <dgm:bulletEnabled val="1"/>
        </dgm:presLayoutVars>
      </dgm:prSet>
      <dgm:spPr/>
      <dgm:t>
        <a:bodyPr/>
        <a:lstStyle/>
        <a:p>
          <a:endParaRPr lang="es-ES"/>
        </a:p>
      </dgm:t>
    </dgm:pt>
    <dgm:pt modelId="{B80DA79F-FE25-485D-81A4-5ED11958CB2C}" type="pres">
      <dgm:prSet presAssocID="{DA6CC310-9B5F-455E-9AD1-644B48D3BF30}" presName="sibTrans" presStyleLbl="sibTrans2D1" presStyleIdx="0" presStyleCnt="3"/>
      <dgm:spPr/>
      <dgm:t>
        <a:bodyPr/>
        <a:lstStyle/>
        <a:p>
          <a:endParaRPr lang="es-ES"/>
        </a:p>
      </dgm:t>
    </dgm:pt>
    <dgm:pt modelId="{F2AB06C8-C408-4572-A43F-C04B3A005E01}" type="pres">
      <dgm:prSet presAssocID="{DA6CC310-9B5F-455E-9AD1-644B48D3BF30}" presName="connectorText" presStyleLbl="sibTrans2D1" presStyleIdx="0" presStyleCnt="3"/>
      <dgm:spPr/>
      <dgm:t>
        <a:bodyPr/>
        <a:lstStyle/>
        <a:p>
          <a:endParaRPr lang="es-ES"/>
        </a:p>
      </dgm:t>
    </dgm:pt>
    <dgm:pt modelId="{103DA481-201D-43EE-808C-A912F0B90C58}" type="pres">
      <dgm:prSet presAssocID="{658A29B8-4EF2-4693-BC78-55AABECC6743}" presName="node" presStyleLbl="node1" presStyleIdx="1" presStyleCnt="4">
        <dgm:presLayoutVars>
          <dgm:bulletEnabled val="1"/>
        </dgm:presLayoutVars>
      </dgm:prSet>
      <dgm:spPr/>
      <dgm:t>
        <a:bodyPr/>
        <a:lstStyle/>
        <a:p>
          <a:endParaRPr lang="es-ES"/>
        </a:p>
      </dgm:t>
    </dgm:pt>
    <dgm:pt modelId="{A50054F3-9358-48DD-8082-D60A2C9B683B}" type="pres">
      <dgm:prSet presAssocID="{36352AF8-5DC2-40B7-857C-D229008A4D5D}" presName="sibTrans" presStyleLbl="sibTrans2D1" presStyleIdx="1" presStyleCnt="3"/>
      <dgm:spPr/>
      <dgm:t>
        <a:bodyPr/>
        <a:lstStyle/>
        <a:p>
          <a:endParaRPr lang="es-ES"/>
        </a:p>
      </dgm:t>
    </dgm:pt>
    <dgm:pt modelId="{96B98487-17C7-4F77-840E-2FB4D36949E3}" type="pres">
      <dgm:prSet presAssocID="{36352AF8-5DC2-40B7-857C-D229008A4D5D}" presName="connectorText" presStyleLbl="sibTrans2D1" presStyleIdx="1" presStyleCnt="3"/>
      <dgm:spPr/>
      <dgm:t>
        <a:bodyPr/>
        <a:lstStyle/>
        <a:p>
          <a:endParaRPr lang="es-ES"/>
        </a:p>
      </dgm:t>
    </dgm:pt>
    <dgm:pt modelId="{6E94C9BB-B9BF-4871-8C99-463987875E9C}" type="pres">
      <dgm:prSet presAssocID="{B0A09423-E99F-4F4B-ACAC-B15D281A4B64}" presName="node" presStyleLbl="node1" presStyleIdx="2" presStyleCnt="4">
        <dgm:presLayoutVars>
          <dgm:bulletEnabled val="1"/>
        </dgm:presLayoutVars>
      </dgm:prSet>
      <dgm:spPr/>
      <dgm:t>
        <a:bodyPr/>
        <a:lstStyle/>
        <a:p>
          <a:endParaRPr lang="es-ES"/>
        </a:p>
      </dgm:t>
    </dgm:pt>
    <dgm:pt modelId="{D4E5B147-5BB3-4277-9E60-6715BB6216D4}" type="pres">
      <dgm:prSet presAssocID="{713C69E0-6AA4-4214-96DF-8F04930BA963}" presName="sibTrans" presStyleLbl="sibTrans2D1" presStyleIdx="2" presStyleCnt="3"/>
      <dgm:spPr/>
      <dgm:t>
        <a:bodyPr/>
        <a:lstStyle/>
        <a:p>
          <a:endParaRPr lang="es-ES"/>
        </a:p>
      </dgm:t>
    </dgm:pt>
    <dgm:pt modelId="{8BE04705-89DF-4B53-86FD-ED6A5007E5C7}" type="pres">
      <dgm:prSet presAssocID="{713C69E0-6AA4-4214-96DF-8F04930BA963}" presName="connectorText" presStyleLbl="sibTrans2D1" presStyleIdx="2" presStyleCnt="3"/>
      <dgm:spPr/>
      <dgm:t>
        <a:bodyPr/>
        <a:lstStyle/>
        <a:p>
          <a:endParaRPr lang="es-ES"/>
        </a:p>
      </dgm:t>
    </dgm:pt>
    <dgm:pt modelId="{927761EB-58CB-47B4-BDEF-C2021D25DFFB}" type="pres">
      <dgm:prSet presAssocID="{C8798EF0-19AE-4C41-ABDB-D8AD191AD43A}" presName="node" presStyleLbl="node1" presStyleIdx="3" presStyleCnt="4">
        <dgm:presLayoutVars>
          <dgm:bulletEnabled val="1"/>
        </dgm:presLayoutVars>
      </dgm:prSet>
      <dgm:spPr/>
      <dgm:t>
        <a:bodyPr/>
        <a:lstStyle/>
        <a:p>
          <a:endParaRPr lang="es-ES"/>
        </a:p>
      </dgm:t>
    </dgm:pt>
  </dgm:ptLst>
  <dgm:cxnLst>
    <dgm:cxn modelId="{976F0825-C2C9-4F3A-AB2A-9B0294DC8BF4}" type="presOf" srcId="{36352AF8-5DC2-40B7-857C-D229008A4D5D}" destId="{96B98487-17C7-4F77-840E-2FB4D36949E3}" srcOrd="1" destOrd="0" presId="urn:microsoft.com/office/officeart/2005/8/layout/process1"/>
    <dgm:cxn modelId="{48DA14F5-27AF-4742-9743-C919025B173A}" type="presOf" srcId="{713C69E0-6AA4-4214-96DF-8F04930BA963}" destId="{D4E5B147-5BB3-4277-9E60-6715BB6216D4}" srcOrd="0" destOrd="0" presId="urn:microsoft.com/office/officeart/2005/8/layout/process1"/>
    <dgm:cxn modelId="{5A19B30A-514D-4064-BBA1-5A5AB33B4E15}" type="presOf" srcId="{C8798EF0-19AE-4C41-ABDB-D8AD191AD43A}" destId="{927761EB-58CB-47B4-BDEF-C2021D25DFFB}" srcOrd="0" destOrd="0" presId="urn:microsoft.com/office/officeart/2005/8/layout/process1"/>
    <dgm:cxn modelId="{C85509C1-6DE2-44C5-B23C-E90E4172235C}" type="presOf" srcId="{335CEE00-3517-45F8-BD1F-4F8DABCD8C45}" destId="{09154364-5D0A-4157-96C8-3CA76F2E78B9}" srcOrd="0" destOrd="0" presId="urn:microsoft.com/office/officeart/2005/8/layout/process1"/>
    <dgm:cxn modelId="{2C74AE24-CCFA-4ED7-A82E-1E9ACFBB9DED}" type="presOf" srcId="{DA6CC310-9B5F-455E-9AD1-644B48D3BF30}" destId="{F2AB06C8-C408-4572-A43F-C04B3A005E01}" srcOrd="1" destOrd="0" presId="urn:microsoft.com/office/officeart/2005/8/layout/process1"/>
    <dgm:cxn modelId="{1E32DAF6-10C4-4F51-803D-D7BB213B7E01}" type="presOf" srcId="{B0A09423-E99F-4F4B-ACAC-B15D281A4B64}" destId="{6E94C9BB-B9BF-4871-8C99-463987875E9C}" srcOrd="0" destOrd="0" presId="urn:microsoft.com/office/officeart/2005/8/layout/process1"/>
    <dgm:cxn modelId="{0BFCFF64-F0DD-4956-A6F0-6082FC0948C3}" type="presOf" srcId="{DA6CC310-9B5F-455E-9AD1-644B48D3BF30}" destId="{B80DA79F-FE25-485D-81A4-5ED11958CB2C}" srcOrd="0" destOrd="0" presId="urn:microsoft.com/office/officeart/2005/8/layout/process1"/>
    <dgm:cxn modelId="{12EF85B2-B1C1-4DE8-B1D8-E9F8D63F80E9}" type="presOf" srcId="{36352AF8-5DC2-40B7-857C-D229008A4D5D}" destId="{A50054F3-9358-48DD-8082-D60A2C9B683B}" srcOrd="0" destOrd="0" presId="urn:microsoft.com/office/officeart/2005/8/layout/process1"/>
    <dgm:cxn modelId="{0B5FFAD5-9547-43C0-83B1-A776ABC41364}" srcId="{335CEE00-3517-45F8-BD1F-4F8DABCD8C45}" destId="{F781956F-481F-491D-8EAC-823E6B5460FC}" srcOrd="0" destOrd="0" parTransId="{BE781C7F-0FE6-42D1-AF2C-A3D4D5BA37D6}" sibTransId="{DA6CC310-9B5F-455E-9AD1-644B48D3BF30}"/>
    <dgm:cxn modelId="{A87FD865-42EC-45D8-88A8-B8342C3F4409}" srcId="{335CEE00-3517-45F8-BD1F-4F8DABCD8C45}" destId="{658A29B8-4EF2-4693-BC78-55AABECC6743}" srcOrd="1" destOrd="0" parTransId="{86F22EE5-3E7F-46C7-A615-9EEF5EE72ACD}" sibTransId="{36352AF8-5DC2-40B7-857C-D229008A4D5D}"/>
    <dgm:cxn modelId="{490C75E3-2394-4751-BDAA-7E24D013FDB6}" srcId="{335CEE00-3517-45F8-BD1F-4F8DABCD8C45}" destId="{C8798EF0-19AE-4C41-ABDB-D8AD191AD43A}" srcOrd="3" destOrd="0" parTransId="{A04B5EAF-9376-48EA-9D8E-B49BA8631031}" sibTransId="{F1494F0A-21B6-4795-B619-AAF2D8F2B1D2}"/>
    <dgm:cxn modelId="{C7351055-DC62-4210-B87F-DFFEAB164963}" type="presOf" srcId="{713C69E0-6AA4-4214-96DF-8F04930BA963}" destId="{8BE04705-89DF-4B53-86FD-ED6A5007E5C7}" srcOrd="1" destOrd="0" presId="urn:microsoft.com/office/officeart/2005/8/layout/process1"/>
    <dgm:cxn modelId="{7E797B64-820B-42C1-9CA9-EAE982EECB18}" srcId="{335CEE00-3517-45F8-BD1F-4F8DABCD8C45}" destId="{B0A09423-E99F-4F4B-ACAC-B15D281A4B64}" srcOrd="2" destOrd="0" parTransId="{A231D169-E9DA-4138-B348-3DDD42922F7F}" sibTransId="{713C69E0-6AA4-4214-96DF-8F04930BA963}"/>
    <dgm:cxn modelId="{20D6D821-D00C-4C98-89C3-1CC1A4D73FDB}" type="presOf" srcId="{658A29B8-4EF2-4693-BC78-55AABECC6743}" destId="{103DA481-201D-43EE-808C-A912F0B90C58}" srcOrd="0" destOrd="0" presId="urn:microsoft.com/office/officeart/2005/8/layout/process1"/>
    <dgm:cxn modelId="{EBBF1D46-6D66-46F5-A341-FF90B74657D9}" type="presOf" srcId="{F781956F-481F-491D-8EAC-823E6B5460FC}" destId="{27EF7C55-7E28-401B-8C7C-800F744F9273}" srcOrd="0" destOrd="0" presId="urn:microsoft.com/office/officeart/2005/8/layout/process1"/>
    <dgm:cxn modelId="{07390F2C-BC8B-4727-85C9-532C74F5E259}" type="presParOf" srcId="{09154364-5D0A-4157-96C8-3CA76F2E78B9}" destId="{27EF7C55-7E28-401B-8C7C-800F744F9273}" srcOrd="0" destOrd="0" presId="urn:microsoft.com/office/officeart/2005/8/layout/process1"/>
    <dgm:cxn modelId="{488A942B-5481-4DED-A3D2-BE0E70BB7128}" type="presParOf" srcId="{09154364-5D0A-4157-96C8-3CA76F2E78B9}" destId="{B80DA79F-FE25-485D-81A4-5ED11958CB2C}" srcOrd="1" destOrd="0" presId="urn:microsoft.com/office/officeart/2005/8/layout/process1"/>
    <dgm:cxn modelId="{A0454DB2-82DF-46FA-AFFE-DC8B35149563}" type="presParOf" srcId="{B80DA79F-FE25-485D-81A4-5ED11958CB2C}" destId="{F2AB06C8-C408-4572-A43F-C04B3A005E01}" srcOrd="0" destOrd="0" presId="urn:microsoft.com/office/officeart/2005/8/layout/process1"/>
    <dgm:cxn modelId="{E57B6577-74CD-4A9F-8F70-47B7D2DF328D}" type="presParOf" srcId="{09154364-5D0A-4157-96C8-3CA76F2E78B9}" destId="{103DA481-201D-43EE-808C-A912F0B90C58}" srcOrd="2" destOrd="0" presId="urn:microsoft.com/office/officeart/2005/8/layout/process1"/>
    <dgm:cxn modelId="{BBFE72E8-1EF4-496C-B9CE-DD44C3AB7B13}" type="presParOf" srcId="{09154364-5D0A-4157-96C8-3CA76F2E78B9}" destId="{A50054F3-9358-48DD-8082-D60A2C9B683B}" srcOrd="3" destOrd="0" presId="urn:microsoft.com/office/officeart/2005/8/layout/process1"/>
    <dgm:cxn modelId="{A0FA0B9D-FB6A-4FFA-8D55-1820BA7CB8AB}" type="presParOf" srcId="{A50054F3-9358-48DD-8082-D60A2C9B683B}" destId="{96B98487-17C7-4F77-840E-2FB4D36949E3}" srcOrd="0" destOrd="0" presId="urn:microsoft.com/office/officeart/2005/8/layout/process1"/>
    <dgm:cxn modelId="{733158CA-44A7-4370-87CE-6235D6FEB4AC}" type="presParOf" srcId="{09154364-5D0A-4157-96C8-3CA76F2E78B9}" destId="{6E94C9BB-B9BF-4871-8C99-463987875E9C}" srcOrd="4" destOrd="0" presId="urn:microsoft.com/office/officeart/2005/8/layout/process1"/>
    <dgm:cxn modelId="{46C87A6D-68A7-470B-9CC6-C624306C667C}" type="presParOf" srcId="{09154364-5D0A-4157-96C8-3CA76F2E78B9}" destId="{D4E5B147-5BB3-4277-9E60-6715BB6216D4}" srcOrd="5" destOrd="0" presId="urn:microsoft.com/office/officeart/2005/8/layout/process1"/>
    <dgm:cxn modelId="{AA6083B8-5121-464D-8226-91CC1F054BC9}" type="presParOf" srcId="{D4E5B147-5BB3-4277-9E60-6715BB6216D4}" destId="{8BE04705-89DF-4B53-86FD-ED6A5007E5C7}" srcOrd="0" destOrd="0" presId="urn:microsoft.com/office/officeart/2005/8/layout/process1"/>
    <dgm:cxn modelId="{9C8590AA-7348-458E-9A0D-3FEBA829C212}" type="presParOf" srcId="{09154364-5D0A-4157-96C8-3CA76F2E78B9}" destId="{927761EB-58CB-47B4-BDEF-C2021D25DFF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5CEE00-3517-45F8-BD1F-4F8DABCD8C45}" type="doc">
      <dgm:prSet loTypeId="urn:microsoft.com/office/officeart/2005/8/layout/process1" loCatId="process" qsTypeId="urn:microsoft.com/office/officeart/2005/8/quickstyle/simple1" qsCatId="simple" csTypeId="urn:microsoft.com/office/officeart/2005/8/colors/colorful1" csCatId="colorful" phldr="1"/>
      <dgm:spPr/>
    </dgm:pt>
    <dgm:pt modelId="{F781956F-481F-491D-8EAC-823E6B5460FC}">
      <dgm:prSet phldrT="[Texto]" custT="1"/>
      <dgm:spPr>
        <a:solidFill>
          <a:schemeClr val="accent2">
            <a:lumMod val="75000"/>
          </a:schemeClr>
        </a:solidFill>
      </dgm:spPr>
      <dgm:t>
        <a:bodyPr/>
        <a:lstStyle/>
        <a:p>
          <a:r>
            <a:rPr lang="es-ES" sz="1800" dirty="0" smtClean="0"/>
            <a:t>De bloque</a:t>
          </a:r>
          <a:endParaRPr lang="es-ES" sz="1800" dirty="0"/>
        </a:p>
      </dgm:t>
    </dgm:pt>
    <dgm:pt modelId="{BE781C7F-0FE6-42D1-AF2C-A3D4D5BA37D6}" type="parTrans" cxnId="{0B5FFAD5-9547-43C0-83B1-A776ABC41364}">
      <dgm:prSet/>
      <dgm:spPr/>
      <dgm:t>
        <a:bodyPr/>
        <a:lstStyle/>
        <a:p>
          <a:endParaRPr lang="es-ES" sz="2800"/>
        </a:p>
      </dgm:t>
    </dgm:pt>
    <dgm:pt modelId="{DA6CC310-9B5F-455E-9AD1-644B48D3BF30}" type="sibTrans" cxnId="{0B5FFAD5-9547-43C0-83B1-A776ABC41364}">
      <dgm:prSet custT="1"/>
      <dgm:spPr/>
      <dgm:t>
        <a:bodyPr/>
        <a:lstStyle/>
        <a:p>
          <a:endParaRPr lang="es-ES" sz="1600"/>
        </a:p>
      </dgm:t>
    </dgm:pt>
    <dgm:pt modelId="{658A29B8-4EF2-4693-BC78-55AABECC6743}">
      <dgm:prSet phldrT="[Texto]" custT="1"/>
      <dgm:spPr>
        <a:solidFill>
          <a:schemeClr val="accent3">
            <a:lumMod val="75000"/>
          </a:schemeClr>
        </a:solidFill>
      </dgm:spPr>
      <dgm:t>
        <a:bodyPr/>
        <a:lstStyle/>
        <a:p>
          <a:r>
            <a:rPr lang="es-ES" sz="1800" dirty="0" smtClean="0"/>
            <a:t>No singular</a:t>
          </a:r>
          <a:endParaRPr lang="es-ES" sz="1800" dirty="0"/>
        </a:p>
      </dgm:t>
    </dgm:pt>
    <dgm:pt modelId="{86F22EE5-3E7F-46C7-A615-9EEF5EE72ACD}" type="parTrans" cxnId="{A87FD865-42EC-45D8-88A8-B8342C3F4409}">
      <dgm:prSet/>
      <dgm:spPr/>
      <dgm:t>
        <a:bodyPr/>
        <a:lstStyle/>
        <a:p>
          <a:endParaRPr lang="es-ES" sz="2800"/>
        </a:p>
      </dgm:t>
    </dgm:pt>
    <dgm:pt modelId="{36352AF8-5DC2-40B7-857C-D229008A4D5D}" type="sibTrans" cxnId="{A87FD865-42EC-45D8-88A8-B8342C3F4409}">
      <dgm:prSet custT="1"/>
      <dgm:spPr/>
      <dgm:t>
        <a:bodyPr/>
        <a:lstStyle/>
        <a:p>
          <a:endParaRPr lang="es-ES" sz="1600"/>
        </a:p>
      </dgm:t>
    </dgm:pt>
    <dgm:pt modelId="{B0A09423-E99F-4F4B-ACAC-B15D281A4B64}">
      <dgm:prSet phldrT="[Texto]" custT="1"/>
      <dgm:spPr>
        <a:solidFill>
          <a:schemeClr val="accent4">
            <a:lumMod val="75000"/>
          </a:schemeClr>
        </a:solidFill>
      </dgm:spPr>
      <dgm:t>
        <a:bodyPr/>
        <a:lstStyle/>
        <a:p>
          <a:r>
            <a:rPr lang="es-ES" sz="1800" dirty="0" smtClean="0"/>
            <a:t>Unívocamente Decodificable</a:t>
          </a:r>
          <a:endParaRPr lang="es-ES" sz="1800" dirty="0"/>
        </a:p>
      </dgm:t>
    </dgm:pt>
    <dgm:pt modelId="{A231D169-E9DA-4138-B348-3DDD42922F7F}" type="parTrans" cxnId="{7E797B64-820B-42C1-9CA9-EAE982EECB18}">
      <dgm:prSet/>
      <dgm:spPr/>
      <dgm:t>
        <a:bodyPr/>
        <a:lstStyle/>
        <a:p>
          <a:endParaRPr lang="es-ES" sz="2800"/>
        </a:p>
      </dgm:t>
    </dgm:pt>
    <dgm:pt modelId="{713C69E0-6AA4-4214-96DF-8F04930BA963}" type="sibTrans" cxnId="{7E797B64-820B-42C1-9CA9-EAE982EECB18}">
      <dgm:prSet custT="1"/>
      <dgm:spPr/>
      <dgm:t>
        <a:bodyPr/>
        <a:lstStyle/>
        <a:p>
          <a:endParaRPr lang="es-ES" sz="1600"/>
        </a:p>
      </dgm:t>
    </dgm:pt>
    <dgm:pt modelId="{C8798EF0-19AE-4C41-ABDB-D8AD191AD43A}">
      <dgm:prSet phldrT="[Texto]" custT="1"/>
      <dgm:spPr/>
      <dgm:t>
        <a:bodyPr/>
        <a:lstStyle/>
        <a:p>
          <a:r>
            <a:rPr lang="es-ES" sz="1800" dirty="0" smtClean="0"/>
            <a:t>Prefijo o Instantáneo</a:t>
          </a:r>
          <a:endParaRPr lang="es-ES" sz="1800" dirty="0"/>
        </a:p>
      </dgm:t>
    </dgm:pt>
    <dgm:pt modelId="{A04B5EAF-9376-48EA-9D8E-B49BA8631031}" type="parTrans" cxnId="{490C75E3-2394-4751-BDAA-7E24D013FDB6}">
      <dgm:prSet/>
      <dgm:spPr/>
      <dgm:t>
        <a:bodyPr/>
        <a:lstStyle/>
        <a:p>
          <a:endParaRPr lang="es-ES" sz="2800"/>
        </a:p>
      </dgm:t>
    </dgm:pt>
    <dgm:pt modelId="{F1494F0A-21B6-4795-B619-AAF2D8F2B1D2}" type="sibTrans" cxnId="{490C75E3-2394-4751-BDAA-7E24D013FDB6}">
      <dgm:prSet/>
      <dgm:spPr/>
      <dgm:t>
        <a:bodyPr/>
        <a:lstStyle/>
        <a:p>
          <a:endParaRPr lang="es-ES" sz="2800"/>
        </a:p>
      </dgm:t>
    </dgm:pt>
    <dgm:pt modelId="{09154364-5D0A-4157-96C8-3CA76F2E78B9}" type="pres">
      <dgm:prSet presAssocID="{335CEE00-3517-45F8-BD1F-4F8DABCD8C45}" presName="Name0" presStyleCnt="0">
        <dgm:presLayoutVars>
          <dgm:dir/>
          <dgm:resizeHandles val="exact"/>
        </dgm:presLayoutVars>
      </dgm:prSet>
      <dgm:spPr/>
    </dgm:pt>
    <dgm:pt modelId="{27EF7C55-7E28-401B-8C7C-800F744F9273}" type="pres">
      <dgm:prSet presAssocID="{F781956F-481F-491D-8EAC-823E6B5460FC}" presName="node" presStyleLbl="node1" presStyleIdx="0" presStyleCnt="4">
        <dgm:presLayoutVars>
          <dgm:bulletEnabled val="1"/>
        </dgm:presLayoutVars>
      </dgm:prSet>
      <dgm:spPr/>
      <dgm:t>
        <a:bodyPr/>
        <a:lstStyle/>
        <a:p>
          <a:endParaRPr lang="es-ES"/>
        </a:p>
      </dgm:t>
    </dgm:pt>
    <dgm:pt modelId="{B80DA79F-FE25-485D-81A4-5ED11958CB2C}" type="pres">
      <dgm:prSet presAssocID="{DA6CC310-9B5F-455E-9AD1-644B48D3BF30}" presName="sibTrans" presStyleLbl="sibTrans2D1" presStyleIdx="0" presStyleCnt="3"/>
      <dgm:spPr/>
      <dgm:t>
        <a:bodyPr/>
        <a:lstStyle/>
        <a:p>
          <a:endParaRPr lang="es-ES"/>
        </a:p>
      </dgm:t>
    </dgm:pt>
    <dgm:pt modelId="{F2AB06C8-C408-4572-A43F-C04B3A005E01}" type="pres">
      <dgm:prSet presAssocID="{DA6CC310-9B5F-455E-9AD1-644B48D3BF30}" presName="connectorText" presStyleLbl="sibTrans2D1" presStyleIdx="0" presStyleCnt="3"/>
      <dgm:spPr/>
      <dgm:t>
        <a:bodyPr/>
        <a:lstStyle/>
        <a:p>
          <a:endParaRPr lang="es-ES"/>
        </a:p>
      </dgm:t>
    </dgm:pt>
    <dgm:pt modelId="{103DA481-201D-43EE-808C-A912F0B90C58}" type="pres">
      <dgm:prSet presAssocID="{658A29B8-4EF2-4693-BC78-55AABECC6743}" presName="node" presStyleLbl="node1" presStyleIdx="1" presStyleCnt="4">
        <dgm:presLayoutVars>
          <dgm:bulletEnabled val="1"/>
        </dgm:presLayoutVars>
      </dgm:prSet>
      <dgm:spPr/>
      <dgm:t>
        <a:bodyPr/>
        <a:lstStyle/>
        <a:p>
          <a:endParaRPr lang="es-ES"/>
        </a:p>
      </dgm:t>
    </dgm:pt>
    <dgm:pt modelId="{A50054F3-9358-48DD-8082-D60A2C9B683B}" type="pres">
      <dgm:prSet presAssocID="{36352AF8-5DC2-40B7-857C-D229008A4D5D}" presName="sibTrans" presStyleLbl="sibTrans2D1" presStyleIdx="1" presStyleCnt="3"/>
      <dgm:spPr/>
      <dgm:t>
        <a:bodyPr/>
        <a:lstStyle/>
        <a:p>
          <a:endParaRPr lang="es-ES"/>
        </a:p>
      </dgm:t>
    </dgm:pt>
    <dgm:pt modelId="{96B98487-17C7-4F77-840E-2FB4D36949E3}" type="pres">
      <dgm:prSet presAssocID="{36352AF8-5DC2-40B7-857C-D229008A4D5D}" presName="connectorText" presStyleLbl="sibTrans2D1" presStyleIdx="1" presStyleCnt="3"/>
      <dgm:spPr/>
      <dgm:t>
        <a:bodyPr/>
        <a:lstStyle/>
        <a:p>
          <a:endParaRPr lang="es-ES"/>
        </a:p>
      </dgm:t>
    </dgm:pt>
    <dgm:pt modelId="{6E94C9BB-B9BF-4871-8C99-463987875E9C}" type="pres">
      <dgm:prSet presAssocID="{B0A09423-E99F-4F4B-ACAC-B15D281A4B64}" presName="node" presStyleLbl="node1" presStyleIdx="2" presStyleCnt="4">
        <dgm:presLayoutVars>
          <dgm:bulletEnabled val="1"/>
        </dgm:presLayoutVars>
      </dgm:prSet>
      <dgm:spPr/>
      <dgm:t>
        <a:bodyPr/>
        <a:lstStyle/>
        <a:p>
          <a:endParaRPr lang="es-ES"/>
        </a:p>
      </dgm:t>
    </dgm:pt>
    <dgm:pt modelId="{D4E5B147-5BB3-4277-9E60-6715BB6216D4}" type="pres">
      <dgm:prSet presAssocID="{713C69E0-6AA4-4214-96DF-8F04930BA963}" presName="sibTrans" presStyleLbl="sibTrans2D1" presStyleIdx="2" presStyleCnt="3"/>
      <dgm:spPr/>
      <dgm:t>
        <a:bodyPr/>
        <a:lstStyle/>
        <a:p>
          <a:endParaRPr lang="es-ES"/>
        </a:p>
      </dgm:t>
    </dgm:pt>
    <dgm:pt modelId="{8BE04705-89DF-4B53-86FD-ED6A5007E5C7}" type="pres">
      <dgm:prSet presAssocID="{713C69E0-6AA4-4214-96DF-8F04930BA963}" presName="connectorText" presStyleLbl="sibTrans2D1" presStyleIdx="2" presStyleCnt="3"/>
      <dgm:spPr/>
      <dgm:t>
        <a:bodyPr/>
        <a:lstStyle/>
        <a:p>
          <a:endParaRPr lang="es-ES"/>
        </a:p>
      </dgm:t>
    </dgm:pt>
    <dgm:pt modelId="{927761EB-58CB-47B4-BDEF-C2021D25DFFB}" type="pres">
      <dgm:prSet presAssocID="{C8798EF0-19AE-4C41-ABDB-D8AD191AD43A}" presName="node" presStyleLbl="node1" presStyleIdx="3" presStyleCnt="4">
        <dgm:presLayoutVars>
          <dgm:bulletEnabled val="1"/>
        </dgm:presLayoutVars>
      </dgm:prSet>
      <dgm:spPr/>
      <dgm:t>
        <a:bodyPr/>
        <a:lstStyle/>
        <a:p>
          <a:endParaRPr lang="es-ES"/>
        </a:p>
      </dgm:t>
    </dgm:pt>
  </dgm:ptLst>
  <dgm:cxnLst>
    <dgm:cxn modelId="{976F0825-C2C9-4F3A-AB2A-9B0294DC8BF4}" type="presOf" srcId="{36352AF8-5DC2-40B7-857C-D229008A4D5D}" destId="{96B98487-17C7-4F77-840E-2FB4D36949E3}" srcOrd="1" destOrd="0" presId="urn:microsoft.com/office/officeart/2005/8/layout/process1"/>
    <dgm:cxn modelId="{48DA14F5-27AF-4742-9743-C919025B173A}" type="presOf" srcId="{713C69E0-6AA4-4214-96DF-8F04930BA963}" destId="{D4E5B147-5BB3-4277-9E60-6715BB6216D4}" srcOrd="0" destOrd="0" presId="urn:microsoft.com/office/officeart/2005/8/layout/process1"/>
    <dgm:cxn modelId="{5A19B30A-514D-4064-BBA1-5A5AB33B4E15}" type="presOf" srcId="{C8798EF0-19AE-4C41-ABDB-D8AD191AD43A}" destId="{927761EB-58CB-47B4-BDEF-C2021D25DFFB}" srcOrd="0" destOrd="0" presId="urn:microsoft.com/office/officeart/2005/8/layout/process1"/>
    <dgm:cxn modelId="{C85509C1-6DE2-44C5-B23C-E90E4172235C}" type="presOf" srcId="{335CEE00-3517-45F8-BD1F-4F8DABCD8C45}" destId="{09154364-5D0A-4157-96C8-3CA76F2E78B9}" srcOrd="0" destOrd="0" presId="urn:microsoft.com/office/officeart/2005/8/layout/process1"/>
    <dgm:cxn modelId="{2C74AE24-CCFA-4ED7-A82E-1E9ACFBB9DED}" type="presOf" srcId="{DA6CC310-9B5F-455E-9AD1-644B48D3BF30}" destId="{F2AB06C8-C408-4572-A43F-C04B3A005E01}" srcOrd="1" destOrd="0" presId="urn:microsoft.com/office/officeart/2005/8/layout/process1"/>
    <dgm:cxn modelId="{1E32DAF6-10C4-4F51-803D-D7BB213B7E01}" type="presOf" srcId="{B0A09423-E99F-4F4B-ACAC-B15D281A4B64}" destId="{6E94C9BB-B9BF-4871-8C99-463987875E9C}" srcOrd="0" destOrd="0" presId="urn:microsoft.com/office/officeart/2005/8/layout/process1"/>
    <dgm:cxn modelId="{0BFCFF64-F0DD-4956-A6F0-6082FC0948C3}" type="presOf" srcId="{DA6CC310-9B5F-455E-9AD1-644B48D3BF30}" destId="{B80DA79F-FE25-485D-81A4-5ED11958CB2C}" srcOrd="0" destOrd="0" presId="urn:microsoft.com/office/officeart/2005/8/layout/process1"/>
    <dgm:cxn modelId="{12EF85B2-B1C1-4DE8-B1D8-E9F8D63F80E9}" type="presOf" srcId="{36352AF8-5DC2-40B7-857C-D229008A4D5D}" destId="{A50054F3-9358-48DD-8082-D60A2C9B683B}" srcOrd="0" destOrd="0" presId="urn:microsoft.com/office/officeart/2005/8/layout/process1"/>
    <dgm:cxn modelId="{0B5FFAD5-9547-43C0-83B1-A776ABC41364}" srcId="{335CEE00-3517-45F8-BD1F-4F8DABCD8C45}" destId="{F781956F-481F-491D-8EAC-823E6B5460FC}" srcOrd="0" destOrd="0" parTransId="{BE781C7F-0FE6-42D1-AF2C-A3D4D5BA37D6}" sibTransId="{DA6CC310-9B5F-455E-9AD1-644B48D3BF30}"/>
    <dgm:cxn modelId="{A87FD865-42EC-45D8-88A8-B8342C3F4409}" srcId="{335CEE00-3517-45F8-BD1F-4F8DABCD8C45}" destId="{658A29B8-4EF2-4693-BC78-55AABECC6743}" srcOrd="1" destOrd="0" parTransId="{86F22EE5-3E7F-46C7-A615-9EEF5EE72ACD}" sibTransId="{36352AF8-5DC2-40B7-857C-D229008A4D5D}"/>
    <dgm:cxn modelId="{490C75E3-2394-4751-BDAA-7E24D013FDB6}" srcId="{335CEE00-3517-45F8-BD1F-4F8DABCD8C45}" destId="{C8798EF0-19AE-4C41-ABDB-D8AD191AD43A}" srcOrd="3" destOrd="0" parTransId="{A04B5EAF-9376-48EA-9D8E-B49BA8631031}" sibTransId="{F1494F0A-21B6-4795-B619-AAF2D8F2B1D2}"/>
    <dgm:cxn modelId="{C7351055-DC62-4210-B87F-DFFEAB164963}" type="presOf" srcId="{713C69E0-6AA4-4214-96DF-8F04930BA963}" destId="{8BE04705-89DF-4B53-86FD-ED6A5007E5C7}" srcOrd="1" destOrd="0" presId="urn:microsoft.com/office/officeart/2005/8/layout/process1"/>
    <dgm:cxn modelId="{7E797B64-820B-42C1-9CA9-EAE982EECB18}" srcId="{335CEE00-3517-45F8-BD1F-4F8DABCD8C45}" destId="{B0A09423-E99F-4F4B-ACAC-B15D281A4B64}" srcOrd="2" destOrd="0" parTransId="{A231D169-E9DA-4138-B348-3DDD42922F7F}" sibTransId="{713C69E0-6AA4-4214-96DF-8F04930BA963}"/>
    <dgm:cxn modelId="{20D6D821-D00C-4C98-89C3-1CC1A4D73FDB}" type="presOf" srcId="{658A29B8-4EF2-4693-BC78-55AABECC6743}" destId="{103DA481-201D-43EE-808C-A912F0B90C58}" srcOrd="0" destOrd="0" presId="urn:microsoft.com/office/officeart/2005/8/layout/process1"/>
    <dgm:cxn modelId="{EBBF1D46-6D66-46F5-A341-FF90B74657D9}" type="presOf" srcId="{F781956F-481F-491D-8EAC-823E6B5460FC}" destId="{27EF7C55-7E28-401B-8C7C-800F744F9273}" srcOrd="0" destOrd="0" presId="urn:microsoft.com/office/officeart/2005/8/layout/process1"/>
    <dgm:cxn modelId="{07390F2C-BC8B-4727-85C9-532C74F5E259}" type="presParOf" srcId="{09154364-5D0A-4157-96C8-3CA76F2E78B9}" destId="{27EF7C55-7E28-401B-8C7C-800F744F9273}" srcOrd="0" destOrd="0" presId="urn:microsoft.com/office/officeart/2005/8/layout/process1"/>
    <dgm:cxn modelId="{488A942B-5481-4DED-A3D2-BE0E70BB7128}" type="presParOf" srcId="{09154364-5D0A-4157-96C8-3CA76F2E78B9}" destId="{B80DA79F-FE25-485D-81A4-5ED11958CB2C}" srcOrd="1" destOrd="0" presId="urn:microsoft.com/office/officeart/2005/8/layout/process1"/>
    <dgm:cxn modelId="{A0454DB2-82DF-46FA-AFFE-DC8B35149563}" type="presParOf" srcId="{B80DA79F-FE25-485D-81A4-5ED11958CB2C}" destId="{F2AB06C8-C408-4572-A43F-C04B3A005E01}" srcOrd="0" destOrd="0" presId="urn:microsoft.com/office/officeart/2005/8/layout/process1"/>
    <dgm:cxn modelId="{E57B6577-74CD-4A9F-8F70-47B7D2DF328D}" type="presParOf" srcId="{09154364-5D0A-4157-96C8-3CA76F2E78B9}" destId="{103DA481-201D-43EE-808C-A912F0B90C58}" srcOrd="2" destOrd="0" presId="urn:microsoft.com/office/officeart/2005/8/layout/process1"/>
    <dgm:cxn modelId="{BBFE72E8-1EF4-496C-B9CE-DD44C3AB7B13}" type="presParOf" srcId="{09154364-5D0A-4157-96C8-3CA76F2E78B9}" destId="{A50054F3-9358-48DD-8082-D60A2C9B683B}" srcOrd="3" destOrd="0" presId="urn:microsoft.com/office/officeart/2005/8/layout/process1"/>
    <dgm:cxn modelId="{A0FA0B9D-FB6A-4FFA-8D55-1820BA7CB8AB}" type="presParOf" srcId="{A50054F3-9358-48DD-8082-D60A2C9B683B}" destId="{96B98487-17C7-4F77-840E-2FB4D36949E3}" srcOrd="0" destOrd="0" presId="urn:microsoft.com/office/officeart/2005/8/layout/process1"/>
    <dgm:cxn modelId="{733158CA-44A7-4370-87CE-6235D6FEB4AC}" type="presParOf" srcId="{09154364-5D0A-4157-96C8-3CA76F2E78B9}" destId="{6E94C9BB-B9BF-4871-8C99-463987875E9C}" srcOrd="4" destOrd="0" presId="urn:microsoft.com/office/officeart/2005/8/layout/process1"/>
    <dgm:cxn modelId="{46C87A6D-68A7-470B-9CC6-C624306C667C}" type="presParOf" srcId="{09154364-5D0A-4157-96C8-3CA76F2E78B9}" destId="{D4E5B147-5BB3-4277-9E60-6715BB6216D4}" srcOrd="5" destOrd="0" presId="urn:microsoft.com/office/officeart/2005/8/layout/process1"/>
    <dgm:cxn modelId="{AA6083B8-5121-464D-8226-91CC1F054BC9}" type="presParOf" srcId="{D4E5B147-5BB3-4277-9E60-6715BB6216D4}" destId="{8BE04705-89DF-4B53-86FD-ED6A5007E5C7}" srcOrd="0" destOrd="0" presId="urn:microsoft.com/office/officeart/2005/8/layout/process1"/>
    <dgm:cxn modelId="{9C8590AA-7348-458E-9A0D-3FEBA829C212}" type="presParOf" srcId="{09154364-5D0A-4157-96C8-3CA76F2E78B9}" destId="{927761EB-58CB-47B4-BDEF-C2021D25DFF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5CEE00-3517-45F8-BD1F-4F8DABCD8C45}" type="doc">
      <dgm:prSet loTypeId="urn:microsoft.com/office/officeart/2005/8/layout/process1" loCatId="process" qsTypeId="urn:microsoft.com/office/officeart/2005/8/quickstyle/simple1" qsCatId="simple" csTypeId="urn:microsoft.com/office/officeart/2005/8/colors/colorful1" csCatId="colorful" phldr="1"/>
      <dgm:spPr/>
    </dgm:pt>
    <dgm:pt modelId="{F781956F-481F-491D-8EAC-823E6B5460FC}">
      <dgm:prSet phldrT="[Texto]" custT="1"/>
      <dgm:spPr>
        <a:solidFill>
          <a:schemeClr val="accent2">
            <a:lumMod val="75000"/>
          </a:schemeClr>
        </a:solidFill>
      </dgm:spPr>
      <dgm:t>
        <a:bodyPr/>
        <a:lstStyle/>
        <a:p>
          <a:r>
            <a:rPr lang="es-ES" sz="1800" dirty="0" smtClean="0"/>
            <a:t>De bloque</a:t>
          </a:r>
          <a:endParaRPr lang="es-ES" sz="1800" dirty="0"/>
        </a:p>
      </dgm:t>
    </dgm:pt>
    <dgm:pt modelId="{BE781C7F-0FE6-42D1-AF2C-A3D4D5BA37D6}" type="parTrans" cxnId="{0B5FFAD5-9547-43C0-83B1-A776ABC41364}">
      <dgm:prSet/>
      <dgm:spPr/>
      <dgm:t>
        <a:bodyPr/>
        <a:lstStyle/>
        <a:p>
          <a:endParaRPr lang="es-ES" sz="2800"/>
        </a:p>
      </dgm:t>
    </dgm:pt>
    <dgm:pt modelId="{DA6CC310-9B5F-455E-9AD1-644B48D3BF30}" type="sibTrans" cxnId="{0B5FFAD5-9547-43C0-83B1-A776ABC41364}">
      <dgm:prSet custT="1"/>
      <dgm:spPr/>
      <dgm:t>
        <a:bodyPr/>
        <a:lstStyle/>
        <a:p>
          <a:endParaRPr lang="es-ES" sz="1600"/>
        </a:p>
      </dgm:t>
    </dgm:pt>
    <dgm:pt modelId="{658A29B8-4EF2-4693-BC78-55AABECC6743}">
      <dgm:prSet phldrT="[Texto]" custT="1"/>
      <dgm:spPr>
        <a:solidFill>
          <a:schemeClr val="accent3">
            <a:lumMod val="75000"/>
          </a:schemeClr>
        </a:solidFill>
      </dgm:spPr>
      <dgm:t>
        <a:bodyPr/>
        <a:lstStyle/>
        <a:p>
          <a:r>
            <a:rPr lang="es-ES" sz="1800" dirty="0" smtClean="0"/>
            <a:t>No singular</a:t>
          </a:r>
          <a:endParaRPr lang="es-ES" sz="1800" dirty="0"/>
        </a:p>
      </dgm:t>
    </dgm:pt>
    <dgm:pt modelId="{86F22EE5-3E7F-46C7-A615-9EEF5EE72ACD}" type="parTrans" cxnId="{A87FD865-42EC-45D8-88A8-B8342C3F4409}">
      <dgm:prSet/>
      <dgm:spPr/>
      <dgm:t>
        <a:bodyPr/>
        <a:lstStyle/>
        <a:p>
          <a:endParaRPr lang="es-ES" sz="2800"/>
        </a:p>
      </dgm:t>
    </dgm:pt>
    <dgm:pt modelId="{36352AF8-5DC2-40B7-857C-D229008A4D5D}" type="sibTrans" cxnId="{A87FD865-42EC-45D8-88A8-B8342C3F4409}">
      <dgm:prSet custT="1"/>
      <dgm:spPr/>
      <dgm:t>
        <a:bodyPr/>
        <a:lstStyle/>
        <a:p>
          <a:endParaRPr lang="es-ES" sz="1600"/>
        </a:p>
      </dgm:t>
    </dgm:pt>
    <dgm:pt modelId="{B0A09423-E99F-4F4B-ACAC-B15D281A4B64}">
      <dgm:prSet phldrT="[Texto]" custT="1"/>
      <dgm:spPr>
        <a:solidFill>
          <a:schemeClr val="accent4">
            <a:lumMod val="75000"/>
          </a:schemeClr>
        </a:solidFill>
      </dgm:spPr>
      <dgm:t>
        <a:bodyPr/>
        <a:lstStyle/>
        <a:p>
          <a:r>
            <a:rPr lang="es-ES" sz="1800" dirty="0" smtClean="0"/>
            <a:t>Unívocamente Decodificable</a:t>
          </a:r>
          <a:endParaRPr lang="es-ES" sz="1800" dirty="0"/>
        </a:p>
      </dgm:t>
    </dgm:pt>
    <dgm:pt modelId="{A231D169-E9DA-4138-B348-3DDD42922F7F}" type="parTrans" cxnId="{7E797B64-820B-42C1-9CA9-EAE982EECB18}">
      <dgm:prSet/>
      <dgm:spPr/>
      <dgm:t>
        <a:bodyPr/>
        <a:lstStyle/>
        <a:p>
          <a:endParaRPr lang="es-ES" sz="2800"/>
        </a:p>
      </dgm:t>
    </dgm:pt>
    <dgm:pt modelId="{713C69E0-6AA4-4214-96DF-8F04930BA963}" type="sibTrans" cxnId="{7E797B64-820B-42C1-9CA9-EAE982EECB18}">
      <dgm:prSet custT="1"/>
      <dgm:spPr/>
      <dgm:t>
        <a:bodyPr/>
        <a:lstStyle/>
        <a:p>
          <a:endParaRPr lang="es-ES" sz="1600"/>
        </a:p>
      </dgm:t>
    </dgm:pt>
    <dgm:pt modelId="{C8798EF0-19AE-4C41-ABDB-D8AD191AD43A}">
      <dgm:prSet phldrT="[Texto]" custT="1"/>
      <dgm:spPr/>
      <dgm:t>
        <a:bodyPr/>
        <a:lstStyle/>
        <a:p>
          <a:r>
            <a:rPr lang="es-ES" sz="1800" dirty="0" smtClean="0"/>
            <a:t>Prefijo o Instantáneo</a:t>
          </a:r>
          <a:endParaRPr lang="es-ES" sz="1800" dirty="0"/>
        </a:p>
      </dgm:t>
    </dgm:pt>
    <dgm:pt modelId="{A04B5EAF-9376-48EA-9D8E-B49BA8631031}" type="parTrans" cxnId="{490C75E3-2394-4751-BDAA-7E24D013FDB6}">
      <dgm:prSet/>
      <dgm:spPr/>
      <dgm:t>
        <a:bodyPr/>
        <a:lstStyle/>
        <a:p>
          <a:endParaRPr lang="es-ES" sz="2800"/>
        </a:p>
      </dgm:t>
    </dgm:pt>
    <dgm:pt modelId="{F1494F0A-21B6-4795-B619-AAF2D8F2B1D2}" type="sibTrans" cxnId="{490C75E3-2394-4751-BDAA-7E24D013FDB6}">
      <dgm:prSet/>
      <dgm:spPr/>
      <dgm:t>
        <a:bodyPr/>
        <a:lstStyle/>
        <a:p>
          <a:endParaRPr lang="es-ES" sz="2800"/>
        </a:p>
      </dgm:t>
    </dgm:pt>
    <dgm:pt modelId="{09154364-5D0A-4157-96C8-3CA76F2E78B9}" type="pres">
      <dgm:prSet presAssocID="{335CEE00-3517-45F8-BD1F-4F8DABCD8C45}" presName="Name0" presStyleCnt="0">
        <dgm:presLayoutVars>
          <dgm:dir/>
          <dgm:resizeHandles val="exact"/>
        </dgm:presLayoutVars>
      </dgm:prSet>
      <dgm:spPr/>
    </dgm:pt>
    <dgm:pt modelId="{27EF7C55-7E28-401B-8C7C-800F744F9273}" type="pres">
      <dgm:prSet presAssocID="{F781956F-481F-491D-8EAC-823E6B5460FC}" presName="node" presStyleLbl="node1" presStyleIdx="0" presStyleCnt="4">
        <dgm:presLayoutVars>
          <dgm:bulletEnabled val="1"/>
        </dgm:presLayoutVars>
      </dgm:prSet>
      <dgm:spPr/>
      <dgm:t>
        <a:bodyPr/>
        <a:lstStyle/>
        <a:p>
          <a:endParaRPr lang="es-ES"/>
        </a:p>
      </dgm:t>
    </dgm:pt>
    <dgm:pt modelId="{B80DA79F-FE25-485D-81A4-5ED11958CB2C}" type="pres">
      <dgm:prSet presAssocID="{DA6CC310-9B5F-455E-9AD1-644B48D3BF30}" presName="sibTrans" presStyleLbl="sibTrans2D1" presStyleIdx="0" presStyleCnt="3"/>
      <dgm:spPr/>
      <dgm:t>
        <a:bodyPr/>
        <a:lstStyle/>
        <a:p>
          <a:endParaRPr lang="es-ES"/>
        </a:p>
      </dgm:t>
    </dgm:pt>
    <dgm:pt modelId="{F2AB06C8-C408-4572-A43F-C04B3A005E01}" type="pres">
      <dgm:prSet presAssocID="{DA6CC310-9B5F-455E-9AD1-644B48D3BF30}" presName="connectorText" presStyleLbl="sibTrans2D1" presStyleIdx="0" presStyleCnt="3"/>
      <dgm:spPr/>
      <dgm:t>
        <a:bodyPr/>
        <a:lstStyle/>
        <a:p>
          <a:endParaRPr lang="es-ES"/>
        </a:p>
      </dgm:t>
    </dgm:pt>
    <dgm:pt modelId="{103DA481-201D-43EE-808C-A912F0B90C58}" type="pres">
      <dgm:prSet presAssocID="{658A29B8-4EF2-4693-BC78-55AABECC6743}" presName="node" presStyleLbl="node1" presStyleIdx="1" presStyleCnt="4">
        <dgm:presLayoutVars>
          <dgm:bulletEnabled val="1"/>
        </dgm:presLayoutVars>
      </dgm:prSet>
      <dgm:spPr/>
      <dgm:t>
        <a:bodyPr/>
        <a:lstStyle/>
        <a:p>
          <a:endParaRPr lang="es-ES"/>
        </a:p>
      </dgm:t>
    </dgm:pt>
    <dgm:pt modelId="{A50054F3-9358-48DD-8082-D60A2C9B683B}" type="pres">
      <dgm:prSet presAssocID="{36352AF8-5DC2-40B7-857C-D229008A4D5D}" presName="sibTrans" presStyleLbl="sibTrans2D1" presStyleIdx="1" presStyleCnt="3"/>
      <dgm:spPr/>
      <dgm:t>
        <a:bodyPr/>
        <a:lstStyle/>
        <a:p>
          <a:endParaRPr lang="es-ES"/>
        </a:p>
      </dgm:t>
    </dgm:pt>
    <dgm:pt modelId="{96B98487-17C7-4F77-840E-2FB4D36949E3}" type="pres">
      <dgm:prSet presAssocID="{36352AF8-5DC2-40B7-857C-D229008A4D5D}" presName="connectorText" presStyleLbl="sibTrans2D1" presStyleIdx="1" presStyleCnt="3"/>
      <dgm:spPr/>
      <dgm:t>
        <a:bodyPr/>
        <a:lstStyle/>
        <a:p>
          <a:endParaRPr lang="es-ES"/>
        </a:p>
      </dgm:t>
    </dgm:pt>
    <dgm:pt modelId="{6E94C9BB-B9BF-4871-8C99-463987875E9C}" type="pres">
      <dgm:prSet presAssocID="{B0A09423-E99F-4F4B-ACAC-B15D281A4B64}" presName="node" presStyleLbl="node1" presStyleIdx="2" presStyleCnt="4">
        <dgm:presLayoutVars>
          <dgm:bulletEnabled val="1"/>
        </dgm:presLayoutVars>
      </dgm:prSet>
      <dgm:spPr/>
      <dgm:t>
        <a:bodyPr/>
        <a:lstStyle/>
        <a:p>
          <a:endParaRPr lang="es-ES"/>
        </a:p>
      </dgm:t>
    </dgm:pt>
    <dgm:pt modelId="{D4E5B147-5BB3-4277-9E60-6715BB6216D4}" type="pres">
      <dgm:prSet presAssocID="{713C69E0-6AA4-4214-96DF-8F04930BA963}" presName="sibTrans" presStyleLbl="sibTrans2D1" presStyleIdx="2" presStyleCnt="3"/>
      <dgm:spPr/>
      <dgm:t>
        <a:bodyPr/>
        <a:lstStyle/>
        <a:p>
          <a:endParaRPr lang="es-ES"/>
        </a:p>
      </dgm:t>
    </dgm:pt>
    <dgm:pt modelId="{8BE04705-89DF-4B53-86FD-ED6A5007E5C7}" type="pres">
      <dgm:prSet presAssocID="{713C69E0-6AA4-4214-96DF-8F04930BA963}" presName="connectorText" presStyleLbl="sibTrans2D1" presStyleIdx="2" presStyleCnt="3"/>
      <dgm:spPr/>
      <dgm:t>
        <a:bodyPr/>
        <a:lstStyle/>
        <a:p>
          <a:endParaRPr lang="es-ES"/>
        </a:p>
      </dgm:t>
    </dgm:pt>
    <dgm:pt modelId="{927761EB-58CB-47B4-BDEF-C2021D25DFFB}" type="pres">
      <dgm:prSet presAssocID="{C8798EF0-19AE-4C41-ABDB-D8AD191AD43A}" presName="node" presStyleLbl="node1" presStyleIdx="3" presStyleCnt="4">
        <dgm:presLayoutVars>
          <dgm:bulletEnabled val="1"/>
        </dgm:presLayoutVars>
      </dgm:prSet>
      <dgm:spPr/>
      <dgm:t>
        <a:bodyPr/>
        <a:lstStyle/>
        <a:p>
          <a:endParaRPr lang="es-ES"/>
        </a:p>
      </dgm:t>
    </dgm:pt>
  </dgm:ptLst>
  <dgm:cxnLst>
    <dgm:cxn modelId="{976F0825-C2C9-4F3A-AB2A-9B0294DC8BF4}" type="presOf" srcId="{36352AF8-5DC2-40B7-857C-D229008A4D5D}" destId="{96B98487-17C7-4F77-840E-2FB4D36949E3}" srcOrd="1" destOrd="0" presId="urn:microsoft.com/office/officeart/2005/8/layout/process1"/>
    <dgm:cxn modelId="{48DA14F5-27AF-4742-9743-C919025B173A}" type="presOf" srcId="{713C69E0-6AA4-4214-96DF-8F04930BA963}" destId="{D4E5B147-5BB3-4277-9E60-6715BB6216D4}" srcOrd="0" destOrd="0" presId="urn:microsoft.com/office/officeart/2005/8/layout/process1"/>
    <dgm:cxn modelId="{5A19B30A-514D-4064-BBA1-5A5AB33B4E15}" type="presOf" srcId="{C8798EF0-19AE-4C41-ABDB-D8AD191AD43A}" destId="{927761EB-58CB-47B4-BDEF-C2021D25DFFB}" srcOrd="0" destOrd="0" presId="urn:microsoft.com/office/officeart/2005/8/layout/process1"/>
    <dgm:cxn modelId="{C85509C1-6DE2-44C5-B23C-E90E4172235C}" type="presOf" srcId="{335CEE00-3517-45F8-BD1F-4F8DABCD8C45}" destId="{09154364-5D0A-4157-96C8-3CA76F2E78B9}" srcOrd="0" destOrd="0" presId="urn:microsoft.com/office/officeart/2005/8/layout/process1"/>
    <dgm:cxn modelId="{2C74AE24-CCFA-4ED7-A82E-1E9ACFBB9DED}" type="presOf" srcId="{DA6CC310-9B5F-455E-9AD1-644B48D3BF30}" destId="{F2AB06C8-C408-4572-A43F-C04B3A005E01}" srcOrd="1" destOrd="0" presId="urn:microsoft.com/office/officeart/2005/8/layout/process1"/>
    <dgm:cxn modelId="{1E32DAF6-10C4-4F51-803D-D7BB213B7E01}" type="presOf" srcId="{B0A09423-E99F-4F4B-ACAC-B15D281A4B64}" destId="{6E94C9BB-B9BF-4871-8C99-463987875E9C}" srcOrd="0" destOrd="0" presId="urn:microsoft.com/office/officeart/2005/8/layout/process1"/>
    <dgm:cxn modelId="{0BFCFF64-F0DD-4956-A6F0-6082FC0948C3}" type="presOf" srcId="{DA6CC310-9B5F-455E-9AD1-644B48D3BF30}" destId="{B80DA79F-FE25-485D-81A4-5ED11958CB2C}" srcOrd="0" destOrd="0" presId="urn:microsoft.com/office/officeart/2005/8/layout/process1"/>
    <dgm:cxn modelId="{12EF85B2-B1C1-4DE8-B1D8-E9F8D63F80E9}" type="presOf" srcId="{36352AF8-5DC2-40B7-857C-D229008A4D5D}" destId="{A50054F3-9358-48DD-8082-D60A2C9B683B}" srcOrd="0" destOrd="0" presId="urn:microsoft.com/office/officeart/2005/8/layout/process1"/>
    <dgm:cxn modelId="{0B5FFAD5-9547-43C0-83B1-A776ABC41364}" srcId="{335CEE00-3517-45F8-BD1F-4F8DABCD8C45}" destId="{F781956F-481F-491D-8EAC-823E6B5460FC}" srcOrd="0" destOrd="0" parTransId="{BE781C7F-0FE6-42D1-AF2C-A3D4D5BA37D6}" sibTransId="{DA6CC310-9B5F-455E-9AD1-644B48D3BF30}"/>
    <dgm:cxn modelId="{A87FD865-42EC-45D8-88A8-B8342C3F4409}" srcId="{335CEE00-3517-45F8-BD1F-4F8DABCD8C45}" destId="{658A29B8-4EF2-4693-BC78-55AABECC6743}" srcOrd="1" destOrd="0" parTransId="{86F22EE5-3E7F-46C7-A615-9EEF5EE72ACD}" sibTransId="{36352AF8-5DC2-40B7-857C-D229008A4D5D}"/>
    <dgm:cxn modelId="{490C75E3-2394-4751-BDAA-7E24D013FDB6}" srcId="{335CEE00-3517-45F8-BD1F-4F8DABCD8C45}" destId="{C8798EF0-19AE-4C41-ABDB-D8AD191AD43A}" srcOrd="3" destOrd="0" parTransId="{A04B5EAF-9376-48EA-9D8E-B49BA8631031}" sibTransId="{F1494F0A-21B6-4795-B619-AAF2D8F2B1D2}"/>
    <dgm:cxn modelId="{C7351055-DC62-4210-B87F-DFFEAB164963}" type="presOf" srcId="{713C69E0-6AA4-4214-96DF-8F04930BA963}" destId="{8BE04705-89DF-4B53-86FD-ED6A5007E5C7}" srcOrd="1" destOrd="0" presId="urn:microsoft.com/office/officeart/2005/8/layout/process1"/>
    <dgm:cxn modelId="{7E797B64-820B-42C1-9CA9-EAE982EECB18}" srcId="{335CEE00-3517-45F8-BD1F-4F8DABCD8C45}" destId="{B0A09423-E99F-4F4B-ACAC-B15D281A4B64}" srcOrd="2" destOrd="0" parTransId="{A231D169-E9DA-4138-B348-3DDD42922F7F}" sibTransId="{713C69E0-6AA4-4214-96DF-8F04930BA963}"/>
    <dgm:cxn modelId="{20D6D821-D00C-4C98-89C3-1CC1A4D73FDB}" type="presOf" srcId="{658A29B8-4EF2-4693-BC78-55AABECC6743}" destId="{103DA481-201D-43EE-808C-A912F0B90C58}" srcOrd="0" destOrd="0" presId="urn:microsoft.com/office/officeart/2005/8/layout/process1"/>
    <dgm:cxn modelId="{EBBF1D46-6D66-46F5-A341-FF90B74657D9}" type="presOf" srcId="{F781956F-481F-491D-8EAC-823E6B5460FC}" destId="{27EF7C55-7E28-401B-8C7C-800F744F9273}" srcOrd="0" destOrd="0" presId="urn:microsoft.com/office/officeart/2005/8/layout/process1"/>
    <dgm:cxn modelId="{07390F2C-BC8B-4727-85C9-532C74F5E259}" type="presParOf" srcId="{09154364-5D0A-4157-96C8-3CA76F2E78B9}" destId="{27EF7C55-7E28-401B-8C7C-800F744F9273}" srcOrd="0" destOrd="0" presId="urn:microsoft.com/office/officeart/2005/8/layout/process1"/>
    <dgm:cxn modelId="{488A942B-5481-4DED-A3D2-BE0E70BB7128}" type="presParOf" srcId="{09154364-5D0A-4157-96C8-3CA76F2E78B9}" destId="{B80DA79F-FE25-485D-81A4-5ED11958CB2C}" srcOrd="1" destOrd="0" presId="urn:microsoft.com/office/officeart/2005/8/layout/process1"/>
    <dgm:cxn modelId="{A0454DB2-82DF-46FA-AFFE-DC8B35149563}" type="presParOf" srcId="{B80DA79F-FE25-485D-81A4-5ED11958CB2C}" destId="{F2AB06C8-C408-4572-A43F-C04B3A005E01}" srcOrd="0" destOrd="0" presId="urn:microsoft.com/office/officeart/2005/8/layout/process1"/>
    <dgm:cxn modelId="{E57B6577-74CD-4A9F-8F70-47B7D2DF328D}" type="presParOf" srcId="{09154364-5D0A-4157-96C8-3CA76F2E78B9}" destId="{103DA481-201D-43EE-808C-A912F0B90C58}" srcOrd="2" destOrd="0" presId="urn:microsoft.com/office/officeart/2005/8/layout/process1"/>
    <dgm:cxn modelId="{BBFE72E8-1EF4-496C-B9CE-DD44C3AB7B13}" type="presParOf" srcId="{09154364-5D0A-4157-96C8-3CA76F2E78B9}" destId="{A50054F3-9358-48DD-8082-D60A2C9B683B}" srcOrd="3" destOrd="0" presId="urn:microsoft.com/office/officeart/2005/8/layout/process1"/>
    <dgm:cxn modelId="{A0FA0B9D-FB6A-4FFA-8D55-1820BA7CB8AB}" type="presParOf" srcId="{A50054F3-9358-48DD-8082-D60A2C9B683B}" destId="{96B98487-17C7-4F77-840E-2FB4D36949E3}" srcOrd="0" destOrd="0" presId="urn:microsoft.com/office/officeart/2005/8/layout/process1"/>
    <dgm:cxn modelId="{733158CA-44A7-4370-87CE-6235D6FEB4AC}" type="presParOf" srcId="{09154364-5D0A-4157-96C8-3CA76F2E78B9}" destId="{6E94C9BB-B9BF-4871-8C99-463987875E9C}" srcOrd="4" destOrd="0" presId="urn:microsoft.com/office/officeart/2005/8/layout/process1"/>
    <dgm:cxn modelId="{46C87A6D-68A7-470B-9CC6-C624306C667C}" type="presParOf" srcId="{09154364-5D0A-4157-96C8-3CA76F2E78B9}" destId="{D4E5B147-5BB3-4277-9E60-6715BB6216D4}" srcOrd="5" destOrd="0" presId="urn:microsoft.com/office/officeart/2005/8/layout/process1"/>
    <dgm:cxn modelId="{AA6083B8-5121-464D-8226-91CC1F054BC9}" type="presParOf" srcId="{D4E5B147-5BB3-4277-9E60-6715BB6216D4}" destId="{8BE04705-89DF-4B53-86FD-ED6A5007E5C7}" srcOrd="0" destOrd="0" presId="urn:microsoft.com/office/officeart/2005/8/layout/process1"/>
    <dgm:cxn modelId="{9C8590AA-7348-458E-9A0D-3FEBA829C212}" type="presParOf" srcId="{09154364-5D0A-4157-96C8-3CA76F2E78B9}" destId="{927761EB-58CB-47B4-BDEF-C2021D25DFF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5CEE00-3517-45F8-BD1F-4F8DABCD8C45}" type="doc">
      <dgm:prSet loTypeId="urn:microsoft.com/office/officeart/2005/8/layout/process1" loCatId="process" qsTypeId="urn:microsoft.com/office/officeart/2005/8/quickstyle/simple1" qsCatId="simple" csTypeId="urn:microsoft.com/office/officeart/2005/8/colors/colorful1" csCatId="colorful" phldr="1"/>
      <dgm:spPr/>
    </dgm:pt>
    <dgm:pt modelId="{F781956F-481F-491D-8EAC-823E6B5460FC}">
      <dgm:prSet phldrT="[Texto]" custT="1"/>
      <dgm:spPr>
        <a:solidFill>
          <a:schemeClr val="accent2">
            <a:lumMod val="75000"/>
          </a:schemeClr>
        </a:solidFill>
      </dgm:spPr>
      <dgm:t>
        <a:bodyPr/>
        <a:lstStyle/>
        <a:p>
          <a:r>
            <a:rPr lang="es-ES" sz="1800" dirty="0" smtClean="0"/>
            <a:t>De bloque</a:t>
          </a:r>
          <a:endParaRPr lang="es-ES" sz="1800" dirty="0"/>
        </a:p>
      </dgm:t>
    </dgm:pt>
    <dgm:pt modelId="{BE781C7F-0FE6-42D1-AF2C-A3D4D5BA37D6}" type="parTrans" cxnId="{0B5FFAD5-9547-43C0-83B1-A776ABC41364}">
      <dgm:prSet/>
      <dgm:spPr/>
      <dgm:t>
        <a:bodyPr/>
        <a:lstStyle/>
        <a:p>
          <a:endParaRPr lang="es-ES" sz="2800"/>
        </a:p>
      </dgm:t>
    </dgm:pt>
    <dgm:pt modelId="{DA6CC310-9B5F-455E-9AD1-644B48D3BF30}" type="sibTrans" cxnId="{0B5FFAD5-9547-43C0-83B1-A776ABC41364}">
      <dgm:prSet custT="1"/>
      <dgm:spPr/>
      <dgm:t>
        <a:bodyPr/>
        <a:lstStyle/>
        <a:p>
          <a:endParaRPr lang="es-ES" sz="1600"/>
        </a:p>
      </dgm:t>
    </dgm:pt>
    <dgm:pt modelId="{658A29B8-4EF2-4693-BC78-55AABECC6743}">
      <dgm:prSet phldrT="[Texto]" custT="1"/>
      <dgm:spPr>
        <a:solidFill>
          <a:schemeClr val="accent3">
            <a:lumMod val="75000"/>
          </a:schemeClr>
        </a:solidFill>
      </dgm:spPr>
      <dgm:t>
        <a:bodyPr/>
        <a:lstStyle/>
        <a:p>
          <a:r>
            <a:rPr lang="es-ES" sz="1800" dirty="0" smtClean="0"/>
            <a:t>No singular</a:t>
          </a:r>
          <a:endParaRPr lang="es-ES" sz="1800" dirty="0"/>
        </a:p>
      </dgm:t>
    </dgm:pt>
    <dgm:pt modelId="{86F22EE5-3E7F-46C7-A615-9EEF5EE72ACD}" type="parTrans" cxnId="{A87FD865-42EC-45D8-88A8-B8342C3F4409}">
      <dgm:prSet/>
      <dgm:spPr/>
      <dgm:t>
        <a:bodyPr/>
        <a:lstStyle/>
        <a:p>
          <a:endParaRPr lang="es-ES" sz="2800"/>
        </a:p>
      </dgm:t>
    </dgm:pt>
    <dgm:pt modelId="{36352AF8-5DC2-40B7-857C-D229008A4D5D}" type="sibTrans" cxnId="{A87FD865-42EC-45D8-88A8-B8342C3F4409}">
      <dgm:prSet custT="1"/>
      <dgm:spPr/>
      <dgm:t>
        <a:bodyPr/>
        <a:lstStyle/>
        <a:p>
          <a:endParaRPr lang="es-ES" sz="1600"/>
        </a:p>
      </dgm:t>
    </dgm:pt>
    <dgm:pt modelId="{B0A09423-E99F-4F4B-ACAC-B15D281A4B64}">
      <dgm:prSet phldrT="[Texto]" custT="1"/>
      <dgm:spPr>
        <a:solidFill>
          <a:schemeClr val="accent4">
            <a:lumMod val="75000"/>
          </a:schemeClr>
        </a:solidFill>
      </dgm:spPr>
      <dgm:t>
        <a:bodyPr/>
        <a:lstStyle/>
        <a:p>
          <a:r>
            <a:rPr lang="es-ES" sz="1800" dirty="0" smtClean="0"/>
            <a:t>Unívocamente Decodificable</a:t>
          </a:r>
          <a:endParaRPr lang="es-ES" sz="1800" dirty="0"/>
        </a:p>
      </dgm:t>
    </dgm:pt>
    <dgm:pt modelId="{A231D169-E9DA-4138-B348-3DDD42922F7F}" type="parTrans" cxnId="{7E797B64-820B-42C1-9CA9-EAE982EECB18}">
      <dgm:prSet/>
      <dgm:spPr/>
      <dgm:t>
        <a:bodyPr/>
        <a:lstStyle/>
        <a:p>
          <a:endParaRPr lang="es-ES" sz="2800"/>
        </a:p>
      </dgm:t>
    </dgm:pt>
    <dgm:pt modelId="{713C69E0-6AA4-4214-96DF-8F04930BA963}" type="sibTrans" cxnId="{7E797B64-820B-42C1-9CA9-EAE982EECB18}">
      <dgm:prSet custT="1"/>
      <dgm:spPr/>
      <dgm:t>
        <a:bodyPr/>
        <a:lstStyle/>
        <a:p>
          <a:endParaRPr lang="es-ES" sz="1600"/>
        </a:p>
      </dgm:t>
    </dgm:pt>
    <dgm:pt modelId="{C8798EF0-19AE-4C41-ABDB-D8AD191AD43A}">
      <dgm:prSet phldrT="[Texto]" custT="1"/>
      <dgm:spPr/>
      <dgm:t>
        <a:bodyPr/>
        <a:lstStyle/>
        <a:p>
          <a:r>
            <a:rPr lang="es-ES" sz="1800" dirty="0" smtClean="0"/>
            <a:t>Prefijo o Instantáneo</a:t>
          </a:r>
          <a:endParaRPr lang="es-ES" sz="1800" dirty="0"/>
        </a:p>
      </dgm:t>
    </dgm:pt>
    <dgm:pt modelId="{A04B5EAF-9376-48EA-9D8E-B49BA8631031}" type="parTrans" cxnId="{490C75E3-2394-4751-BDAA-7E24D013FDB6}">
      <dgm:prSet/>
      <dgm:spPr/>
      <dgm:t>
        <a:bodyPr/>
        <a:lstStyle/>
        <a:p>
          <a:endParaRPr lang="es-ES" sz="2800"/>
        </a:p>
      </dgm:t>
    </dgm:pt>
    <dgm:pt modelId="{F1494F0A-21B6-4795-B619-AAF2D8F2B1D2}" type="sibTrans" cxnId="{490C75E3-2394-4751-BDAA-7E24D013FDB6}">
      <dgm:prSet/>
      <dgm:spPr/>
      <dgm:t>
        <a:bodyPr/>
        <a:lstStyle/>
        <a:p>
          <a:endParaRPr lang="es-ES" sz="2800"/>
        </a:p>
      </dgm:t>
    </dgm:pt>
    <dgm:pt modelId="{09154364-5D0A-4157-96C8-3CA76F2E78B9}" type="pres">
      <dgm:prSet presAssocID="{335CEE00-3517-45F8-BD1F-4F8DABCD8C45}" presName="Name0" presStyleCnt="0">
        <dgm:presLayoutVars>
          <dgm:dir/>
          <dgm:resizeHandles val="exact"/>
        </dgm:presLayoutVars>
      </dgm:prSet>
      <dgm:spPr/>
    </dgm:pt>
    <dgm:pt modelId="{27EF7C55-7E28-401B-8C7C-800F744F9273}" type="pres">
      <dgm:prSet presAssocID="{F781956F-481F-491D-8EAC-823E6B5460FC}" presName="node" presStyleLbl="node1" presStyleIdx="0" presStyleCnt="4">
        <dgm:presLayoutVars>
          <dgm:bulletEnabled val="1"/>
        </dgm:presLayoutVars>
      </dgm:prSet>
      <dgm:spPr/>
      <dgm:t>
        <a:bodyPr/>
        <a:lstStyle/>
        <a:p>
          <a:endParaRPr lang="es-ES"/>
        </a:p>
      </dgm:t>
    </dgm:pt>
    <dgm:pt modelId="{B80DA79F-FE25-485D-81A4-5ED11958CB2C}" type="pres">
      <dgm:prSet presAssocID="{DA6CC310-9B5F-455E-9AD1-644B48D3BF30}" presName="sibTrans" presStyleLbl="sibTrans2D1" presStyleIdx="0" presStyleCnt="3"/>
      <dgm:spPr/>
      <dgm:t>
        <a:bodyPr/>
        <a:lstStyle/>
        <a:p>
          <a:endParaRPr lang="es-ES"/>
        </a:p>
      </dgm:t>
    </dgm:pt>
    <dgm:pt modelId="{F2AB06C8-C408-4572-A43F-C04B3A005E01}" type="pres">
      <dgm:prSet presAssocID="{DA6CC310-9B5F-455E-9AD1-644B48D3BF30}" presName="connectorText" presStyleLbl="sibTrans2D1" presStyleIdx="0" presStyleCnt="3"/>
      <dgm:spPr/>
      <dgm:t>
        <a:bodyPr/>
        <a:lstStyle/>
        <a:p>
          <a:endParaRPr lang="es-ES"/>
        </a:p>
      </dgm:t>
    </dgm:pt>
    <dgm:pt modelId="{103DA481-201D-43EE-808C-A912F0B90C58}" type="pres">
      <dgm:prSet presAssocID="{658A29B8-4EF2-4693-BC78-55AABECC6743}" presName="node" presStyleLbl="node1" presStyleIdx="1" presStyleCnt="4">
        <dgm:presLayoutVars>
          <dgm:bulletEnabled val="1"/>
        </dgm:presLayoutVars>
      </dgm:prSet>
      <dgm:spPr/>
      <dgm:t>
        <a:bodyPr/>
        <a:lstStyle/>
        <a:p>
          <a:endParaRPr lang="es-ES"/>
        </a:p>
      </dgm:t>
    </dgm:pt>
    <dgm:pt modelId="{A50054F3-9358-48DD-8082-D60A2C9B683B}" type="pres">
      <dgm:prSet presAssocID="{36352AF8-5DC2-40B7-857C-D229008A4D5D}" presName="sibTrans" presStyleLbl="sibTrans2D1" presStyleIdx="1" presStyleCnt="3"/>
      <dgm:spPr/>
      <dgm:t>
        <a:bodyPr/>
        <a:lstStyle/>
        <a:p>
          <a:endParaRPr lang="es-ES"/>
        </a:p>
      </dgm:t>
    </dgm:pt>
    <dgm:pt modelId="{96B98487-17C7-4F77-840E-2FB4D36949E3}" type="pres">
      <dgm:prSet presAssocID="{36352AF8-5DC2-40B7-857C-D229008A4D5D}" presName="connectorText" presStyleLbl="sibTrans2D1" presStyleIdx="1" presStyleCnt="3"/>
      <dgm:spPr/>
      <dgm:t>
        <a:bodyPr/>
        <a:lstStyle/>
        <a:p>
          <a:endParaRPr lang="es-ES"/>
        </a:p>
      </dgm:t>
    </dgm:pt>
    <dgm:pt modelId="{6E94C9BB-B9BF-4871-8C99-463987875E9C}" type="pres">
      <dgm:prSet presAssocID="{B0A09423-E99F-4F4B-ACAC-B15D281A4B64}" presName="node" presStyleLbl="node1" presStyleIdx="2" presStyleCnt="4">
        <dgm:presLayoutVars>
          <dgm:bulletEnabled val="1"/>
        </dgm:presLayoutVars>
      </dgm:prSet>
      <dgm:spPr/>
      <dgm:t>
        <a:bodyPr/>
        <a:lstStyle/>
        <a:p>
          <a:endParaRPr lang="es-ES"/>
        </a:p>
      </dgm:t>
    </dgm:pt>
    <dgm:pt modelId="{D4E5B147-5BB3-4277-9E60-6715BB6216D4}" type="pres">
      <dgm:prSet presAssocID="{713C69E0-6AA4-4214-96DF-8F04930BA963}" presName="sibTrans" presStyleLbl="sibTrans2D1" presStyleIdx="2" presStyleCnt="3"/>
      <dgm:spPr/>
      <dgm:t>
        <a:bodyPr/>
        <a:lstStyle/>
        <a:p>
          <a:endParaRPr lang="es-ES"/>
        </a:p>
      </dgm:t>
    </dgm:pt>
    <dgm:pt modelId="{8BE04705-89DF-4B53-86FD-ED6A5007E5C7}" type="pres">
      <dgm:prSet presAssocID="{713C69E0-6AA4-4214-96DF-8F04930BA963}" presName="connectorText" presStyleLbl="sibTrans2D1" presStyleIdx="2" presStyleCnt="3"/>
      <dgm:spPr/>
      <dgm:t>
        <a:bodyPr/>
        <a:lstStyle/>
        <a:p>
          <a:endParaRPr lang="es-ES"/>
        </a:p>
      </dgm:t>
    </dgm:pt>
    <dgm:pt modelId="{927761EB-58CB-47B4-BDEF-C2021D25DFFB}" type="pres">
      <dgm:prSet presAssocID="{C8798EF0-19AE-4C41-ABDB-D8AD191AD43A}" presName="node" presStyleLbl="node1" presStyleIdx="3" presStyleCnt="4">
        <dgm:presLayoutVars>
          <dgm:bulletEnabled val="1"/>
        </dgm:presLayoutVars>
      </dgm:prSet>
      <dgm:spPr/>
      <dgm:t>
        <a:bodyPr/>
        <a:lstStyle/>
        <a:p>
          <a:endParaRPr lang="es-ES"/>
        </a:p>
      </dgm:t>
    </dgm:pt>
  </dgm:ptLst>
  <dgm:cxnLst>
    <dgm:cxn modelId="{976F0825-C2C9-4F3A-AB2A-9B0294DC8BF4}" type="presOf" srcId="{36352AF8-5DC2-40B7-857C-D229008A4D5D}" destId="{96B98487-17C7-4F77-840E-2FB4D36949E3}" srcOrd="1" destOrd="0" presId="urn:microsoft.com/office/officeart/2005/8/layout/process1"/>
    <dgm:cxn modelId="{48DA14F5-27AF-4742-9743-C919025B173A}" type="presOf" srcId="{713C69E0-6AA4-4214-96DF-8F04930BA963}" destId="{D4E5B147-5BB3-4277-9E60-6715BB6216D4}" srcOrd="0" destOrd="0" presId="urn:microsoft.com/office/officeart/2005/8/layout/process1"/>
    <dgm:cxn modelId="{5A19B30A-514D-4064-BBA1-5A5AB33B4E15}" type="presOf" srcId="{C8798EF0-19AE-4C41-ABDB-D8AD191AD43A}" destId="{927761EB-58CB-47B4-BDEF-C2021D25DFFB}" srcOrd="0" destOrd="0" presId="urn:microsoft.com/office/officeart/2005/8/layout/process1"/>
    <dgm:cxn modelId="{C85509C1-6DE2-44C5-B23C-E90E4172235C}" type="presOf" srcId="{335CEE00-3517-45F8-BD1F-4F8DABCD8C45}" destId="{09154364-5D0A-4157-96C8-3CA76F2E78B9}" srcOrd="0" destOrd="0" presId="urn:microsoft.com/office/officeart/2005/8/layout/process1"/>
    <dgm:cxn modelId="{2C74AE24-CCFA-4ED7-A82E-1E9ACFBB9DED}" type="presOf" srcId="{DA6CC310-9B5F-455E-9AD1-644B48D3BF30}" destId="{F2AB06C8-C408-4572-A43F-C04B3A005E01}" srcOrd="1" destOrd="0" presId="urn:microsoft.com/office/officeart/2005/8/layout/process1"/>
    <dgm:cxn modelId="{1E32DAF6-10C4-4F51-803D-D7BB213B7E01}" type="presOf" srcId="{B0A09423-E99F-4F4B-ACAC-B15D281A4B64}" destId="{6E94C9BB-B9BF-4871-8C99-463987875E9C}" srcOrd="0" destOrd="0" presId="urn:microsoft.com/office/officeart/2005/8/layout/process1"/>
    <dgm:cxn modelId="{0BFCFF64-F0DD-4956-A6F0-6082FC0948C3}" type="presOf" srcId="{DA6CC310-9B5F-455E-9AD1-644B48D3BF30}" destId="{B80DA79F-FE25-485D-81A4-5ED11958CB2C}" srcOrd="0" destOrd="0" presId="urn:microsoft.com/office/officeart/2005/8/layout/process1"/>
    <dgm:cxn modelId="{12EF85B2-B1C1-4DE8-B1D8-E9F8D63F80E9}" type="presOf" srcId="{36352AF8-5DC2-40B7-857C-D229008A4D5D}" destId="{A50054F3-9358-48DD-8082-D60A2C9B683B}" srcOrd="0" destOrd="0" presId="urn:microsoft.com/office/officeart/2005/8/layout/process1"/>
    <dgm:cxn modelId="{0B5FFAD5-9547-43C0-83B1-A776ABC41364}" srcId="{335CEE00-3517-45F8-BD1F-4F8DABCD8C45}" destId="{F781956F-481F-491D-8EAC-823E6B5460FC}" srcOrd="0" destOrd="0" parTransId="{BE781C7F-0FE6-42D1-AF2C-A3D4D5BA37D6}" sibTransId="{DA6CC310-9B5F-455E-9AD1-644B48D3BF30}"/>
    <dgm:cxn modelId="{A87FD865-42EC-45D8-88A8-B8342C3F4409}" srcId="{335CEE00-3517-45F8-BD1F-4F8DABCD8C45}" destId="{658A29B8-4EF2-4693-BC78-55AABECC6743}" srcOrd="1" destOrd="0" parTransId="{86F22EE5-3E7F-46C7-A615-9EEF5EE72ACD}" sibTransId="{36352AF8-5DC2-40B7-857C-D229008A4D5D}"/>
    <dgm:cxn modelId="{490C75E3-2394-4751-BDAA-7E24D013FDB6}" srcId="{335CEE00-3517-45F8-BD1F-4F8DABCD8C45}" destId="{C8798EF0-19AE-4C41-ABDB-D8AD191AD43A}" srcOrd="3" destOrd="0" parTransId="{A04B5EAF-9376-48EA-9D8E-B49BA8631031}" sibTransId="{F1494F0A-21B6-4795-B619-AAF2D8F2B1D2}"/>
    <dgm:cxn modelId="{C7351055-DC62-4210-B87F-DFFEAB164963}" type="presOf" srcId="{713C69E0-6AA4-4214-96DF-8F04930BA963}" destId="{8BE04705-89DF-4B53-86FD-ED6A5007E5C7}" srcOrd="1" destOrd="0" presId="urn:microsoft.com/office/officeart/2005/8/layout/process1"/>
    <dgm:cxn modelId="{7E797B64-820B-42C1-9CA9-EAE982EECB18}" srcId="{335CEE00-3517-45F8-BD1F-4F8DABCD8C45}" destId="{B0A09423-E99F-4F4B-ACAC-B15D281A4B64}" srcOrd="2" destOrd="0" parTransId="{A231D169-E9DA-4138-B348-3DDD42922F7F}" sibTransId="{713C69E0-6AA4-4214-96DF-8F04930BA963}"/>
    <dgm:cxn modelId="{20D6D821-D00C-4C98-89C3-1CC1A4D73FDB}" type="presOf" srcId="{658A29B8-4EF2-4693-BC78-55AABECC6743}" destId="{103DA481-201D-43EE-808C-A912F0B90C58}" srcOrd="0" destOrd="0" presId="urn:microsoft.com/office/officeart/2005/8/layout/process1"/>
    <dgm:cxn modelId="{EBBF1D46-6D66-46F5-A341-FF90B74657D9}" type="presOf" srcId="{F781956F-481F-491D-8EAC-823E6B5460FC}" destId="{27EF7C55-7E28-401B-8C7C-800F744F9273}" srcOrd="0" destOrd="0" presId="urn:microsoft.com/office/officeart/2005/8/layout/process1"/>
    <dgm:cxn modelId="{07390F2C-BC8B-4727-85C9-532C74F5E259}" type="presParOf" srcId="{09154364-5D0A-4157-96C8-3CA76F2E78B9}" destId="{27EF7C55-7E28-401B-8C7C-800F744F9273}" srcOrd="0" destOrd="0" presId="urn:microsoft.com/office/officeart/2005/8/layout/process1"/>
    <dgm:cxn modelId="{488A942B-5481-4DED-A3D2-BE0E70BB7128}" type="presParOf" srcId="{09154364-5D0A-4157-96C8-3CA76F2E78B9}" destId="{B80DA79F-FE25-485D-81A4-5ED11958CB2C}" srcOrd="1" destOrd="0" presId="urn:microsoft.com/office/officeart/2005/8/layout/process1"/>
    <dgm:cxn modelId="{A0454DB2-82DF-46FA-AFFE-DC8B35149563}" type="presParOf" srcId="{B80DA79F-FE25-485D-81A4-5ED11958CB2C}" destId="{F2AB06C8-C408-4572-A43F-C04B3A005E01}" srcOrd="0" destOrd="0" presId="urn:microsoft.com/office/officeart/2005/8/layout/process1"/>
    <dgm:cxn modelId="{E57B6577-74CD-4A9F-8F70-47B7D2DF328D}" type="presParOf" srcId="{09154364-5D0A-4157-96C8-3CA76F2E78B9}" destId="{103DA481-201D-43EE-808C-A912F0B90C58}" srcOrd="2" destOrd="0" presId="urn:microsoft.com/office/officeart/2005/8/layout/process1"/>
    <dgm:cxn modelId="{BBFE72E8-1EF4-496C-B9CE-DD44C3AB7B13}" type="presParOf" srcId="{09154364-5D0A-4157-96C8-3CA76F2E78B9}" destId="{A50054F3-9358-48DD-8082-D60A2C9B683B}" srcOrd="3" destOrd="0" presId="urn:microsoft.com/office/officeart/2005/8/layout/process1"/>
    <dgm:cxn modelId="{A0FA0B9D-FB6A-4FFA-8D55-1820BA7CB8AB}" type="presParOf" srcId="{A50054F3-9358-48DD-8082-D60A2C9B683B}" destId="{96B98487-17C7-4F77-840E-2FB4D36949E3}" srcOrd="0" destOrd="0" presId="urn:microsoft.com/office/officeart/2005/8/layout/process1"/>
    <dgm:cxn modelId="{733158CA-44A7-4370-87CE-6235D6FEB4AC}" type="presParOf" srcId="{09154364-5D0A-4157-96C8-3CA76F2E78B9}" destId="{6E94C9BB-B9BF-4871-8C99-463987875E9C}" srcOrd="4" destOrd="0" presId="urn:microsoft.com/office/officeart/2005/8/layout/process1"/>
    <dgm:cxn modelId="{46C87A6D-68A7-470B-9CC6-C624306C667C}" type="presParOf" srcId="{09154364-5D0A-4157-96C8-3CA76F2E78B9}" destId="{D4E5B147-5BB3-4277-9E60-6715BB6216D4}" srcOrd="5" destOrd="0" presId="urn:microsoft.com/office/officeart/2005/8/layout/process1"/>
    <dgm:cxn modelId="{AA6083B8-5121-464D-8226-91CC1F054BC9}" type="presParOf" srcId="{D4E5B147-5BB3-4277-9E60-6715BB6216D4}" destId="{8BE04705-89DF-4B53-86FD-ED6A5007E5C7}" srcOrd="0" destOrd="0" presId="urn:microsoft.com/office/officeart/2005/8/layout/process1"/>
    <dgm:cxn modelId="{9C8590AA-7348-458E-9A0D-3FEBA829C212}" type="presParOf" srcId="{09154364-5D0A-4157-96C8-3CA76F2E78B9}" destId="{927761EB-58CB-47B4-BDEF-C2021D25DFF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F7C55-7E28-401B-8C7C-800F744F9273}">
      <dsp:nvSpPr>
        <dsp:cNvPr id="0" name=""/>
        <dsp:cNvSpPr/>
      </dsp:nvSpPr>
      <dsp:spPr>
        <a:xfrm>
          <a:off x="3607" y="1558825"/>
          <a:ext cx="1577249" cy="946349"/>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De bloque</a:t>
          </a:r>
          <a:endParaRPr lang="es-ES" sz="1800" kern="1200" dirty="0"/>
        </a:p>
      </dsp:txBody>
      <dsp:txXfrm>
        <a:off x="31325" y="1586543"/>
        <a:ext cx="1521813" cy="890913"/>
      </dsp:txXfrm>
    </dsp:sp>
    <dsp:sp modelId="{B80DA79F-FE25-485D-81A4-5ED11958CB2C}">
      <dsp:nvSpPr>
        <dsp:cNvPr id="0" name=""/>
        <dsp:cNvSpPr/>
      </dsp:nvSpPr>
      <dsp:spPr>
        <a:xfrm>
          <a:off x="1738581" y="1836421"/>
          <a:ext cx="334376" cy="3911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1738581" y="1914652"/>
        <a:ext cx="234063" cy="234695"/>
      </dsp:txXfrm>
    </dsp:sp>
    <dsp:sp modelId="{103DA481-201D-43EE-808C-A912F0B90C58}">
      <dsp:nvSpPr>
        <dsp:cNvPr id="0" name=""/>
        <dsp:cNvSpPr/>
      </dsp:nvSpPr>
      <dsp:spPr>
        <a:xfrm>
          <a:off x="2211756" y="1558825"/>
          <a:ext cx="1577249" cy="946349"/>
        </a:xfrm>
        <a:prstGeom prst="roundRect">
          <a:avLst>
            <a:gd name="adj" fmla="val 10000"/>
          </a:avLst>
        </a:prstGeom>
        <a:solidFill>
          <a:schemeClr val="accent3">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No singular</a:t>
          </a:r>
          <a:endParaRPr lang="es-ES" sz="1800" kern="1200" dirty="0"/>
        </a:p>
      </dsp:txBody>
      <dsp:txXfrm>
        <a:off x="2239474" y="1586543"/>
        <a:ext cx="1521813" cy="890913"/>
      </dsp:txXfrm>
    </dsp:sp>
    <dsp:sp modelId="{A50054F3-9358-48DD-8082-D60A2C9B683B}">
      <dsp:nvSpPr>
        <dsp:cNvPr id="0" name=""/>
        <dsp:cNvSpPr/>
      </dsp:nvSpPr>
      <dsp:spPr>
        <a:xfrm>
          <a:off x="3946731" y="1836421"/>
          <a:ext cx="334376" cy="3911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3946731" y="1914652"/>
        <a:ext cx="234063" cy="234695"/>
      </dsp:txXfrm>
    </dsp:sp>
    <dsp:sp modelId="{6E94C9BB-B9BF-4871-8C99-463987875E9C}">
      <dsp:nvSpPr>
        <dsp:cNvPr id="0" name=""/>
        <dsp:cNvSpPr/>
      </dsp:nvSpPr>
      <dsp:spPr>
        <a:xfrm>
          <a:off x="4419905" y="1558825"/>
          <a:ext cx="1577249" cy="946349"/>
        </a:xfrm>
        <a:prstGeom prst="roundRect">
          <a:avLst>
            <a:gd name="adj" fmla="val 10000"/>
          </a:avLst>
        </a:prstGeom>
        <a:solidFill>
          <a:schemeClr val="accent4">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Unívocamente Decodificable</a:t>
          </a:r>
          <a:endParaRPr lang="es-ES" sz="1800" kern="1200" dirty="0"/>
        </a:p>
      </dsp:txBody>
      <dsp:txXfrm>
        <a:off x="4447623" y="1586543"/>
        <a:ext cx="1521813" cy="890913"/>
      </dsp:txXfrm>
    </dsp:sp>
    <dsp:sp modelId="{D4E5B147-5BB3-4277-9E60-6715BB6216D4}">
      <dsp:nvSpPr>
        <dsp:cNvPr id="0" name=""/>
        <dsp:cNvSpPr/>
      </dsp:nvSpPr>
      <dsp:spPr>
        <a:xfrm>
          <a:off x="6154880" y="1836421"/>
          <a:ext cx="334376" cy="3911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6154880" y="1914652"/>
        <a:ext cx="234063" cy="234695"/>
      </dsp:txXfrm>
    </dsp:sp>
    <dsp:sp modelId="{927761EB-58CB-47B4-BDEF-C2021D25DFFB}">
      <dsp:nvSpPr>
        <dsp:cNvPr id="0" name=""/>
        <dsp:cNvSpPr/>
      </dsp:nvSpPr>
      <dsp:spPr>
        <a:xfrm>
          <a:off x="6628055" y="1558825"/>
          <a:ext cx="1577249" cy="94634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Prefijo o Instantáneo</a:t>
          </a:r>
          <a:endParaRPr lang="es-ES" sz="1800" kern="1200" dirty="0"/>
        </a:p>
      </dsp:txBody>
      <dsp:txXfrm>
        <a:off x="6655773" y="1586543"/>
        <a:ext cx="1521813" cy="8909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F7C55-7E28-401B-8C7C-800F744F9273}">
      <dsp:nvSpPr>
        <dsp:cNvPr id="0" name=""/>
        <dsp:cNvSpPr/>
      </dsp:nvSpPr>
      <dsp:spPr>
        <a:xfrm>
          <a:off x="3607" y="1558825"/>
          <a:ext cx="1577249" cy="946349"/>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De bloque</a:t>
          </a:r>
          <a:endParaRPr lang="es-ES" sz="1800" kern="1200" dirty="0"/>
        </a:p>
      </dsp:txBody>
      <dsp:txXfrm>
        <a:off x="31325" y="1586543"/>
        <a:ext cx="1521813" cy="890913"/>
      </dsp:txXfrm>
    </dsp:sp>
    <dsp:sp modelId="{B80DA79F-FE25-485D-81A4-5ED11958CB2C}">
      <dsp:nvSpPr>
        <dsp:cNvPr id="0" name=""/>
        <dsp:cNvSpPr/>
      </dsp:nvSpPr>
      <dsp:spPr>
        <a:xfrm>
          <a:off x="1738581" y="1836421"/>
          <a:ext cx="334376" cy="3911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1738581" y="1914652"/>
        <a:ext cx="234063" cy="234695"/>
      </dsp:txXfrm>
    </dsp:sp>
    <dsp:sp modelId="{103DA481-201D-43EE-808C-A912F0B90C58}">
      <dsp:nvSpPr>
        <dsp:cNvPr id="0" name=""/>
        <dsp:cNvSpPr/>
      </dsp:nvSpPr>
      <dsp:spPr>
        <a:xfrm>
          <a:off x="2211756" y="1558825"/>
          <a:ext cx="1577249" cy="946349"/>
        </a:xfrm>
        <a:prstGeom prst="roundRect">
          <a:avLst>
            <a:gd name="adj" fmla="val 10000"/>
          </a:avLst>
        </a:prstGeom>
        <a:solidFill>
          <a:schemeClr val="accent3">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No singular</a:t>
          </a:r>
          <a:endParaRPr lang="es-ES" sz="1800" kern="1200" dirty="0"/>
        </a:p>
      </dsp:txBody>
      <dsp:txXfrm>
        <a:off x="2239474" y="1586543"/>
        <a:ext cx="1521813" cy="890913"/>
      </dsp:txXfrm>
    </dsp:sp>
    <dsp:sp modelId="{A50054F3-9358-48DD-8082-D60A2C9B683B}">
      <dsp:nvSpPr>
        <dsp:cNvPr id="0" name=""/>
        <dsp:cNvSpPr/>
      </dsp:nvSpPr>
      <dsp:spPr>
        <a:xfrm>
          <a:off x="3946731" y="1836421"/>
          <a:ext cx="334376" cy="3911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3946731" y="1914652"/>
        <a:ext cx="234063" cy="234695"/>
      </dsp:txXfrm>
    </dsp:sp>
    <dsp:sp modelId="{6E94C9BB-B9BF-4871-8C99-463987875E9C}">
      <dsp:nvSpPr>
        <dsp:cNvPr id="0" name=""/>
        <dsp:cNvSpPr/>
      </dsp:nvSpPr>
      <dsp:spPr>
        <a:xfrm>
          <a:off x="4419905" y="1558825"/>
          <a:ext cx="1577249" cy="946349"/>
        </a:xfrm>
        <a:prstGeom prst="roundRect">
          <a:avLst>
            <a:gd name="adj" fmla="val 10000"/>
          </a:avLst>
        </a:prstGeom>
        <a:solidFill>
          <a:schemeClr val="accent4">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Unívocamente Decodificable</a:t>
          </a:r>
          <a:endParaRPr lang="es-ES" sz="1800" kern="1200" dirty="0"/>
        </a:p>
      </dsp:txBody>
      <dsp:txXfrm>
        <a:off x="4447623" y="1586543"/>
        <a:ext cx="1521813" cy="890913"/>
      </dsp:txXfrm>
    </dsp:sp>
    <dsp:sp modelId="{D4E5B147-5BB3-4277-9E60-6715BB6216D4}">
      <dsp:nvSpPr>
        <dsp:cNvPr id="0" name=""/>
        <dsp:cNvSpPr/>
      </dsp:nvSpPr>
      <dsp:spPr>
        <a:xfrm>
          <a:off x="6154880" y="1836421"/>
          <a:ext cx="334376" cy="3911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6154880" y="1914652"/>
        <a:ext cx="234063" cy="234695"/>
      </dsp:txXfrm>
    </dsp:sp>
    <dsp:sp modelId="{927761EB-58CB-47B4-BDEF-C2021D25DFFB}">
      <dsp:nvSpPr>
        <dsp:cNvPr id="0" name=""/>
        <dsp:cNvSpPr/>
      </dsp:nvSpPr>
      <dsp:spPr>
        <a:xfrm>
          <a:off x="6628055" y="1558825"/>
          <a:ext cx="1577249" cy="94634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Prefijo o Instantáneo</a:t>
          </a:r>
          <a:endParaRPr lang="es-ES" sz="1800" kern="1200" dirty="0"/>
        </a:p>
      </dsp:txBody>
      <dsp:txXfrm>
        <a:off x="6655773" y="1586543"/>
        <a:ext cx="1521813" cy="8909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F7C55-7E28-401B-8C7C-800F744F9273}">
      <dsp:nvSpPr>
        <dsp:cNvPr id="0" name=""/>
        <dsp:cNvSpPr/>
      </dsp:nvSpPr>
      <dsp:spPr>
        <a:xfrm>
          <a:off x="3607" y="1558825"/>
          <a:ext cx="1577249" cy="946349"/>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De bloque</a:t>
          </a:r>
          <a:endParaRPr lang="es-ES" sz="1800" kern="1200" dirty="0"/>
        </a:p>
      </dsp:txBody>
      <dsp:txXfrm>
        <a:off x="31325" y="1586543"/>
        <a:ext cx="1521813" cy="890913"/>
      </dsp:txXfrm>
    </dsp:sp>
    <dsp:sp modelId="{B80DA79F-FE25-485D-81A4-5ED11958CB2C}">
      <dsp:nvSpPr>
        <dsp:cNvPr id="0" name=""/>
        <dsp:cNvSpPr/>
      </dsp:nvSpPr>
      <dsp:spPr>
        <a:xfrm>
          <a:off x="1738581" y="1836421"/>
          <a:ext cx="334376" cy="3911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1738581" y="1914652"/>
        <a:ext cx="234063" cy="234695"/>
      </dsp:txXfrm>
    </dsp:sp>
    <dsp:sp modelId="{103DA481-201D-43EE-808C-A912F0B90C58}">
      <dsp:nvSpPr>
        <dsp:cNvPr id="0" name=""/>
        <dsp:cNvSpPr/>
      </dsp:nvSpPr>
      <dsp:spPr>
        <a:xfrm>
          <a:off x="2211756" y="1558825"/>
          <a:ext cx="1577249" cy="946349"/>
        </a:xfrm>
        <a:prstGeom prst="roundRect">
          <a:avLst>
            <a:gd name="adj" fmla="val 10000"/>
          </a:avLst>
        </a:prstGeom>
        <a:solidFill>
          <a:schemeClr val="accent3">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No singular</a:t>
          </a:r>
          <a:endParaRPr lang="es-ES" sz="1800" kern="1200" dirty="0"/>
        </a:p>
      </dsp:txBody>
      <dsp:txXfrm>
        <a:off x="2239474" y="1586543"/>
        <a:ext cx="1521813" cy="890913"/>
      </dsp:txXfrm>
    </dsp:sp>
    <dsp:sp modelId="{A50054F3-9358-48DD-8082-D60A2C9B683B}">
      <dsp:nvSpPr>
        <dsp:cNvPr id="0" name=""/>
        <dsp:cNvSpPr/>
      </dsp:nvSpPr>
      <dsp:spPr>
        <a:xfrm>
          <a:off x="3946731" y="1836421"/>
          <a:ext cx="334376" cy="3911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3946731" y="1914652"/>
        <a:ext cx="234063" cy="234695"/>
      </dsp:txXfrm>
    </dsp:sp>
    <dsp:sp modelId="{6E94C9BB-B9BF-4871-8C99-463987875E9C}">
      <dsp:nvSpPr>
        <dsp:cNvPr id="0" name=""/>
        <dsp:cNvSpPr/>
      </dsp:nvSpPr>
      <dsp:spPr>
        <a:xfrm>
          <a:off x="4419905" y="1558825"/>
          <a:ext cx="1577249" cy="946349"/>
        </a:xfrm>
        <a:prstGeom prst="roundRect">
          <a:avLst>
            <a:gd name="adj" fmla="val 10000"/>
          </a:avLst>
        </a:prstGeom>
        <a:solidFill>
          <a:schemeClr val="accent4">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Unívocamente Decodificable</a:t>
          </a:r>
          <a:endParaRPr lang="es-ES" sz="1800" kern="1200" dirty="0"/>
        </a:p>
      </dsp:txBody>
      <dsp:txXfrm>
        <a:off x="4447623" y="1586543"/>
        <a:ext cx="1521813" cy="890913"/>
      </dsp:txXfrm>
    </dsp:sp>
    <dsp:sp modelId="{D4E5B147-5BB3-4277-9E60-6715BB6216D4}">
      <dsp:nvSpPr>
        <dsp:cNvPr id="0" name=""/>
        <dsp:cNvSpPr/>
      </dsp:nvSpPr>
      <dsp:spPr>
        <a:xfrm>
          <a:off x="6154880" y="1836421"/>
          <a:ext cx="334376" cy="3911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6154880" y="1914652"/>
        <a:ext cx="234063" cy="234695"/>
      </dsp:txXfrm>
    </dsp:sp>
    <dsp:sp modelId="{927761EB-58CB-47B4-BDEF-C2021D25DFFB}">
      <dsp:nvSpPr>
        <dsp:cNvPr id="0" name=""/>
        <dsp:cNvSpPr/>
      </dsp:nvSpPr>
      <dsp:spPr>
        <a:xfrm>
          <a:off x="6628055" y="1558825"/>
          <a:ext cx="1577249" cy="94634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Prefijo o Instantáneo</a:t>
          </a:r>
          <a:endParaRPr lang="es-ES" sz="1800" kern="1200" dirty="0"/>
        </a:p>
      </dsp:txBody>
      <dsp:txXfrm>
        <a:off x="6655773" y="1586543"/>
        <a:ext cx="1521813" cy="8909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F7C55-7E28-401B-8C7C-800F744F9273}">
      <dsp:nvSpPr>
        <dsp:cNvPr id="0" name=""/>
        <dsp:cNvSpPr/>
      </dsp:nvSpPr>
      <dsp:spPr>
        <a:xfrm>
          <a:off x="3607" y="1558825"/>
          <a:ext cx="1577249" cy="946349"/>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De bloque</a:t>
          </a:r>
          <a:endParaRPr lang="es-ES" sz="1800" kern="1200" dirty="0"/>
        </a:p>
      </dsp:txBody>
      <dsp:txXfrm>
        <a:off x="31325" y="1586543"/>
        <a:ext cx="1521813" cy="890913"/>
      </dsp:txXfrm>
    </dsp:sp>
    <dsp:sp modelId="{B80DA79F-FE25-485D-81A4-5ED11958CB2C}">
      <dsp:nvSpPr>
        <dsp:cNvPr id="0" name=""/>
        <dsp:cNvSpPr/>
      </dsp:nvSpPr>
      <dsp:spPr>
        <a:xfrm>
          <a:off x="1738581" y="1836421"/>
          <a:ext cx="334376" cy="3911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1738581" y="1914652"/>
        <a:ext cx="234063" cy="234695"/>
      </dsp:txXfrm>
    </dsp:sp>
    <dsp:sp modelId="{103DA481-201D-43EE-808C-A912F0B90C58}">
      <dsp:nvSpPr>
        <dsp:cNvPr id="0" name=""/>
        <dsp:cNvSpPr/>
      </dsp:nvSpPr>
      <dsp:spPr>
        <a:xfrm>
          <a:off x="2211756" y="1558825"/>
          <a:ext cx="1577249" cy="946349"/>
        </a:xfrm>
        <a:prstGeom prst="roundRect">
          <a:avLst>
            <a:gd name="adj" fmla="val 10000"/>
          </a:avLst>
        </a:prstGeom>
        <a:solidFill>
          <a:schemeClr val="accent3">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No singular</a:t>
          </a:r>
          <a:endParaRPr lang="es-ES" sz="1800" kern="1200" dirty="0"/>
        </a:p>
      </dsp:txBody>
      <dsp:txXfrm>
        <a:off x="2239474" y="1586543"/>
        <a:ext cx="1521813" cy="890913"/>
      </dsp:txXfrm>
    </dsp:sp>
    <dsp:sp modelId="{A50054F3-9358-48DD-8082-D60A2C9B683B}">
      <dsp:nvSpPr>
        <dsp:cNvPr id="0" name=""/>
        <dsp:cNvSpPr/>
      </dsp:nvSpPr>
      <dsp:spPr>
        <a:xfrm>
          <a:off x="3946731" y="1836421"/>
          <a:ext cx="334376" cy="3911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3946731" y="1914652"/>
        <a:ext cx="234063" cy="234695"/>
      </dsp:txXfrm>
    </dsp:sp>
    <dsp:sp modelId="{6E94C9BB-B9BF-4871-8C99-463987875E9C}">
      <dsp:nvSpPr>
        <dsp:cNvPr id="0" name=""/>
        <dsp:cNvSpPr/>
      </dsp:nvSpPr>
      <dsp:spPr>
        <a:xfrm>
          <a:off x="4419905" y="1558825"/>
          <a:ext cx="1577249" cy="946349"/>
        </a:xfrm>
        <a:prstGeom prst="roundRect">
          <a:avLst>
            <a:gd name="adj" fmla="val 10000"/>
          </a:avLst>
        </a:prstGeom>
        <a:solidFill>
          <a:schemeClr val="accent4">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Unívocamente Decodificable</a:t>
          </a:r>
          <a:endParaRPr lang="es-ES" sz="1800" kern="1200" dirty="0"/>
        </a:p>
      </dsp:txBody>
      <dsp:txXfrm>
        <a:off x="4447623" y="1586543"/>
        <a:ext cx="1521813" cy="890913"/>
      </dsp:txXfrm>
    </dsp:sp>
    <dsp:sp modelId="{D4E5B147-5BB3-4277-9E60-6715BB6216D4}">
      <dsp:nvSpPr>
        <dsp:cNvPr id="0" name=""/>
        <dsp:cNvSpPr/>
      </dsp:nvSpPr>
      <dsp:spPr>
        <a:xfrm>
          <a:off x="6154880" y="1836421"/>
          <a:ext cx="334376" cy="3911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6154880" y="1914652"/>
        <a:ext cx="234063" cy="234695"/>
      </dsp:txXfrm>
    </dsp:sp>
    <dsp:sp modelId="{927761EB-58CB-47B4-BDEF-C2021D25DFFB}">
      <dsp:nvSpPr>
        <dsp:cNvPr id="0" name=""/>
        <dsp:cNvSpPr/>
      </dsp:nvSpPr>
      <dsp:spPr>
        <a:xfrm>
          <a:off x="6628055" y="1558825"/>
          <a:ext cx="1577249" cy="94634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Prefijo o Instantáneo</a:t>
          </a:r>
          <a:endParaRPr lang="es-ES" sz="1800" kern="1200" dirty="0"/>
        </a:p>
      </dsp:txBody>
      <dsp:txXfrm>
        <a:off x="6655773" y="1586543"/>
        <a:ext cx="1521813" cy="8909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F7C55-7E28-401B-8C7C-800F744F9273}">
      <dsp:nvSpPr>
        <dsp:cNvPr id="0" name=""/>
        <dsp:cNvSpPr/>
      </dsp:nvSpPr>
      <dsp:spPr>
        <a:xfrm>
          <a:off x="3607" y="1558825"/>
          <a:ext cx="1577249" cy="946349"/>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De bloque</a:t>
          </a:r>
          <a:endParaRPr lang="es-ES" sz="1800" kern="1200" dirty="0"/>
        </a:p>
      </dsp:txBody>
      <dsp:txXfrm>
        <a:off x="31325" y="1586543"/>
        <a:ext cx="1521813" cy="890913"/>
      </dsp:txXfrm>
    </dsp:sp>
    <dsp:sp modelId="{B80DA79F-FE25-485D-81A4-5ED11958CB2C}">
      <dsp:nvSpPr>
        <dsp:cNvPr id="0" name=""/>
        <dsp:cNvSpPr/>
      </dsp:nvSpPr>
      <dsp:spPr>
        <a:xfrm>
          <a:off x="1738581" y="1836421"/>
          <a:ext cx="334376" cy="3911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1738581" y="1914652"/>
        <a:ext cx="234063" cy="234695"/>
      </dsp:txXfrm>
    </dsp:sp>
    <dsp:sp modelId="{103DA481-201D-43EE-808C-A912F0B90C58}">
      <dsp:nvSpPr>
        <dsp:cNvPr id="0" name=""/>
        <dsp:cNvSpPr/>
      </dsp:nvSpPr>
      <dsp:spPr>
        <a:xfrm>
          <a:off x="2211756" y="1558825"/>
          <a:ext cx="1577249" cy="946349"/>
        </a:xfrm>
        <a:prstGeom prst="roundRect">
          <a:avLst>
            <a:gd name="adj" fmla="val 10000"/>
          </a:avLst>
        </a:prstGeom>
        <a:solidFill>
          <a:schemeClr val="accent3">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No singular</a:t>
          </a:r>
          <a:endParaRPr lang="es-ES" sz="1800" kern="1200" dirty="0"/>
        </a:p>
      </dsp:txBody>
      <dsp:txXfrm>
        <a:off x="2239474" y="1586543"/>
        <a:ext cx="1521813" cy="890913"/>
      </dsp:txXfrm>
    </dsp:sp>
    <dsp:sp modelId="{A50054F3-9358-48DD-8082-D60A2C9B683B}">
      <dsp:nvSpPr>
        <dsp:cNvPr id="0" name=""/>
        <dsp:cNvSpPr/>
      </dsp:nvSpPr>
      <dsp:spPr>
        <a:xfrm>
          <a:off x="3946731" y="1836421"/>
          <a:ext cx="334376" cy="3911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3946731" y="1914652"/>
        <a:ext cx="234063" cy="234695"/>
      </dsp:txXfrm>
    </dsp:sp>
    <dsp:sp modelId="{6E94C9BB-B9BF-4871-8C99-463987875E9C}">
      <dsp:nvSpPr>
        <dsp:cNvPr id="0" name=""/>
        <dsp:cNvSpPr/>
      </dsp:nvSpPr>
      <dsp:spPr>
        <a:xfrm>
          <a:off x="4419905" y="1558825"/>
          <a:ext cx="1577249" cy="946349"/>
        </a:xfrm>
        <a:prstGeom prst="roundRect">
          <a:avLst>
            <a:gd name="adj" fmla="val 10000"/>
          </a:avLst>
        </a:prstGeom>
        <a:solidFill>
          <a:schemeClr val="accent4">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Unívocamente Decodificable</a:t>
          </a:r>
          <a:endParaRPr lang="es-ES" sz="1800" kern="1200" dirty="0"/>
        </a:p>
      </dsp:txBody>
      <dsp:txXfrm>
        <a:off x="4447623" y="1586543"/>
        <a:ext cx="1521813" cy="890913"/>
      </dsp:txXfrm>
    </dsp:sp>
    <dsp:sp modelId="{D4E5B147-5BB3-4277-9E60-6715BB6216D4}">
      <dsp:nvSpPr>
        <dsp:cNvPr id="0" name=""/>
        <dsp:cNvSpPr/>
      </dsp:nvSpPr>
      <dsp:spPr>
        <a:xfrm>
          <a:off x="6154880" y="1836421"/>
          <a:ext cx="334376" cy="3911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s-ES" sz="1600" kern="1200"/>
        </a:p>
      </dsp:txBody>
      <dsp:txXfrm>
        <a:off x="6154880" y="1914652"/>
        <a:ext cx="234063" cy="234695"/>
      </dsp:txXfrm>
    </dsp:sp>
    <dsp:sp modelId="{927761EB-58CB-47B4-BDEF-C2021D25DFFB}">
      <dsp:nvSpPr>
        <dsp:cNvPr id="0" name=""/>
        <dsp:cNvSpPr/>
      </dsp:nvSpPr>
      <dsp:spPr>
        <a:xfrm>
          <a:off x="6628055" y="1558825"/>
          <a:ext cx="1577249" cy="94634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Prefijo o Instantáneo</a:t>
          </a:r>
          <a:endParaRPr lang="es-ES" sz="1800" kern="1200" dirty="0"/>
        </a:p>
      </dsp:txBody>
      <dsp:txXfrm>
        <a:off x="6655773" y="1586543"/>
        <a:ext cx="1521813" cy="89091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21C4CD-45E9-4654-9E96-A5B26A1F05EF}" type="datetimeFigureOut">
              <a:rPr lang="es-AR" smtClean="0"/>
              <a:t>9/4/2025</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0DFAB1A-2EE0-4230-85AB-72E46B3362BA}" type="slidenum">
              <a:rPr lang="es-AR" smtClean="0"/>
              <a:t>‹Nº›</a:t>
            </a:fld>
            <a:endParaRPr lang="es-AR"/>
          </a:p>
        </p:txBody>
      </p:sp>
    </p:spTree>
    <p:extLst>
      <p:ext uri="{BB962C8B-B14F-4D97-AF65-F5344CB8AC3E}">
        <p14:creationId xmlns:p14="http://schemas.microsoft.com/office/powerpoint/2010/main" val="246643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1219200" y="1938933"/>
            <a:ext cx="6858000" cy="1671614"/>
          </a:xfrm>
        </p:spPr>
        <p:txBody>
          <a:bodyPr anchor="t" anchorCtr="0"/>
          <a:lstStyle>
            <a:lvl1pPr algn="r">
              <a:defRPr sz="3200">
                <a:solidFill>
                  <a:schemeClr val="tx1"/>
                </a:solidFill>
              </a:defRPr>
            </a:lvl1pPr>
          </a:lstStyle>
          <a:p>
            <a:r>
              <a:rPr kumimoji="0" lang="es-ES" dirty="0" smtClean="0"/>
              <a:t>Haga clic para modificar el estilo de título del patrón</a:t>
            </a:r>
            <a:endParaRPr kumimoji="0" lang="en-US" dirty="0"/>
          </a:p>
        </p:txBody>
      </p:sp>
      <p:sp>
        <p:nvSpPr>
          <p:cNvPr id="9" name="8 Subtítulo"/>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6400800" y="6355080"/>
            <a:ext cx="2286000" cy="365760"/>
          </a:xfrm>
        </p:spPr>
        <p:txBody>
          <a:bodyPr/>
          <a:lstStyle>
            <a:lvl1pPr>
              <a:defRPr sz="1400"/>
            </a:lvl1pPr>
          </a:lstStyle>
          <a:p>
            <a:r>
              <a:rPr lang="es-ES" dirty="0" smtClean="0"/>
              <a:t>Abril 2024</a:t>
            </a:r>
            <a:endParaRPr lang="es-ES" dirty="0"/>
          </a:p>
        </p:txBody>
      </p:sp>
      <p:sp>
        <p:nvSpPr>
          <p:cNvPr id="17" name="16 Marcador de pie de página"/>
          <p:cNvSpPr>
            <a:spLocks noGrp="1"/>
          </p:cNvSpPr>
          <p:nvPr>
            <p:ph type="ftr" sz="quarter" idx="11"/>
          </p:nvPr>
        </p:nvSpPr>
        <p:spPr>
          <a:xfrm>
            <a:off x="2898648" y="6355080"/>
            <a:ext cx="3474720" cy="365760"/>
          </a:xfrm>
        </p:spPr>
        <p:txBody>
          <a:bodyPr/>
          <a:lstStyle/>
          <a:p>
            <a:r>
              <a:rPr lang="es-ES" smtClean="0"/>
              <a:t>Ing. Leonel E. Hochman</a:t>
            </a:r>
            <a:endParaRPr lang="es-ES"/>
          </a:p>
        </p:txBody>
      </p:sp>
      <p:sp>
        <p:nvSpPr>
          <p:cNvPr id="29" name="28 Marcador de número de diapositiva"/>
          <p:cNvSpPr>
            <a:spLocks noGrp="1"/>
          </p:cNvSpPr>
          <p:nvPr>
            <p:ph type="sldNum" sz="quarter" idx="12"/>
          </p:nvPr>
        </p:nvSpPr>
        <p:spPr>
          <a:xfrm>
            <a:off x="1216152" y="6355080"/>
            <a:ext cx="1219200" cy="365760"/>
          </a:xfrm>
        </p:spPr>
        <p:txBody>
          <a:bodyPr/>
          <a:lstStyle/>
          <a:p>
            <a:fld id="{132FADFE-3B8F-471C-ABF0-DBC7717ECBBC}" type="slidenum">
              <a:rPr lang="es-ES" smtClean="0"/>
              <a:t>‹Nº›</a:t>
            </a:fld>
            <a:endParaRPr lang="es-ES"/>
          </a:p>
        </p:txBody>
      </p:sp>
      <p:sp>
        <p:nvSpPr>
          <p:cNvPr id="21" name="20 Rectángulo"/>
          <p:cNvSpPr/>
          <p:nvPr/>
        </p:nvSpPr>
        <p:spPr>
          <a:xfrm>
            <a:off x="904875" y="1700808"/>
            <a:ext cx="7315200" cy="216024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32 Rectángulo"/>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21 Rectángulo"/>
          <p:cNvSpPr/>
          <p:nvPr/>
        </p:nvSpPr>
        <p:spPr>
          <a:xfrm>
            <a:off x="904875" y="1700808"/>
            <a:ext cx="228600" cy="216024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8" name="7 Marcador de contenido"/>
          <p:cNvSpPr>
            <a:spLocks noGrp="1"/>
          </p:cNvSpPr>
          <p:nvPr>
            <p:ph sz="quarter" idx="1"/>
          </p:nvPr>
        </p:nvSpPr>
        <p:spPr>
          <a:xfrm>
            <a:off x="457200" y="1219200"/>
            <a:ext cx="8229600" cy="4937760"/>
          </a:xfrm>
        </p:spPr>
        <p:txBody>
          <a:bodyPr/>
          <a:lstStyle/>
          <a:p>
            <a:pPr lvl="0" eaLnBrk="1" latinLnBrk="0" hangingPunct="1"/>
            <a:r>
              <a:rPr lang="es-ES" dirty="0" smtClean="0"/>
              <a:t>Haga clic para modificar el estilo de texto del patrón</a:t>
            </a:r>
          </a:p>
          <a:p>
            <a:pPr lvl="1" eaLnBrk="1" latinLnBrk="0" hangingPunct="1"/>
            <a:r>
              <a:rPr lang="es-ES" dirty="0" smtClean="0"/>
              <a:t>Segundo nivel</a:t>
            </a:r>
          </a:p>
          <a:p>
            <a:pPr lvl="2" eaLnBrk="1" latinLnBrk="0" hangingPunct="1"/>
            <a:r>
              <a:rPr lang="es-ES" dirty="0" smtClean="0"/>
              <a:t>Tercer nivel</a:t>
            </a:r>
          </a:p>
          <a:p>
            <a:pPr lvl="3" eaLnBrk="1" latinLnBrk="0" hangingPunct="1"/>
            <a:r>
              <a:rPr lang="es-ES" dirty="0" smtClean="0"/>
              <a:t>Cuarto nivel</a:t>
            </a:r>
          </a:p>
          <a:p>
            <a:pPr lvl="4" eaLnBrk="1" latinLnBrk="0" hangingPunct="1"/>
            <a:r>
              <a:rPr lang="es-ES" dirty="0" smtClean="0"/>
              <a:t>Quinto nivel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a:xfrm>
            <a:off x="6400800" y="6355080"/>
            <a:ext cx="2286000" cy="365760"/>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5" name="4 Marcador de pie de página"/>
          <p:cNvSpPr>
            <a:spLocks noGrp="1"/>
          </p:cNvSpPr>
          <p:nvPr>
            <p:ph type="ftr" sz="quarter" idx="11"/>
          </p:nvPr>
        </p:nvSpPr>
        <p:spPr>
          <a:xfrm>
            <a:off x="2898648" y="6355080"/>
            <a:ext cx="3474720" cy="365760"/>
          </a:xfrm>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a:xfrm>
            <a:off x="1069848" y="6355080"/>
            <a:ext cx="1520952" cy="365760"/>
          </a:xfrm>
        </p:spPr>
        <p:txBody>
          <a:bodyPr/>
          <a:lstStyle/>
          <a:p>
            <a:fld id="{132FADFE-3B8F-471C-ABF0-DBC7717ECBBC}" type="slidenum">
              <a:rPr lang="es-ES" smtClean="0"/>
              <a:t>‹Nº›</a:t>
            </a:fld>
            <a:endParaRPr lang="es-ES"/>
          </a:p>
        </p:txBody>
      </p:sp>
      <p:sp>
        <p:nvSpPr>
          <p:cNvPr id="7" name="6 Rectángulo"/>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6" name="5 Marcador de pie de página"/>
          <p:cNvSpPr>
            <a:spLocks noGrp="1"/>
          </p:cNvSpPr>
          <p:nvPr>
            <p:ph type="ftr" sz="quarter" idx="11"/>
          </p:nvPr>
        </p:nvSpPr>
        <p:spPr/>
        <p:txBody>
          <a:bodyPr/>
          <a:lstStyle/>
          <a:p>
            <a:r>
              <a:rPr lang="es-ES" smtClean="0"/>
              <a:t>Ing. Leonel E. Hochman</a:t>
            </a:r>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9" name="8 Marcador de contenido"/>
          <p:cNvSpPr>
            <a:spLocks noGrp="1"/>
          </p:cNvSpPr>
          <p:nvPr>
            <p:ph sz="quarter" idx="1"/>
          </p:nvPr>
        </p:nvSpPr>
        <p:spPr>
          <a:xfrm>
            <a:off x="457200" y="1219200"/>
            <a:ext cx="4041648" cy="493776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632198" y="1216152"/>
            <a:ext cx="4041648" cy="493776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nchor="ctr"/>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8" name="7 Marcador de pie de página"/>
          <p:cNvSpPr>
            <a:spLocks noGrp="1"/>
          </p:cNvSpPr>
          <p:nvPr>
            <p:ph type="ftr" sz="quarter" idx="11"/>
          </p:nvPr>
        </p:nvSpPr>
        <p:spPr/>
        <p:txBody>
          <a:bodyPr/>
          <a:lstStyle/>
          <a:p>
            <a:r>
              <a:rPr lang="es-ES" smtClean="0"/>
              <a:t>Ing. Leonel E. Hochman</a:t>
            </a:r>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11" name="10 Marcador de contenido"/>
          <p:cNvSpPr>
            <a:spLocks noGrp="1"/>
          </p:cNvSpPr>
          <p:nvPr>
            <p:ph sz="quarter" idx="2"/>
          </p:nvPr>
        </p:nvSpPr>
        <p:spPr>
          <a:xfrm>
            <a:off x="457200" y="2133600"/>
            <a:ext cx="4038600" cy="40386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648200" y="2133600"/>
            <a:ext cx="4038600" cy="40386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4" name="3 Marcador de pie de página"/>
          <p:cNvSpPr>
            <a:spLocks noGrp="1"/>
          </p:cNvSpPr>
          <p:nvPr>
            <p:ph type="ftr" sz="quarter" idx="11"/>
          </p:nvPr>
        </p:nvSpPr>
        <p:spPr/>
        <p:txBody>
          <a:bodyPr/>
          <a:lstStyle/>
          <a:p>
            <a:r>
              <a:rPr lang="es-ES" smtClean="0"/>
              <a:t>Ing. Leonel E. Hochman</a:t>
            </a:r>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3" name="2 Marcador de pie de página"/>
          <p:cNvSpPr>
            <a:spLocks noGrp="1"/>
          </p:cNvSpPr>
          <p:nvPr>
            <p:ph type="ftr" sz="quarter" idx="11"/>
          </p:nvPr>
        </p:nvSpPr>
        <p:spPr/>
        <p:txBody>
          <a:bodyPr/>
          <a:lstStyle/>
          <a:p>
            <a:r>
              <a:rPr lang="es-ES" smtClean="0"/>
              <a:t>Ing. Leonel E. Hochman</a:t>
            </a:r>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5" name="4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6" name="5 Marcador de pie de página"/>
          <p:cNvSpPr>
            <a:spLocks noGrp="1"/>
          </p:cNvSpPr>
          <p:nvPr>
            <p:ph type="ftr" sz="quarter" idx="11"/>
          </p:nvPr>
        </p:nvSpPr>
        <p:spPr/>
        <p:txBody>
          <a:bodyPr/>
          <a:lstStyle/>
          <a:p>
            <a:r>
              <a:rPr lang="es-ES" smtClean="0"/>
              <a:t>Ing. Leonel E. Hochman</a:t>
            </a:r>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Conector recto"/>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Marcador de contenido"/>
          <p:cNvSpPr>
            <a:spLocks noGrp="1"/>
          </p:cNvSpPr>
          <p:nvPr>
            <p:ph sz="quarter" idx="1"/>
          </p:nvPr>
        </p:nvSpPr>
        <p:spPr>
          <a:xfrm>
            <a:off x="304800" y="304800"/>
            <a:ext cx="5715000" cy="5715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6" name="5 Marcador de pie de página"/>
          <p:cNvSpPr>
            <a:spLocks noGrp="1"/>
          </p:cNvSpPr>
          <p:nvPr>
            <p:ph type="ftr" sz="quarter" idx="11"/>
          </p:nvPr>
        </p:nvSpPr>
        <p:spPr/>
        <p:txBody>
          <a:bodyPr/>
          <a:lstStyle/>
          <a:p>
            <a:r>
              <a:rPr lang="es-ES" smtClean="0"/>
              <a:t>Ing. Leonel E. Hochman</a:t>
            </a:r>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es-ES" dirty="0" smtClean="0"/>
              <a:t>Abril 2024</a:t>
            </a:r>
          </a:p>
          <a:p>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7" name="6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7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Conector recto"/>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57200" y="152400"/>
            <a:ext cx="8229600" cy="990600"/>
          </a:xfrm>
          <a:prstGeom prst="rect">
            <a:avLst/>
          </a:prstGeom>
        </p:spPr>
        <p:txBody>
          <a:bodyPr vert="horz" anchor="b" anchorCtr="0">
            <a:normAutofit/>
          </a:bodyPr>
          <a:lstStyle/>
          <a:p>
            <a:r>
              <a:rPr kumimoji="0" lang="es-ES" dirty="0" smtClean="0"/>
              <a:t>Haga clic para modificar el estilo de título del patrón</a:t>
            </a:r>
            <a:endParaRPr kumimoji="0" lang="en-US" dirty="0"/>
          </a:p>
        </p:txBody>
      </p:sp>
      <p:sp>
        <p:nvSpPr>
          <p:cNvPr id="13" name="12 Marcador de texto"/>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s-ES" dirty="0" smtClean="0"/>
              <a:t>Haga clic para modificar el estilo de texto del patrón</a:t>
            </a:r>
          </a:p>
          <a:p>
            <a:pPr lvl="1" eaLnBrk="1" latinLnBrk="0" hangingPunct="1"/>
            <a:r>
              <a:rPr kumimoji="0" lang="es-ES" dirty="0" smtClean="0"/>
              <a:t>Segundo nivel</a:t>
            </a:r>
          </a:p>
          <a:p>
            <a:pPr lvl="2" eaLnBrk="1" latinLnBrk="0" hangingPunct="1"/>
            <a:r>
              <a:rPr kumimoji="0" lang="es-ES" dirty="0" smtClean="0"/>
              <a:t>Tercer nivel</a:t>
            </a:r>
          </a:p>
          <a:p>
            <a:pPr lvl="3" eaLnBrk="1" latinLnBrk="0" hangingPunct="1"/>
            <a:r>
              <a:rPr kumimoji="0" lang="es-ES" dirty="0" smtClean="0"/>
              <a:t>Cuarto nivel</a:t>
            </a:r>
          </a:p>
          <a:p>
            <a:pPr lvl="4" eaLnBrk="1" latinLnBrk="0" hangingPunct="1"/>
            <a:r>
              <a:rPr kumimoji="0" lang="es-ES" dirty="0" smtClean="0"/>
              <a:t>Quinto nivel</a:t>
            </a:r>
            <a:endParaRPr kumimoji="0" lang="en-US" dirty="0"/>
          </a:p>
        </p:txBody>
      </p:sp>
      <p:sp>
        <p:nvSpPr>
          <p:cNvPr id="14" name="13 Marcador de fecha"/>
          <p:cNvSpPr>
            <a:spLocks noGrp="1"/>
          </p:cNvSpPr>
          <p:nvPr>
            <p:ph type="dt" sz="half" idx="2"/>
          </p:nvPr>
        </p:nvSpPr>
        <p:spPr>
          <a:xfrm>
            <a:off x="539552" y="6356350"/>
            <a:ext cx="2289048" cy="365760"/>
          </a:xfrm>
          <a:prstGeom prst="rect">
            <a:avLst/>
          </a:prstGeom>
        </p:spPr>
        <p:txBody>
          <a:bodyPr vert="horz"/>
          <a:lstStyle>
            <a:lvl1pPr algn="l" eaLnBrk="1" latinLnBrk="0" hangingPunct="1">
              <a:defRPr kumimoji="0" sz="1400">
                <a:solidFill>
                  <a:schemeClr val="tx2"/>
                </a:solidFill>
              </a:defRPr>
            </a:lvl1pPr>
          </a:lstStyle>
          <a:p>
            <a:r>
              <a:rPr lang="es-ES" smtClean="0"/>
              <a:t>19/11/2014</a:t>
            </a:r>
            <a:endParaRPr lang="es-ES"/>
          </a:p>
        </p:txBody>
      </p:sp>
      <p:sp>
        <p:nvSpPr>
          <p:cNvPr id="3" name="2 Marcador de pie de página"/>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r>
              <a:rPr lang="es-ES" smtClean="0"/>
              <a:t>Ing. Leonel E. Hochman</a:t>
            </a:r>
            <a:endParaRPr lang="es-ES" dirty="0"/>
          </a:p>
        </p:txBody>
      </p:sp>
      <p:sp>
        <p:nvSpPr>
          <p:cNvPr id="23" name="22 Marcador de número de diapositiva"/>
          <p:cNvSpPr>
            <a:spLocks noGrp="1"/>
          </p:cNvSpPr>
          <p:nvPr>
            <p:ph type="sldNum" sz="quarter" idx="4"/>
          </p:nvPr>
        </p:nvSpPr>
        <p:spPr>
          <a:xfrm>
            <a:off x="6695256" y="6356350"/>
            <a:ext cx="1981200" cy="365760"/>
          </a:xfrm>
          <a:prstGeom prst="rect">
            <a:avLst/>
          </a:prstGeom>
        </p:spPr>
        <p:txBody>
          <a:bodyPr vert="horz"/>
          <a:lstStyle>
            <a:lvl1pPr algn="r" eaLnBrk="1" latinLnBrk="0" hangingPunct="1">
              <a:defRPr kumimoji="0" sz="1400">
                <a:solidFill>
                  <a:schemeClr val="tx2"/>
                </a:solidFill>
              </a:defRPr>
            </a:lvl1pPr>
          </a:lstStyle>
          <a:p>
            <a:fld id="{132FADFE-3B8F-471C-ABF0-DBC7717ECBBC}" type="slidenum">
              <a:rPr lang="es-ES" smtClean="0"/>
              <a:pPr/>
              <a:t>‹Nº›</a:t>
            </a:fld>
            <a:endParaRPr lang="es-ES"/>
          </a:p>
        </p:txBody>
      </p:sp>
      <p:sp>
        <p:nvSpPr>
          <p:cNvPr id="28" name="2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28 Conector recto"/>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3200" kern="1200">
          <a:solidFill>
            <a:schemeClr val="accent2">
              <a:lumMod val="50000"/>
            </a:schemeClr>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accent2">
              <a:lumMod val="50000"/>
            </a:schemeClr>
          </a:solidFill>
          <a:latin typeface="+mj-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accent2">
              <a:lumMod val="50000"/>
            </a:schemeClr>
          </a:solidFill>
          <a:latin typeface="+mj-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accent2">
              <a:lumMod val="50000"/>
            </a:schemeClr>
          </a:solidFill>
          <a:latin typeface="+mj-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accent2">
              <a:lumMod val="50000"/>
            </a:schemeClr>
          </a:solidFill>
          <a:latin typeface="+mj-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accent2">
              <a:lumMod val="50000"/>
            </a:schemeClr>
          </a:solidFill>
          <a:latin typeface="+mj-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rmAutofit fontScale="90000"/>
          </a:bodyPr>
          <a:lstStyle/>
          <a:p>
            <a:r>
              <a:rPr lang="es-AR" dirty="0" smtClean="0"/>
              <a:t>G1 </a:t>
            </a:r>
            <a:r>
              <a:rPr lang="es-AR" dirty="0" smtClean="0"/>
              <a:t>– Elementos de TI</a:t>
            </a:r>
            <a:br>
              <a:rPr lang="es-AR" dirty="0" smtClean="0"/>
            </a:br>
            <a:r>
              <a:rPr lang="es-AR" dirty="0"/>
              <a:t/>
            </a:r>
            <a:br>
              <a:rPr lang="es-AR" dirty="0"/>
            </a:br>
            <a:r>
              <a:rPr lang="es-AR" dirty="0" smtClean="0"/>
              <a:t>Orientación para la resolución de ejercicios seleccionados</a:t>
            </a:r>
            <a:endParaRPr lang="es-AR" dirty="0"/>
          </a:p>
        </p:txBody>
      </p:sp>
      <p:sp>
        <p:nvSpPr>
          <p:cNvPr id="3" name="2 Subtítulo"/>
          <p:cNvSpPr>
            <a:spLocks noGrp="1"/>
          </p:cNvSpPr>
          <p:nvPr>
            <p:ph type="subTitle" idx="1"/>
          </p:nvPr>
        </p:nvSpPr>
        <p:spPr/>
        <p:txBody>
          <a:bodyPr>
            <a:normAutofit fontScale="70000" lnSpcReduction="20000"/>
          </a:bodyPr>
          <a:lstStyle/>
          <a:p>
            <a:pPr algn="ctr"/>
            <a:endParaRPr lang="es-AR" dirty="0" smtClean="0"/>
          </a:p>
          <a:p>
            <a:pPr algn="ctr"/>
            <a:r>
              <a:rPr lang="es-AR" dirty="0" smtClean="0"/>
              <a:t>Ing. Leonel E. Hochman			Abril de 2024</a:t>
            </a:r>
          </a:p>
        </p:txBody>
      </p:sp>
      <p:pic>
        <p:nvPicPr>
          <p:cNvPr id="1026" name="Picture 2" descr="Inicio"/>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372200" y="417513"/>
            <a:ext cx="2381250" cy="7905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o Universidad de Buenos Aires"/>
          <p:cNvPicPr>
            <a:picLocks noChangeAspect="1" noChangeArrowheads="1"/>
          </p:cNvPicPr>
          <p:nvPr/>
        </p:nvPicPr>
        <p:blipFill>
          <a:blip r:embed="rId3">
            <a:clrChange>
              <a:clrFrom>
                <a:srgbClr val="FBFBFB"/>
              </a:clrFrom>
              <a:clrTo>
                <a:srgbClr val="FBFBFB">
                  <a:alpha val="0"/>
                </a:srgbClr>
              </a:clrTo>
            </a:clrChange>
            <a:extLst>
              <a:ext uri="{28A0092B-C50C-407E-A947-70E740481C1C}">
                <a14:useLocalDpi xmlns:a14="http://schemas.microsoft.com/office/drawing/2010/main" val="0"/>
              </a:ext>
            </a:extLst>
          </a:blip>
          <a:srcRect/>
          <a:stretch>
            <a:fillRect/>
          </a:stretch>
        </p:blipFill>
        <p:spPr bwMode="auto">
          <a:xfrm>
            <a:off x="251520" y="288926"/>
            <a:ext cx="3038475" cy="104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8936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Introducción a las modulaciones digitales</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a:t>
            </a:fld>
            <a:endParaRPr lang="es-ES"/>
          </a:p>
        </p:txBody>
      </p:sp>
      <p:sp>
        <p:nvSpPr>
          <p:cNvPr id="9" name="8 Rectángulo"/>
          <p:cNvSpPr/>
          <p:nvPr/>
        </p:nvSpPr>
        <p:spPr>
          <a:xfrm>
            <a:off x="190770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A/D</a:t>
            </a:r>
          </a:p>
        </p:txBody>
      </p:sp>
      <p:sp>
        <p:nvSpPr>
          <p:cNvPr id="11" name="10 Rectángulo"/>
          <p:cNvSpPr/>
          <p:nvPr/>
        </p:nvSpPr>
        <p:spPr>
          <a:xfrm>
            <a:off x="622818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Modulador</a:t>
            </a:r>
          </a:p>
        </p:txBody>
      </p:sp>
      <p:sp>
        <p:nvSpPr>
          <p:cNvPr id="13" name="12 Rectángulo"/>
          <p:cNvSpPr/>
          <p:nvPr/>
        </p:nvSpPr>
        <p:spPr>
          <a:xfrm>
            <a:off x="3345983"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smtClean="0"/>
              <a:t>Codificador de fuente</a:t>
            </a:r>
            <a:endParaRPr lang="es-AR" sz="1400" dirty="0"/>
          </a:p>
        </p:txBody>
      </p:sp>
      <p:sp>
        <p:nvSpPr>
          <p:cNvPr id="14" name="13 Rectángulo"/>
          <p:cNvSpPr/>
          <p:nvPr/>
        </p:nvSpPr>
        <p:spPr>
          <a:xfrm>
            <a:off x="4781423"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smtClean="0"/>
              <a:t>Codificador de canal</a:t>
            </a:r>
            <a:endParaRPr lang="es-AR" sz="1400" dirty="0"/>
          </a:p>
        </p:txBody>
      </p:sp>
      <p:cxnSp>
        <p:nvCxnSpPr>
          <p:cNvPr id="30" name="29 Conector recto de flecha"/>
          <p:cNvCxnSpPr>
            <a:stCxn id="9" idx="3"/>
            <a:endCxn id="13" idx="1"/>
          </p:cNvCxnSpPr>
          <p:nvPr/>
        </p:nvCxnSpPr>
        <p:spPr>
          <a:xfrm>
            <a:off x="2987824" y="2084442"/>
            <a:ext cx="35815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32 Conector recto de flecha"/>
          <p:cNvCxnSpPr>
            <a:stCxn id="13" idx="3"/>
            <a:endCxn id="14" idx="1"/>
          </p:cNvCxnSpPr>
          <p:nvPr/>
        </p:nvCxnSpPr>
        <p:spPr>
          <a:xfrm>
            <a:off x="4426103" y="2084442"/>
            <a:ext cx="3553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Conector recto de flecha"/>
          <p:cNvCxnSpPr>
            <a:stCxn id="14" idx="3"/>
            <a:endCxn id="11" idx="1"/>
          </p:cNvCxnSpPr>
          <p:nvPr/>
        </p:nvCxnSpPr>
        <p:spPr>
          <a:xfrm>
            <a:off x="5861543" y="2084442"/>
            <a:ext cx="3666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37 Flecha derecha"/>
          <p:cNvSpPr/>
          <p:nvPr/>
        </p:nvSpPr>
        <p:spPr>
          <a:xfrm>
            <a:off x="7524328"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1" name="40 Flecha derecha"/>
          <p:cNvSpPr/>
          <p:nvPr/>
        </p:nvSpPr>
        <p:spPr>
          <a:xfrm>
            <a:off x="1115616"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2" name="41 CuadroTexto"/>
          <p:cNvSpPr txBox="1"/>
          <p:nvPr/>
        </p:nvSpPr>
        <p:spPr>
          <a:xfrm>
            <a:off x="35497" y="1484784"/>
            <a:ext cx="1080120" cy="1569660"/>
          </a:xfrm>
          <a:prstGeom prst="rect">
            <a:avLst/>
          </a:prstGeom>
          <a:noFill/>
        </p:spPr>
        <p:txBody>
          <a:bodyPr wrap="square" rtlCol="0">
            <a:spAutoFit/>
          </a:bodyPr>
          <a:lstStyle/>
          <a:p>
            <a:pPr algn="ctr"/>
            <a:r>
              <a:rPr lang="es-AR" sz="1600" dirty="0" smtClean="0"/>
              <a:t>FUENTE</a:t>
            </a:r>
          </a:p>
          <a:p>
            <a:pPr algn="ctr"/>
            <a:r>
              <a:rPr lang="es-AR" sz="1600" dirty="0" smtClean="0"/>
              <a:t>(Voz, texto, imagen, video, etc.)</a:t>
            </a:r>
            <a:endParaRPr lang="es-AR" sz="1600" dirty="0"/>
          </a:p>
        </p:txBody>
      </p:sp>
      <p:sp>
        <p:nvSpPr>
          <p:cNvPr id="40" name="39 Rectángulo"/>
          <p:cNvSpPr/>
          <p:nvPr/>
        </p:nvSpPr>
        <p:spPr>
          <a:xfrm>
            <a:off x="3034922" y="1340768"/>
            <a:ext cx="6647974" cy="369332"/>
          </a:xfrm>
          <a:prstGeom prst="rect">
            <a:avLst/>
          </a:prstGeom>
        </p:spPr>
        <p:txBody>
          <a:bodyPr wrap="none">
            <a:spAutoFit/>
          </a:bodyPr>
          <a:lstStyle/>
          <a:p>
            <a:r>
              <a:rPr lang="es-AR" dirty="0" smtClean="0"/>
              <a:t>1010110101110100	</a:t>
            </a:r>
            <a:r>
              <a:rPr lang="es-AR" sz="1400" dirty="0"/>
              <a:t> </a:t>
            </a:r>
            <a:r>
              <a:rPr lang="es-AR" sz="1400" dirty="0" smtClean="0"/>
              <a:t>     s</a:t>
            </a:r>
            <a:r>
              <a:rPr lang="es-AR" sz="1400" baseline="-25000" dirty="0" smtClean="0"/>
              <a:t>3</a:t>
            </a:r>
            <a:r>
              <a:rPr lang="es-AR" sz="1400" dirty="0" smtClean="0"/>
              <a:t>(t) s</a:t>
            </a:r>
            <a:r>
              <a:rPr lang="es-AR" sz="1400" baseline="-25000" dirty="0" smtClean="0"/>
              <a:t>3</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1</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0</a:t>
            </a:r>
            <a:r>
              <a:rPr lang="es-AR" sz="1400" dirty="0" smtClean="0"/>
              <a:t>(t)</a:t>
            </a:r>
            <a:r>
              <a:rPr lang="es-AR" dirty="0" smtClean="0"/>
              <a:t>	</a:t>
            </a:r>
            <a:endParaRPr lang="es-AR" dirty="0"/>
          </a:p>
        </p:txBody>
      </p:sp>
      <p:sp>
        <p:nvSpPr>
          <p:cNvPr id="56" name="AutoShape 6" descr="QPSK modulated waveform: the signal on the in-phase arm i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70" name="69 CuadroTexto"/>
          <p:cNvSpPr txBox="1"/>
          <p:nvPr/>
        </p:nvSpPr>
        <p:spPr>
          <a:xfrm>
            <a:off x="8100392" y="1715324"/>
            <a:ext cx="1080120" cy="1323439"/>
          </a:xfrm>
          <a:prstGeom prst="rect">
            <a:avLst/>
          </a:prstGeom>
          <a:noFill/>
        </p:spPr>
        <p:txBody>
          <a:bodyPr wrap="square" rtlCol="0">
            <a:spAutoFit/>
          </a:bodyPr>
          <a:lstStyle/>
          <a:p>
            <a:pPr algn="ctr"/>
            <a:r>
              <a:rPr lang="es-AR" sz="1600" dirty="0" smtClean="0"/>
              <a:t>CANAL</a:t>
            </a:r>
          </a:p>
          <a:p>
            <a:pPr algn="ctr"/>
            <a:r>
              <a:rPr lang="es-AR" sz="1600" dirty="0" smtClean="0"/>
              <a:t>(Espacio libre, cable, FO, etc.)</a:t>
            </a:r>
            <a:endParaRPr lang="es-AR" sz="1600" dirty="0"/>
          </a:p>
        </p:txBody>
      </p:sp>
    </p:spTree>
    <p:extLst>
      <p:ext uri="{BB962C8B-B14F-4D97-AF65-F5344CB8AC3E}">
        <p14:creationId xmlns:p14="http://schemas.microsoft.com/office/powerpoint/2010/main" val="39930999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smtClean="0"/>
              <a:t>Elementos de Teoría de la Información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a:t>
            </a:fld>
            <a:endParaRPr lang="es-ES"/>
          </a:p>
        </p:txBody>
      </p:sp>
      <p:sp>
        <p:nvSpPr>
          <p:cNvPr id="9" name="8 Rectángulo"/>
          <p:cNvSpPr/>
          <p:nvPr/>
        </p:nvSpPr>
        <p:spPr>
          <a:xfrm>
            <a:off x="190770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A/D</a:t>
            </a:r>
          </a:p>
        </p:txBody>
      </p:sp>
      <p:sp>
        <p:nvSpPr>
          <p:cNvPr id="11" name="10 Rectángulo"/>
          <p:cNvSpPr/>
          <p:nvPr/>
        </p:nvSpPr>
        <p:spPr>
          <a:xfrm>
            <a:off x="622818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Modulador</a:t>
            </a:r>
          </a:p>
        </p:txBody>
      </p:sp>
      <p:sp>
        <p:nvSpPr>
          <p:cNvPr id="13" name="12 Rectángulo"/>
          <p:cNvSpPr/>
          <p:nvPr/>
        </p:nvSpPr>
        <p:spPr>
          <a:xfrm>
            <a:off x="3345983" y="1760406"/>
            <a:ext cx="1080120" cy="648072"/>
          </a:xfrm>
          <a:prstGeom prst="rect">
            <a:avLst/>
          </a:prstGeom>
          <a:ln w="34925" cmpd="dbl">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200" b="1" dirty="0" smtClean="0">
                <a:solidFill>
                  <a:srgbClr val="00B050"/>
                </a:solidFill>
              </a:rPr>
              <a:t>Codificador de fuente</a:t>
            </a:r>
            <a:endParaRPr lang="es-AR" sz="1200" b="1" dirty="0">
              <a:solidFill>
                <a:srgbClr val="00B050"/>
              </a:solidFill>
            </a:endParaRPr>
          </a:p>
        </p:txBody>
      </p:sp>
      <p:sp>
        <p:nvSpPr>
          <p:cNvPr id="14" name="13 Rectángulo"/>
          <p:cNvSpPr/>
          <p:nvPr/>
        </p:nvSpPr>
        <p:spPr>
          <a:xfrm>
            <a:off x="4781423" y="1760406"/>
            <a:ext cx="1080120" cy="648072"/>
          </a:xfrm>
          <a:prstGeom prst="rect">
            <a:avLst/>
          </a:prstGeom>
          <a:ln w="34925" cmpd="dbl">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200" b="1" dirty="0">
                <a:solidFill>
                  <a:srgbClr val="00B050"/>
                </a:solidFill>
              </a:rPr>
              <a:t>Codificador de canal</a:t>
            </a:r>
          </a:p>
        </p:txBody>
      </p:sp>
      <p:cxnSp>
        <p:nvCxnSpPr>
          <p:cNvPr id="30" name="29 Conector recto de flecha"/>
          <p:cNvCxnSpPr>
            <a:stCxn id="9" idx="3"/>
            <a:endCxn id="13" idx="1"/>
          </p:cNvCxnSpPr>
          <p:nvPr/>
        </p:nvCxnSpPr>
        <p:spPr>
          <a:xfrm>
            <a:off x="2987824" y="2084442"/>
            <a:ext cx="35815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32 Conector recto de flecha"/>
          <p:cNvCxnSpPr>
            <a:stCxn id="13" idx="3"/>
            <a:endCxn id="14" idx="1"/>
          </p:cNvCxnSpPr>
          <p:nvPr/>
        </p:nvCxnSpPr>
        <p:spPr>
          <a:xfrm>
            <a:off x="4426103" y="2084442"/>
            <a:ext cx="3553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Conector recto de flecha"/>
          <p:cNvCxnSpPr>
            <a:stCxn id="14" idx="3"/>
            <a:endCxn id="11" idx="1"/>
          </p:cNvCxnSpPr>
          <p:nvPr/>
        </p:nvCxnSpPr>
        <p:spPr>
          <a:xfrm>
            <a:off x="5861543" y="2084442"/>
            <a:ext cx="3666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37 Flecha derecha"/>
          <p:cNvSpPr/>
          <p:nvPr/>
        </p:nvSpPr>
        <p:spPr>
          <a:xfrm>
            <a:off x="7524328"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1" name="40 Flecha derecha"/>
          <p:cNvSpPr/>
          <p:nvPr/>
        </p:nvSpPr>
        <p:spPr>
          <a:xfrm>
            <a:off x="1115616"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2" name="41 CuadroTexto"/>
          <p:cNvSpPr txBox="1"/>
          <p:nvPr/>
        </p:nvSpPr>
        <p:spPr>
          <a:xfrm>
            <a:off x="35497" y="1484784"/>
            <a:ext cx="1080120" cy="1323439"/>
          </a:xfrm>
          <a:prstGeom prst="rect">
            <a:avLst/>
          </a:prstGeom>
          <a:noFill/>
        </p:spPr>
        <p:txBody>
          <a:bodyPr wrap="square" rtlCol="0">
            <a:spAutoFit/>
          </a:bodyPr>
          <a:lstStyle/>
          <a:p>
            <a:pPr algn="ctr"/>
            <a:r>
              <a:rPr lang="es-AR" sz="1600" b="1" dirty="0" smtClean="0">
                <a:solidFill>
                  <a:srgbClr val="00B050"/>
                </a:solidFill>
              </a:rPr>
              <a:t>FUENTE</a:t>
            </a:r>
          </a:p>
          <a:p>
            <a:pPr algn="ctr"/>
            <a:r>
              <a:rPr lang="es-AR" sz="1600" dirty="0" smtClean="0"/>
              <a:t>(Voz, texto, imagen, video, etc.)</a:t>
            </a:r>
            <a:endParaRPr lang="es-AR" sz="1600" dirty="0"/>
          </a:p>
        </p:txBody>
      </p:sp>
      <p:sp>
        <p:nvSpPr>
          <p:cNvPr id="40" name="39 Rectángulo"/>
          <p:cNvSpPr/>
          <p:nvPr/>
        </p:nvSpPr>
        <p:spPr>
          <a:xfrm>
            <a:off x="3034922" y="1340768"/>
            <a:ext cx="6647974" cy="369332"/>
          </a:xfrm>
          <a:prstGeom prst="rect">
            <a:avLst/>
          </a:prstGeom>
        </p:spPr>
        <p:txBody>
          <a:bodyPr wrap="none">
            <a:spAutoFit/>
          </a:bodyPr>
          <a:lstStyle/>
          <a:p>
            <a:r>
              <a:rPr lang="es-AR" dirty="0" smtClean="0"/>
              <a:t>1010110101110100	</a:t>
            </a:r>
            <a:r>
              <a:rPr lang="es-AR" sz="1400" dirty="0"/>
              <a:t> </a:t>
            </a:r>
            <a:r>
              <a:rPr lang="es-AR" sz="1400" dirty="0" smtClean="0"/>
              <a:t>     s</a:t>
            </a:r>
            <a:r>
              <a:rPr lang="es-AR" sz="1400" baseline="-25000" dirty="0" smtClean="0"/>
              <a:t>3</a:t>
            </a:r>
            <a:r>
              <a:rPr lang="es-AR" sz="1400" dirty="0" smtClean="0"/>
              <a:t>(t) s</a:t>
            </a:r>
            <a:r>
              <a:rPr lang="es-AR" sz="1400" baseline="-25000" dirty="0" smtClean="0"/>
              <a:t>3</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1</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0</a:t>
            </a:r>
            <a:r>
              <a:rPr lang="es-AR" sz="1400" dirty="0" smtClean="0"/>
              <a:t>(t)</a:t>
            </a:r>
            <a:r>
              <a:rPr lang="es-AR" dirty="0" smtClean="0"/>
              <a:t>	</a:t>
            </a:r>
            <a:endParaRPr lang="es-AR" dirty="0"/>
          </a:p>
        </p:txBody>
      </p:sp>
      <p:sp>
        <p:nvSpPr>
          <p:cNvPr id="56" name="AutoShape 6" descr="QPSK modulated waveform: the signal on the in-phase arm i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70" name="69 CuadroTexto"/>
          <p:cNvSpPr txBox="1"/>
          <p:nvPr/>
        </p:nvSpPr>
        <p:spPr>
          <a:xfrm>
            <a:off x="8100392" y="1715324"/>
            <a:ext cx="1080120" cy="1323439"/>
          </a:xfrm>
          <a:prstGeom prst="rect">
            <a:avLst/>
          </a:prstGeom>
          <a:noFill/>
        </p:spPr>
        <p:txBody>
          <a:bodyPr wrap="square" rtlCol="0">
            <a:spAutoFit/>
          </a:bodyPr>
          <a:lstStyle/>
          <a:p>
            <a:pPr algn="ctr"/>
            <a:r>
              <a:rPr lang="es-AR" sz="1600" dirty="0" smtClean="0"/>
              <a:t>CANAL</a:t>
            </a:r>
          </a:p>
          <a:p>
            <a:pPr algn="ctr"/>
            <a:r>
              <a:rPr lang="es-AR" sz="1600" dirty="0" smtClean="0"/>
              <a:t>(Espacio libre, cable, FO, etc.)</a:t>
            </a:r>
            <a:endParaRPr lang="es-AR" sz="1600" dirty="0"/>
          </a:p>
        </p:txBody>
      </p:sp>
      <p:sp>
        <p:nvSpPr>
          <p:cNvPr id="19" name="52 CuadroTexto"/>
          <p:cNvSpPr txBox="1"/>
          <p:nvPr/>
        </p:nvSpPr>
        <p:spPr>
          <a:xfrm>
            <a:off x="107504" y="3131676"/>
            <a:ext cx="6840760" cy="369332"/>
          </a:xfrm>
          <a:prstGeom prst="rect">
            <a:avLst/>
          </a:prstGeom>
          <a:noFill/>
        </p:spPr>
        <p:txBody>
          <a:bodyPr wrap="square" rtlCol="0">
            <a:spAutoFit/>
          </a:bodyPr>
          <a:lstStyle/>
          <a:p>
            <a:r>
              <a:rPr lang="es-AR" u="sng" dirty="0" smtClean="0"/>
              <a:t>Caracterización de una fuente discreta de información sin memoria</a:t>
            </a:r>
            <a:endParaRPr lang="es-AR" u="sng" dirty="0"/>
          </a:p>
        </p:txBody>
      </p:sp>
      <mc:AlternateContent xmlns:mc="http://schemas.openxmlformats.org/markup-compatibility/2006" xmlns:a14="http://schemas.microsoft.com/office/drawing/2010/main">
        <mc:Choice Requires="a14">
          <p:sp>
            <p:nvSpPr>
              <p:cNvPr id="21" name="62 CuadroTexto"/>
              <p:cNvSpPr txBox="1"/>
              <p:nvPr/>
            </p:nvSpPr>
            <p:spPr>
              <a:xfrm>
                <a:off x="323528" y="3789040"/>
                <a:ext cx="8280920" cy="2084032"/>
              </a:xfrm>
              <a:prstGeom prst="rect">
                <a:avLst/>
              </a:prstGeom>
              <a:noFill/>
            </p:spPr>
            <p:txBody>
              <a:bodyPr wrap="square" rtlCol="0">
                <a:spAutoFit/>
              </a:bodyPr>
              <a:lstStyle/>
              <a:p>
                <a:pPr algn="just"/>
                <a:r>
                  <a:rPr lang="es-AR" dirty="0" smtClean="0"/>
                  <a:t>Modelizamos a la fuente, </a:t>
                </a:r>
                <a:r>
                  <a:rPr lang="es-AR" b="1" dirty="0" smtClean="0"/>
                  <a:t>S</a:t>
                </a:r>
                <a:r>
                  <a:rPr lang="es-AR" dirty="0" smtClean="0"/>
                  <a:t>, como una variable aleatoria discreta que puede tomar K valores o eventos.</a:t>
                </a:r>
              </a:p>
              <a:p>
                <a:pPr algn="just"/>
                <a:endParaRPr lang="es-AR" dirty="0"/>
              </a:p>
              <a:p>
                <a:pPr algn="just"/>
                <a:r>
                  <a:rPr lang="es-AR" dirty="0" smtClean="0"/>
                  <a:t>Definimos el alfabeto como el conjunto de símbolos que codifican los diferentes elementos de información:</a:t>
                </a:r>
              </a:p>
              <a:p>
                <a:pPr algn="just"/>
                <a:endParaRPr lang="es-AR" dirty="0"/>
              </a:p>
              <a:p>
                <a:pPr algn="just"/>
                <a:r>
                  <a:rPr lang="es-AR" dirty="0" smtClean="0"/>
                  <a:t>S = { s</a:t>
                </a:r>
                <a:r>
                  <a:rPr lang="es-AR" baseline="-25000" dirty="0" smtClean="0"/>
                  <a:t>0</a:t>
                </a:r>
                <a:r>
                  <a:rPr lang="es-AR" dirty="0" smtClean="0"/>
                  <a:t>, s</a:t>
                </a:r>
                <a:r>
                  <a:rPr lang="es-AR" baseline="-25000" dirty="0" smtClean="0"/>
                  <a:t>1</a:t>
                </a:r>
                <a:r>
                  <a:rPr lang="es-AR" dirty="0" smtClean="0"/>
                  <a:t>, s</a:t>
                </a:r>
                <a:r>
                  <a:rPr lang="es-AR" baseline="-25000" dirty="0" smtClean="0"/>
                  <a:t>2</a:t>
                </a:r>
                <a:r>
                  <a:rPr lang="es-AR" dirty="0" smtClean="0"/>
                  <a:t>, …. , s</a:t>
                </a:r>
                <a:r>
                  <a:rPr lang="es-AR" baseline="-25000" dirty="0" smtClean="0"/>
                  <a:t>K-1</a:t>
                </a:r>
                <a:r>
                  <a:rPr lang="es-AR" dirty="0" smtClean="0"/>
                  <a:t>}	p(s = s</a:t>
                </a:r>
                <a:r>
                  <a:rPr lang="es-AR" baseline="-25000" dirty="0" smtClean="0"/>
                  <a:t>i</a:t>
                </a:r>
                <a:r>
                  <a:rPr lang="es-AR" dirty="0" smtClean="0"/>
                  <a:t>) = p</a:t>
                </a:r>
                <a:r>
                  <a:rPr lang="es-AR" baseline="-25000" dirty="0" smtClean="0"/>
                  <a:t>i</a:t>
                </a:r>
                <a:r>
                  <a:rPr lang="es-AR" dirty="0" smtClean="0"/>
                  <a:t>	i = 0... K-1	</a:t>
                </a:r>
                <a14:m>
                  <m:oMath xmlns:m="http://schemas.openxmlformats.org/officeDocument/2006/math">
                    <m:nary>
                      <m:naryPr>
                        <m:chr m:val="∑"/>
                        <m:ctrlPr>
                          <a:rPr lang="es-AR" i="1" smtClean="0">
                            <a:latin typeface="Cambria Math" panose="02040503050406030204" pitchFamily="18" charset="0"/>
                          </a:rPr>
                        </m:ctrlPr>
                      </m:naryPr>
                      <m:sub>
                        <m:r>
                          <m:rPr>
                            <m:brk m:alnAt="23"/>
                          </m:rPr>
                          <a:rPr lang="es-AR" b="0" i="1" smtClean="0">
                            <a:latin typeface="Cambria Math" panose="02040503050406030204" pitchFamily="18" charset="0"/>
                          </a:rPr>
                          <m:t>𝑖</m:t>
                        </m:r>
                        <m:r>
                          <a:rPr lang="es-AR" b="0" i="1" smtClean="0">
                            <a:latin typeface="Cambria Math" panose="02040503050406030204" pitchFamily="18" charset="0"/>
                          </a:rPr>
                          <m:t>=1</m:t>
                        </m:r>
                      </m:sub>
                      <m:sup>
                        <m:r>
                          <a:rPr lang="es-AR" b="0" i="1" smtClean="0">
                            <a:latin typeface="Cambria Math" panose="02040503050406030204" pitchFamily="18" charset="0"/>
                          </a:rPr>
                          <m:t>𝐾</m:t>
                        </m:r>
                      </m:sup>
                      <m:e>
                        <m:sSub>
                          <m:sSubPr>
                            <m:ctrlPr>
                              <a:rPr lang="es-AR"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𝑖</m:t>
                            </m:r>
                          </m:sub>
                        </m:sSub>
                        <m:r>
                          <a:rPr lang="es-AR" b="0" i="1" smtClean="0">
                            <a:latin typeface="Cambria Math" panose="02040503050406030204" pitchFamily="18" charset="0"/>
                          </a:rPr>
                          <m:t>=1</m:t>
                        </m:r>
                      </m:e>
                    </m:nary>
                  </m:oMath>
                </a14:m>
                <a:endParaRPr lang="es-AR" dirty="0"/>
              </a:p>
            </p:txBody>
          </p:sp>
        </mc:Choice>
        <mc:Fallback xmlns="">
          <p:sp>
            <p:nvSpPr>
              <p:cNvPr id="21" name="62 CuadroTexto"/>
              <p:cNvSpPr txBox="1">
                <a:spLocks noRot="1" noChangeAspect="1" noMove="1" noResize="1" noEditPoints="1" noAdjustHandles="1" noChangeArrowheads="1" noChangeShapeType="1" noTextEdit="1"/>
              </p:cNvSpPr>
              <p:nvPr/>
            </p:nvSpPr>
            <p:spPr>
              <a:xfrm>
                <a:off x="323528" y="3789040"/>
                <a:ext cx="8280920" cy="2084032"/>
              </a:xfrm>
              <a:prstGeom prst="rect">
                <a:avLst/>
              </a:prstGeom>
              <a:blipFill>
                <a:blip r:embed="rId2"/>
                <a:stretch>
                  <a:fillRect l="-589" t="-1760" r="-663" b="-30792"/>
                </a:stretch>
              </a:blipFill>
            </p:spPr>
            <p:txBody>
              <a:bodyPr/>
              <a:lstStyle/>
              <a:p>
                <a:r>
                  <a:rPr lang="en-US">
                    <a:noFill/>
                  </a:rPr>
                  <a:t> </a:t>
                </a:r>
              </a:p>
            </p:txBody>
          </p:sp>
        </mc:Fallback>
      </mc:AlternateContent>
    </p:spTree>
    <p:extLst>
      <p:ext uri="{BB962C8B-B14F-4D97-AF65-F5344CB8AC3E}">
        <p14:creationId xmlns:p14="http://schemas.microsoft.com/office/powerpoint/2010/main" val="41579987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a:t>Elementos de Teoría de la Información</a:t>
            </a:r>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4</a:t>
            </a:fld>
            <a:endParaRPr lang="es-ES"/>
          </a:p>
        </p:txBody>
      </p:sp>
      <p:sp>
        <p:nvSpPr>
          <p:cNvPr id="56" name="AutoShape 6" descr="QPSK modulated waveform: the signal on the in-phase arm i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19" name="52 CuadroTexto"/>
          <p:cNvSpPr txBox="1"/>
          <p:nvPr/>
        </p:nvSpPr>
        <p:spPr>
          <a:xfrm>
            <a:off x="107504" y="3131676"/>
            <a:ext cx="6840760" cy="369332"/>
          </a:xfrm>
          <a:prstGeom prst="rect">
            <a:avLst/>
          </a:prstGeom>
          <a:noFill/>
        </p:spPr>
        <p:txBody>
          <a:bodyPr wrap="square" rtlCol="0">
            <a:spAutoFit/>
          </a:bodyPr>
          <a:lstStyle/>
          <a:p>
            <a:r>
              <a:rPr lang="es-AR" u="sng" dirty="0" smtClean="0"/>
              <a:t>Caracterización de una fuente discreta de información sin memoria</a:t>
            </a:r>
            <a:endParaRPr lang="es-AR" u="sng" dirty="0"/>
          </a:p>
        </p:txBody>
      </p:sp>
      <mc:AlternateContent xmlns:mc="http://schemas.openxmlformats.org/markup-compatibility/2006" xmlns:a14="http://schemas.microsoft.com/office/drawing/2010/main">
        <mc:Choice Requires="a14">
          <p:sp>
            <p:nvSpPr>
              <p:cNvPr id="21" name="62 CuadroTexto"/>
              <p:cNvSpPr txBox="1"/>
              <p:nvPr/>
            </p:nvSpPr>
            <p:spPr>
              <a:xfrm>
                <a:off x="323528" y="3789040"/>
                <a:ext cx="8280920" cy="1644233"/>
              </a:xfrm>
              <a:prstGeom prst="rect">
                <a:avLst/>
              </a:prstGeom>
              <a:noFill/>
            </p:spPr>
            <p:txBody>
              <a:bodyPr wrap="square" rtlCol="0">
                <a:spAutoFit/>
              </a:bodyPr>
              <a:lstStyle/>
              <a:p>
                <a:pPr algn="just"/>
                <a:r>
                  <a:rPr lang="es-AR" b="1" dirty="0" smtClean="0"/>
                  <a:t>Cantidad de información </a:t>
                </a:r>
                <a:r>
                  <a:rPr lang="es-AR" dirty="0" smtClean="0"/>
                  <a:t>asociada al evento s = s</a:t>
                </a:r>
                <a:r>
                  <a:rPr lang="es-AR" baseline="-25000" dirty="0" smtClean="0"/>
                  <a:t>i</a:t>
                </a:r>
                <a:r>
                  <a:rPr lang="es-AR" dirty="0" smtClean="0"/>
                  <a:t>:	</a:t>
                </a:r>
                <a14:m>
                  <m:oMath xmlns:m="http://schemas.openxmlformats.org/officeDocument/2006/math">
                    <m:r>
                      <a:rPr lang="es-AR" b="0" i="1" smtClean="0">
                        <a:latin typeface="Cambria Math" panose="02040503050406030204" pitchFamily="18" charset="0"/>
                      </a:rPr>
                      <m:t>𝐼</m:t>
                    </m:r>
                    <m:d>
                      <m:dPr>
                        <m:ctrlPr>
                          <a:rPr lang="es-AR" b="0" i="1" smtClean="0">
                            <a:latin typeface="Cambria Math" panose="02040503050406030204" pitchFamily="18" charset="0"/>
                          </a:rPr>
                        </m:ctrlPr>
                      </m:dPr>
                      <m:e>
                        <m:sSub>
                          <m:sSubPr>
                            <m:ctrlPr>
                              <a:rPr lang="es-AR" b="0" i="1" smtClean="0">
                                <a:latin typeface="Cambria Math" panose="02040503050406030204" pitchFamily="18" charset="0"/>
                              </a:rPr>
                            </m:ctrlPr>
                          </m:sSubPr>
                          <m:e>
                            <m:r>
                              <a:rPr lang="es-AR" b="0" i="1" smtClean="0">
                                <a:latin typeface="Cambria Math" panose="02040503050406030204" pitchFamily="18" charset="0"/>
                              </a:rPr>
                              <m:t>𝑠</m:t>
                            </m:r>
                          </m:e>
                          <m:sub>
                            <m:r>
                              <a:rPr lang="es-AR" b="0" i="1" smtClean="0">
                                <a:latin typeface="Cambria Math" panose="02040503050406030204" pitchFamily="18" charset="0"/>
                              </a:rPr>
                              <m:t>𝑖</m:t>
                            </m:r>
                          </m:sub>
                        </m:sSub>
                      </m:e>
                    </m:d>
                    <m:r>
                      <a:rPr lang="es-AR" b="0" i="1" smtClean="0">
                        <a:latin typeface="Cambria Math" panose="02040503050406030204" pitchFamily="18" charset="0"/>
                      </a:rPr>
                      <m:t>=</m:t>
                    </m:r>
                    <m:r>
                      <a:rPr lang="es-AR" b="0" i="1" smtClean="0">
                        <a:latin typeface="Cambria Math" panose="02040503050406030204" pitchFamily="18" charset="0"/>
                      </a:rPr>
                      <m:t>𝑙𝑜𝑔</m:t>
                    </m:r>
                    <m:d>
                      <m:dPr>
                        <m:ctrlPr>
                          <a:rPr lang="es-AR" b="0" i="1" smtClean="0">
                            <a:latin typeface="Cambria Math" panose="02040503050406030204" pitchFamily="18" charset="0"/>
                          </a:rPr>
                        </m:ctrlPr>
                      </m:dPr>
                      <m:e>
                        <m:f>
                          <m:fPr>
                            <m:ctrlPr>
                              <a:rPr lang="es-AR" b="0" i="1" smtClean="0">
                                <a:latin typeface="Cambria Math" panose="02040503050406030204" pitchFamily="18" charset="0"/>
                              </a:rPr>
                            </m:ctrlPr>
                          </m:fPr>
                          <m:num>
                            <m:r>
                              <a:rPr lang="es-AR" b="0" i="1" smtClean="0">
                                <a:latin typeface="Cambria Math" panose="02040503050406030204" pitchFamily="18" charset="0"/>
                              </a:rPr>
                              <m:t>1</m:t>
                            </m:r>
                          </m:num>
                          <m:den>
                            <m:sSub>
                              <m:sSubPr>
                                <m:ctrlPr>
                                  <a:rPr lang="es-AR" b="0"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𝑖</m:t>
                                </m:r>
                              </m:sub>
                            </m:sSub>
                          </m:den>
                        </m:f>
                      </m:e>
                    </m:d>
                  </m:oMath>
                </a14:m>
                <a:endParaRPr lang="es-AR" dirty="0" smtClean="0"/>
              </a:p>
              <a:p>
                <a:pPr algn="just"/>
                <a:endParaRPr lang="es-AR" dirty="0"/>
              </a:p>
              <a:p>
                <a:pPr algn="just"/>
                <a:r>
                  <a:rPr lang="es-AR" dirty="0" smtClean="0"/>
                  <a:t>La unidad de I depende de la base del logaritmo: </a:t>
                </a:r>
              </a:p>
              <a:p>
                <a:pPr algn="just"/>
                <a:endParaRPr lang="es-AR" dirty="0"/>
              </a:p>
              <a:p>
                <a:pPr algn="just"/>
                <a:r>
                  <a:rPr lang="es-AR" dirty="0" smtClean="0"/>
                  <a:t>2: bit	e: </a:t>
                </a:r>
                <a:r>
                  <a:rPr lang="es-AR" dirty="0" err="1" smtClean="0"/>
                  <a:t>nat</a:t>
                </a:r>
                <a:r>
                  <a:rPr lang="es-AR" dirty="0" smtClean="0"/>
                  <a:t>	10: </a:t>
                </a:r>
                <a:r>
                  <a:rPr lang="es-AR" dirty="0" err="1" smtClean="0"/>
                  <a:t>hartley</a:t>
                </a:r>
                <a:endParaRPr lang="es-AR" dirty="0"/>
              </a:p>
            </p:txBody>
          </p:sp>
        </mc:Choice>
        <mc:Fallback xmlns="">
          <p:sp>
            <p:nvSpPr>
              <p:cNvPr id="21" name="62 CuadroTexto"/>
              <p:cNvSpPr txBox="1">
                <a:spLocks noRot="1" noChangeAspect="1" noMove="1" noResize="1" noEditPoints="1" noAdjustHandles="1" noChangeArrowheads="1" noChangeShapeType="1" noTextEdit="1"/>
              </p:cNvSpPr>
              <p:nvPr/>
            </p:nvSpPr>
            <p:spPr>
              <a:xfrm>
                <a:off x="323528" y="3789040"/>
                <a:ext cx="8280920" cy="1644233"/>
              </a:xfrm>
              <a:prstGeom prst="rect">
                <a:avLst/>
              </a:prstGeom>
              <a:blipFill>
                <a:blip r:embed="rId2"/>
                <a:stretch>
                  <a:fillRect l="-589" b="-5204"/>
                </a:stretch>
              </a:blipFill>
            </p:spPr>
            <p:txBody>
              <a:bodyPr/>
              <a:lstStyle/>
              <a:p>
                <a:r>
                  <a:rPr lang="en-US">
                    <a:noFill/>
                  </a:rPr>
                  <a:t> </a:t>
                </a:r>
              </a:p>
            </p:txBody>
          </p:sp>
        </mc:Fallback>
      </mc:AlternateContent>
      <p:sp>
        <p:nvSpPr>
          <p:cNvPr id="22" name="8 Rectángulo"/>
          <p:cNvSpPr/>
          <p:nvPr/>
        </p:nvSpPr>
        <p:spPr>
          <a:xfrm>
            <a:off x="190770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A/D</a:t>
            </a:r>
          </a:p>
        </p:txBody>
      </p:sp>
      <p:sp>
        <p:nvSpPr>
          <p:cNvPr id="23" name="10 Rectángulo"/>
          <p:cNvSpPr/>
          <p:nvPr/>
        </p:nvSpPr>
        <p:spPr>
          <a:xfrm>
            <a:off x="622818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Modulador</a:t>
            </a:r>
          </a:p>
        </p:txBody>
      </p:sp>
      <p:sp>
        <p:nvSpPr>
          <p:cNvPr id="24" name="12 Rectángulo"/>
          <p:cNvSpPr/>
          <p:nvPr/>
        </p:nvSpPr>
        <p:spPr>
          <a:xfrm>
            <a:off x="3345983" y="1760406"/>
            <a:ext cx="1080120" cy="648072"/>
          </a:xfrm>
          <a:prstGeom prst="rect">
            <a:avLst/>
          </a:prstGeom>
          <a:ln w="34925" cmpd="dbl">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200" b="1" dirty="0" smtClean="0">
                <a:solidFill>
                  <a:srgbClr val="00B050"/>
                </a:solidFill>
              </a:rPr>
              <a:t>Codificador de fuente</a:t>
            </a:r>
            <a:endParaRPr lang="es-AR" sz="1200" b="1" dirty="0">
              <a:solidFill>
                <a:srgbClr val="00B050"/>
              </a:solidFill>
            </a:endParaRPr>
          </a:p>
        </p:txBody>
      </p:sp>
      <p:sp>
        <p:nvSpPr>
          <p:cNvPr id="25" name="13 Rectángulo"/>
          <p:cNvSpPr/>
          <p:nvPr/>
        </p:nvSpPr>
        <p:spPr>
          <a:xfrm>
            <a:off x="4781423" y="1760406"/>
            <a:ext cx="1080120" cy="648072"/>
          </a:xfrm>
          <a:prstGeom prst="rect">
            <a:avLst/>
          </a:prstGeom>
          <a:ln w="34925" cmpd="dbl">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200" b="1" dirty="0">
                <a:solidFill>
                  <a:srgbClr val="00B050"/>
                </a:solidFill>
              </a:rPr>
              <a:t>Codificador de canal</a:t>
            </a:r>
          </a:p>
        </p:txBody>
      </p:sp>
      <p:cxnSp>
        <p:nvCxnSpPr>
          <p:cNvPr id="26" name="29 Conector recto de flecha"/>
          <p:cNvCxnSpPr>
            <a:stCxn id="22" idx="3"/>
            <a:endCxn id="24" idx="1"/>
          </p:cNvCxnSpPr>
          <p:nvPr/>
        </p:nvCxnSpPr>
        <p:spPr>
          <a:xfrm>
            <a:off x="2987824" y="2084442"/>
            <a:ext cx="35815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32 Conector recto de flecha"/>
          <p:cNvCxnSpPr>
            <a:stCxn id="24" idx="3"/>
            <a:endCxn id="25" idx="1"/>
          </p:cNvCxnSpPr>
          <p:nvPr/>
        </p:nvCxnSpPr>
        <p:spPr>
          <a:xfrm>
            <a:off x="4426103" y="2084442"/>
            <a:ext cx="3553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35 Conector recto de flecha"/>
          <p:cNvCxnSpPr>
            <a:stCxn id="25" idx="3"/>
            <a:endCxn id="23" idx="1"/>
          </p:cNvCxnSpPr>
          <p:nvPr/>
        </p:nvCxnSpPr>
        <p:spPr>
          <a:xfrm>
            <a:off x="5861543" y="2084442"/>
            <a:ext cx="3666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37 Flecha derecha"/>
          <p:cNvSpPr/>
          <p:nvPr/>
        </p:nvSpPr>
        <p:spPr>
          <a:xfrm>
            <a:off x="7524328"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40 Flecha derecha"/>
          <p:cNvSpPr/>
          <p:nvPr/>
        </p:nvSpPr>
        <p:spPr>
          <a:xfrm>
            <a:off x="1115616"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41 CuadroTexto"/>
          <p:cNvSpPr txBox="1"/>
          <p:nvPr/>
        </p:nvSpPr>
        <p:spPr>
          <a:xfrm>
            <a:off x="35497" y="1484784"/>
            <a:ext cx="1080120" cy="1323439"/>
          </a:xfrm>
          <a:prstGeom prst="rect">
            <a:avLst/>
          </a:prstGeom>
          <a:noFill/>
        </p:spPr>
        <p:txBody>
          <a:bodyPr wrap="square" rtlCol="0">
            <a:spAutoFit/>
          </a:bodyPr>
          <a:lstStyle/>
          <a:p>
            <a:pPr algn="ctr"/>
            <a:r>
              <a:rPr lang="es-AR" sz="1600" b="1" dirty="0" smtClean="0">
                <a:solidFill>
                  <a:srgbClr val="00B050"/>
                </a:solidFill>
              </a:rPr>
              <a:t>FUENTE</a:t>
            </a:r>
          </a:p>
          <a:p>
            <a:pPr algn="ctr"/>
            <a:r>
              <a:rPr lang="es-AR" sz="1600" dirty="0" smtClean="0"/>
              <a:t>(Voz, texto, imagen, video, etc.)</a:t>
            </a:r>
            <a:endParaRPr lang="es-AR" sz="1600" dirty="0"/>
          </a:p>
        </p:txBody>
      </p:sp>
      <p:sp>
        <p:nvSpPr>
          <p:cNvPr id="34" name="39 Rectángulo"/>
          <p:cNvSpPr/>
          <p:nvPr/>
        </p:nvSpPr>
        <p:spPr>
          <a:xfrm>
            <a:off x="3034922" y="1340768"/>
            <a:ext cx="6647974" cy="369332"/>
          </a:xfrm>
          <a:prstGeom prst="rect">
            <a:avLst/>
          </a:prstGeom>
        </p:spPr>
        <p:txBody>
          <a:bodyPr wrap="none">
            <a:spAutoFit/>
          </a:bodyPr>
          <a:lstStyle/>
          <a:p>
            <a:r>
              <a:rPr lang="es-AR" dirty="0" smtClean="0"/>
              <a:t>1010110101110100	</a:t>
            </a:r>
            <a:r>
              <a:rPr lang="es-AR" sz="1400" dirty="0"/>
              <a:t> </a:t>
            </a:r>
            <a:r>
              <a:rPr lang="es-AR" sz="1400" dirty="0" smtClean="0"/>
              <a:t>     s</a:t>
            </a:r>
            <a:r>
              <a:rPr lang="es-AR" sz="1400" baseline="-25000" dirty="0" smtClean="0"/>
              <a:t>3</a:t>
            </a:r>
            <a:r>
              <a:rPr lang="es-AR" sz="1400" dirty="0" smtClean="0"/>
              <a:t>(t) s</a:t>
            </a:r>
            <a:r>
              <a:rPr lang="es-AR" sz="1400" baseline="-25000" dirty="0" smtClean="0"/>
              <a:t>3</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1</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0</a:t>
            </a:r>
            <a:r>
              <a:rPr lang="es-AR" sz="1400" dirty="0" smtClean="0"/>
              <a:t>(t)</a:t>
            </a:r>
            <a:r>
              <a:rPr lang="es-AR" dirty="0" smtClean="0"/>
              <a:t>	</a:t>
            </a:r>
            <a:endParaRPr lang="es-AR" dirty="0"/>
          </a:p>
        </p:txBody>
      </p:sp>
      <p:sp>
        <p:nvSpPr>
          <p:cNvPr id="35" name="69 CuadroTexto"/>
          <p:cNvSpPr txBox="1"/>
          <p:nvPr/>
        </p:nvSpPr>
        <p:spPr>
          <a:xfrm>
            <a:off x="8100392" y="1715324"/>
            <a:ext cx="1080120" cy="1323439"/>
          </a:xfrm>
          <a:prstGeom prst="rect">
            <a:avLst/>
          </a:prstGeom>
          <a:noFill/>
        </p:spPr>
        <p:txBody>
          <a:bodyPr wrap="square" rtlCol="0">
            <a:spAutoFit/>
          </a:bodyPr>
          <a:lstStyle/>
          <a:p>
            <a:pPr algn="ctr"/>
            <a:r>
              <a:rPr lang="es-AR" sz="1600" dirty="0" smtClean="0"/>
              <a:t>CANAL</a:t>
            </a:r>
          </a:p>
          <a:p>
            <a:pPr algn="ctr"/>
            <a:r>
              <a:rPr lang="es-AR" sz="1600" dirty="0" smtClean="0"/>
              <a:t>(Espacio libre, cable, FO, etc.)</a:t>
            </a:r>
            <a:endParaRPr lang="es-AR" sz="1600" dirty="0"/>
          </a:p>
        </p:txBody>
      </p:sp>
    </p:spTree>
    <p:extLst>
      <p:ext uri="{BB962C8B-B14F-4D97-AF65-F5344CB8AC3E}">
        <p14:creationId xmlns:p14="http://schemas.microsoft.com/office/powerpoint/2010/main" val="23770515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a:t>Elementos de Teoría de la Información</a:t>
            </a:r>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5</a:t>
            </a:fld>
            <a:endParaRPr lang="es-ES"/>
          </a:p>
        </p:txBody>
      </p:sp>
      <p:sp>
        <p:nvSpPr>
          <p:cNvPr id="56" name="AutoShape 6" descr="QPSK modulated waveform: the signal on the in-phase arm i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19" name="52 CuadroTexto"/>
          <p:cNvSpPr txBox="1"/>
          <p:nvPr/>
        </p:nvSpPr>
        <p:spPr>
          <a:xfrm>
            <a:off x="107504" y="3131676"/>
            <a:ext cx="6840760" cy="369332"/>
          </a:xfrm>
          <a:prstGeom prst="rect">
            <a:avLst/>
          </a:prstGeom>
          <a:noFill/>
        </p:spPr>
        <p:txBody>
          <a:bodyPr wrap="square" rtlCol="0">
            <a:spAutoFit/>
          </a:bodyPr>
          <a:lstStyle/>
          <a:p>
            <a:r>
              <a:rPr lang="es-AR" u="sng" dirty="0" smtClean="0"/>
              <a:t>Caracterización de una fuente discreta de información sin memoria</a:t>
            </a:r>
            <a:endParaRPr lang="es-AR" u="sng" dirty="0"/>
          </a:p>
        </p:txBody>
      </p:sp>
      <mc:AlternateContent xmlns:mc="http://schemas.openxmlformats.org/markup-compatibility/2006" xmlns:a14="http://schemas.microsoft.com/office/drawing/2010/main">
        <mc:Choice Requires="a14">
          <p:sp>
            <p:nvSpPr>
              <p:cNvPr id="21" name="62 CuadroTexto"/>
              <p:cNvSpPr txBox="1"/>
              <p:nvPr/>
            </p:nvSpPr>
            <p:spPr>
              <a:xfrm>
                <a:off x="323528" y="3789040"/>
                <a:ext cx="8280920" cy="1425455"/>
              </a:xfrm>
              <a:prstGeom prst="rect">
                <a:avLst/>
              </a:prstGeom>
              <a:noFill/>
            </p:spPr>
            <p:txBody>
              <a:bodyPr wrap="square" rtlCol="0">
                <a:spAutoFit/>
              </a:bodyPr>
              <a:lstStyle/>
              <a:p>
                <a:pPr algn="just"/>
                <a:r>
                  <a:rPr lang="es-AR" dirty="0" smtClean="0"/>
                  <a:t>El valor medio </a:t>
                </a:r>
                <a:r>
                  <a:rPr lang="es-AR" dirty="0"/>
                  <a:t>de I(s</a:t>
                </a:r>
                <a:r>
                  <a:rPr lang="es-AR" baseline="-25000" dirty="0"/>
                  <a:t>i</a:t>
                </a:r>
                <a:r>
                  <a:rPr lang="es-AR" dirty="0" smtClean="0"/>
                  <a:t>) sobre todo el alfabeto de la fuente constituye su </a:t>
                </a:r>
                <a:r>
                  <a:rPr lang="es-AR" b="1" dirty="0" smtClean="0"/>
                  <a:t>Entropía</a:t>
                </a:r>
                <a:r>
                  <a:rPr lang="es-AR" dirty="0" smtClean="0"/>
                  <a:t>:	</a:t>
                </a:r>
              </a:p>
              <a:p>
                <a:pPr algn="just"/>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𝐻</m:t>
                      </m:r>
                      <m:d>
                        <m:dPr>
                          <m:ctrlPr>
                            <a:rPr lang="es-AR" b="0" i="1" smtClean="0">
                              <a:latin typeface="Cambria Math" panose="02040503050406030204" pitchFamily="18" charset="0"/>
                            </a:rPr>
                          </m:ctrlPr>
                        </m:dPr>
                        <m:e>
                          <m:r>
                            <a:rPr lang="es-AR" b="1" i="1" smtClean="0">
                              <a:latin typeface="Cambria Math" panose="02040503050406030204" pitchFamily="18" charset="0"/>
                            </a:rPr>
                            <m:t>𝑺</m:t>
                          </m:r>
                        </m:e>
                      </m:d>
                      <m:r>
                        <a:rPr lang="es-AR" b="0" i="1" smtClean="0">
                          <a:latin typeface="Cambria Math" panose="02040503050406030204" pitchFamily="18" charset="0"/>
                        </a:rPr>
                        <m:t>=</m:t>
                      </m:r>
                      <m:nary>
                        <m:naryPr>
                          <m:chr m:val="∑"/>
                          <m:ctrlPr>
                            <a:rPr lang="es-AR" b="0" i="1" smtClean="0">
                              <a:latin typeface="Cambria Math" panose="02040503050406030204" pitchFamily="18" charset="0"/>
                            </a:rPr>
                          </m:ctrlPr>
                        </m:naryPr>
                        <m:sub>
                          <m:r>
                            <m:rPr>
                              <m:brk m:alnAt="23"/>
                            </m:rPr>
                            <a:rPr lang="es-AR" b="0" i="1" smtClean="0">
                              <a:latin typeface="Cambria Math" panose="02040503050406030204" pitchFamily="18" charset="0"/>
                            </a:rPr>
                            <m:t>𝑖</m:t>
                          </m:r>
                          <m:r>
                            <a:rPr lang="es-AR" b="0" i="1" smtClean="0">
                              <a:latin typeface="Cambria Math" panose="02040503050406030204" pitchFamily="18" charset="0"/>
                            </a:rPr>
                            <m:t>=0</m:t>
                          </m:r>
                        </m:sub>
                        <m:sup>
                          <m:r>
                            <a:rPr lang="es-AR" b="0" i="1" smtClean="0">
                              <a:latin typeface="Cambria Math" panose="02040503050406030204" pitchFamily="18" charset="0"/>
                            </a:rPr>
                            <m:t>𝐾</m:t>
                          </m:r>
                          <m:r>
                            <a:rPr lang="es-AR" b="0" i="1" smtClean="0">
                              <a:latin typeface="Cambria Math" panose="02040503050406030204" pitchFamily="18" charset="0"/>
                            </a:rPr>
                            <m:t>−1</m:t>
                          </m:r>
                        </m:sup>
                        <m:e>
                          <m:sSub>
                            <m:sSubPr>
                              <m:ctrlPr>
                                <a:rPr lang="es-AR" b="0"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𝑖</m:t>
                              </m:r>
                            </m:sub>
                          </m:sSub>
                          <m:r>
                            <a:rPr lang="es-AR" i="1">
                              <a:latin typeface="Cambria Math" panose="02040503050406030204" pitchFamily="18" charset="0"/>
                            </a:rPr>
                            <m:t>.</m:t>
                          </m:r>
                          <m:r>
                            <a:rPr lang="es-AR" i="1">
                              <a:latin typeface="Cambria Math" panose="02040503050406030204" pitchFamily="18" charset="0"/>
                            </a:rPr>
                            <m:t>𝑙𝑜𝑔</m:t>
                          </m:r>
                          <m:d>
                            <m:dPr>
                              <m:ctrlPr>
                                <a:rPr lang="es-AR" i="1">
                                  <a:latin typeface="Cambria Math" panose="02040503050406030204" pitchFamily="18" charset="0"/>
                                </a:rPr>
                              </m:ctrlPr>
                            </m:dPr>
                            <m:e>
                              <m:f>
                                <m:fPr>
                                  <m:ctrlPr>
                                    <a:rPr lang="es-AR" i="1">
                                      <a:latin typeface="Cambria Math" panose="02040503050406030204" pitchFamily="18" charset="0"/>
                                    </a:rPr>
                                  </m:ctrlPr>
                                </m:fPr>
                                <m:num>
                                  <m:r>
                                    <a:rPr lang="es-AR" i="1">
                                      <a:latin typeface="Cambria Math" panose="02040503050406030204" pitchFamily="18" charset="0"/>
                                    </a:rPr>
                                    <m:t>1</m:t>
                                  </m:r>
                                </m:num>
                                <m:den>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𝑖</m:t>
                                      </m:r>
                                    </m:sub>
                                  </m:sSub>
                                </m:den>
                              </m:f>
                            </m:e>
                          </m:d>
                        </m:e>
                      </m:nary>
                    </m:oMath>
                  </m:oMathPara>
                </a14:m>
                <a:endParaRPr lang="es-AR" dirty="0" smtClean="0"/>
              </a:p>
            </p:txBody>
          </p:sp>
        </mc:Choice>
        <mc:Fallback xmlns="">
          <p:sp>
            <p:nvSpPr>
              <p:cNvPr id="21" name="62 CuadroTexto"/>
              <p:cNvSpPr txBox="1">
                <a:spLocks noRot="1" noChangeAspect="1" noMove="1" noResize="1" noEditPoints="1" noAdjustHandles="1" noChangeArrowheads="1" noChangeShapeType="1" noTextEdit="1"/>
              </p:cNvSpPr>
              <p:nvPr/>
            </p:nvSpPr>
            <p:spPr>
              <a:xfrm>
                <a:off x="323528" y="3789040"/>
                <a:ext cx="8280920" cy="1425455"/>
              </a:xfrm>
              <a:prstGeom prst="rect">
                <a:avLst/>
              </a:prstGeom>
              <a:blipFill>
                <a:blip r:embed="rId2"/>
                <a:stretch>
                  <a:fillRect l="-589" t="-2575" r="-663"/>
                </a:stretch>
              </a:blipFill>
            </p:spPr>
            <p:txBody>
              <a:bodyPr/>
              <a:lstStyle/>
              <a:p>
                <a:r>
                  <a:rPr lang="en-US">
                    <a:noFill/>
                  </a:rPr>
                  <a:t> </a:t>
                </a:r>
              </a:p>
            </p:txBody>
          </p:sp>
        </mc:Fallback>
      </mc:AlternateContent>
      <p:sp>
        <p:nvSpPr>
          <p:cNvPr id="22" name="8 Rectángulo"/>
          <p:cNvSpPr/>
          <p:nvPr/>
        </p:nvSpPr>
        <p:spPr>
          <a:xfrm>
            <a:off x="190770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A/D</a:t>
            </a:r>
          </a:p>
        </p:txBody>
      </p:sp>
      <p:sp>
        <p:nvSpPr>
          <p:cNvPr id="23" name="10 Rectángulo"/>
          <p:cNvSpPr/>
          <p:nvPr/>
        </p:nvSpPr>
        <p:spPr>
          <a:xfrm>
            <a:off x="6228184" y="1760406"/>
            <a:ext cx="1080120"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AR" sz="1400" dirty="0">
                <a:solidFill>
                  <a:schemeClr val="dk1"/>
                </a:solidFill>
              </a:rPr>
              <a:t>Modulador</a:t>
            </a:r>
          </a:p>
        </p:txBody>
      </p:sp>
      <p:sp>
        <p:nvSpPr>
          <p:cNvPr id="24" name="12 Rectángulo"/>
          <p:cNvSpPr/>
          <p:nvPr/>
        </p:nvSpPr>
        <p:spPr>
          <a:xfrm>
            <a:off x="3345983" y="1760406"/>
            <a:ext cx="1080120" cy="648072"/>
          </a:xfrm>
          <a:prstGeom prst="rect">
            <a:avLst/>
          </a:prstGeom>
          <a:ln w="34925" cmpd="dbl">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200" b="1" dirty="0" smtClean="0">
                <a:solidFill>
                  <a:srgbClr val="00B050"/>
                </a:solidFill>
              </a:rPr>
              <a:t>Codificador de fuente</a:t>
            </a:r>
            <a:endParaRPr lang="es-AR" sz="1200" b="1" dirty="0">
              <a:solidFill>
                <a:srgbClr val="00B050"/>
              </a:solidFill>
            </a:endParaRPr>
          </a:p>
        </p:txBody>
      </p:sp>
      <p:sp>
        <p:nvSpPr>
          <p:cNvPr id="25" name="13 Rectángulo"/>
          <p:cNvSpPr/>
          <p:nvPr/>
        </p:nvSpPr>
        <p:spPr>
          <a:xfrm>
            <a:off x="4781423" y="1760406"/>
            <a:ext cx="1080120" cy="648072"/>
          </a:xfrm>
          <a:prstGeom prst="rect">
            <a:avLst/>
          </a:prstGeom>
          <a:ln w="34925" cmpd="dbl">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200" b="1" dirty="0">
                <a:solidFill>
                  <a:srgbClr val="00B050"/>
                </a:solidFill>
              </a:rPr>
              <a:t>Codificador de canal</a:t>
            </a:r>
          </a:p>
        </p:txBody>
      </p:sp>
      <p:cxnSp>
        <p:nvCxnSpPr>
          <p:cNvPr id="26" name="29 Conector recto de flecha"/>
          <p:cNvCxnSpPr>
            <a:stCxn id="22" idx="3"/>
            <a:endCxn id="24" idx="1"/>
          </p:cNvCxnSpPr>
          <p:nvPr/>
        </p:nvCxnSpPr>
        <p:spPr>
          <a:xfrm>
            <a:off x="2987824" y="2084442"/>
            <a:ext cx="35815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32 Conector recto de flecha"/>
          <p:cNvCxnSpPr>
            <a:stCxn id="24" idx="3"/>
            <a:endCxn id="25" idx="1"/>
          </p:cNvCxnSpPr>
          <p:nvPr/>
        </p:nvCxnSpPr>
        <p:spPr>
          <a:xfrm>
            <a:off x="4426103" y="2084442"/>
            <a:ext cx="3553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35 Conector recto de flecha"/>
          <p:cNvCxnSpPr>
            <a:stCxn id="25" idx="3"/>
            <a:endCxn id="23" idx="1"/>
          </p:cNvCxnSpPr>
          <p:nvPr/>
        </p:nvCxnSpPr>
        <p:spPr>
          <a:xfrm>
            <a:off x="5861543" y="2084442"/>
            <a:ext cx="3666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37 Flecha derecha"/>
          <p:cNvSpPr/>
          <p:nvPr/>
        </p:nvSpPr>
        <p:spPr>
          <a:xfrm>
            <a:off x="7524328"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40 Flecha derecha"/>
          <p:cNvSpPr/>
          <p:nvPr/>
        </p:nvSpPr>
        <p:spPr>
          <a:xfrm>
            <a:off x="1115616" y="1916832"/>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41 CuadroTexto"/>
          <p:cNvSpPr txBox="1"/>
          <p:nvPr/>
        </p:nvSpPr>
        <p:spPr>
          <a:xfrm>
            <a:off x="35497" y="1484784"/>
            <a:ext cx="1080120" cy="1323439"/>
          </a:xfrm>
          <a:prstGeom prst="rect">
            <a:avLst/>
          </a:prstGeom>
          <a:noFill/>
        </p:spPr>
        <p:txBody>
          <a:bodyPr wrap="square" rtlCol="0">
            <a:spAutoFit/>
          </a:bodyPr>
          <a:lstStyle/>
          <a:p>
            <a:pPr algn="ctr"/>
            <a:r>
              <a:rPr lang="es-AR" sz="1600" b="1" dirty="0" smtClean="0">
                <a:solidFill>
                  <a:srgbClr val="00B050"/>
                </a:solidFill>
              </a:rPr>
              <a:t>FUENTE</a:t>
            </a:r>
          </a:p>
          <a:p>
            <a:pPr algn="ctr"/>
            <a:r>
              <a:rPr lang="es-AR" sz="1600" dirty="0" smtClean="0"/>
              <a:t>(Voz, texto, imagen, video, etc.)</a:t>
            </a:r>
            <a:endParaRPr lang="es-AR" sz="1600" dirty="0"/>
          </a:p>
        </p:txBody>
      </p:sp>
      <p:sp>
        <p:nvSpPr>
          <p:cNvPr id="34" name="39 Rectángulo"/>
          <p:cNvSpPr/>
          <p:nvPr/>
        </p:nvSpPr>
        <p:spPr>
          <a:xfrm>
            <a:off x="3034922" y="1340768"/>
            <a:ext cx="6647974" cy="369332"/>
          </a:xfrm>
          <a:prstGeom prst="rect">
            <a:avLst/>
          </a:prstGeom>
        </p:spPr>
        <p:txBody>
          <a:bodyPr wrap="none">
            <a:spAutoFit/>
          </a:bodyPr>
          <a:lstStyle/>
          <a:p>
            <a:r>
              <a:rPr lang="es-AR" dirty="0" smtClean="0"/>
              <a:t>1010110101110100	</a:t>
            </a:r>
            <a:r>
              <a:rPr lang="es-AR" sz="1400" dirty="0"/>
              <a:t> </a:t>
            </a:r>
            <a:r>
              <a:rPr lang="es-AR" sz="1400" dirty="0" smtClean="0"/>
              <a:t>     s</a:t>
            </a:r>
            <a:r>
              <a:rPr lang="es-AR" sz="1400" baseline="-25000" dirty="0" smtClean="0"/>
              <a:t>3</a:t>
            </a:r>
            <a:r>
              <a:rPr lang="es-AR" sz="1400" dirty="0" smtClean="0"/>
              <a:t>(t) s</a:t>
            </a:r>
            <a:r>
              <a:rPr lang="es-AR" sz="1400" baseline="-25000" dirty="0" smtClean="0"/>
              <a:t>3</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1</a:t>
            </a:r>
            <a:r>
              <a:rPr lang="es-AR" sz="1400" dirty="0" smtClean="0"/>
              <a:t>(t) s</a:t>
            </a:r>
            <a:r>
              <a:rPr lang="es-AR" sz="1400" baseline="-25000" dirty="0" smtClean="0"/>
              <a:t>2</a:t>
            </a:r>
            <a:r>
              <a:rPr lang="es-AR" sz="1400" dirty="0" smtClean="0"/>
              <a:t>(t) s</a:t>
            </a:r>
            <a:r>
              <a:rPr lang="es-AR" sz="1400" baseline="-25000" dirty="0" smtClean="0"/>
              <a:t>1</a:t>
            </a:r>
            <a:r>
              <a:rPr lang="es-AR" sz="1400" dirty="0" smtClean="0"/>
              <a:t>(t) s</a:t>
            </a:r>
            <a:r>
              <a:rPr lang="es-AR" sz="1400" baseline="-25000" dirty="0" smtClean="0"/>
              <a:t>0</a:t>
            </a:r>
            <a:r>
              <a:rPr lang="es-AR" sz="1400" dirty="0" smtClean="0"/>
              <a:t>(t)</a:t>
            </a:r>
            <a:r>
              <a:rPr lang="es-AR" dirty="0" smtClean="0"/>
              <a:t>	</a:t>
            </a:r>
            <a:endParaRPr lang="es-AR" dirty="0"/>
          </a:p>
        </p:txBody>
      </p:sp>
      <p:sp>
        <p:nvSpPr>
          <p:cNvPr id="35" name="69 CuadroTexto"/>
          <p:cNvSpPr txBox="1"/>
          <p:nvPr/>
        </p:nvSpPr>
        <p:spPr>
          <a:xfrm>
            <a:off x="8100392" y="1715324"/>
            <a:ext cx="1080120" cy="1323439"/>
          </a:xfrm>
          <a:prstGeom prst="rect">
            <a:avLst/>
          </a:prstGeom>
          <a:noFill/>
        </p:spPr>
        <p:txBody>
          <a:bodyPr wrap="square" rtlCol="0">
            <a:spAutoFit/>
          </a:bodyPr>
          <a:lstStyle/>
          <a:p>
            <a:pPr algn="ctr"/>
            <a:r>
              <a:rPr lang="es-AR" sz="1600" dirty="0" smtClean="0"/>
              <a:t>CANAL</a:t>
            </a:r>
          </a:p>
          <a:p>
            <a:pPr algn="ctr"/>
            <a:r>
              <a:rPr lang="es-AR" sz="1600" dirty="0" smtClean="0"/>
              <a:t>(Espacio libre, cable, FO, etc.)</a:t>
            </a:r>
            <a:endParaRPr lang="es-AR" sz="1600" dirty="0"/>
          </a:p>
        </p:txBody>
      </p:sp>
    </p:spTree>
    <p:extLst>
      <p:ext uri="{BB962C8B-B14F-4D97-AF65-F5344CB8AC3E}">
        <p14:creationId xmlns:p14="http://schemas.microsoft.com/office/powerpoint/2010/main" val="604946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smtClean="0"/>
              <a:t>Ejercicio 1 – Cantidad de información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6</a:t>
            </a:fld>
            <a:endParaRPr lang="es-ES"/>
          </a:p>
        </p:txBody>
      </p:sp>
      <mc:AlternateContent xmlns:mc="http://schemas.openxmlformats.org/markup-compatibility/2006" xmlns:a14="http://schemas.microsoft.com/office/drawing/2010/main">
        <mc:Choice Requires="a14">
          <p:sp>
            <p:nvSpPr>
              <p:cNvPr id="8" name="2 Marcador de contenido"/>
              <p:cNvSpPr>
                <a:spLocks noGrp="1"/>
              </p:cNvSpPr>
              <p:nvPr>
                <p:ph sz="quarter" idx="1"/>
              </p:nvPr>
            </p:nvSpPr>
            <p:spPr/>
            <p:txBody>
              <a:bodyPr>
                <a:normAutofit/>
              </a:bodyPr>
              <a:lstStyle/>
              <a:p>
                <a:pPr marL="342900" indent="-342900" algn="just">
                  <a:buFont typeface="+mj-lt"/>
                  <a:buAutoNum type="arabicParenR"/>
                </a:pPr>
                <a:r>
                  <a:rPr lang="es-AR" sz="1800" dirty="0" smtClean="0"/>
                  <a:t>Identificamos los posibles eventos, sus símbolos y probabilidades asociadas al resultado de arrojar un dado (la fuente de información):</a:t>
                </a:r>
              </a:p>
              <a:p>
                <a:pPr marL="0" indent="0" algn="ctr">
                  <a:buNone/>
                </a:pPr>
                <a:endParaRPr lang="es-AR" sz="1800" dirty="0" smtClean="0"/>
              </a:p>
              <a:p>
                <a:pPr marL="0" indent="0" algn="ctr">
                  <a:buNone/>
                </a:pPr>
                <a:r>
                  <a:rPr lang="es-AR" sz="1800" dirty="0" smtClean="0"/>
                  <a:t>S = { “1”, “2”, “3”, “4”, “5”, “6”}</a:t>
                </a:r>
              </a:p>
              <a:p>
                <a:pPr marL="0" indent="0" algn="ctr">
                  <a:buNone/>
                </a:pPr>
                <a:r>
                  <a:rPr lang="es-AR" sz="1800" dirty="0" smtClean="0"/>
                  <a:t>P(s</a:t>
                </a:r>
                <a:r>
                  <a:rPr lang="es-AR" sz="1800" baseline="-25000" dirty="0" smtClean="0"/>
                  <a:t>i</a:t>
                </a:r>
                <a:r>
                  <a:rPr lang="es-AR" sz="1800" dirty="0" smtClean="0"/>
                  <a:t>) = 1/6	para todo i = 1,…, 6</a:t>
                </a:r>
                <a:endParaRPr lang="es-AR" sz="1800" dirty="0"/>
              </a:p>
              <a:p>
                <a:pPr marL="0" indent="0" algn="ctr">
                  <a:buNone/>
                </a:pPr>
                <a:endParaRPr lang="es-AR" sz="1800" dirty="0" smtClean="0"/>
              </a:p>
              <a:p>
                <a:pPr marL="0" indent="0" algn="just">
                  <a:buNone/>
                </a:pPr>
                <a:r>
                  <a:rPr lang="es-AR" sz="1800" dirty="0" smtClean="0"/>
                  <a:t>Luego podemos calcular la cantidad de información de cada símbolo:</a:t>
                </a:r>
              </a:p>
              <a:p>
                <a:pPr marL="0" indent="0" algn="just">
                  <a:buNone/>
                </a:pPr>
                <a:endParaRPr lang="es-AR" sz="1800" dirty="0"/>
              </a:p>
              <a:p>
                <a:pPr marL="0" indent="0" algn="ctr">
                  <a:buNone/>
                </a:pPr>
                <a:r>
                  <a:rPr lang="es-AR" sz="1800" dirty="0" smtClean="0"/>
                  <a:t>I(s</a:t>
                </a:r>
                <a:r>
                  <a:rPr lang="es-AR" sz="1800" baseline="-25000" dirty="0"/>
                  <a:t>1</a:t>
                </a:r>
                <a:r>
                  <a:rPr lang="es-AR" sz="1800" dirty="0" smtClean="0"/>
                  <a:t>) </a:t>
                </a:r>
                <a:r>
                  <a:rPr lang="es-AR" sz="1800" dirty="0"/>
                  <a:t>= </a:t>
                </a:r>
                <a:r>
                  <a:rPr lang="es-AR" sz="1800" dirty="0" smtClean="0"/>
                  <a:t>I(s</a:t>
                </a:r>
                <a:r>
                  <a:rPr lang="es-AR" sz="1800" baseline="-25000" dirty="0" smtClean="0"/>
                  <a:t>2</a:t>
                </a:r>
                <a:r>
                  <a:rPr lang="es-AR" sz="1800" dirty="0" smtClean="0"/>
                  <a:t>) = … = I(s</a:t>
                </a:r>
                <a:r>
                  <a:rPr lang="es-AR" sz="1800" baseline="-25000" dirty="0" smtClean="0"/>
                  <a:t>6</a:t>
                </a:r>
                <a:r>
                  <a:rPr lang="es-AR" sz="1800" dirty="0" smtClean="0"/>
                  <a:t>) = log</a:t>
                </a:r>
                <a:r>
                  <a:rPr lang="es-AR" sz="1800" baseline="-25000" dirty="0" smtClean="0"/>
                  <a:t>2</a:t>
                </a:r>
                <a:r>
                  <a:rPr lang="es-AR" sz="1800" dirty="0" smtClean="0"/>
                  <a:t>(6) = 2,58 bits</a:t>
                </a:r>
              </a:p>
              <a:p>
                <a:pPr marL="0" indent="0" algn="just">
                  <a:buNone/>
                </a:pPr>
                <a:endParaRPr lang="es-AR" sz="1800" dirty="0"/>
              </a:p>
              <a:p>
                <a:pPr marL="0" indent="0" algn="just">
                  <a:buNone/>
                </a:pPr>
                <a:r>
                  <a:rPr lang="es-AR" sz="1800" dirty="0" smtClean="0"/>
                  <a:t>Y la entropía de la fuente:</a:t>
                </a:r>
              </a:p>
              <a:p>
                <a:pPr marL="0" indent="0" algn="just">
                  <a:buNone/>
                </a:pPr>
                <a:endParaRPr lang="es-AR" sz="1800" dirty="0"/>
              </a:p>
              <a:p>
                <a:pPr marL="0" indent="0" algn="just">
                  <a:buNone/>
                </a:pPr>
                <a14:m>
                  <m:oMathPara xmlns:m="http://schemas.openxmlformats.org/officeDocument/2006/math">
                    <m:oMathParaPr>
                      <m:jc m:val="centerGroup"/>
                    </m:oMathParaPr>
                    <m:oMath xmlns:m="http://schemas.openxmlformats.org/officeDocument/2006/math">
                      <m:r>
                        <a:rPr lang="es-AR" sz="1800" i="1">
                          <a:latin typeface="Cambria Math" panose="02040503050406030204" pitchFamily="18" charset="0"/>
                        </a:rPr>
                        <m:t>𝐻</m:t>
                      </m:r>
                      <m:d>
                        <m:dPr>
                          <m:ctrlPr>
                            <a:rPr lang="es-AR" sz="1800" i="1">
                              <a:latin typeface="Cambria Math" panose="02040503050406030204" pitchFamily="18" charset="0"/>
                            </a:rPr>
                          </m:ctrlPr>
                        </m:dPr>
                        <m:e>
                          <m:r>
                            <a:rPr lang="es-AR" sz="1800" b="1" i="1">
                              <a:latin typeface="Cambria Math" panose="02040503050406030204" pitchFamily="18" charset="0"/>
                            </a:rPr>
                            <m:t>𝑺</m:t>
                          </m:r>
                        </m:e>
                      </m:d>
                      <m:r>
                        <a:rPr lang="es-AR" sz="1800" i="1">
                          <a:latin typeface="Cambria Math" panose="02040503050406030204" pitchFamily="18" charset="0"/>
                        </a:rPr>
                        <m:t>=</m:t>
                      </m:r>
                      <m:nary>
                        <m:naryPr>
                          <m:chr m:val="∑"/>
                          <m:ctrlPr>
                            <a:rPr lang="es-AR" sz="1800" i="1">
                              <a:latin typeface="Cambria Math" panose="02040503050406030204" pitchFamily="18" charset="0"/>
                            </a:rPr>
                          </m:ctrlPr>
                        </m:naryPr>
                        <m:sub>
                          <m:r>
                            <m:rPr>
                              <m:brk m:alnAt="23"/>
                            </m:rPr>
                            <a:rPr lang="es-AR" sz="1800" i="1">
                              <a:latin typeface="Cambria Math" panose="02040503050406030204" pitchFamily="18" charset="0"/>
                            </a:rPr>
                            <m:t>𝑖</m:t>
                          </m:r>
                          <m:r>
                            <a:rPr lang="es-AR" sz="1800" i="1">
                              <a:latin typeface="Cambria Math" panose="02040503050406030204" pitchFamily="18" charset="0"/>
                            </a:rPr>
                            <m:t>=0</m:t>
                          </m:r>
                        </m:sub>
                        <m:sup>
                          <m:r>
                            <a:rPr lang="es-AR" sz="1800" i="1">
                              <a:latin typeface="Cambria Math" panose="02040503050406030204" pitchFamily="18" charset="0"/>
                            </a:rPr>
                            <m:t>𝐾</m:t>
                          </m:r>
                          <m:r>
                            <a:rPr lang="es-AR" sz="1800" b="0" i="1" smtClean="0">
                              <a:latin typeface="Cambria Math" panose="02040503050406030204" pitchFamily="18" charset="0"/>
                            </a:rPr>
                            <m:t>−1</m:t>
                          </m:r>
                        </m:sup>
                        <m:e>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r>
                            <a:rPr lang="es-AR" sz="1800" i="1">
                              <a:latin typeface="Cambria Math" panose="02040503050406030204" pitchFamily="18" charset="0"/>
                            </a:rPr>
                            <m:t>.</m:t>
                          </m:r>
                          <m:r>
                            <a:rPr lang="es-AR" sz="1800" i="1">
                              <a:latin typeface="Cambria Math" panose="02040503050406030204" pitchFamily="18" charset="0"/>
                            </a:rPr>
                            <m:t>𝑙𝑜𝑔</m:t>
                          </m:r>
                          <m:d>
                            <m:dPr>
                              <m:ctrlPr>
                                <a:rPr lang="es-AR" sz="1800" i="1">
                                  <a:latin typeface="Cambria Math" panose="02040503050406030204" pitchFamily="18" charset="0"/>
                                </a:rPr>
                              </m:ctrlPr>
                            </m:dPr>
                            <m:e>
                              <m:f>
                                <m:fPr>
                                  <m:ctrlPr>
                                    <a:rPr lang="es-AR" sz="1800" i="1">
                                      <a:latin typeface="Cambria Math" panose="02040503050406030204" pitchFamily="18" charset="0"/>
                                    </a:rPr>
                                  </m:ctrlPr>
                                </m:fPr>
                                <m:num>
                                  <m:r>
                                    <a:rPr lang="es-AR" sz="1800" i="1">
                                      <a:latin typeface="Cambria Math" panose="02040503050406030204" pitchFamily="18" charset="0"/>
                                    </a:rPr>
                                    <m:t>1</m:t>
                                  </m:r>
                                </m:num>
                                <m:den>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den>
                              </m:f>
                            </m:e>
                          </m:d>
                        </m:e>
                      </m:nary>
                      <m:r>
                        <a:rPr lang="es-AR" sz="1800" b="0" i="1" smtClean="0">
                          <a:latin typeface="Cambria Math" panose="02040503050406030204" pitchFamily="18" charset="0"/>
                        </a:rPr>
                        <m:t>=2,58 </m:t>
                      </m:r>
                      <m:r>
                        <a:rPr lang="es-AR" sz="1800" b="0" i="1" smtClean="0">
                          <a:latin typeface="Cambria Math" panose="02040503050406030204" pitchFamily="18" charset="0"/>
                        </a:rPr>
                        <m:t>𝑏𝑖𝑡𝑠</m:t>
                      </m:r>
                    </m:oMath>
                  </m:oMathPara>
                </a14:m>
                <a:endParaRPr lang="es-AR" sz="1800" dirty="0" smtClean="0"/>
              </a:p>
            </p:txBody>
          </p:sp>
        </mc:Choice>
        <mc:Fallback xmlns="">
          <p:sp>
            <p:nvSpPr>
              <p:cNvPr id="8" name="2 Marcador de contenido"/>
              <p:cNvSpPr>
                <a:spLocks noGrp="1" noRot="1" noChangeAspect="1" noMove="1" noResize="1" noEditPoints="1" noAdjustHandles="1" noChangeArrowheads="1" noChangeShapeType="1" noTextEdit="1"/>
              </p:cNvSpPr>
              <p:nvPr>
                <p:ph sz="quarter" idx="1"/>
              </p:nvPr>
            </p:nvSpPr>
            <p:spPr>
              <a:blipFill>
                <a:blip r:embed="rId2"/>
                <a:stretch>
                  <a:fillRect l="-593" t="-494" r="-593"/>
                </a:stretch>
              </a:blipFill>
            </p:spPr>
            <p:txBody>
              <a:bodyPr/>
              <a:lstStyle/>
              <a:p>
                <a:r>
                  <a:rPr lang="en-US">
                    <a:noFill/>
                  </a:rPr>
                  <a:t> </a:t>
                </a:r>
              </a:p>
            </p:txBody>
          </p:sp>
        </mc:Fallback>
      </mc:AlternateContent>
    </p:spTree>
    <p:extLst>
      <p:ext uri="{BB962C8B-B14F-4D97-AF65-F5344CB8AC3E}">
        <p14:creationId xmlns:p14="http://schemas.microsoft.com/office/powerpoint/2010/main" val="5317198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smtClean="0"/>
              <a:t>Ejercicio 1 – Cantidad de información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7</a:t>
            </a:fld>
            <a:endParaRPr lang="es-ES"/>
          </a:p>
        </p:txBody>
      </p:sp>
      <mc:AlternateContent xmlns:mc="http://schemas.openxmlformats.org/markup-compatibility/2006" xmlns:a14="http://schemas.microsoft.com/office/drawing/2010/main">
        <mc:Choice Requires="a14">
          <p:sp>
            <p:nvSpPr>
              <p:cNvPr id="8" name="2 Marcador de contenido"/>
              <p:cNvSpPr>
                <a:spLocks noGrp="1"/>
              </p:cNvSpPr>
              <p:nvPr>
                <p:ph sz="quarter" idx="1"/>
              </p:nvPr>
            </p:nvSpPr>
            <p:spPr/>
            <p:txBody>
              <a:bodyPr>
                <a:normAutofit/>
              </a:bodyPr>
              <a:lstStyle/>
              <a:p>
                <a:pPr marL="342900" indent="-342900" algn="just">
                  <a:buFont typeface="+mj-lt"/>
                  <a:buAutoNum type="arabicParenR" startAt="2"/>
                </a:pPr>
                <a:r>
                  <a:rPr lang="es-AR" sz="1800" dirty="0" smtClean="0"/>
                  <a:t>Los dos dígitos correspondientes a la hora pueden tomar 24 valores posibles; los dos dígitos correspondientes a los minutos pueden tomar 60 valores posibles. Tenemos entonces una fuente de información discreta de 24 x 60 = 1440 símbolos, observados al azar. Cada símbolo posee una probabilidad de ocurrencia de 1/1440.</a:t>
                </a:r>
              </a:p>
              <a:p>
                <a:pPr marL="0" indent="0" algn="ctr">
                  <a:buNone/>
                </a:pPr>
                <a:endParaRPr lang="es-AR" sz="1800" dirty="0" smtClean="0"/>
              </a:p>
              <a:p>
                <a:pPr marL="0" indent="0" algn="just">
                  <a:buNone/>
                </a:pPr>
                <a:r>
                  <a:rPr lang="es-AR" sz="1800" dirty="0" smtClean="0"/>
                  <a:t>Luego podemos calcular la cantidad de información de cada lectura y la entropía de la fuente:</a:t>
                </a:r>
              </a:p>
              <a:p>
                <a:pPr marL="0" indent="0" algn="just">
                  <a:buNone/>
                </a:pPr>
                <a:endParaRPr lang="es-AR" sz="1800" dirty="0"/>
              </a:p>
              <a:p>
                <a:pPr marL="0" indent="0" algn="ctr">
                  <a:buNone/>
                </a:pPr>
                <a:r>
                  <a:rPr lang="es-AR" sz="1800" dirty="0" smtClean="0"/>
                  <a:t>I(s</a:t>
                </a:r>
                <a:r>
                  <a:rPr lang="es-AR" sz="1800" baseline="-25000" dirty="0" smtClean="0"/>
                  <a:t>i</a:t>
                </a:r>
                <a:r>
                  <a:rPr lang="es-AR" sz="1800" dirty="0" smtClean="0"/>
                  <a:t>) = log</a:t>
                </a:r>
                <a:r>
                  <a:rPr lang="es-AR" sz="1800" baseline="-25000" dirty="0" smtClean="0"/>
                  <a:t>2</a:t>
                </a:r>
                <a:r>
                  <a:rPr lang="es-AR" sz="1800" dirty="0" smtClean="0"/>
                  <a:t>(1440) = 10,49 bits	para todo i</a:t>
                </a:r>
              </a:p>
              <a:p>
                <a:pPr marL="0" indent="0" algn="just">
                  <a:buNone/>
                </a:pPr>
                <a:endParaRPr lang="es-AR" sz="1800" dirty="0" smtClean="0"/>
              </a:p>
              <a:p>
                <a:pPr marL="0" indent="0" algn="just">
                  <a:buNone/>
                </a:pPr>
                <a14:m>
                  <m:oMathPara xmlns:m="http://schemas.openxmlformats.org/officeDocument/2006/math">
                    <m:oMathParaPr>
                      <m:jc m:val="centerGroup"/>
                    </m:oMathParaPr>
                    <m:oMath xmlns:m="http://schemas.openxmlformats.org/officeDocument/2006/math">
                      <m:r>
                        <a:rPr lang="es-AR" sz="1800" i="1">
                          <a:latin typeface="Cambria Math" panose="02040503050406030204" pitchFamily="18" charset="0"/>
                        </a:rPr>
                        <m:t>𝐻</m:t>
                      </m:r>
                      <m:d>
                        <m:dPr>
                          <m:ctrlPr>
                            <a:rPr lang="es-AR" sz="1800" i="1">
                              <a:latin typeface="Cambria Math" panose="02040503050406030204" pitchFamily="18" charset="0"/>
                            </a:rPr>
                          </m:ctrlPr>
                        </m:dPr>
                        <m:e>
                          <m:r>
                            <a:rPr lang="es-AR" sz="1800" b="1" i="1">
                              <a:latin typeface="Cambria Math" panose="02040503050406030204" pitchFamily="18" charset="0"/>
                            </a:rPr>
                            <m:t>𝑺</m:t>
                          </m:r>
                        </m:e>
                      </m:d>
                      <m:r>
                        <a:rPr lang="es-AR" sz="1800" i="1">
                          <a:latin typeface="Cambria Math" panose="02040503050406030204" pitchFamily="18" charset="0"/>
                        </a:rPr>
                        <m:t>=</m:t>
                      </m:r>
                      <m:nary>
                        <m:naryPr>
                          <m:chr m:val="∑"/>
                          <m:ctrlPr>
                            <a:rPr lang="es-AR" sz="1800" i="1">
                              <a:latin typeface="Cambria Math" panose="02040503050406030204" pitchFamily="18" charset="0"/>
                            </a:rPr>
                          </m:ctrlPr>
                        </m:naryPr>
                        <m:sub>
                          <m:r>
                            <m:rPr>
                              <m:brk m:alnAt="23"/>
                            </m:rPr>
                            <a:rPr lang="es-AR" sz="1800" i="1">
                              <a:latin typeface="Cambria Math" panose="02040503050406030204" pitchFamily="18" charset="0"/>
                            </a:rPr>
                            <m:t>𝑖</m:t>
                          </m:r>
                          <m:r>
                            <a:rPr lang="es-AR" sz="1800" i="1">
                              <a:latin typeface="Cambria Math" panose="02040503050406030204" pitchFamily="18" charset="0"/>
                            </a:rPr>
                            <m:t>=0</m:t>
                          </m:r>
                        </m:sub>
                        <m:sup>
                          <m:r>
                            <a:rPr lang="es-AR" sz="1800" i="1">
                              <a:latin typeface="Cambria Math" panose="02040503050406030204" pitchFamily="18" charset="0"/>
                            </a:rPr>
                            <m:t>𝐾</m:t>
                          </m:r>
                          <m:r>
                            <a:rPr lang="es-AR" sz="1800" b="0" i="1" smtClean="0">
                              <a:latin typeface="Cambria Math" panose="02040503050406030204" pitchFamily="18" charset="0"/>
                            </a:rPr>
                            <m:t>−1</m:t>
                          </m:r>
                        </m:sup>
                        <m:e>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r>
                            <a:rPr lang="es-AR" sz="1800" i="1">
                              <a:latin typeface="Cambria Math" panose="02040503050406030204" pitchFamily="18" charset="0"/>
                            </a:rPr>
                            <m:t>.</m:t>
                          </m:r>
                          <m:r>
                            <a:rPr lang="es-AR" sz="1800" i="1">
                              <a:latin typeface="Cambria Math" panose="02040503050406030204" pitchFamily="18" charset="0"/>
                            </a:rPr>
                            <m:t>𝑙𝑜𝑔</m:t>
                          </m:r>
                          <m:d>
                            <m:dPr>
                              <m:ctrlPr>
                                <a:rPr lang="es-AR" sz="1800" i="1">
                                  <a:latin typeface="Cambria Math" panose="02040503050406030204" pitchFamily="18" charset="0"/>
                                </a:rPr>
                              </m:ctrlPr>
                            </m:dPr>
                            <m:e>
                              <m:f>
                                <m:fPr>
                                  <m:ctrlPr>
                                    <a:rPr lang="es-AR" sz="1800" i="1">
                                      <a:latin typeface="Cambria Math" panose="02040503050406030204" pitchFamily="18" charset="0"/>
                                    </a:rPr>
                                  </m:ctrlPr>
                                </m:fPr>
                                <m:num>
                                  <m:r>
                                    <a:rPr lang="es-AR" sz="1800" i="1">
                                      <a:latin typeface="Cambria Math" panose="02040503050406030204" pitchFamily="18" charset="0"/>
                                    </a:rPr>
                                    <m:t>1</m:t>
                                  </m:r>
                                </m:num>
                                <m:den>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den>
                              </m:f>
                            </m:e>
                          </m:d>
                        </m:e>
                      </m:nary>
                      <m:r>
                        <a:rPr lang="es-AR" sz="1800" i="1">
                          <a:latin typeface="Cambria Math" panose="02040503050406030204" pitchFamily="18" charset="0"/>
                        </a:rPr>
                        <m:t>=</m:t>
                      </m:r>
                      <m:r>
                        <a:rPr lang="es-AR" sz="1800" b="0" i="1" smtClean="0">
                          <a:latin typeface="Cambria Math" panose="02040503050406030204" pitchFamily="18" charset="0"/>
                        </a:rPr>
                        <m:t>2,49 </m:t>
                      </m:r>
                      <m:r>
                        <a:rPr lang="es-AR" sz="1800" b="0" i="1" smtClean="0">
                          <a:latin typeface="Cambria Math" panose="02040503050406030204" pitchFamily="18" charset="0"/>
                        </a:rPr>
                        <m:t>𝑏𝑖𝑡𝑠</m:t>
                      </m:r>
                    </m:oMath>
                  </m:oMathPara>
                </a14:m>
                <a:endParaRPr lang="es-AR" sz="1800" dirty="0"/>
              </a:p>
            </p:txBody>
          </p:sp>
        </mc:Choice>
        <mc:Fallback xmlns="">
          <p:sp>
            <p:nvSpPr>
              <p:cNvPr id="8" name="2 Marcador de contenido"/>
              <p:cNvSpPr>
                <a:spLocks noGrp="1" noRot="1" noChangeAspect="1" noMove="1" noResize="1" noEditPoints="1" noAdjustHandles="1" noChangeArrowheads="1" noChangeShapeType="1" noTextEdit="1"/>
              </p:cNvSpPr>
              <p:nvPr>
                <p:ph sz="quarter" idx="1"/>
              </p:nvPr>
            </p:nvSpPr>
            <p:spPr>
              <a:blipFill>
                <a:blip r:embed="rId2"/>
                <a:stretch>
                  <a:fillRect l="-593" t="-494" r="-593"/>
                </a:stretch>
              </a:blipFill>
            </p:spPr>
            <p:txBody>
              <a:bodyPr/>
              <a:lstStyle/>
              <a:p>
                <a:r>
                  <a:rPr lang="en-US">
                    <a:noFill/>
                  </a:rPr>
                  <a:t> </a:t>
                </a:r>
              </a:p>
            </p:txBody>
          </p:sp>
        </mc:Fallback>
      </mc:AlternateContent>
      <p:sp>
        <p:nvSpPr>
          <p:cNvPr id="7" name="14 CuadroTexto"/>
          <p:cNvSpPr txBox="1"/>
          <p:nvPr/>
        </p:nvSpPr>
        <p:spPr>
          <a:xfrm>
            <a:off x="481192" y="5867980"/>
            <a:ext cx="8158277"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dirty="0" smtClean="0"/>
              <a:t>Hasta aquí, los símbolos de cada fuente han sido </a:t>
            </a:r>
            <a:r>
              <a:rPr lang="es-AR" dirty="0" err="1" smtClean="0"/>
              <a:t>equiprobables</a:t>
            </a:r>
            <a:r>
              <a:rPr lang="es-AR" dirty="0" smtClean="0"/>
              <a:t>…</a:t>
            </a:r>
            <a:endParaRPr lang="es-AR" baseline="30000" dirty="0" smtClean="0"/>
          </a:p>
        </p:txBody>
      </p:sp>
    </p:spTree>
    <p:extLst>
      <p:ext uri="{BB962C8B-B14F-4D97-AF65-F5344CB8AC3E}">
        <p14:creationId xmlns:p14="http://schemas.microsoft.com/office/powerpoint/2010/main" val="19599990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smtClean="0"/>
              <a:t>Ejercicio 1 – Cantidad de información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8</a:t>
            </a:fld>
            <a:endParaRPr lang="es-ES"/>
          </a:p>
        </p:txBody>
      </p:sp>
      <mc:AlternateContent xmlns:mc="http://schemas.openxmlformats.org/markup-compatibility/2006" xmlns:a14="http://schemas.microsoft.com/office/drawing/2010/main">
        <mc:Choice Requires="a14">
          <p:sp>
            <p:nvSpPr>
              <p:cNvPr id="8" name="2 Marcador de contenido"/>
              <p:cNvSpPr>
                <a:spLocks noGrp="1"/>
              </p:cNvSpPr>
              <p:nvPr>
                <p:ph sz="quarter" idx="1"/>
              </p:nvPr>
            </p:nvSpPr>
            <p:spPr/>
            <p:txBody>
              <a:bodyPr>
                <a:normAutofit/>
              </a:bodyPr>
              <a:lstStyle/>
              <a:p>
                <a:pPr marL="342900" indent="-342900" algn="just">
                  <a:buFont typeface="+mj-lt"/>
                  <a:buAutoNum type="arabicParenR" startAt="3"/>
                </a:pPr>
                <a:r>
                  <a:rPr lang="es-AR" sz="1800" dirty="0" smtClean="0"/>
                  <a:t>En este caso, cada símbolo de la fuente representa a un estado del clima.</a:t>
                </a:r>
              </a:p>
              <a:p>
                <a:pPr marL="342900" indent="-342900" algn="just">
                  <a:buFont typeface="+mj-lt"/>
                  <a:buAutoNum type="arabicParenR" startAt="3"/>
                </a:pPr>
                <a:endParaRPr lang="es-AR" sz="1800" dirty="0" smtClean="0"/>
              </a:p>
              <a:p>
                <a:pPr marL="0" indent="0" algn="just">
                  <a:buNone/>
                </a:pPr>
                <a:r>
                  <a:rPr lang="es-AR" sz="1800" dirty="0" smtClean="0"/>
                  <a:t>s</a:t>
                </a:r>
                <a:r>
                  <a:rPr lang="es-AR" sz="1800" baseline="-25000" dirty="0" smtClean="0"/>
                  <a:t>1</a:t>
                </a:r>
                <a:r>
                  <a:rPr lang="es-AR" sz="1800" dirty="0" smtClean="0"/>
                  <a:t> = soleado		s</a:t>
                </a:r>
                <a:r>
                  <a:rPr lang="es-AR" sz="1800" baseline="-25000" dirty="0" smtClean="0"/>
                  <a:t>2</a:t>
                </a:r>
                <a:r>
                  <a:rPr lang="es-AR" sz="1800" dirty="0" smtClean="0"/>
                  <a:t> = nublado		s</a:t>
                </a:r>
                <a:r>
                  <a:rPr lang="es-AR" sz="1800" baseline="-25000" dirty="0" smtClean="0"/>
                  <a:t>3</a:t>
                </a:r>
                <a:r>
                  <a:rPr lang="es-AR" sz="1800" dirty="0" smtClean="0"/>
                  <a:t> = lluvioso</a:t>
                </a:r>
                <a:endParaRPr lang="es-AR" sz="1800" dirty="0"/>
              </a:p>
              <a:p>
                <a:pPr marL="0" indent="0" algn="just">
                  <a:buNone/>
                </a:pPr>
                <a:r>
                  <a:rPr lang="es-AR" sz="1800" dirty="0" smtClean="0"/>
                  <a:t>p(s</a:t>
                </a:r>
                <a:r>
                  <a:rPr lang="es-AR" sz="1800" baseline="-25000" dirty="0" smtClean="0"/>
                  <a:t>1</a:t>
                </a:r>
                <a:r>
                  <a:rPr lang="es-AR" sz="1800" dirty="0" smtClean="0"/>
                  <a:t>) = 0,4		p(s</a:t>
                </a:r>
                <a:r>
                  <a:rPr lang="es-AR" sz="1800" baseline="-25000" dirty="0" smtClean="0"/>
                  <a:t>2</a:t>
                </a:r>
                <a:r>
                  <a:rPr lang="es-AR" sz="1800" dirty="0" smtClean="0"/>
                  <a:t>) = 0,4		p(s</a:t>
                </a:r>
                <a:r>
                  <a:rPr lang="es-AR" sz="1800" baseline="-25000" dirty="0" smtClean="0"/>
                  <a:t>3</a:t>
                </a:r>
                <a:r>
                  <a:rPr lang="es-AR" sz="1800" dirty="0" smtClean="0"/>
                  <a:t>) = 0,2</a:t>
                </a:r>
              </a:p>
              <a:p>
                <a:pPr marL="0" indent="0" algn="just">
                  <a:buNone/>
                </a:pPr>
                <a:r>
                  <a:rPr lang="es-AR" sz="1800" dirty="0" smtClean="0"/>
                  <a:t>I(s</a:t>
                </a:r>
                <a:r>
                  <a:rPr lang="es-AR" sz="1800" baseline="-25000" dirty="0" smtClean="0"/>
                  <a:t>1</a:t>
                </a:r>
                <a:r>
                  <a:rPr lang="es-AR" sz="1800" dirty="0" smtClean="0"/>
                  <a:t>) = 1,32 bits		I(s</a:t>
                </a:r>
                <a:r>
                  <a:rPr lang="es-AR" sz="1800" baseline="-25000" dirty="0" smtClean="0"/>
                  <a:t>2</a:t>
                </a:r>
                <a:r>
                  <a:rPr lang="es-AR" sz="1800" dirty="0" smtClean="0"/>
                  <a:t>) = 1,32 bits		I(s</a:t>
                </a:r>
                <a:r>
                  <a:rPr lang="es-AR" sz="1800" baseline="-25000" dirty="0" smtClean="0"/>
                  <a:t>3</a:t>
                </a:r>
                <a:r>
                  <a:rPr lang="es-AR" sz="1800" dirty="0" smtClean="0"/>
                  <a:t>) = 2,32 bits</a:t>
                </a:r>
              </a:p>
              <a:p>
                <a:pPr marL="0" indent="0" algn="just">
                  <a:buNone/>
                </a:pPr>
                <a:endParaRPr lang="es-AR" sz="1800" dirty="0"/>
              </a:p>
              <a:p>
                <a:pPr marL="0" indent="0" algn="just">
                  <a:buNone/>
                </a:pPr>
                <a:endParaRPr lang="es-AR" sz="1800" dirty="0" smtClean="0"/>
              </a:p>
              <a:p>
                <a:pPr marL="0" indent="0" algn="just">
                  <a:buNone/>
                </a:pPr>
                <a14:m>
                  <m:oMathPara xmlns:m="http://schemas.openxmlformats.org/officeDocument/2006/math">
                    <m:oMathParaPr>
                      <m:jc m:val="centerGroup"/>
                    </m:oMathParaPr>
                    <m:oMath xmlns:m="http://schemas.openxmlformats.org/officeDocument/2006/math">
                      <m:r>
                        <a:rPr lang="es-AR" sz="1800" i="1">
                          <a:latin typeface="Cambria Math" panose="02040503050406030204" pitchFamily="18" charset="0"/>
                        </a:rPr>
                        <m:t>𝐻</m:t>
                      </m:r>
                      <m:d>
                        <m:dPr>
                          <m:ctrlPr>
                            <a:rPr lang="es-AR" sz="1800" i="1">
                              <a:latin typeface="Cambria Math" panose="02040503050406030204" pitchFamily="18" charset="0"/>
                            </a:rPr>
                          </m:ctrlPr>
                        </m:dPr>
                        <m:e>
                          <m:r>
                            <a:rPr lang="es-AR" sz="1800" b="1" i="1">
                              <a:latin typeface="Cambria Math" panose="02040503050406030204" pitchFamily="18" charset="0"/>
                            </a:rPr>
                            <m:t>𝑺</m:t>
                          </m:r>
                        </m:e>
                      </m:d>
                      <m:r>
                        <a:rPr lang="es-AR" sz="1800" i="1">
                          <a:latin typeface="Cambria Math" panose="02040503050406030204" pitchFamily="18" charset="0"/>
                        </a:rPr>
                        <m:t>=</m:t>
                      </m:r>
                      <m:nary>
                        <m:naryPr>
                          <m:chr m:val="∑"/>
                          <m:ctrlPr>
                            <a:rPr lang="es-AR" sz="1800" i="1">
                              <a:latin typeface="Cambria Math" panose="02040503050406030204" pitchFamily="18" charset="0"/>
                            </a:rPr>
                          </m:ctrlPr>
                        </m:naryPr>
                        <m:sub>
                          <m:r>
                            <m:rPr>
                              <m:brk m:alnAt="23"/>
                            </m:rPr>
                            <a:rPr lang="es-AR" sz="1800" i="1">
                              <a:latin typeface="Cambria Math" panose="02040503050406030204" pitchFamily="18" charset="0"/>
                            </a:rPr>
                            <m:t>𝑖</m:t>
                          </m:r>
                          <m:r>
                            <a:rPr lang="es-AR" sz="1800" i="1">
                              <a:latin typeface="Cambria Math" panose="02040503050406030204" pitchFamily="18" charset="0"/>
                            </a:rPr>
                            <m:t>=0</m:t>
                          </m:r>
                        </m:sub>
                        <m:sup>
                          <m:r>
                            <a:rPr lang="es-AR" sz="1800" i="1">
                              <a:latin typeface="Cambria Math" panose="02040503050406030204" pitchFamily="18" charset="0"/>
                            </a:rPr>
                            <m:t>𝐾</m:t>
                          </m:r>
                          <m:r>
                            <a:rPr lang="es-AR" sz="1800" b="0" i="1" smtClean="0">
                              <a:latin typeface="Cambria Math" panose="02040503050406030204" pitchFamily="18" charset="0"/>
                            </a:rPr>
                            <m:t>−1</m:t>
                          </m:r>
                        </m:sup>
                        <m:e>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r>
                            <a:rPr lang="es-AR" sz="1800" i="1">
                              <a:latin typeface="Cambria Math" panose="02040503050406030204" pitchFamily="18" charset="0"/>
                            </a:rPr>
                            <m:t>.</m:t>
                          </m:r>
                          <m:r>
                            <a:rPr lang="es-AR" sz="1800" i="1">
                              <a:latin typeface="Cambria Math" panose="02040503050406030204" pitchFamily="18" charset="0"/>
                            </a:rPr>
                            <m:t>𝑙𝑜𝑔</m:t>
                          </m:r>
                          <m:d>
                            <m:dPr>
                              <m:ctrlPr>
                                <a:rPr lang="es-AR" sz="1800" i="1">
                                  <a:latin typeface="Cambria Math" panose="02040503050406030204" pitchFamily="18" charset="0"/>
                                </a:rPr>
                              </m:ctrlPr>
                            </m:dPr>
                            <m:e>
                              <m:f>
                                <m:fPr>
                                  <m:ctrlPr>
                                    <a:rPr lang="es-AR" sz="1800" i="1">
                                      <a:latin typeface="Cambria Math" panose="02040503050406030204" pitchFamily="18" charset="0"/>
                                    </a:rPr>
                                  </m:ctrlPr>
                                </m:fPr>
                                <m:num>
                                  <m:r>
                                    <a:rPr lang="es-AR" sz="1800" i="1">
                                      <a:latin typeface="Cambria Math" panose="02040503050406030204" pitchFamily="18" charset="0"/>
                                    </a:rPr>
                                    <m:t>1</m:t>
                                  </m:r>
                                </m:num>
                                <m:den>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den>
                              </m:f>
                            </m:e>
                          </m:d>
                        </m:e>
                      </m:nary>
                      <m:r>
                        <a:rPr lang="es-AR" sz="1800" i="1">
                          <a:latin typeface="Cambria Math" panose="02040503050406030204" pitchFamily="18" charset="0"/>
                        </a:rPr>
                        <m:t>=</m:t>
                      </m:r>
                      <m:r>
                        <a:rPr lang="es-AR" sz="1800" b="0" i="1" smtClean="0">
                          <a:latin typeface="Cambria Math" panose="02040503050406030204" pitchFamily="18" charset="0"/>
                        </a:rPr>
                        <m:t>1,52 </m:t>
                      </m:r>
                      <m:r>
                        <a:rPr lang="es-AR" sz="1800" b="0" i="1" smtClean="0">
                          <a:latin typeface="Cambria Math" panose="02040503050406030204" pitchFamily="18" charset="0"/>
                        </a:rPr>
                        <m:t>𝑏𝑖𝑡𝑠</m:t>
                      </m:r>
                    </m:oMath>
                  </m:oMathPara>
                </a14:m>
                <a:endParaRPr lang="es-AR" sz="1800" dirty="0"/>
              </a:p>
            </p:txBody>
          </p:sp>
        </mc:Choice>
        <mc:Fallback xmlns="">
          <p:sp>
            <p:nvSpPr>
              <p:cNvPr id="8" name="2 Marcador de contenido"/>
              <p:cNvSpPr>
                <a:spLocks noGrp="1" noRot="1" noChangeAspect="1" noMove="1" noResize="1" noEditPoints="1" noAdjustHandles="1" noChangeArrowheads="1" noChangeShapeType="1" noTextEdit="1"/>
              </p:cNvSpPr>
              <p:nvPr>
                <p:ph sz="quarter" idx="1"/>
              </p:nvPr>
            </p:nvSpPr>
            <p:spPr>
              <a:blipFill>
                <a:blip r:embed="rId2"/>
                <a:stretch>
                  <a:fillRect l="-593" t="-494" r="-593"/>
                </a:stretch>
              </a:blipFill>
            </p:spPr>
            <p:txBody>
              <a:bodyPr/>
              <a:lstStyle/>
              <a:p>
                <a:r>
                  <a:rPr lang="en-US">
                    <a:noFill/>
                  </a:rPr>
                  <a:t> </a:t>
                </a:r>
              </a:p>
            </p:txBody>
          </p:sp>
        </mc:Fallback>
      </mc:AlternateContent>
      <p:sp>
        <p:nvSpPr>
          <p:cNvPr id="7" name="14 CuadroTexto"/>
          <p:cNvSpPr txBox="1"/>
          <p:nvPr/>
        </p:nvSpPr>
        <p:spPr>
          <a:xfrm>
            <a:off x="481192" y="5445224"/>
            <a:ext cx="8158277" cy="33855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Si los tres símbolos/eventos hubiesen sido </a:t>
            </a:r>
            <a:r>
              <a:rPr lang="es-AR" sz="1600" dirty="0" err="1" smtClean="0"/>
              <a:t>equiprobables</a:t>
            </a:r>
            <a:r>
              <a:rPr lang="es-AR" sz="1600" dirty="0" smtClean="0"/>
              <a:t>, la entropía habría sido 1,58 bits.</a:t>
            </a:r>
            <a:endParaRPr lang="es-AR" sz="1600" baseline="30000" dirty="0" smtClean="0"/>
          </a:p>
        </p:txBody>
      </p:sp>
    </p:spTree>
    <p:extLst>
      <p:ext uri="{BB962C8B-B14F-4D97-AF65-F5344CB8AC3E}">
        <p14:creationId xmlns:p14="http://schemas.microsoft.com/office/powerpoint/2010/main" val="15248480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dirty="0" smtClean="0"/>
              <a:t>Ejercicio 4 – Entropía máxima</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9</a:t>
            </a:fld>
            <a:endParaRPr lang="es-ES"/>
          </a:p>
        </p:txBody>
      </p:sp>
      <mc:AlternateContent xmlns:mc="http://schemas.openxmlformats.org/markup-compatibility/2006" xmlns:a14="http://schemas.microsoft.com/office/drawing/2010/main">
        <mc:Choice Requires="a14">
          <p:sp>
            <p:nvSpPr>
              <p:cNvPr id="8" name="2 Marcador de contenido"/>
              <p:cNvSpPr>
                <a:spLocks noGrp="1"/>
              </p:cNvSpPr>
              <p:nvPr>
                <p:ph sz="quarter" idx="1"/>
              </p:nvPr>
            </p:nvSpPr>
            <p:spPr/>
            <p:txBody>
              <a:bodyPr>
                <a:normAutofit/>
              </a:bodyPr>
              <a:lstStyle/>
              <a:p>
                <a:pPr marL="0" indent="0" algn="just">
                  <a:buNone/>
                </a:pPr>
                <a:r>
                  <a:rPr lang="es-AR" sz="1800" dirty="0" smtClean="0"/>
                  <a:t>Sean dos símbolos, s0 y s1, asociados a una fuente de información discreta tal que s</a:t>
                </a:r>
                <a:r>
                  <a:rPr lang="es-AR" sz="1800" baseline="-25000" dirty="0" smtClean="0"/>
                  <a:t>0</a:t>
                </a:r>
                <a:r>
                  <a:rPr lang="es-AR" sz="1800" dirty="0" smtClean="0"/>
                  <a:t> = p y s</a:t>
                </a:r>
                <a:r>
                  <a:rPr lang="es-AR" sz="1800" baseline="-25000" dirty="0" smtClean="0"/>
                  <a:t>1</a:t>
                </a:r>
                <a:r>
                  <a:rPr lang="es-AR" sz="1800" dirty="0" smtClean="0"/>
                  <a:t> = 1 – p, luego:</a:t>
                </a:r>
              </a:p>
              <a:p>
                <a:pPr marL="0" indent="0" algn="just">
                  <a:buNone/>
                </a:pPr>
                <a:endParaRPr lang="es-AR" sz="1800" dirty="0" smtClean="0"/>
              </a:p>
              <a:p>
                <a:pPr marL="0" indent="0" algn="just">
                  <a:buNone/>
                </a:pPr>
                <a14:m>
                  <m:oMathPara xmlns:m="http://schemas.openxmlformats.org/officeDocument/2006/math">
                    <m:oMathParaPr>
                      <m:jc m:val="centerGroup"/>
                    </m:oMathParaPr>
                    <m:oMath xmlns:m="http://schemas.openxmlformats.org/officeDocument/2006/math">
                      <m:r>
                        <a:rPr lang="es-AR" sz="1800" i="1">
                          <a:latin typeface="Cambria Math" panose="02040503050406030204" pitchFamily="18" charset="0"/>
                        </a:rPr>
                        <m:t>𝐻</m:t>
                      </m:r>
                      <m:d>
                        <m:dPr>
                          <m:ctrlPr>
                            <a:rPr lang="es-AR" sz="1800" i="1">
                              <a:latin typeface="Cambria Math" panose="02040503050406030204" pitchFamily="18" charset="0"/>
                            </a:rPr>
                          </m:ctrlPr>
                        </m:dPr>
                        <m:e>
                          <m:r>
                            <a:rPr lang="es-AR" sz="1800" b="1" i="1">
                              <a:latin typeface="Cambria Math" panose="02040503050406030204" pitchFamily="18" charset="0"/>
                            </a:rPr>
                            <m:t>𝑺</m:t>
                          </m:r>
                        </m:e>
                      </m:d>
                      <m:r>
                        <a:rPr lang="es-AR" sz="1800" i="1">
                          <a:latin typeface="Cambria Math" panose="02040503050406030204" pitchFamily="18" charset="0"/>
                        </a:rPr>
                        <m:t>=</m:t>
                      </m:r>
                      <m:nary>
                        <m:naryPr>
                          <m:chr m:val="∑"/>
                          <m:ctrlPr>
                            <a:rPr lang="es-AR" sz="1800" i="1">
                              <a:latin typeface="Cambria Math" panose="02040503050406030204" pitchFamily="18" charset="0"/>
                            </a:rPr>
                          </m:ctrlPr>
                        </m:naryPr>
                        <m:sub>
                          <m:r>
                            <m:rPr>
                              <m:brk m:alnAt="23"/>
                            </m:rPr>
                            <a:rPr lang="es-AR" sz="1800" i="1">
                              <a:latin typeface="Cambria Math" panose="02040503050406030204" pitchFamily="18" charset="0"/>
                            </a:rPr>
                            <m:t>𝑖</m:t>
                          </m:r>
                          <m:r>
                            <a:rPr lang="es-AR" sz="1800" i="1">
                              <a:latin typeface="Cambria Math" panose="02040503050406030204" pitchFamily="18" charset="0"/>
                            </a:rPr>
                            <m:t>=0</m:t>
                          </m:r>
                        </m:sub>
                        <m:sup>
                          <m:r>
                            <a:rPr lang="es-AR" sz="1800" i="1">
                              <a:latin typeface="Cambria Math" panose="02040503050406030204" pitchFamily="18" charset="0"/>
                            </a:rPr>
                            <m:t>𝐾</m:t>
                          </m:r>
                        </m:sup>
                        <m:e>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r>
                            <a:rPr lang="es-AR" sz="1800" i="1">
                              <a:latin typeface="Cambria Math" panose="02040503050406030204" pitchFamily="18" charset="0"/>
                            </a:rPr>
                            <m:t>.</m:t>
                          </m:r>
                          <m:r>
                            <a:rPr lang="es-AR" sz="1800" i="1">
                              <a:latin typeface="Cambria Math" panose="02040503050406030204" pitchFamily="18" charset="0"/>
                            </a:rPr>
                            <m:t>𝑙𝑜𝑔</m:t>
                          </m:r>
                          <m:d>
                            <m:dPr>
                              <m:ctrlPr>
                                <a:rPr lang="es-AR" sz="1800" i="1">
                                  <a:latin typeface="Cambria Math" panose="02040503050406030204" pitchFamily="18" charset="0"/>
                                </a:rPr>
                              </m:ctrlPr>
                            </m:dPr>
                            <m:e>
                              <m:f>
                                <m:fPr>
                                  <m:ctrlPr>
                                    <a:rPr lang="es-AR" sz="1800" i="1">
                                      <a:latin typeface="Cambria Math" panose="02040503050406030204" pitchFamily="18" charset="0"/>
                                    </a:rPr>
                                  </m:ctrlPr>
                                </m:fPr>
                                <m:num>
                                  <m:r>
                                    <a:rPr lang="es-AR" sz="1800" i="1">
                                      <a:latin typeface="Cambria Math" panose="02040503050406030204" pitchFamily="18" charset="0"/>
                                    </a:rPr>
                                    <m:t>1</m:t>
                                  </m:r>
                                </m:num>
                                <m:den>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den>
                              </m:f>
                            </m:e>
                          </m:d>
                        </m:e>
                      </m:nary>
                      <m:r>
                        <a:rPr lang="es-AR" sz="1800" i="1">
                          <a:latin typeface="Cambria Math" panose="02040503050406030204" pitchFamily="18" charset="0"/>
                        </a:rPr>
                        <m:t>=</m:t>
                      </m:r>
                      <m:r>
                        <a:rPr lang="es-AR" sz="1800" b="0" i="1" smtClean="0">
                          <a:latin typeface="Cambria Math" panose="02040503050406030204" pitchFamily="18" charset="0"/>
                        </a:rPr>
                        <m:t>𝑝</m:t>
                      </m:r>
                      <m:r>
                        <a:rPr lang="es-AR" sz="1800" b="0" i="1" smtClean="0">
                          <a:latin typeface="Cambria Math" panose="02040503050406030204" pitchFamily="18" charset="0"/>
                        </a:rPr>
                        <m:t>.</m:t>
                      </m:r>
                      <m:r>
                        <a:rPr lang="es-AR" sz="1800" i="1">
                          <a:latin typeface="Cambria Math" panose="02040503050406030204" pitchFamily="18" charset="0"/>
                        </a:rPr>
                        <m:t>𝑙𝑜𝑔</m:t>
                      </m:r>
                      <m:d>
                        <m:dPr>
                          <m:ctrlPr>
                            <a:rPr lang="es-AR" sz="1800" i="1">
                              <a:latin typeface="Cambria Math" panose="02040503050406030204" pitchFamily="18" charset="0"/>
                            </a:rPr>
                          </m:ctrlPr>
                        </m:dPr>
                        <m:e>
                          <m:f>
                            <m:fPr>
                              <m:ctrlPr>
                                <a:rPr lang="es-AR" sz="1800" i="1">
                                  <a:latin typeface="Cambria Math" panose="02040503050406030204" pitchFamily="18" charset="0"/>
                                </a:rPr>
                              </m:ctrlPr>
                            </m:fPr>
                            <m:num>
                              <m:r>
                                <a:rPr lang="es-AR" sz="1800" i="1">
                                  <a:latin typeface="Cambria Math" panose="02040503050406030204" pitchFamily="18" charset="0"/>
                                </a:rPr>
                                <m:t>1</m:t>
                              </m:r>
                            </m:num>
                            <m:den>
                              <m:r>
                                <a:rPr lang="es-AR" sz="1800" b="0" i="1" smtClean="0">
                                  <a:latin typeface="Cambria Math" panose="02040503050406030204" pitchFamily="18" charset="0"/>
                                </a:rPr>
                                <m:t>𝑝</m:t>
                              </m:r>
                            </m:den>
                          </m:f>
                        </m:e>
                      </m:d>
                      <m:r>
                        <a:rPr lang="es-AR" sz="1800" b="0" i="1" smtClean="0">
                          <a:latin typeface="Cambria Math" panose="02040503050406030204" pitchFamily="18" charset="0"/>
                        </a:rPr>
                        <m:t>+(1−</m:t>
                      </m:r>
                      <m:r>
                        <a:rPr lang="es-AR" sz="1800" i="1">
                          <a:latin typeface="Cambria Math" panose="02040503050406030204" pitchFamily="18" charset="0"/>
                        </a:rPr>
                        <m:t>𝑝</m:t>
                      </m:r>
                      <m:r>
                        <a:rPr lang="es-AR" sz="1800" b="0" i="1" smtClean="0">
                          <a:latin typeface="Cambria Math" panose="02040503050406030204" pitchFamily="18" charset="0"/>
                        </a:rPr>
                        <m:t>)</m:t>
                      </m:r>
                      <m:r>
                        <a:rPr lang="es-AR" sz="1800" i="1">
                          <a:latin typeface="Cambria Math" panose="02040503050406030204" pitchFamily="18" charset="0"/>
                        </a:rPr>
                        <m:t>.</m:t>
                      </m:r>
                      <m:r>
                        <a:rPr lang="es-AR" sz="1800" i="1">
                          <a:latin typeface="Cambria Math" panose="02040503050406030204" pitchFamily="18" charset="0"/>
                        </a:rPr>
                        <m:t>𝑙𝑜𝑔</m:t>
                      </m:r>
                      <m:d>
                        <m:dPr>
                          <m:ctrlPr>
                            <a:rPr lang="es-AR" sz="1800" i="1">
                              <a:latin typeface="Cambria Math" panose="02040503050406030204" pitchFamily="18" charset="0"/>
                            </a:rPr>
                          </m:ctrlPr>
                        </m:dPr>
                        <m:e>
                          <m:f>
                            <m:fPr>
                              <m:ctrlPr>
                                <a:rPr lang="es-AR" sz="1800" i="1">
                                  <a:latin typeface="Cambria Math" panose="02040503050406030204" pitchFamily="18" charset="0"/>
                                </a:rPr>
                              </m:ctrlPr>
                            </m:fPr>
                            <m:num>
                              <m:r>
                                <a:rPr lang="es-AR" sz="1800" i="1">
                                  <a:latin typeface="Cambria Math" panose="02040503050406030204" pitchFamily="18" charset="0"/>
                                </a:rPr>
                                <m:t>1</m:t>
                              </m:r>
                            </m:num>
                            <m:den>
                              <m:r>
                                <a:rPr lang="es-AR" sz="1800" b="0" i="1" smtClean="0">
                                  <a:latin typeface="Cambria Math" panose="02040503050406030204" pitchFamily="18" charset="0"/>
                                </a:rPr>
                                <m:t>1−</m:t>
                              </m:r>
                              <m:r>
                                <a:rPr lang="es-AR" sz="1800" i="1">
                                  <a:latin typeface="Cambria Math" panose="02040503050406030204" pitchFamily="18" charset="0"/>
                                </a:rPr>
                                <m:t>𝑝</m:t>
                              </m:r>
                            </m:den>
                          </m:f>
                        </m:e>
                      </m:d>
                    </m:oMath>
                  </m:oMathPara>
                </a14:m>
                <a:endParaRPr lang="es-AR" sz="1800" dirty="0"/>
              </a:p>
              <a:p>
                <a:pPr marL="0" indent="0" algn="just">
                  <a:buNone/>
                </a:pPr>
                <a:endParaRPr lang="es-AR" sz="1800" dirty="0"/>
              </a:p>
            </p:txBody>
          </p:sp>
        </mc:Choice>
        <mc:Fallback xmlns="">
          <p:sp>
            <p:nvSpPr>
              <p:cNvPr id="8" name="2 Marcador de contenido"/>
              <p:cNvSpPr>
                <a:spLocks noGrp="1" noRot="1" noChangeAspect="1" noMove="1" noResize="1" noEditPoints="1" noAdjustHandles="1" noChangeArrowheads="1" noChangeShapeType="1" noTextEdit="1"/>
              </p:cNvSpPr>
              <p:nvPr>
                <p:ph sz="quarter" idx="1"/>
              </p:nvPr>
            </p:nvSpPr>
            <p:spPr>
              <a:blipFill>
                <a:blip r:embed="rId2"/>
                <a:stretch>
                  <a:fillRect l="-593" t="-494" r="-593"/>
                </a:stretch>
              </a:blipFill>
            </p:spPr>
            <p:txBody>
              <a:bodyPr/>
              <a:lstStyle/>
              <a:p>
                <a:r>
                  <a:rPr lang="en-US">
                    <a:noFill/>
                  </a:rPr>
                  <a:t> </a:t>
                </a:r>
              </a:p>
            </p:txBody>
          </p:sp>
        </mc:Fallback>
      </mc:AlternateContent>
      <p:cxnSp>
        <p:nvCxnSpPr>
          <p:cNvPr id="7" name="Conector recto de flecha 6"/>
          <p:cNvCxnSpPr/>
          <p:nvPr/>
        </p:nvCxnSpPr>
        <p:spPr>
          <a:xfrm flipV="1">
            <a:off x="3275856" y="3356992"/>
            <a:ext cx="0" cy="2736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a:off x="3042664" y="6021288"/>
            <a:ext cx="30415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Forma libre 13"/>
          <p:cNvSpPr/>
          <p:nvPr/>
        </p:nvSpPr>
        <p:spPr>
          <a:xfrm rot="18264072">
            <a:off x="3502404" y="4511521"/>
            <a:ext cx="2384809" cy="2206966"/>
          </a:xfrm>
          <a:custGeom>
            <a:avLst/>
            <a:gdLst>
              <a:gd name="connsiteX0" fmla="*/ 0 w 2699927"/>
              <a:gd name="connsiteY0" fmla="*/ 223636 h 2547736"/>
              <a:gd name="connsiteX1" fmla="*/ 2654300 w 2699927"/>
              <a:gd name="connsiteY1" fmla="*/ 223636 h 2547736"/>
              <a:gd name="connsiteX2" fmla="*/ 1651000 w 2699927"/>
              <a:gd name="connsiteY2" fmla="*/ 2547736 h 2547736"/>
            </a:gdLst>
            <a:ahLst/>
            <a:cxnLst>
              <a:cxn ang="0">
                <a:pos x="connsiteX0" y="connsiteY0"/>
              </a:cxn>
              <a:cxn ang="0">
                <a:pos x="connsiteX1" y="connsiteY1"/>
              </a:cxn>
              <a:cxn ang="0">
                <a:pos x="connsiteX2" y="connsiteY2"/>
              </a:cxn>
            </a:cxnLst>
            <a:rect l="l" t="t" r="r" b="b"/>
            <a:pathLst>
              <a:path w="2699927" h="2547736">
                <a:moveTo>
                  <a:pt x="0" y="223636"/>
                </a:moveTo>
                <a:cubicBezTo>
                  <a:pt x="1189566" y="29961"/>
                  <a:pt x="2379133" y="-163714"/>
                  <a:pt x="2654300" y="223636"/>
                </a:cubicBezTo>
                <a:cubicBezTo>
                  <a:pt x="2929467" y="610986"/>
                  <a:pt x="1879600" y="2109586"/>
                  <a:pt x="1651000" y="254773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p:cNvSpPr txBox="1"/>
          <p:nvPr/>
        </p:nvSpPr>
        <p:spPr>
          <a:xfrm>
            <a:off x="3203848" y="3140968"/>
            <a:ext cx="720080" cy="307777"/>
          </a:xfrm>
          <a:prstGeom prst="rect">
            <a:avLst/>
          </a:prstGeom>
          <a:noFill/>
        </p:spPr>
        <p:txBody>
          <a:bodyPr wrap="square" rtlCol="0">
            <a:spAutoFit/>
          </a:bodyPr>
          <a:lstStyle/>
          <a:p>
            <a:pPr algn="ctr"/>
            <a:r>
              <a:rPr lang="es-AR" sz="1400" dirty="0" smtClean="0"/>
              <a:t>H(S)</a:t>
            </a:r>
            <a:endParaRPr lang="en-US" sz="1400" dirty="0"/>
          </a:p>
        </p:txBody>
      </p:sp>
      <p:sp>
        <p:nvSpPr>
          <p:cNvPr id="11" name="CuadroTexto 10"/>
          <p:cNvSpPr txBox="1"/>
          <p:nvPr/>
        </p:nvSpPr>
        <p:spPr>
          <a:xfrm>
            <a:off x="5796136" y="5922904"/>
            <a:ext cx="720080" cy="307777"/>
          </a:xfrm>
          <a:prstGeom prst="rect">
            <a:avLst/>
          </a:prstGeom>
          <a:noFill/>
        </p:spPr>
        <p:txBody>
          <a:bodyPr wrap="square" rtlCol="0">
            <a:spAutoFit/>
          </a:bodyPr>
          <a:lstStyle/>
          <a:p>
            <a:pPr algn="ctr"/>
            <a:r>
              <a:rPr lang="es-AR" sz="1400" dirty="0" smtClean="0"/>
              <a:t>p</a:t>
            </a:r>
            <a:endParaRPr lang="en-US" sz="1400" dirty="0"/>
          </a:p>
        </p:txBody>
      </p:sp>
      <p:sp>
        <p:nvSpPr>
          <p:cNvPr id="12" name="CuadroTexto 11"/>
          <p:cNvSpPr txBox="1"/>
          <p:nvPr/>
        </p:nvSpPr>
        <p:spPr>
          <a:xfrm>
            <a:off x="5381672" y="6001543"/>
            <a:ext cx="720080" cy="307777"/>
          </a:xfrm>
          <a:prstGeom prst="rect">
            <a:avLst/>
          </a:prstGeom>
          <a:noFill/>
        </p:spPr>
        <p:txBody>
          <a:bodyPr wrap="square" rtlCol="0">
            <a:spAutoFit/>
          </a:bodyPr>
          <a:lstStyle/>
          <a:p>
            <a:pPr algn="ctr"/>
            <a:r>
              <a:rPr lang="es-AR" sz="1400" dirty="0" smtClean="0"/>
              <a:t>1</a:t>
            </a:r>
            <a:endParaRPr lang="en-US" sz="1400" dirty="0"/>
          </a:p>
        </p:txBody>
      </p:sp>
      <p:sp>
        <p:nvSpPr>
          <p:cNvPr id="13" name="CuadroTexto 12"/>
          <p:cNvSpPr txBox="1"/>
          <p:nvPr/>
        </p:nvSpPr>
        <p:spPr>
          <a:xfrm>
            <a:off x="4216722" y="6007002"/>
            <a:ext cx="720080" cy="307777"/>
          </a:xfrm>
          <a:prstGeom prst="rect">
            <a:avLst/>
          </a:prstGeom>
          <a:noFill/>
        </p:spPr>
        <p:txBody>
          <a:bodyPr wrap="square" rtlCol="0">
            <a:spAutoFit/>
          </a:bodyPr>
          <a:lstStyle/>
          <a:p>
            <a:pPr algn="ctr"/>
            <a:r>
              <a:rPr lang="es-AR" sz="1400" dirty="0" smtClean="0"/>
              <a:t>0,5</a:t>
            </a:r>
            <a:endParaRPr lang="en-US" sz="1400" dirty="0"/>
          </a:p>
        </p:txBody>
      </p:sp>
      <p:sp>
        <p:nvSpPr>
          <p:cNvPr id="15" name="CuadroTexto 14"/>
          <p:cNvSpPr txBox="1"/>
          <p:nvPr/>
        </p:nvSpPr>
        <p:spPr>
          <a:xfrm>
            <a:off x="2771800" y="3959432"/>
            <a:ext cx="720080" cy="307777"/>
          </a:xfrm>
          <a:prstGeom prst="rect">
            <a:avLst/>
          </a:prstGeom>
          <a:noFill/>
        </p:spPr>
        <p:txBody>
          <a:bodyPr wrap="square" rtlCol="0">
            <a:spAutoFit/>
          </a:bodyPr>
          <a:lstStyle/>
          <a:p>
            <a:pPr algn="ctr"/>
            <a:r>
              <a:rPr lang="es-AR" sz="1400" dirty="0" smtClean="0"/>
              <a:t>1</a:t>
            </a:r>
            <a:endParaRPr lang="en-US" sz="1400" dirty="0"/>
          </a:p>
        </p:txBody>
      </p:sp>
      <p:cxnSp>
        <p:nvCxnSpPr>
          <p:cNvPr id="16" name="Conector recto 15"/>
          <p:cNvCxnSpPr>
            <a:endCxn id="14" idx="1"/>
          </p:cNvCxnSpPr>
          <p:nvPr/>
        </p:nvCxnSpPr>
        <p:spPr>
          <a:xfrm>
            <a:off x="3275856" y="4149080"/>
            <a:ext cx="1319229" cy="132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 name="Conector recto 18"/>
          <p:cNvCxnSpPr>
            <a:endCxn id="14" idx="1"/>
          </p:cNvCxnSpPr>
          <p:nvPr/>
        </p:nvCxnSpPr>
        <p:spPr>
          <a:xfrm flipV="1">
            <a:off x="4595085" y="4150403"/>
            <a:ext cx="0" cy="186771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14 CuadroTexto"/>
          <p:cNvSpPr txBox="1"/>
          <p:nvPr/>
        </p:nvSpPr>
        <p:spPr>
          <a:xfrm>
            <a:off x="6145314" y="3585818"/>
            <a:ext cx="2847352" cy="173380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La máxima incerteza o entropía se da cuando los símbolos son </a:t>
            </a:r>
            <a:r>
              <a:rPr lang="es-AR" sz="1600" dirty="0" err="1" smtClean="0"/>
              <a:t>equiprobables</a:t>
            </a:r>
            <a:r>
              <a:rPr lang="es-AR" sz="1600" dirty="0" smtClean="0"/>
              <a:t>. </a:t>
            </a:r>
          </a:p>
          <a:p>
            <a:pPr algn="ctr"/>
            <a:endParaRPr lang="es-AR" sz="1600" dirty="0"/>
          </a:p>
          <a:p>
            <a:pPr algn="ctr"/>
            <a:r>
              <a:rPr lang="es-AR" sz="1600" dirty="0" smtClean="0"/>
              <a:t>En el caso binario, cuando</a:t>
            </a:r>
          </a:p>
          <a:p>
            <a:pPr algn="ctr"/>
            <a:r>
              <a:rPr lang="es-AR" sz="1600" dirty="0" smtClean="0"/>
              <a:t>p = 0,5 </a:t>
            </a:r>
            <a:r>
              <a:rPr lang="es-AR" sz="1600" dirty="0" smtClean="0">
                <a:latin typeface="Bookman Old Style" panose="02050604050505020204" pitchFamily="18" charset="0"/>
              </a:rPr>
              <a:t>→</a:t>
            </a:r>
            <a:r>
              <a:rPr lang="es-AR" sz="1600" dirty="0" smtClean="0"/>
              <a:t> H = 1 bit.</a:t>
            </a:r>
            <a:endParaRPr lang="es-AR" sz="1600" baseline="30000" dirty="0"/>
          </a:p>
          <a:p>
            <a:pPr algn="ctr"/>
            <a:endParaRPr lang="es-AR" sz="1600" baseline="30000" dirty="0" smtClean="0"/>
          </a:p>
        </p:txBody>
      </p:sp>
    </p:spTree>
    <p:extLst>
      <p:ext uri="{BB962C8B-B14F-4D97-AF65-F5344CB8AC3E}">
        <p14:creationId xmlns:p14="http://schemas.microsoft.com/office/powerpoint/2010/main" val="30816740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ipse 8"/>
          <p:cNvSpPr/>
          <p:nvPr/>
        </p:nvSpPr>
        <p:spPr>
          <a:xfrm>
            <a:off x="107504" y="1772816"/>
            <a:ext cx="8928992" cy="3384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10</a:t>
            </a:fld>
            <a:endParaRPr lang="es-ES"/>
          </a:p>
        </p:txBody>
      </p:sp>
      <p:graphicFrame>
        <p:nvGraphicFramePr>
          <p:cNvPr id="7" name="Diagrama 6"/>
          <p:cNvGraphicFramePr/>
          <p:nvPr>
            <p:extLst>
              <p:ext uri="{D42A27DB-BD31-4B8C-83A1-F6EECF244321}">
                <p14:modId xmlns:p14="http://schemas.microsoft.com/office/powerpoint/2010/main" val="347982833"/>
              </p:ext>
            </p:extLst>
          </p:nvPr>
        </p:nvGraphicFramePr>
        <p:xfrm>
          <a:off x="467544" y="1397000"/>
          <a:ext cx="820891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p:cNvSpPr txBox="1"/>
          <p:nvPr/>
        </p:nvSpPr>
        <p:spPr>
          <a:xfrm>
            <a:off x="3175273" y="1988840"/>
            <a:ext cx="2808312" cy="461665"/>
          </a:xfrm>
          <a:prstGeom prst="rect">
            <a:avLst/>
          </a:prstGeom>
          <a:noFill/>
        </p:spPr>
        <p:txBody>
          <a:bodyPr wrap="square" rtlCol="0">
            <a:spAutoFit/>
          </a:bodyPr>
          <a:lstStyle/>
          <a:p>
            <a:pPr algn="ctr"/>
            <a:r>
              <a:rPr lang="es-AR" sz="2400" b="1" dirty="0" smtClean="0">
                <a:solidFill>
                  <a:schemeClr val="bg1"/>
                </a:solidFill>
              </a:rPr>
              <a:t>CÓDIGOS</a:t>
            </a:r>
            <a:endParaRPr lang="en-US" sz="2400" b="1" dirty="0">
              <a:solidFill>
                <a:schemeClr val="bg1"/>
              </a:solidFill>
            </a:endParaRPr>
          </a:p>
        </p:txBody>
      </p:sp>
    </p:spTree>
    <p:extLst>
      <p:ext uri="{BB962C8B-B14F-4D97-AF65-F5344CB8AC3E}">
        <p14:creationId xmlns:p14="http://schemas.microsoft.com/office/powerpoint/2010/main" val="28279635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ipse 8"/>
          <p:cNvSpPr/>
          <p:nvPr/>
        </p:nvSpPr>
        <p:spPr>
          <a:xfrm>
            <a:off x="107504" y="1772816"/>
            <a:ext cx="8928992" cy="3384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11</a:t>
            </a:fld>
            <a:endParaRPr lang="es-ES"/>
          </a:p>
        </p:txBody>
      </p:sp>
      <p:graphicFrame>
        <p:nvGraphicFramePr>
          <p:cNvPr id="7" name="Diagrama 6"/>
          <p:cNvGraphicFramePr/>
          <p:nvPr>
            <p:extLst>
              <p:ext uri="{D42A27DB-BD31-4B8C-83A1-F6EECF244321}">
                <p14:modId xmlns:p14="http://schemas.microsoft.com/office/powerpoint/2010/main" val="347982833"/>
              </p:ext>
            </p:extLst>
          </p:nvPr>
        </p:nvGraphicFramePr>
        <p:xfrm>
          <a:off x="467544" y="1397000"/>
          <a:ext cx="820891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p:cNvSpPr txBox="1"/>
          <p:nvPr/>
        </p:nvSpPr>
        <p:spPr>
          <a:xfrm>
            <a:off x="3175273" y="1988840"/>
            <a:ext cx="2808312" cy="461665"/>
          </a:xfrm>
          <a:prstGeom prst="rect">
            <a:avLst/>
          </a:prstGeom>
          <a:noFill/>
        </p:spPr>
        <p:txBody>
          <a:bodyPr wrap="square" rtlCol="0">
            <a:spAutoFit/>
          </a:bodyPr>
          <a:lstStyle/>
          <a:p>
            <a:pPr algn="ctr"/>
            <a:r>
              <a:rPr lang="es-AR" sz="2400" b="1" dirty="0" smtClean="0">
                <a:solidFill>
                  <a:schemeClr val="bg1"/>
                </a:solidFill>
              </a:rPr>
              <a:t>CÓDIGOS</a:t>
            </a:r>
            <a:endParaRPr lang="en-US" sz="2400" b="1" dirty="0">
              <a:solidFill>
                <a:schemeClr val="bg1"/>
              </a:solidFill>
            </a:endParaRPr>
          </a:p>
        </p:txBody>
      </p:sp>
      <p:grpSp>
        <p:nvGrpSpPr>
          <p:cNvPr id="11" name="Grupo 10"/>
          <p:cNvGrpSpPr/>
          <p:nvPr/>
        </p:nvGrpSpPr>
        <p:grpSpPr>
          <a:xfrm>
            <a:off x="1296472" y="4797152"/>
            <a:ext cx="6552728" cy="946349"/>
            <a:chOff x="3607" y="1558825"/>
            <a:chExt cx="1577249" cy="946349"/>
          </a:xfrm>
        </p:grpSpPr>
        <p:sp>
          <p:nvSpPr>
            <p:cNvPr id="12" name="Rectángulo redondeado 11"/>
            <p:cNvSpPr/>
            <p:nvPr/>
          </p:nvSpPr>
          <p:spPr>
            <a:xfrm>
              <a:off x="3607" y="1558825"/>
              <a:ext cx="1577249" cy="946349"/>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3" name="CuadroTexto 12"/>
            <p:cNvSpPr txBox="1"/>
            <p:nvPr/>
          </p:nvSpPr>
          <p:spPr>
            <a:xfrm>
              <a:off x="31325"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dirty="0" smtClean="0"/>
                <a:t>Código de bloque: A cada símbolo de la fuente le asigna una palabra de código.</a:t>
              </a:r>
              <a:endParaRPr lang="es-ES" sz="1800" kern="1200" dirty="0"/>
            </a:p>
          </p:txBody>
        </p:sp>
      </p:grpSp>
    </p:spTree>
    <p:extLst>
      <p:ext uri="{BB962C8B-B14F-4D97-AF65-F5344CB8AC3E}">
        <p14:creationId xmlns:p14="http://schemas.microsoft.com/office/powerpoint/2010/main" val="20752225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ipse 8"/>
          <p:cNvSpPr/>
          <p:nvPr/>
        </p:nvSpPr>
        <p:spPr>
          <a:xfrm>
            <a:off x="107504" y="1772816"/>
            <a:ext cx="8928992" cy="3384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12</a:t>
            </a:fld>
            <a:endParaRPr lang="es-ES"/>
          </a:p>
        </p:txBody>
      </p:sp>
      <p:graphicFrame>
        <p:nvGraphicFramePr>
          <p:cNvPr id="7" name="Diagrama 6"/>
          <p:cNvGraphicFramePr/>
          <p:nvPr>
            <p:extLst>
              <p:ext uri="{D42A27DB-BD31-4B8C-83A1-F6EECF244321}">
                <p14:modId xmlns:p14="http://schemas.microsoft.com/office/powerpoint/2010/main" val="347982833"/>
              </p:ext>
            </p:extLst>
          </p:nvPr>
        </p:nvGraphicFramePr>
        <p:xfrm>
          <a:off x="467544" y="1397000"/>
          <a:ext cx="820891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p:cNvSpPr txBox="1"/>
          <p:nvPr/>
        </p:nvSpPr>
        <p:spPr>
          <a:xfrm>
            <a:off x="3175273" y="1988840"/>
            <a:ext cx="2808312" cy="461665"/>
          </a:xfrm>
          <a:prstGeom prst="rect">
            <a:avLst/>
          </a:prstGeom>
          <a:noFill/>
        </p:spPr>
        <p:txBody>
          <a:bodyPr wrap="square" rtlCol="0">
            <a:spAutoFit/>
          </a:bodyPr>
          <a:lstStyle/>
          <a:p>
            <a:pPr algn="ctr"/>
            <a:r>
              <a:rPr lang="es-AR" sz="2400" b="1" dirty="0" smtClean="0">
                <a:solidFill>
                  <a:schemeClr val="bg1"/>
                </a:solidFill>
              </a:rPr>
              <a:t>CÓDIGOS</a:t>
            </a:r>
            <a:endParaRPr lang="en-US" sz="2400" b="1" dirty="0">
              <a:solidFill>
                <a:schemeClr val="bg1"/>
              </a:solidFill>
            </a:endParaRPr>
          </a:p>
        </p:txBody>
      </p:sp>
      <p:grpSp>
        <p:nvGrpSpPr>
          <p:cNvPr id="11" name="Grupo 10"/>
          <p:cNvGrpSpPr/>
          <p:nvPr/>
        </p:nvGrpSpPr>
        <p:grpSpPr>
          <a:xfrm>
            <a:off x="1296472" y="4797152"/>
            <a:ext cx="6552728" cy="946349"/>
            <a:chOff x="3607" y="1558825"/>
            <a:chExt cx="1577249" cy="946349"/>
          </a:xfrm>
        </p:grpSpPr>
        <p:sp>
          <p:nvSpPr>
            <p:cNvPr id="12" name="Rectángulo redondeado 11"/>
            <p:cNvSpPr/>
            <p:nvPr/>
          </p:nvSpPr>
          <p:spPr>
            <a:xfrm>
              <a:off x="3607" y="1558825"/>
              <a:ext cx="1577249" cy="946349"/>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3" name="CuadroTexto 12"/>
            <p:cNvSpPr txBox="1"/>
            <p:nvPr/>
          </p:nvSpPr>
          <p:spPr>
            <a:xfrm>
              <a:off x="31325"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dirty="0" smtClean="0"/>
                <a:t>Código de bloque: A cada símbolo de la fuente le asigna una palabra de código.</a:t>
              </a:r>
              <a:endParaRPr lang="es-ES" sz="1800" kern="1200" dirty="0"/>
            </a:p>
          </p:txBody>
        </p:sp>
      </p:grpSp>
      <p:grpSp>
        <p:nvGrpSpPr>
          <p:cNvPr id="14" name="Grupo 13"/>
          <p:cNvGrpSpPr/>
          <p:nvPr/>
        </p:nvGrpSpPr>
        <p:grpSpPr>
          <a:xfrm>
            <a:off x="1294799" y="4786907"/>
            <a:ext cx="6554402" cy="946349"/>
            <a:chOff x="2211756" y="1558825"/>
            <a:chExt cx="1577249" cy="946349"/>
          </a:xfrm>
        </p:grpSpPr>
        <p:sp>
          <p:nvSpPr>
            <p:cNvPr id="15" name="Rectángulo redondeado 14"/>
            <p:cNvSpPr/>
            <p:nvPr/>
          </p:nvSpPr>
          <p:spPr>
            <a:xfrm>
              <a:off x="2211756" y="1558825"/>
              <a:ext cx="1577249" cy="946349"/>
            </a:xfrm>
            <a:prstGeom prst="roundRect">
              <a:avLst>
                <a:gd name="adj" fmla="val 10000"/>
              </a:avLst>
            </a:prstGeom>
            <a:solidFill>
              <a:schemeClr val="accent3">
                <a:lumMod val="75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sp>
        <p:sp>
          <p:nvSpPr>
            <p:cNvPr id="16" name="CuadroTexto 15"/>
            <p:cNvSpPr txBox="1"/>
            <p:nvPr/>
          </p:nvSpPr>
          <p:spPr>
            <a:xfrm>
              <a:off x="2239474"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Código No singular: Todas sus palabras son distintas.</a:t>
              </a:r>
              <a:endParaRPr lang="es-ES" sz="1800" kern="1200" dirty="0"/>
            </a:p>
          </p:txBody>
        </p:sp>
      </p:grpSp>
    </p:spTree>
    <p:extLst>
      <p:ext uri="{BB962C8B-B14F-4D97-AF65-F5344CB8AC3E}">
        <p14:creationId xmlns:p14="http://schemas.microsoft.com/office/powerpoint/2010/main" val="26903513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ipse 8"/>
          <p:cNvSpPr/>
          <p:nvPr/>
        </p:nvSpPr>
        <p:spPr>
          <a:xfrm>
            <a:off x="107504" y="1772816"/>
            <a:ext cx="8928992" cy="3384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13</a:t>
            </a:fld>
            <a:endParaRPr lang="es-ES"/>
          </a:p>
        </p:txBody>
      </p:sp>
      <p:graphicFrame>
        <p:nvGraphicFramePr>
          <p:cNvPr id="7" name="Diagrama 6"/>
          <p:cNvGraphicFramePr/>
          <p:nvPr>
            <p:extLst>
              <p:ext uri="{D42A27DB-BD31-4B8C-83A1-F6EECF244321}">
                <p14:modId xmlns:p14="http://schemas.microsoft.com/office/powerpoint/2010/main" val="347982833"/>
              </p:ext>
            </p:extLst>
          </p:nvPr>
        </p:nvGraphicFramePr>
        <p:xfrm>
          <a:off x="467544" y="1397000"/>
          <a:ext cx="820891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p:cNvSpPr txBox="1"/>
          <p:nvPr/>
        </p:nvSpPr>
        <p:spPr>
          <a:xfrm>
            <a:off x="3175273" y="1988840"/>
            <a:ext cx="2808312" cy="461665"/>
          </a:xfrm>
          <a:prstGeom prst="rect">
            <a:avLst/>
          </a:prstGeom>
          <a:noFill/>
        </p:spPr>
        <p:txBody>
          <a:bodyPr wrap="square" rtlCol="0">
            <a:spAutoFit/>
          </a:bodyPr>
          <a:lstStyle/>
          <a:p>
            <a:pPr algn="ctr"/>
            <a:r>
              <a:rPr lang="es-AR" sz="2400" b="1" dirty="0" smtClean="0">
                <a:solidFill>
                  <a:schemeClr val="bg1"/>
                </a:solidFill>
              </a:rPr>
              <a:t>CÓDIGOS</a:t>
            </a:r>
            <a:endParaRPr lang="en-US" sz="2400" b="1" dirty="0">
              <a:solidFill>
                <a:schemeClr val="bg1"/>
              </a:solidFill>
            </a:endParaRPr>
          </a:p>
        </p:txBody>
      </p:sp>
      <p:grpSp>
        <p:nvGrpSpPr>
          <p:cNvPr id="11" name="Grupo 10"/>
          <p:cNvGrpSpPr/>
          <p:nvPr/>
        </p:nvGrpSpPr>
        <p:grpSpPr>
          <a:xfrm>
            <a:off x="1296472" y="4797152"/>
            <a:ext cx="6552728" cy="946349"/>
            <a:chOff x="3607" y="1558825"/>
            <a:chExt cx="1577249" cy="946349"/>
          </a:xfrm>
        </p:grpSpPr>
        <p:sp>
          <p:nvSpPr>
            <p:cNvPr id="12" name="Rectángulo redondeado 11"/>
            <p:cNvSpPr/>
            <p:nvPr/>
          </p:nvSpPr>
          <p:spPr>
            <a:xfrm>
              <a:off x="3607" y="1558825"/>
              <a:ext cx="1577249" cy="946349"/>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3" name="CuadroTexto 12"/>
            <p:cNvSpPr txBox="1"/>
            <p:nvPr/>
          </p:nvSpPr>
          <p:spPr>
            <a:xfrm>
              <a:off x="31325"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dirty="0" smtClean="0"/>
                <a:t>Código de bloque: A cada símbolo de la fuente le asigna una palabra de código.</a:t>
              </a:r>
              <a:endParaRPr lang="es-ES" sz="1800" kern="1200" dirty="0"/>
            </a:p>
          </p:txBody>
        </p:sp>
      </p:grpSp>
      <p:grpSp>
        <p:nvGrpSpPr>
          <p:cNvPr id="14" name="Grupo 13"/>
          <p:cNvGrpSpPr/>
          <p:nvPr/>
        </p:nvGrpSpPr>
        <p:grpSpPr>
          <a:xfrm>
            <a:off x="1294799" y="4786907"/>
            <a:ext cx="6554402" cy="946349"/>
            <a:chOff x="2211756" y="1558825"/>
            <a:chExt cx="1577249" cy="946349"/>
          </a:xfrm>
        </p:grpSpPr>
        <p:sp>
          <p:nvSpPr>
            <p:cNvPr id="15" name="Rectángulo redondeado 14"/>
            <p:cNvSpPr/>
            <p:nvPr/>
          </p:nvSpPr>
          <p:spPr>
            <a:xfrm>
              <a:off x="2211756" y="1558825"/>
              <a:ext cx="1577249" cy="946349"/>
            </a:xfrm>
            <a:prstGeom prst="roundRect">
              <a:avLst>
                <a:gd name="adj" fmla="val 10000"/>
              </a:avLst>
            </a:prstGeom>
            <a:solidFill>
              <a:schemeClr val="accent3">
                <a:lumMod val="75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sp>
        <p:sp>
          <p:nvSpPr>
            <p:cNvPr id="16" name="CuadroTexto 15"/>
            <p:cNvSpPr txBox="1"/>
            <p:nvPr/>
          </p:nvSpPr>
          <p:spPr>
            <a:xfrm>
              <a:off x="2239474"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Código No singular: Todas sus palabras son distintas.</a:t>
              </a:r>
              <a:endParaRPr lang="es-ES" sz="1800" kern="1200" dirty="0"/>
            </a:p>
          </p:txBody>
        </p:sp>
      </p:grpSp>
      <p:grpSp>
        <p:nvGrpSpPr>
          <p:cNvPr id="17" name="Grupo 16"/>
          <p:cNvGrpSpPr/>
          <p:nvPr/>
        </p:nvGrpSpPr>
        <p:grpSpPr>
          <a:xfrm>
            <a:off x="1294801" y="4786907"/>
            <a:ext cx="6554400" cy="946349"/>
            <a:chOff x="4419905" y="1558825"/>
            <a:chExt cx="1577249" cy="946349"/>
          </a:xfrm>
        </p:grpSpPr>
        <p:sp>
          <p:nvSpPr>
            <p:cNvPr id="18" name="Rectángulo redondeado 17"/>
            <p:cNvSpPr/>
            <p:nvPr/>
          </p:nvSpPr>
          <p:spPr>
            <a:xfrm>
              <a:off x="4419905" y="1558825"/>
              <a:ext cx="1577249" cy="946349"/>
            </a:xfrm>
            <a:prstGeom prst="roundRect">
              <a:avLst>
                <a:gd name="adj" fmla="val 10000"/>
              </a:avLst>
            </a:prstGeom>
            <a:solidFill>
              <a:schemeClr val="accent4">
                <a:lumMod val="75000"/>
              </a:schemeClr>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sp>
        <p:sp>
          <p:nvSpPr>
            <p:cNvPr id="19" name="CuadroTexto 18"/>
            <p:cNvSpPr txBox="1"/>
            <p:nvPr/>
          </p:nvSpPr>
          <p:spPr>
            <a:xfrm>
              <a:off x="4447623"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Código Unívocamente Decodificable: Su extensión (o secuencia) de orden n es singular, para todo n finito.</a:t>
              </a:r>
              <a:endParaRPr lang="es-ES" sz="1800" kern="1200" dirty="0"/>
            </a:p>
          </p:txBody>
        </p:sp>
      </p:grpSp>
    </p:spTree>
    <p:extLst>
      <p:ext uri="{BB962C8B-B14F-4D97-AF65-F5344CB8AC3E}">
        <p14:creationId xmlns:p14="http://schemas.microsoft.com/office/powerpoint/2010/main" val="42941200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ipse 8"/>
          <p:cNvSpPr/>
          <p:nvPr/>
        </p:nvSpPr>
        <p:spPr>
          <a:xfrm>
            <a:off x="107504" y="1772816"/>
            <a:ext cx="8928992" cy="3384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14</a:t>
            </a:fld>
            <a:endParaRPr lang="es-ES"/>
          </a:p>
        </p:txBody>
      </p:sp>
      <p:graphicFrame>
        <p:nvGraphicFramePr>
          <p:cNvPr id="7" name="Diagrama 6"/>
          <p:cNvGraphicFramePr/>
          <p:nvPr>
            <p:extLst>
              <p:ext uri="{D42A27DB-BD31-4B8C-83A1-F6EECF244321}">
                <p14:modId xmlns:p14="http://schemas.microsoft.com/office/powerpoint/2010/main" val="347982833"/>
              </p:ext>
            </p:extLst>
          </p:nvPr>
        </p:nvGraphicFramePr>
        <p:xfrm>
          <a:off x="467544" y="1397000"/>
          <a:ext cx="820891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p:cNvSpPr txBox="1"/>
          <p:nvPr/>
        </p:nvSpPr>
        <p:spPr>
          <a:xfrm>
            <a:off x="3175273" y="1988840"/>
            <a:ext cx="2808312" cy="461665"/>
          </a:xfrm>
          <a:prstGeom prst="rect">
            <a:avLst/>
          </a:prstGeom>
          <a:noFill/>
        </p:spPr>
        <p:txBody>
          <a:bodyPr wrap="square" rtlCol="0">
            <a:spAutoFit/>
          </a:bodyPr>
          <a:lstStyle/>
          <a:p>
            <a:pPr algn="ctr"/>
            <a:r>
              <a:rPr lang="es-AR" sz="2400" b="1" dirty="0" smtClean="0">
                <a:solidFill>
                  <a:schemeClr val="bg1"/>
                </a:solidFill>
              </a:rPr>
              <a:t>CÓDIGOS</a:t>
            </a:r>
            <a:endParaRPr lang="en-US" sz="2400" b="1" dirty="0">
              <a:solidFill>
                <a:schemeClr val="bg1"/>
              </a:solidFill>
            </a:endParaRPr>
          </a:p>
        </p:txBody>
      </p:sp>
      <p:grpSp>
        <p:nvGrpSpPr>
          <p:cNvPr id="11" name="Grupo 10"/>
          <p:cNvGrpSpPr/>
          <p:nvPr/>
        </p:nvGrpSpPr>
        <p:grpSpPr>
          <a:xfrm>
            <a:off x="1296472" y="4797152"/>
            <a:ext cx="6552728" cy="946349"/>
            <a:chOff x="3607" y="1558825"/>
            <a:chExt cx="1577249" cy="946349"/>
          </a:xfrm>
        </p:grpSpPr>
        <p:sp>
          <p:nvSpPr>
            <p:cNvPr id="12" name="Rectángulo redondeado 11"/>
            <p:cNvSpPr/>
            <p:nvPr/>
          </p:nvSpPr>
          <p:spPr>
            <a:xfrm>
              <a:off x="3607" y="1558825"/>
              <a:ext cx="1577249" cy="946349"/>
            </a:xfrm>
            <a:prstGeom prst="roundRect">
              <a:avLst>
                <a:gd name="adj" fmla="val 10000"/>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3" name="CuadroTexto 12"/>
            <p:cNvSpPr txBox="1"/>
            <p:nvPr/>
          </p:nvSpPr>
          <p:spPr>
            <a:xfrm>
              <a:off x="31325"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dirty="0" smtClean="0"/>
                <a:t>Código de bloque: A cada símbolo de la fuente le asigna una palabra de código.</a:t>
              </a:r>
              <a:endParaRPr lang="es-ES" sz="1800" kern="1200" dirty="0"/>
            </a:p>
          </p:txBody>
        </p:sp>
      </p:grpSp>
      <p:grpSp>
        <p:nvGrpSpPr>
          <p:cNvPr id="14" name="Grupo 13"/>
          <p:cNvGrpSpPr/>
          <p:nvPr/>
        </p:nvGrpSpPr>
        <p:grpSpPr>
          <a:xfrm>
            <a:off x="1294799" y="4786907"/>
            <a:ext cx="6554402" cy="946349"/>
            <a:chOff x="2211756" y="1558825"/>
            <a:chExt cx="1577249" cy="946349"/>
          </a:xfrm>
        </p:grpSpPr>
        <p:sp>
          <p:nvSpPr>
            <p:cNvPr id="15" name="Rectángulo redondeado 14"/>
            <p:cNvSpPr/>
            <p:nvPr/>
          </p:nvSpPr>
          <p:spPr>
            <a:xfrm>
              <a:off x="2211756" y="1558825"/>
              <a:ext cx="1577249" cy="946349"/>
            </a:xfrm>
            <a:prstGeom prst="roundRect">
              <a:avLst>
                <a:gd name="adj" fmla="val 10000"/>
              </a:avLst>
            </a:prstGeom>
            <a:solidFill>
              <a:schemeClr val="accent3">
                <a:lumMod val="75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sp>
        <p:sp>
          <p:nvSpPr>
            <p:cNvPr id="16" name="CuadroTexto 15"/>
            <p:cNvSpPr txBox="1"/>
            <p:nvPr/>
          </p:nvSpPr>
          <p:spPr>
            <a:xfrm>
              <a:off x="2239474"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Código No singular: Todas sus palabras son distintas.</a:t>
              </a:r>
              <a:endParaRPr lang="es-ES" sz="1800" kern="1200" dirty="0"/>
            </a:p>
          </p:txBody>
        </p:sp>
      </p:grpSp>
      <p:grpSp>
        <p:nvGrpSpPr>
          <p:cNvPr id="17" name="Grupo 16"/>
          <p:cNvGrpSpPr/>
          <p:nvPr/>
        </p:nvGrpSpPr>
        <p:grpSpPr>
          <a:xfrm>
            <a:off x="1294801" y="4786907"/>
            <a:ext cx="6554400" cy="946349"/>
            <a:chOff x="4419905" y="1558825"/>
            <a:chExt cx="1577249" cy="946349"/>
          </a:xfrm>
        </p:grpSpPr>
        <p:sp>
          <p:nvSpPr>
            <p:cNvPr id="18" name="Rectángulo redondeado 17"/>
            <p:cNvSpPr/>
            <p:nvPr/>
          </p:nvSpPr>
          <p:spPr>
            <a:xfrm>
              <a:off x="4419905" y="1558825"/>
              <a:ext cx="1577249" cy="946349"/>
            </a:xfrm>
            <a:prstGeom prst="roundRect">
              <a:avLst>
                <a:gd name="adj" fmla="val 10000"/>
              </a:avLst>
            </a:prstGeom>
            <a:solidFill>
              <a:schemeClr val="accent4">
                <a:lumMod val="75000"/>
              </a:schemeClr>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sp>
        <p:sp>
          <p:nvSpPr>
            <p:cNvPr id="19" name="CuadroTexto 18"/>
            <p:cNvSpPr txBox="1"/>
            <p:nvPr/>
          </p:nvSpPr>
          <p:spPr>
            <a:xfrm>
              <a:off x="4447623"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t>Código Unívocamente Decodificable: Su extensión (o secuencia) de orden n es singular, para todo n finito.</a:t>
              </a:r>
              <a:endParaRPr lang="es-ES" sz="1800" kern="1200" dirty="0"/>
            </a:p>
          </p:txBody>
        </p:sp>
      </p:grpSp>
      <p:grpSp>
        <p:nvGrpSpPr>
          <p:cNvPr id="20" name="Grupo 19"/>
          <p:cNvGrpSpPr/>
          <p:nvPr/>
        </p:nvGrpSpPr>
        <p:grpSpPr>
          <a:xfrm>
            <a:off x="1294801" y="4786907"/>
            <a:ext cx="6554400" cy="946349"/>
            <a:chOff x="6628055" y="1558825"/>
            <a:chExt cx="1577249" cy="946349"/>
          </a:xfrm>
        </p:grpSpPr>
        <p:sp>
          <p:nvSpPr>
            <p:cNvPr id="21" name="Rectángulo redondeado 20"/>
            <p:cNvSpPr/>
            <p:nvPr/>
          </p:nvSpPr>
          <p:spPr>
            <a:xfrm>
              <a:off x="6628055" y="1558825"/>
              <a:ext cx="1577249" cy="94634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2" name="CuadroTexto 21"/>
            <p:cNvSpPr txBox="1"/>
            <p:nvPr/>
          </p:nvSpPr>
          <p:spPr>
            <a:xfrm>
              <a:off x="6655773" y="1586543"/>
              <a:ext cx="1521813" cy="8909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600" kern="1200" dirty="0" smtClean="0"/>
                <a:t>Código Instantáneo: Es posible decodificar las palabras de una secuencia sin requerir conocer el símbolo que lo precede. Es condición necesaria y suficiente que sea un código prefijo, es decir, que ninguna palabra sea prefijo de otra.</a:t>
              </a:r>
              <a:endParaRPr lang="es-ES" sz="1600" kern="1200" dirty="0"/>
            </a:p>
          </p:txBody>
        </p:sp>
      </p:grpSp>
    </p:spTree>
    <p:extLst>
      <p:ext uri="{BB962C8B-B14F-4D97-AF65-F5344CB8AC3E}">
        <p14:creationId xmlns:p14="http://schemas.microsoft.com/office/powerpoint/2010/main" val="18972810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15</a:t>
            </a:fld>
            <a:endParaRPr lang="es-ES"/>
          </a:p>
        </p:txBody>
      </p:sp>
      <mc:AlternateContent xmlns:mc="http://schemas.openxmlformats.org/markup-compatibility/2006" xmlns:a14="http://schemas.microsoft.com/office/drawing/2010/main">
        <mc:Choice Requires="a14">
          <p:sp>
            <p:nvSpPr>
              <p:cNvPr id="8" name="2 Marcador de contenido"/>
              <p:cNvSpPr>
                <a:spLocks noGrp="1"/>
              </p:cNvSpPr>
              <p:nvPr>
                <p:ph sz="quarter" idx="1"/>
              </p:nvPr>
            </p:nvSpPr>
            <p:spPr/>
            <p:txBody>
              <a:bodyPr>
                <a:normAutofit fontScale="92500" lnSpcReduction="10000"/>
              </a:bodyPr>
              <a:lstStyle/>
              <a:p>
                <a:pPr marL="0" indent="0" algn="just">
                  <a:buNone/>
                </a:pPr>
                <a:r>
                  <a:rPr lang="es-AR" sz="1800" dirty="0" smtClean="0"/>
                  <a:t>Sean los siguientes códigos:</a:t>
                </a:r>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342900" indent="-342900" algn="just">
                  <a:buAutoNum type="arabicParenR"/>
                </a:pPr>
                <a:r>
                  <a:rPr lang="es-AR" sz="1800" dirty="0" smtClean="0"/>
                  <a:t>Calculamos la longitud promedio de cada código según la definición:</a:t>
                </a:r>
              </a:p>
              <a:p>
                <a:pPr marL="0" indent="0" algn="just">
                  <a:buNone/>
                </a:pPr>
                <a:endParaRPr lang="es-AR" sz="1800" dirty="0"/>
              </a:p>
              <a:p>
                <a:pPr marL="0" indent="0" algn="just">
                  <a:buNone/>
                </a:pPr>
                <a14:m>
                  <m:oMathPara xmlns:m="http://schemas.openxmlformats.org/officeDocument/2006/math">
                    <m:oMathParaPr>
                      <m:jc m:val="centerGroup"/>
                    </m:oMathParaPr>
                    <m:oMath xmlns:m="http://schemas.openxmlformats.org/officeDocument/2006/math">
                      <m:bar>
                        <m:barPr>
                          <m:pos m:val="top"/>
                          <m:ctrlPr>
                            <a:rPr lang="es-AR" sz="1800" i="1">
                              <a:latin typeface="Cambria Math" panose="02040503050406030204" pitchFamily="18" charset="0"/>
                            </a:rPr>
                          </m:ctrlPr>
                        </m:barPr>
                        <m:e>
                          <m:r>
                            <a:rPr lang="es-AR" sz="1800" i="1">
                              <a:latin typeface="Cambria Math" panose="02040503050406030204" pitchFamily="18" charset="0"/>
                            </a:rPr>
                            <m:t>𝐿</m:t>
                          </m:r>
                        </m:e>
                      </m:bar>
                      <m:r>
                        <a:rPr lang="es-AR" sz="1800" b="0" i="1" smtClean="0">
                          <a:latin typeface="Cambria Math" panose="02040503050406030204" pitchFamily="18" charset="0"/>
                        </a:rPr>
                        <m:t>=</m:t>
                      </m:r>
                      <m:nary>
                        <m:naryPr>
                          <m:chr m:val="∑"/>
                          <m:ctrlPr>
                            <a:rPr lang="es-AR" sz="1800" i="1">
                              <a:latin typeface="Cambria Math" panose="02040503050406030204" pitchFamily="18" charset="0"/>
                            </a:rPr>
                          </m:ctrlPr>
                        </m:naryPr>
                        <m:sub>
                          <m:r>
                            <m:rPr>
                              <m:brk m:alnAt="23"/>
                            </m:rPr>
                            <a:rPr lang="es-AR" sz="1800" i="1">
                              <a:latin typeface="Cambria Math" panose="02040503050406030204" pitchFamily="18" charset="0"/>
                            </a:rPr>
                            <m:t>𝑖</m:t>
                          </m:r>
                          <m:r>
                            <a:rPr lang="es-AR" sz="1800" i="1">
                              <a:latin typeface="Cambria Math" panose="02040503050406030204" pitchFamily="18" charset="0"/>
                            </a:rPr>
                            <m:t>=0</m:t>
                          </m:r>
                        </m:sub>
                        <m:sup>
                          <m:r>
                            <a:rPr lang="es-AR" sz="1800" i="1">
                              <a:latin typeface="Cambria Math" panose="02040503050406030204" pitchFamily="18" charset="0"/>
                            </a:rPr>
                            <m:t>𝐾</m:t>
                          </m:r>
                          <m:r>
                            <a:rPr lang="es-AR" sz="1800" b="0" i="1" smtClean="0">
                              <a:latin typeface="Cambria Math" panose="02040503050406030204" pitchFamily="18" charset="0"/>
                            </a:rPr>
                            <m:t>−1</m:t>
                          </m:r>
                        </m:sup>
                        <m:e>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r>
                            <a:rPr lang="es-AR" sz="1800" i="1">
                              <a:latin typeface="Cambria Math" panose="02040503050406030204" pitchFamily="18" charset="0"/>
                            </a:rPr>
                            <m:t>.</m:t>
                          </m:r>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𝑙</m:t>
                              </m:r>
                            </m:e>
                            <m:sub>
                              <m:r>
                                <a:rPr lang="es-AR" sz="1800" b="0" i="1" smtClean="0">
                                  <a:latin typeface="Cambria Math" panose="02040503050406030204" pitchFamily="18" charset="0"/>
                                </a:rPr>
                                <m:t>𝑖</m:t>
                              </m:r>
                            </m:sub>
                          </m:sSub>
                          <m:r>
                            <a:rPr lang="es-AR" sz="1800" i="1" smtClean="0">
                              <a:latin typeface="Cambria Math" panose="02040503050406030204" pitchFamily="18" charset="0"/>
                            </a:rPr>
                            <m:t> </m:t>
                          </m:r>
                        </m:e>
                      </m:nary>
                    </m:oMath>
                  </m:oMathPara>
                </a14:m>
                <a:endParaRPr lang="es-AR" sz="1800" dirty="0" smtClean="0"/>
              </a:p>
              <a:p>
                <a:pPr marL="0" indent="0" algn="just">
                  <a:buNone/>
                </a:pPr>
                <a:endParaRPr lang="es-AR" sz="1800" dirty="0" smtClean="0"/>
              </a:p>
              <a:p>
                <a:pPr marL="0" indent="0" algn="just">
                  <a:buNone/>
                </a:pPr>
                <a:r>
                  <a:rPr lang="es-AR" sz="1800" dirty="0"/>
                  <a:t>Siendo l</a:t>
                </a:r>
                <a:r>
                  <a:rPr lang="es-AR" sz="1800" baseline="-25000" dirty="0"/>
                  <a:t>i</a:t>
                </a:r>
                <a:r>
                  <a:rPr lang="es-AR" sz="1800" dirty="0"/>
                  <a:t> la </a:t>
                </a:r>
                <a:r>
                  <a:rPr lang="es-AR" sz="1800" dirty="0" smtClean="0"/>
                  <a:t>longitud de cada palabra del código.</a:t>
                </a:r>
              </a:p>
              <a:p>
                <a:pPr marL="0" indent="0" algn="just">
                  <a:buNone/>
                </a:pPr>
                <a:endParaRPr lang="es-AR" sz="1800" dirty="0" smtClean="0"/>
              </a:p>
              <a:p>
                <a:pPr marL="0" indent="0" algn="just">
                  <a:buNone/>
                </a:pPr>
                <a:endParaRPr lang="es-AR" sz="1800" dirty="0"/>
              </a:p>
              <a:p>
                <a:pPr marL="0" indent="0" algn="just">
                  <a:buNone/>
                </a:pPr>
                <a:endParaRPr lang="es-AR" sz="1800" dirty="0"/>
              </a:p>
            </p:txBody>
          </p:sp>
        </mc:Choice>
        <mc:Fallback xmlns="">
          <p:sp>
            <p:nvSpPr>
              <p:cNvPr id="8" name="2 Marcador de contenido"/>
              <p:cNvSpPr>
                <a:spLocks noGrp="1" noRot="1" noChangeAspect="1" noMove="1" noResize="1" noEditPoints="1" noAdjustHandles="1" noChangeArrowheads="1" noChangeShapeType="1" noTextEdit="1"/>
              </p:cNvSpPr>
              <p:nvPr>
                <p:ph sz="quarter" idx="1"/>
              </p:nvPr>
            </p:nvSpPr>
            <p:spPr>
              <a:blipFill>
                <a:blip r:embed="rId2"/>
                <a:stretch>
                  <a:fillRect l="-444" t="-741"/>
                </a:stretch>
              </a:blipFill>
            </p:spPr>
            <p:txBody>
              <a:bodyPr/>
              <a:lstStyle/>
              <a:p>
                <a:r>
                  <a:rPr lang="en-US">
                    <a:noFill/>
                  </a:rPr>
                  <a:t> </a:t>
                </a:r>
              </a:p>
            </p:txBody>
          </p:sp>
        </mc:Fallback>
      </mc:AlternateContent>
      <p:graphicFrame>
        <p:nvGraphicFramePr>
          <p:cNvPr id="12" name="Tabla 11"/>
          <p:cNvGraphicFramePr>
            <a:graphicFrameLocks noGrp="1"/>
          </p:cNvGraphicFramePr>
          <p:nvPr>
            <p:extLst>
              <p:ext uri="{D42A27DB-BD31-4B8C-83A1-F6EECF244321}">
                <p14:modId xmlns:p14="http://schemas.microsoft.com/office/powerpoint/2010/main" val="610932861"/>
              </p:ext>
            </p:extLst>
          </p:nvPr>
        </p:nvGraphicFramePr>
        <p:xfrm>
          <a:off x="463342" y="1628800"/>
          <a:ext cx="8223459" cy="2194560"/>
        </p:xfrm>
        <a:graphic>
          <a:graphicData uri="http://schemas.openxmlformats.org/drawingml/2006/table">
            <a:tbl>
              <a:tblPr firstRow="1" firstCol="1" bandRow="1">
                <a:tableStyleId>{5C22544A-7EE6-4342-B048-85BDC9FD1C3A}</a:tableStyleId>
              </a:tblPr>
              <a:tblGrid>
                <a:gridCol w="1337444">
                  <a:extLst>
                    <a:ext uri="{9D8B030D-6E8A-4147-A177-3AD203B41FA5}">
                      <a16:colId xmlns:a16="http://schemas.microsoft.com/office/drawing/2014/main" val="3772793028"/>
                    </a:ext>
                  </a:extLst>
                </a:gridCol>
                <a:gridCol w="1416430">
                  <a:extLst>
                    <a:ext uri="{9D8B030D-6E8A-4147-A177-3AD203B41FA5}">
                      <a16:colId xmlns:a16="http://schemas.microsoft.com/office/drawing/2014/main" val="4197801613"/>
                    </a:ext>
                  </a:extLst>
                </a:gridCol>
                <a:gridCol w="1395130">
                  <a:extLst>
                    <a:ext uri="{9D8B030D-6E8A-4147-A177-3AD203B41FA5}">
                      <a16:colId xmlns:a16="http://schemas.microsoft.com/office/drawing/2014/main" val="2153245287"/>
                    </a:ext>
                  </a:extLst>
                </a:gridCol>
                <a:gridCol w="1395130">
                  <a:extLst>
                    <a:ext uri="{9D8B030D-6E8A-4147-A177-3AD203B41FA5}">
                      <a16:colId xmlns:a16="http://schemas.microsoft.com/office/drawing/2014/main" val="3627201423"/>
                    </a:ext>
                  </a:extLst>
                </a:gridCol>
                <a:gridCol w="1403118">
                  <a:extLst>
                    <a:ext uri="{9D8B030D-6E8A-4147-A177-3AD203B41FA5}">
                      <a16:colId xmlns:a16="http://schemas.microsoft.com/office/drawing/2014/main" val="1978439366"/>
                    </a:ext>
                  </a:extLst>
                </a:gridCol>
                <a:gridCol w="1276207">
                  <a:extLst>
                    <a:ext uri="{9D8B030D-6E8A-4147-A177-3AD203B41FA5}">
                      <a16:colId xmlns:a16="http://schemas.microsoft.com/office/drawing/2014/main" val="659798290"/>
                    </a:ext>
                  </a:extLst>
                </a:gridCol>
              </a:tblGrid>
              <a:tr h="0">
                <a:tc>
                  <a:txBody>
                    <a:bodyPr/>
                    <a:lstStyle/>
                    <a:p>
                      <a:pPr marR="65405" algn="ctr">
                        <a:spcBef>
                          <a:spcPts val="600"/>
                        </a:spcBef>
                        <a:spcAft>
                          <a:spcPts val="600"/>
                        </a:spcAft>
                      </a:pPr>
                      <a:r>
                        <a:rPr lang="es-ES" sz="2400">
                          <a:effectLst/>
                        </a:rPr>
                        <a:t>S</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Prob.</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Cód. I</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II</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III</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IV</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47078977"/>
                  </a:ext>
                </a:extLst>
              </a:tr>
              <a:tr h="0">
                <a:tc>
                  <a:txBody>
                    <a:bodyPr/>
                    <a:lstStyle/>
                    <a:p>
                      <a:pPr marR="65405" algn="ctr">
                        <a:spcBef>
                          <a:spcPts val="600"/>
                        </a:spcBef>
                        <a:spcAft>
                          <a:spcPts val="600"/>
                        </a:spcAft>
                      </a:pPr>
                      <a:r>
                        <a:rPr lang="es-ES" sz="2400">
                          <a:effectLst/>
                        </a:rPr>
                        <a:t>S</a:t>
                      </a:r>
                      <a:r>
                        <a:rPr lang="es-ES" sz="2400" baseline="-25000">
                          <a:effectLst/>
                        </a:rPr>
                        <a:t>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4450050"/>
                  </a:ext>
                </a:extLst>
              </a:tr>
              <a:tr h="0">
                <a:tc>
                  <a:txBody>
                    <a:bodyPr/>
                    <a:lstStyle/>
                    <a:p>
                      <a:pPr marR="65405" algn="ctr">
                        <a:spcBef>
                          <a:spcPts val="600"/>
                        </a:spcBef>
                        <a:spcAft>
                          <a:spcPts val="600"/>
                        </a:spcAft>
                      </a:pPr>
                      <a:r>
                        <a:rPr lang="es-ES" sz="2400">
                          <a:effectLst/>
                        </a:rPr>
                        <a:t>S</a:t>
                      </a:r>
                      <a:r>
                        <a:rPr lang="es-ES" sz="2400" baseline="-25000">
                          <a:effectLst/>
                        </a:rPr>
                        <a:t>2</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0,25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0612161"/>
                  </a:ext>
                </a:extLst>
              </a:tr>
              <a:tr h="0">
                <a:tc>
                  <a:txBody>
                    <a:bodyPr/>
                    <a:lstStyle/>
                    <a:p>
                      <a:pPr marR="65405" algn="ctr">
                        <a:spcBef>
                          <a:spcPts val="600"/>
                        </a:spcBef>
                        <a:spcAft>
                          <a:spcPts val="600"/>
                        </a:spcAft>
                      </a:pPr>
                      <a:r>
                        <a:rPr lang="es-ES" sz="2400">
                          <a:effectLst/>
                        </a:rPr>
                        <a:t>S</a:t>
                      </a:r>
                      <a:r>
                        <a:rPr lang="es-ES" sz="2400" baseline="-25000">
                          <a:effectLst/>
                        </a:rPr>
                        <a:t>3</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0,125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12004202"/>
                  </a:ext>
                </a:extLst>
              </a:tr>
              <a:tr h="0">
                <a:tc>
                  <a:txBody>
                    <a:bodyPr/>
                    <a:lstStyle/>
                    <a:p>
                      <a:pPr marR="65405" algn="ctr">
                        <a:spcBef>
                          <a:spcPts val="600"/>
                        </a:spcBef>
                        <a:spcAft>
                          <a:spcPts val="600"/>
                        </a:spcAft>
                      </a:pPr>
                      <a:r>
                        <a:rPr lang="es-ES" sz="2400">
                          <a:effectLst/>
                        </a:rPr>
                        <a:t>S</a:t>
                      </a:r>
                      <a:r>
                        <a:rPr lang="es-ES" sz="2400" baseline="-25000">
                          <a:effectLst/>
                        </a:rPr>
                        <a:t>4</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0,125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11</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26788520"/>
                  </a:ext>
                </a:extLst>
              </a:tr>
              <a:tr h="0">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L</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9984796"/>
                  </a:ext>
                </a:extLst>
              </a:tr>
            </a:tbl>
          </a:graphicData>
        </a:graphic>
      </p:graphicFrame>
    </p:spTree>
    <p:extLst>
      <p:ext uri="{BB962C8B-B14F-4D97-AF65-F5344CB8AC3E}">
        <p14:creationId xmlns:p14="http://schemas.microsoft.com/office/powerpoint/2010/main" val="26011791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16</a:t>
            </a:fld>
            <a:endParaRPr lang="es-ES"/>
          </a:p>
        </p:txBody>
      </p:sp>
      <mc:AlternateContent xmlns:mc="http://schemas.openxmlformats.org/markup-compatibility/2006" xmlns:a14="http://schemas.microsoft.com/office/drawing/2010/main">
        <mc:Choice Requires="a14">
          <p:sp>
            <p:nvSpPr>
              <p:cNvPr id="8" name="2 Marcador de contenido"/>
              <p:cNvSpPr>
                <a:spLocks noGrp="1"/>
              </p:cNvSpPr>
              <p:nvPr>
                <p:ph sz="quarter" idx="1"/>
              </p:nvPr>
            </p:nvSpPr>
            <p:spPr/>
            <p:txBody>
              <a:bodyPr>
                <a:normAutofit fontScale="92500" lnSpcReduction="10000"/>
              </a:bodyPr>
              <a:lstStyle/>
              <a:p>
                <a:pPr marL="0" indent="0" algn="just">
                  <a:buNone/>
                </a:pPr>
                <a:r>
                  <a:rPr lang="es-AR" sz="1800" dirty="0" smtClean="0"/>
                  <a:t>Sean los siguientes códigos:</a:t>
                </a:r>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342900" indent="-342900" algn="just">
                  <a:buAutoNum type="arabicParenR"/>
                </a:pPr>
                <a:r>
                  <a:rPr lang="es-AR" sz="1800" dirty="0" smtClean="0"/>
                  <a:t>Calculamos la longitud promedio de cada código según la definición:</a:t>
                </a:r>
              </a:p>
              <a:p>
                <a:pPr marL="0" indent="0" algn="just">
                  <a:buNone/>
                </a:pPr>
                <a:endParaRPr lang="es-AR" sz="1800" dirty="0"/>
              </a:p>
              <a:p>
                <a:pPr marL="0" indent="0" algn="just">
                  <a:buNone/>
                </a:pPr>
                <a14:m>
                  <m:oMathPara xmlns:m="http://schemas.openxmlformats.org/officeDocument/2006/math">
                    <m:oMathParaPr>
                      <m:jc m:val="centerGroup"/>
                    </m:oMathParaPr>
                    <m:oMath xmlns:m="http://schemas.openxmlformats.org/officeDocument/2006/math">
                      <m:bar>
                        <m:barPr>
                          <m:pos m:val="top"/>
                          <m:ctrlPr>
                            <a:rPr lang="es-AR" sz="1800" b="0" i="1" smtClean="0">
                              <a:latin typeface="Cambria Math" panose="02040503050406030204" pitchFamily="18" charset="0"/>
                            </a:rPr>
                          </m:ctrlPr>
                        </m:barPr>
                        <m:e>
                          <m:r>
                            <a:rPr lang="es-AR" sz="1800" b="0" i="1" smtClean="0">
                              <a:latin typeface="Cambria Math" panose="02040503050406030204" pitchFamily="18" charset="0"/>
                            </a:rPr>
                            <m:t>𝐿</m:t>
                          </m:r>
                        </m:e>
                      </m:bar>
                      <m:r>
                        <a:rPr lang="es-AR" sz="1800" b="0" i="1" smtClean="0">
                          <a:latin typeface="Cambria Math" panose="02040503050406030204" pitchFamily="18" charset="0"/>
                        </a:rPr>
                        <m:t>=</m:t>
                      </m:r>
                      <m:nary>
                        <m:naryPr>
                          <m:chr m:val="∑"/>
                          <m:ctrlPr>
                            <a:rPr lang="es-AR" sz="1800" i="1">
                              <a:latin typeface="Cambria Math" panose="02040503050406030204" pitchFamily="18" charset="0"/>
                            </a:rPr>
                          </m:ctrlPr>
                        </m:naryPr>
                        <m:sub>
                          <m:r>
                            <m:rPr>
                              <m:brk m:alnAt="23"/>
                            </m:rPr>
                            <a:rPr lang="es-AR" sz="1800" i="1">
                              <a:latin typeface="Cambria Math" panose="02040503050406030204" pitchFamily="18" charset="0"/>
                            </a:rPr>
                            <m:t>𝑖</m:t>
                          </m:r>
                          <m:r>
                            <a:rPr lang="es-AR" sz="1800" i="1">
                              <a:latin typeface="Cambria Math" panose="02040503050406030204" pitchFamily="18" charset="0"/>
                            </a:rPr>
                            <m:t>=0</m:t>
                          </m:r>
                        </m:sub>
                        <m:sup>
                          <m:r>
                            <a:rPr lang="es-AR" sz="1800" i="1">
                              <a:latin typeface="Cambria Math" panose="02040503050406030204" pitchFamily="18" charset="0"/>
                            </a:rPr>
                            <m:t>𝐾</m:t>
                          </m:r>
                          <m:r>
                            <a:rPr lang="es-AR" sz="1800" b="0" i="1" smtClean="0">
                              <a:latin typeface="Cambria Math" panose="02040503050406030204" pitchFamily="18" charset="0"/>
                            </a:rPr>
                            <m:t>−1</m:t>
                          </m:r>
                        </m:sup>
                        <m:e>
                          <m:sSub>
                            <m:sSubPr>
                              <m:ctrlPr>
                                <a:rPr lang="es-AR" sz="1800" i="1">
                                  <a:latin typeface="Cambria Math" panose="02040503050406030204" pitchFamily="18" charset="0"/>
                                </a:rPr>
                              </m:ctrlPr>
                            </m:sSubPr>
                            <m:e>
                              <m:r>
                                <a:rPr lang="es-AR" sz="1800" i="1">
                                  <a:latin typeface="Cambria Math" panose="02040503050406030204" pitchFamily="18" charset="0"/>
                                </a:rPr>
                                <m:t>𝑝</m:t>
                              </m:r>
                            </m:e>
                            <m:sub>
                              <m:r>
                                <a:rPr lang="es-AR" sz="1800" i="1">
                                  <a:latin typeface="Cambria Math" panose="02040503050406030204" pitchFamily="18" charset="0"/>
                                </a:rPr>
                                <m:t>𝑖</m:t>
                              </m:r>
                            </m:sub>
                          </m:sSub>
                          <m:r>
                            <a:rPr lang="es-AR" sz="1800" i="1">
                              <a:latin typeface="Cambria Math" panose="02040503050406030204" pitchFamily="18" charset="0"/>
                            </a:rPr>
                            <m:t>.</m:t>
                          </m:r>
                          <m:sSub>
                            <m:sSubPr>
                              <m:ctrlPr>
                                <a:rPr lang="es-AR" sz="1800" i="1" smtClean="0">
                                  <a:latin typeface="Cambria Math" panose="02040503050406030204" pitchFamily="18" charset="0"/>
                                </a:rPr>
                              </m:ctrlPr>
                            </m:sSubPr>
                            <m:e>
                              <m:r>
                                <a:rPr lang="es-AR" sz="1800" b="0" i="1" smtClean="0">
                                  <a:latin typeface="Cambria Math" panose="02040503050406030204" pitchFamily="18" charset="0"/>
                                </a:rPr>
                                <m:t>𝑙</m:t>
                              </m:r>
                            </m:e>
                            <m:sub>
                              <m:r>
                                <a:rPr lang="es-AR" sz="1800" b="0" i="1" smtClean="0">
                                  <a:latin typeface="Cambria Math" panose="02040503050406030204" pitchFamily="18" charset="0"/>
                                </a:rPr>
                                <m:t>𝑖</m:t>
                              </m:r>
                            </m:sub>
                          </m:sSub>
                          <m:r>
                            <a:rPr lang="es-AR" sz="1800" i="1" smtClean="0">
                              <a:latin typeface="Cambria Math" panose="02040503050406030204" pitchFamily="18" charset="0"/>
                            </a:rPr>
                            <m:t> </m:t>
                          </m:r>
                        </m:e>
                      </m:nary>
                    </m:oMath>
                  </m:oMathPara>
                </a14:m>
                <a:endParaRPr lang="es-AR" sz="1800" dirty="0" smtClean="0"/>
              </a:p>
              <a:p>
                <a:pPr marL="0" indent="0" algn="just">
                  <a:buNone/>
                </a:pPr>
                <a:endParaRPr lang="es-AR" sz="1800" dirty="0" smtClean="0"/>
              </a:p>
              <a:p>
                <a:pPr marL="0" indent="0" algn="just">
                  <a:buNone/>
                </a:pPr>
                <a:r>
                  <a:rPr lang="es-AR" sz="1800" dirty="0" smtClean="0"/>
                  <a:t>Siendo l</a:t>
                </a:r>
                <a:r>
                  <a:rPr lang="es-AR" sz="1800" baseline="-25000" dirty="0" smtClean="0"/>
                  <a:t>i</a:t>
                </a:r>
                <a:r>
                  <a:rPr lang="es-AR" sz="1800" dirty="0" smtClean="0"/>
                  <a:t> la longitud de cada palabra del código.</a:t>
                </a:r>
              </a:p>
              <a:p>
                <a:pPr marL="0" indent="0" algn="just">
                  <a:buNone/>
                </a:pPr>
                <a:endParaRPr lang="es-AR" sz="1800" dirty="0" smtClean="0"/>
              </a:p>
              <a:p>
                <a:pPr marL="0" indent="0" algn="just">
                  <a:buNone/>
                </a:pPr>
                <a:endParaRPr lang="es-AR" sz="1800" dirty="0"/>
              </a:p>
              <a:p>
                <a:pPr marL="0" indent="0" algn="just">
                  <a:buNone/>
                </a:pPr>
                <a:endParaRPr lang="es-AR" sz="1800" dirty="0"/>
              </a:p>
            </p:txBody>
          </p:sp>
        </mc:Choice>
        <mc:Fallback xmlns="">
          <p:sp>
            <p:nvSpPr>
              <p:cNvPr id="8" name="2 Marcador de contenido"/>
              <p:cNvSpPr>
                <a:spLocks noGrp="1" noRot="1" noChangeAspect="1" noMove="1" noResize="1" noEditPoints="1" noAdjustHandles="1" noChangeArrowheads="1" noChangeShapeType="1" noTextEdit="1"/>
              </p:cNvSpPr>
              <p:nvPr>
                <p:ph sz="quarter" idx="1"/>
              </p:nvPr>
            </p:nvSpPr>
            <p:spPr>
              <a:blipFill>
                <a:blip r:embed="rId2"/>
                <a:stretch>
                  <a:fillRect l="-444" t="-741"/>
                </a:stretch>
              </a:blipFill>
            </p:spPr>
            <p:txBody>
              <a:bodyPr/>
              <a:lstStyle/>
              <a:p>
                <a:r>
                  <a:rPr lang="en-US">
                    <a:noFill/>
                  </a:rPr>
                  <a:t> </a:t>
                </a:r>
              </a:p>
            </p:txBody>
          </p:sp>
        </mc:Fallback>
      </mc:AlternateContent>
      <p:graphicFrame>
        <p:nvGraphicFramePr>
          <p:cNvPr id="12" name="Tabla 11"/>
          <p:cNvGraphicFramePr>
            <a:graphicFrameLocks noGrp="1"/>
          </p:cNvGraphicFramePr>
          <p:nvPr>
            <p:extLst>
              <p:ext uri="{D42A27DB-BD31-4B8C-83A1-F6EECF244321}">
                <p14:modId xmlns:p14="http://schemas.microsoft.com/office/powerpoint/2010/main" val="2662853659"/>
              </p:ext>
            </p:extLst>
          </p:nvPr>
        </p:nvGraphicFramePr>
        <p:xfrm>
          <a:off x="463342" y="1628800"/>
          <a:ext cx="8223459" cy="2194560"/>
        </p:xfrm>
        <a:graphic>
          <a:graphicData uri="http://schemas.openxmlformats.org/drawingml/2006/table">
            <a:tbl>
              <a:tblPr firstRow="1" firstCol="1" bandRow="1">
                <a:tableStyleId>{5C22544A-7EE6-4342-B048-85BDC9FD1C3A}</a:tableStyleId>
              </a:tblPr>
              <a:tblGrid>
                <a:gridCol w="1337444">
                  <a:extLst>
                    <a:ext uri="{9D8B030D-6E8A-4147-A177-3AD203B41FA5}">
                      <a16:colId xmlns:a16="http://schemas.microsoft.com/office/drawing/2014/main" val="3772793028"/>
                    </a:ext>
                  </a:extLst>
                </a:gridCol>
                <a:gridCol w="1416430">
                  <a:extLst>
                    <a:ext uri="{9D8B030D-6E8A-4147-A177-3AD203B41FA5}">
                      <a16:colId xmlns:a16="http://schemas.microsoft.com/office/drawing/2014/main" val="4197801613"/>
                    </a:ext>
                  </a:extLst>
                </a:gridCol>
                <a:gridCol w="1395130">
                  <a:extLst>
                    <a:ext uri="{9D8B030D-6E8A-4147-A177-3AD203B41FA5}">
                      <a16:colId xmlns:a16="http://schemas.microsoft.com/office/drawing/2014/main" val="2153245287"/>
                    </a:ext>
                  </a:extLst>
                </a:gridCol>
                <a:gridCol w="1395130">
                  <a:extLst>
                    <a:ext uri="{9D8B030D-6E8A-4147-A177-3AD203B41FA5}">
                      <a16:colId xmlns:a16="http://schemas.microsoft.com/office/drawing/2014/main" val="3627201423"/>
                    </a:ext>
                  </a:extLst>
                </a:gridCol>
                <a:gridCol w="1403118">
                  <a:extLst>
                    <a:ext uri="{9D8B030D-6E8A-4147-A177-3AD203B41FA5}">
                      <a16:colId xmlns:a16="http://schemas.microsoft.com/office/drawing/2014/main" val="1978439366"/>
                    </a:ext>
                  </a:extLst>
                </a:gridCol>
                <a:gridCol w="1276207">
                  <a:extLst>
                    <a:ext uri="{9D8B030D-6E8A-4147-A177-3AD203B41FA5}">
                      <a16:colId xmlns:a16="http://schemas.microsoft.com/office/drawing/2014/main" val="659798290"/>
                    </a:ext>
                  </a:extLst>
                </a:gridCol>
              </a:tblGrid>
              <a:tr h="0">
                <a:tc>
                  <a:txBody>
                    <a:bodyPr/>
                    <a:lstStyle/>
                    <a:p>
                      <a:pPr marR="65405" algn="ctr">
                        <a:spcBef>
                          <a:spcPts val="600"/>
                        </a:spcBef>
                        <a:spcAft>
                          <a:spcPts val="600"/>
                        </a:spcAft>
                      </a:pPr>
                      <a:r>
                        <a:rPr lang="es-ES" sz="2400">
                          <a:effectLst/>
                        </a:rPr>
                        <a:t>S</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Prob.</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Cód. I</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II</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III</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IV</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47078977"/>
                  </a:ext>
                </a:extLst>
              </a:tr>
              <a:tr h="0">
                <a:tc>
                  <a:txBody>
                    <a:bodyPr/>
                    <a:lstStyle/>
                    <a:p>
                      <a:pPr marR="65405" algn="ctr">
                        <a:spcBef>
                          <a:spcPts val="600"/>
                        </a:spcBef>
                        <a:spcAft>
                          <a:spcPts val="600"/>
                        </a:spcAft>
                      </a:pPr>
                      <a:r>
                        <a:rPr lang="es-ES" sz="2400">
                          <a:effectLst/>
                        </a:rPr>
                        <a:t>S</a:t>
                      </a:r>
                      <a:r>
                        <a:rPr lang="es-ES" sz="2400" baseline="-25000">
                          <a:effectLst/>
                        </a:rPr>
                        <a:t>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0,5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4450050"/>
                  </a:ext>
                </a:extLst>
              </a:tr>
              <a:tr h="0">
                <a:tc>
                  <a:txBody>
                    <a:bodyPr/>
                    <a:lstStyle/>
                    <a:p>
                      <a:pPr marR="65405" algn="ctr">
                        <a:spcBef>
                          <a:spcPts val="600"/>
                        </a:spcBef>
                        <a:spcAft>
                          <a:spcPts val="600"/>
                        </a:spcAft>
                      </a:pPr>
                      <a:r>
                        <a:rPr lang="es-ES" sz="2400">
                          <a:effectLst/>
                        </a:rPr>
                        <a:t>S</a:t>
                      </a:r>
                      <a:r>
                        <a:rPr lang="es-ES" sz="2400" baseline="-25000">
                          <a:effectLst/>
                        </a:rPr>
                        <a:t>2</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0,25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0612161"/>
                  </a:ext>
                </a:extLst>
              </a:tr>
              <a:tr h="0">
                <a:tc>
                  <a:txBody>
                    <a:bodyPr/>
                    <a:lstStyle/>
                    <a:p>
                      <a:pPr marR="65405" algn="ctr">
                        <a:spcBef>
                          <a:spcPts val="600"/>
                        </a:spcBef>
                        <a:spcAft>
                          <a:spcPts val="600"/>
                        </a:spcAft>
                      </a:pPr>
                      <a:r>
                        <a:rPr lang="es-ES" sz="2400">
                          <a:effectLst/>
                        </a:rPr>
                        <a:t>S</a:t>
                      </a:r>
                      <a:r>
                        <a:rPr lang="es-ES" sz="2400" baseline="-25000">
                          <a:effectLst/>
                        </a:rPr>
                        <a:t>3</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0,125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12004202"/>
                  </a:ext>
                </a:extLst>
              </a:tr>
              <a:tr h="0">
                <a:tc>
                  <a:txBody>
                    <a:bodyPr/>
                    <a:lstStyle/>
                    <a:p>
                      <a:pPr marR="65405" algn="ctr">
                        <a:spcBef>
                          <a:spcPts val="600"/>
                        </a:spcBef>
                        <a:spcAft>
                          <a:spcPts val="600"/>
                        </a:spcAft>
                      </a:pPr>
                      <a:r>
                        <a:rPr lang="es-ES" sz="2400">
                          <a:effectLst/>
                        </a:rPr>
                        <a:t>S</a:t>
                      </a:r>
                      <a:r>
                        <a:rPr lang="es-ES" sz="2400" baseline="-25000">
                          <a:effectLst/>
                        </a:rPr>
                        <a:t>4</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0,125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11</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26788520"/>
                  </a:ext>
                </a:extLst>
              </a:tr>
              <a:tr h="0">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L</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1,25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1,75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1,875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2</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9984796"/>
                  </a:ext>
                </a:extLst>
              </a:tr>
            </a:tbl>
          </a:graphicData>
        </a:graphic>
      </p:graphicFrame>
    </p:spTree>
    <p:extLst>
      <p:ext uri="{BB962C8B-B14F-4D97-AF65-F5344CB8AC3E}">
        <p14:creationId xmlns:p14="http://schemas.microsoft.com/office/powerpoint/2010/main" val="39518537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t>Ejercicio 5 – </a:t>
            </a:r>
            <a:r>
              <a:rPr lang="es-ES" dirty="0" smtClean="0"/>
              <a:t>CP </a:t>
            </a:r>
            <a:r>
              <a:rPr lang="es-ES" dirty="0"/>
              <a:t>y </a:t>
            </a:r>
            <a:r>
              <a:rPr lang="es-ES" dirty="0" smtClean="0"/>
              <a:t>CUD</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17</a:t>
            </a:fld>
            <a:endParaRPr lang="es-ES"/>
          </a:p>
        </p:txBody>
      </p:sp>
      <p:sp>
        <p:nvSpPr>
          <p:cNvPr id="8" name="2 Marcador de contenido"/>
          <p:cNvSpPr>
            <a:spLocks noGrp="1"/>
          </p:cNvSpPr>
          <p:nvPr>
            <p:ph sz="quarter" idx="1"/>
          </p:nvPr>
        </p:nvSpPr>
        <p:spPr/>
        <p:txBody>
          <a:bodyPr>
            <a:normAutofit/>
          </a:bodyPr>
          <a:lstStyle/>
          <a:p>
            <a:pPr marL="0" indent="0" algn="just">
              <a:buNone/>
            </a:pPr>
            <a:r>
              <a:rPr lang="es-AR" sz="1800" dirty="0" smtClean="0"/>
              <a:t>Sean los siguientes códigos:</a:t>
            </a:r>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342900" indent="-342900" algn="just">
              <a:buFont typeface="+mj-lt"/>
              <a:buAutoNum type="arabicParenR" startAt="2"/>
            </a:pPr>
            <a:r>
              <a:rPr lang="es-AR" sz="1800" dirty="0" smtClean="0"/>
              <a:t>Decodificamos </a:t>
            </a:r>
            <a:r>
              <a:rPr lang="es-AR" sz="1800" dirty="0"/>
              <a:t>la secuencia </a:t>
            </a:r>
            <a:r>
              <a:rPr lang="es-AR" sz="1800" b="1" dirty="0" smtClean="0"/>
              <a:t>“…01000110111…”</a:t>
            </a:r>
            <a:r>
              <a:rPr lang="es-AR" sz="1800" dirty="0" smtClean="0"/>
              <a:t> para cada código:</a:t>
            </a:r>
          </a:p>
          <a:p>
            <a:pPr marL="0" indent="0" algn="just">
              <a:buNone/>
            </a:pPr>
            <a:r>
              <a:rPr lang="es-AR" sz="1600" dirty="0" smtClean="0"/>
              <a:t>Para el Código I: S</a:t>
            </a:r>
            <a:r>
              <a:rPr lang="es-AR" sz="1600" baseline="-25000" dirty="0" smtClean="0"/>
              <a:t>1</a:t>
            </a:r>
            <a:r>
              <a:rPr lang="es-AR" sz="1600" dirty="0" smtClean="0"/>
              <a:t>-S</a:t>
            </a:r>
            <a:r>
              <a:rPr lang="es-AR" sz="1600" baseline="-25000" dirty="0" smtClean="0"/>
              <a:t>2</a:t>
            </a:r>
            <a:r>
              <a:rPr lang="es-AR" sz="1600" dirty="0" smtClean="0"/>
              <a:t>-… ¿?		No es CUD, ni CP ni instantáneo</a:t>
            </a:r>
          </a:p>
          <a:p>
            <a:pPr marL="0" indent="0" algn="just">
              <a:buNone/>
            </a:pPr>
            <a:r>
              <a:rPr lang="es-AR" sz="1600" dirty="0"/>
              <a:t>Para el Código </a:t>
            </a:r>
            <a:r>
              <a:rPr lang="es-AR" sz="1600" dirty="0" smtClean="0"/>
              <a:t>II: S</a:t>
            </a:r>
            <a:r>
              <a:rPr lang="es-AR" sz="1600" baseline="-25000" dirty="0" smtClean="0"/>
              <a:t>1</a:t>
            </a:r>
            <a:r>
              <a:rPr lang="es-AR" sz="1600" dirty="0" smtClean="0"/>
              <a:t>-S</a:t>
            </a:r>
            <a:r>
              <a:rPr lang="es-AR" sz="1600" baseline="-25000" dirty="0" smtClean="0"/>
              <a:t>2</a:t>
            </a:r>
            <a:r>
              <a:rPr lang="es-AR" sz="1600" dirty="0" smtClean="0"/>
              <a:t>-S</a:t>
            </a:r>
            <a:r>
              <a:rPr lang="es-AR" sz="1600" baseline="-25000" dirty="0" smtClean="0"/>
              <a:t>1</a:t>
            </a:r>
            <a:r>
              <a:rPr lang="es-AR" sz="1600" dirty="0" smtClean="0"/>
              <a:t>-S</a:t>
            </a:r>
            <a:r>
              <a:rPr lang="es-AR" sz="1600" baseline="-25000" dirty="0" smtClean="0"/>
              <a:t>1</a:t>
            </a:r>
            <a:r>
              <a:rPr lang="es-AR" sz="1600" dirty="0" smtClean="0"/>
              <a:t>-S</a:t>
            </a:r>
            <a:r>
              <a:rPr lang="es-AR" sz="1600" baseline="-25000" dirty="0" smtClean="0"/>
              <a:t>3</a:t>
            </a:r>
            <a:r>
              <a:rPr lang="es-AR" sz="1600" dirty="0" smtClean="0"/>
              <a:t>-S</a:t>
            </a:r>
            <a:r>
              <a:rPr lang="es-AR" sz="1600" baseline="-25000" dirty="0" smtClean="0"/>
              <a:t>4		</a:t>
            </a:r>
            <a:r>
              <a:rPr lang="es-AR" sz="1600" dirty="0" smtClean="0"/>
              <a:t>Es CUD, CP e instantáneo</a:t>
            </a:r>
            <a:endParaRPr lang="es-AR" sz="1600" dirty="0"/>
          </a:p>
          <a:p>
            <a:pPr marL="0" indent="0" algn="just">
              <a:buNone/>
            </a:pPr>
            <a:r>
              <a:rPr lang="es-AR" sz="1600" dirty="0"/>
              <a:t>Para el Código </a:t>
            </a:r>
            <a:r>
              <a:rPr lang="es-AR" sz="1600" dirty="0" smtClean="0"/>
              <a:t>III</a:t>
            </a:r>
            <a:r>
              <a:rPr lang="es-AR" sz="1600" dirty="0"/>
              <a:t>: </a:t>
            </a:r>
            <a:r>
              <a:rPr lang="es-AR" sz="1600" dirty="0" smtClean="0"/>
              <a:t>S</a:t>
            </a:r>
            <a:r>
              <a:rPr lang="es-AR" sz="1600" baseline="-25000" dirty="0" smtClean="0"/>
              <a:t>2</a:t>
            </a:r>
            <a:r>
              <a:rPr lang="es-AR" sz="1600" dirty="0" smtClean="0"/>
              <a:t>-S</a:t>
            </a:r>
            <a:r>
              <a:rPr lang="es-AR" sz="1600" baseline="-25000" dirty="0" smtClean="0"/>
              <a:t>1</a:t>
            </a:r>
            <a:r>
              <a:rPr lang="es-AR" sz="1600" dirty="0" smtClean="0"/>
              <a:t>-S</a:t>
            </a:r>
            <a:r>
              <a:rPr lang="es-AR" sz="1600" baseline="-25000" dirty="0" smtClean="0"/>
              <a:t>1</a:t>
            </a:r>
            <a:r>
              <a:rPr lang="es-AR" sz="1600" dirty="0" smtClean="0"/>
              <a:t>-S</a:t>
            </a:r>
            <a:r>
              <a:rPr lang="es-AR" sz="1600" baseline="-25000" dirty="0" smtClean="0"/>
              <a:t>3</a:t>
            </a:r>
            <a:r>
              <a:rPr lang="es-AR" sz="1600" dirty="0" smtClean="0"/>
              <a:t>-S</a:t>
            </a:r>
            <a:r>
              <a:rPr lang="es-AR" sz="1600" baseline="-25000" dirty="0" smtClean="0"/>
              <a:t>4</a:t>
            </a:r>
            <a:r>
              <a:rPr lang="es-AR" sz="1600" dirty="0" smtClean="0"/>
              <a:t> 		Es CUD, no es CP ni instantáneo</a:t>
            </a:r>
            <a:endParaRPr lang="es-AR" sz="1600" dirty="0"/>
          </a:p>
          <a:p>
            <a:pPr marL="0" indent="0" algn="just">
              <a:buNone/>
            </a:pPr>
            <a:r>
              <a:rPr lang="es-AR" sz="1600" dirty="0"/>
              <a:t>Para el Código </a:t>
            </a:r>
            <a:r>
              <a:rPr lang="es-AR" sz="1600" dirty="0" smtClean="0"/>
              <a:t>IV: S</a:t>
            </a:r>
            <a:r>
              <a:rPr lang="es-AR" sz="1600" baseline="-25000" dirty="0" smtClean="0"/>
              <a:t>2</a:t>
            </a:r>
            <a:r>
              <a:rPr lang="es-AR" sz="1600" dirty="0" smtClean="0"/>
              <a:t>-S</a:t>
            </a:r>
            <a:r>
              <a:rPr lang="es-AR" sz="1600" baseline="-25000" dirty="0" smtClean="0"/>
              <a:t>1</a:t>
            </a:r>
            <a:r>
              <a:rPr lang="es-AR" sz="1600" dirty="0" smtClean="0"/>
              <a:t>-S</a:t>
            </a:r>
            <a:r>
              <a:rPr lang="es-AR" sz="1600" baseline="-25000" dirty="0" smtClean="0"/>
              <a:t>2</a:t>
            </a:r>
            <a:r>
              <a:rPr lang="es-AR" sz="1600" dirty="0" smtClean="0"/>
              <a:t>-S</a:t>
            </a:r>
            <a:r>
              <a:rPr lang="es-AR" sz="1600" baseline="-25000" dirty="0" smtClean="0"/>
              <a:t>3</a:t>
            </a:r>
            <a:r>
              <a:rPr lang="es-AR" sz="1600" dirty="0" smtClean="0"/>
              <a:t>-S</a:t>
            </a:r>
            <a:r>
              <a:rPr lang="es-AR" sz="1600" baseline="-25000" dirty="0" smtClean="0"/>
              <a:t>4</a:t>
            </a:r>
            <a:r>
              <a:rPr lang="es-AR" sz="1600" dirty="0" smtClean="0"/>
              <a:t> 		Es CUD, CP e instantáneo</a:t>
            </a:r>
            <a:endParaRPr lang="es-AR" sz="1600" dirty="0"/>
          </a:p>
          <a:p>
            <a:pPr marL="0" indent="0" algn="just">
              <a:buNone/>
            </a:pP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graphicFrame>
        <p:nvGraphicFramePr>
          <p:cNvPr id="12" name="Tabla 11"/>
          <p:cNvGraphicFramePr>
            <a:graphicFrameLocks noGrp="1"/>
          </p:cNvGraphicFramePr>
          <p:nvPr>
            <p:extLst>
              <p:ext uri="{D42A27DB-BD31-4B8C-83A1-F6EECF244321}">
                <p14:modId xmlns:p14="http://schemas.microsoft.com/office/powerpoint/2010/main" val="610932861"/>
              </p:ext>
            </p:extLst>
          </p:nvPr>
        </p:nvGraphicFramePr>
        <p:xfrm>
          <a:off x="463342" y="1628800"/>
          <a:ext cx="8223459" cy="2194560"/>
        </p:xfrm>
        <a:graphic>
          <a:graphicData uri="http://schemas.openxmlformats.org/drawingml/2006/table">
            <a:tbl>
              <a:tblPr firstRow="1" firstCol="1" bandRow="1">
                <a:tableStyleId>{5C22544A-7EE6-4342-B048-85BDC9FD1C3A}</a:tableStyleId>
              </a:tblPr>
              <a:tblGrid>
                <a:gridCol w="1337444">
                  <a:extLst>
                    <a:ext uri="{9D8B030D-6E8A-4147-A177-3AD203B41FA5}">
                      <a16:colId xmlns:a16="http://schemas.microsoft.com/office/drawing/2014/main" val="3772793028"/>
                    </a:ext>
                  </a:extLst>
                </a:gridCol>
                <a:gridCol w="1416430">
                  <a:extLst>
                    <a:ext uri="{9D8B030D-6E8A-4147-A177-3AD203B41FA5}">
                      <a16:colId xmlns:a16="http://schemas.microsoft.com/office/drawing/2014/main" val="4197801613"/>
                    </a:ext>
                  </a:extLst>
                </a:gridCol>
                <a:gridCol w="1395130">
                  <a:extLst>
                    <a:ext uri="{9D8B030D-6E8A-4147-A177-3AD203B41FA5}">
                      <a16:colId xmlns:a16="http://schemas.microsoft.com/office/drawing/2014/main" val="2153245287"/>
                    </a:ext>
                  </a:extLst>
                </a:gridCol>
                <a:gridCol w="1395130">
                  <a:extLst>
                    <a:ext uri="{9D8B030D-6E8A-4147-A177-3AD203B41FA5}">
                      <a16:colId xmlns:a16="http://schemas.microsoft.com/office/drawing/2014/main" val="3627201423"/>
                    </a:ext>
                  </a:extLst>
                </a:gridCol>
                <a:gridCol w="1403118">
                  <a:extLst>
                    <a:ext uri="{9D8B030D-6E8A-4147-A177-3AD203B41FA5}">
                      <a16:colId xmlns:a16="http://schemas.microsoft.com/office/drawing/2014/main" val="1978439366"/>
                    </a:ext>
                  </a:extLst>
                </a:gridCol>
                <a:gridCol w="1276207">
                  <a:extLst>
                    <a:ext uri="{9D8B030D-6E8A-4147-A177-3AD203B41FA5}">
                      <a16:colId xmlns:a16="http://schemas.microsoft.com/office/drawing/2014/main" val="659798290"/>
                    </a:ext>
                  </a:extLst>
                </a:gridCol>
              </a:tblGrid>
              <a:tr h="0">
                <a:tc>
                  <a:txBody>
                    <a:bodyPr/>
                    <a:lstStyle/>
                    <a:p>
                      <a:pPr marR="65405" algn="ctr">
                        <a:spcBef>
                          <a:spcPts val="600"/>
                        </a:spcBef>
                        <a:spcAft>
                          <a:spcPts val="600"/>
                        </a:spcAft>
                      </a:pPr>
                      <a:r>
                        <a:rPr lang="es-ES" sz="2400">
                          <a:effectLst/>
                        </a:rPr>
                        <a:t>S</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Prob.</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Cód. I</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II</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III</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Cód. IV</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47078977"/>
                  </a:ext>
                </a:extLst>
              </a:tr>
              <a:tr h="0">
                <a:tc>
                  <a:txBody>
                    <a:bodyPr/>
                    <a:lstStyle/>
                    <a:p>
                      <a:pPr marR="65405" algn="ctr">
                        <a:spcBef>
                          <a:spcPts val="600"/>
                        </a:spcBef>
                        <a:spcAft>
                          <a:spcPts val="600"/>
                        </a:spcAft>
                      </a:pPr>
                      <a:r>
                        <a:rPr lang="es-ES" sz="2400">
                          <a:effectLst/>
                        </a:rPr>
                        <a:t>S</a:t>
                      </a:r>
                      <a:r>
                        <a:rPr lang="es-ES" sz="2400" baseline="-25000">
                          <a:effectLst/>
                        </a:rPr>
                        <a:t>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4450050"/>
                  </a:ext>
                </a:extLst>
              </a:tr>
              <a:tr h="0">
                <a:tc>
                  <a:txBody>
                    <a:bodyPr/>
                    <a:lstStyle/>
                    <a:p>
                      <a:pPr marR="65405" algn="ctr">
                        <a:spcBef>
                          <a:spcPts val="600"/>
                        </a:spcBef>
                        <a:spcAft>
                          <a:spcPts val="600"/>
                        </a:spcAft>
                      </a:pPr>
                      <a:r>
                        <a:rPr lang="es-ES" sz="2400">
                          <a:effectLst/>
                        </a:rPr>
                        <a:t>S</a:t>
                      </a:r>
                      <a:r>
                        <a:rPr lang="es-ES" sz="2400" baseline="-25000">
                          <a:effectLst/>
                        </a:rPr>
                        <a:t>2</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0,25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0612161"/>
                  </a:ext>
                </a:extLst>
              </a:tr>
              <a:tr h="0">
                <a:tc>
                  <a:txBody>
                    <a:bodyPr/>
                    <a:lstStyle/>
                    <a:p>
                      <a:pPr marR="65405" algn="ctr">
                        <a:spcBef>
                          <a:spcPts val="600"/>
                        </a:spcBef>
                        <a:spcAft>
                          <a:spcPts val="600"/>
                        </a:spcAft>
                      </a:pPr>
                      <a:r>
                        <a:rPr lang="es-ES" sz="2400">
                          <a:effectLst/>
                        </a:rPr>
                        <a:t>S</a:t>
                      </a:r>
                      <a:r>
                        <a:rPr lang="es-ES" sz="2400" baseline="-25000">
                          <a:effectLst/>
                        </a:rPr>
                        <a:t>3</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0,125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10</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12004202"/>
                  </a:ext>
                </a:extLst>
              </a:tr>
              <a:tr h="0">
                <a:tc>
                  <a:txBody>
                    <a:bodyPr/>
                    <a:lstStyle/>
                    <a:p>
                      <a:pPr marR="65405" algn="ctr">
                        <a:spcBef>
                          <a:spcPts val="600"/>
                        </a:spcBef>
                        <a:spcAft>
                          <a:spcPts val="600"/>
                        </a:spcAft>
                      </a:pPr>
                      <a:r>
                        <a:rPr lang="es-ES" sz="2400">
                          <a:effectLst/>
                        </a:rPr>
                        <a:t>S</a:t>
                      </a:r>
                      <a:r>
                        <a:rPr lang="es-ES" sz="2400" baseline="-25000">
                          <a:effectLst/>
                        </a:rPr>
                        <a:t>4</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0,125</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111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a:effectLst/>
                        </a:rPr>
                        <a:t>0111</a:t>
                      </a:r>
                      <a:endParaRPr lang="en-US" sz="2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400" dirty="0">
                          <a:effectLst/>
                        </a:rPr>
                        <a:t>11</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26788520"/>
                  </a:ext>
                </a:extLst>
              </a:tr>
              <a:tr h="0">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L</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1,25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1,75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1,875</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400" dirty="0" smtClean="0">
                          <a:effectLst/>
                          <a:latin typeface="Cambria" panose="02040503050406030204" pitchFamily="18" charset="0"/>
                          <a:ea typeface="Cambria" panose="02040503050406030204" pitchFamily="18" charset="0"/>
                          <a:cs typeface="Cambria" panose="02040503050406030204" pitchFamily="18" charset="0"/>
                        </a:rPr>
                        <a:t>2</a:t>
                      </a:r>
                      <a:endParaRPr lang="en-US" sz="2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9984796"/>
                  </a:ext>
                </a:extLst>
              </a:tr>
            </a:tbl>
          </a:graphicData>
        </a:graphic>
      </p:graphicFrame>
    </p:spTree>
    <p:extLst>
      <p:ext uri="{BB962C8B-B14F-4D97-AF65-F5344CB8AC3E}">
        <p14:creationId xmlns:p14="http://schemas.microsoft.com/office/powerpoint/2010/main" val="2154232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Ejercicios 6 y 7 – Desigualdad K-</a:t>
            </a:r>
            <a:r>
              <a:rPr lang="es-ES" dirty="0" err="1" smtClean="0"/>
              <a:t>McM</a:t>
            </a:r>
            <a:r>
              <a:rPr lang="es-ES" dirty="0" smtClean="0"/>
              <a:t> y TCF</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18</a:t>
            </a:fld>
            <a:endParaRPr lang="es-ES"/>
          </a:p>
        </p:txBody>
      </p:sp>
      <p:sp>
        <p:nvSpPr>
          <p:cNvPr id="8" name="2 Marcador de contenido"/>
          <p:cNvSpPr>
            <a:spLocks noGrp="1"/>
          </p:cNvSpPr>
          <p:nvPr>
            <p:ph sz="quarter" idx="1"/>
          </p:nvPr>
        </p:nvSpPr>
        <p:spPr/>
        <p:txBody>
          <a:bodyPr>
            <a:normAutofit/>
          </a:bodyPr>
          <a:lstStyle/>
          <a:p>
            <a:pPr marL="0" indent="0" algn="just">
              <a:buNone/>
            </a:pPr>
            <a:r>
              <a:rPr lang="es-AR" sz="1800" dirty="0" smtClean="0"/>
              <a:t>Sean los siguientes códigos:</a:t>
            </a:r>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graphicFrame>
        <p:nvGraphicFramePr>
          <p:cNvPr id="12" name="Tabla 11"/>
          <p:cNvGraphicFramePr>
            <a:graphicFrameLocks noGrp="1"/>
          </p:cNvGraphicFramePr>
          <p:nvPr>
            <p:extLst>
              <p:ext uri="{D42A27DB-BD31-4B8C-83A1-F6EECF244321}">
                <p14:modId xmlns:p14="http://schemas.microsoft.com/office/powerpoint/2010/main" val="1973696478"/>
              </p:ext>
            </p:extLst>
          </p:nvPr>
        </p:nvGraphicFramePr>
        <p:xfrm>
          <a:off x="463342" y="1628800"/>
          <a:ext cx="8352865" cy="3048000"/>
        </p:xfrm>
        <a:graphic>
          <a:graphicData uri="http://schemas.openxmlformats.org/drawingml/2006/table">
            <a:tbl>
              <a:tblPr firstRow="1" firstCol="1" bandRow="1">
                <a:tableStyleId>{5C22544A-7EE6-4342-B048-85BDC9FD1C3A}</a:tableStyleId>
              </a:tblPr>
              <a:tblGrid>
                <a:gridCol w="1466850">
                  <a:extLst>
                    <a:ext uri="{9D8B030D-6E8A-4147-A177-3AD203B41FA5}">
                      <a16:colId xmlns:a16="http://schemas.microsoft.com/office/drawing/2014/main" val="3772793028"/>
                    </a:ext>
                  </a:extLst>
                </a:gridCol>
                <a:gridCol w="1416430">
                  <a:extLst>
                    <a:ext uri="{9D8B030D-6E8A-4147-A177-3AD203B41FA5}">
                      <a16:colId xmlns:a16="http://schemas.microsoft.com/office/drawing/2014/main" val="4197801613"/>
                    </a:ext>
                  </a:extLst>
                </a:gridCol>
                <a:gridCol w="1395130">
                  <a:extLst>
                    <a:ext uri="{9D8B030D-6E8A-4147-A177-3AD203B41FA5}">
                      <a16:colId xmlns:a16="http://schemas.microsoft.com/office/drawing/2014/main" val="2153245287"/>
                    </a:ext>
                  </a:extLst>
                </a:gridCol>
                <a:gridCol w="1395130">
                  <a:extLst>
                    <a:ext uri="{9D8B030D-6E8A-4147-A177-3AD203B41FA5}">
                      <a16:colId xmlns:a16="http://schemas.microsoft.com/office/drawing/2014/main" val="3627201423"/>
                    </a:ext>
                  </a:extLst>
                </a:gridCol>
                <a:gridCol w="1403118">
                  <a:extLst>
                    <a:ext uri="{9D8B030D-6E8A-4147-A177-3AD203B41FA5}">
                      <a16:colId xmlns:a16="http://schemas.microsoft.com/office/drawing/2014/main" val="1978439366"/>
                    </a:ext>
                  </a:extLst>
                </a:gridCol>
                <a:gridCol w="1276207">
                  <a:extLst>
                    <a:ext uri="{9D8B030D-6E8A-4147-A177-3AD203B41FA5}">
                      <a16:colId xmlns:a16="http://schemas.microsoft.com/office/drawing/2014/main" val="659798290"/>
                    </a:ext>
                  </a:extLst>
                </a:gridCol>
              </a:tblGrid>
              <a:tr h="0">
                <a:tc>
                  <a:txBody>
                    <a:bodyPr/>
                    <a:lstStyle/>
                    <a:p>
                      <a:pPr marR="65405" algn="ctr">
                        <a:spcBef>
                          <a:spcPts val="600"/>
                        </a:spcBef>
                        <a:spcAft>
                          <a:spcPts val="600"/>
                        </a:spcAft>
                      </a:pPr>
                      <a:r>
                        <a:rPr lang="es-ES" sz="2000">
                          <a:effectLst/>
                        </a:rPr>
                        <a:t>S</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Prob.</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dirty="0">
                          <a:effectLst/>
                        </a:rPr>
                        <a:t>Cód. I</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Cód. II</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Cód III</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Cód. IV</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47078977"/>
                  </a:ext>
                </a:extLst>
              </a:tr>
              <a:tr h="0">
                <a:tc>
                  <a:txBody>
                    <a:bodyPr/>
                    <a:lstStyle/>
                    <a:p>
                      <a:pPr marR="65405" algn="ctr">
                        <a:spcBef>
                          <a:spcPts val="600"/>
                        </a:spcBef>
                        <a:spcAft>
                          <a:spcPts val="600"/>
                        </a:spcAft>
                      </a:pPr>
                      <a:r>
                        <a:rPr lang="es-ES" sz="2000">
                          <a:effectLst/>
                        </a:rPr>
                        <a:t>S</a:t>
                      </a:r>
                      <a:r>
                        <a:rPr lang="es-ES" sz="2000" baseline="-25000">
                          <a:effectLst/>
                        </a:rPr>
                        <a:t>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0,5</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4450050"/>
                  </a:ext>
                </a:extLst>
              </a:tr>
              <a:tr h="0">
                <a:tc>
                  <a:txBody>
                    <a:bodyPr/>
                    <a:lstStyle/>
                    <a:p>
                      <a:pPr marR="65405" algn="ctr">
                        <a:spcBef>
                          <a:spcPts val="600"/>
                        </a:spcBef>
                        <a:spcAft>
                          <a:spcPts val="600"/>
                        </a:spcAft>
                      </a:pPr>
                      <a:r>
                        <a:rPr lang="es-ES" sz="2000">
                          <a:effectLst/>
                        </a:rPr>
                        <a:t>S</a:t>
                      </a:r>
                      <a:r>
                        <a:rPr lang="es-ES" sz="2000" baseline="-25000">
                          <a:effectLst/>
                        </a:rPr>
                        <a:t>2</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dirty="0">
                          <a:effectLst/>
                        </a:rPr>
                        <a:t>0,25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0612161"/>
                  </a:ext>
                </a:extLst>
              </a:tr>
              <a:tr h="0">
                <a:tc>
                  <a:txBody>
                    <a:bodyPr/>
                    <a:lstStyle/>
                    <a:p>
                      <a:pPr marR="65405" algn="ctr">
                        <a:spcBef>
                          <a:spcPts val="600"/>
                        </a:spcBef>
                        <a:spcAft>
                          <a:spcPts val="600"/>
                        </a:spcAft>
                      </a:pPr>
                      <a:r>
                        <a:rPr lang="es-ES" sz="2000">
                          <a:effectLst/>
                        </a:rPr>
                        <a:t>S</a:t>
                      </a:r>
                      <a:r>
                        <a:rPr lang="es-ES" sz="2000" baseline="-25000">
                          <a:effectLst/>
                        </a:rPr>
                        <a:t>3</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0,125</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110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12004202"/>
                  </a:ext>
                </a:extLst>
              </a:tr>
              <a:tr h="0">
                <a:tc>
                  <a:txBody>
                    <a:bodyPr/>
                    <a:lstStyle/>
                    <a:p>
                      <a:pPr marR="65405" algn="ctr">
                        <a:spcBef>
                          <a:spcPts val="600"/>
                        </a:spcBef>
                        <a:spcAft>
                          <a:spcPts val="600"/>
                        </a:spcAft>
                      </a:pPr>
                      <a:r>
                        <a:rPr lang="es-ES" sz="2000">
                          <a:effectLst/>
                        </a:rPr>
                        <a:t>S</a:t>
                      </a:r>
                      <a:r>
                        <a:rPr lang="es-ES" sz="2000" baseline="-25000">
                          <a:effectLst/>
                        </a:rPr>
                        <a:t>4</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0,125</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dirty="0">
                          <a:effectLst/>
                        </a:rPr>
                        <a:t>11</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26788520"/>
                  </a:ext>
                </a:extLst>
              </a:tr>
              <a:tr h="0">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L</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1,25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1,75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1,875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2</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9984796"/>
                  </a:ext>
                </a:extLst>
              </a:tr>
              <a:tr h="0">
                <a:tc>
                  <a:txBody>
                    <a:bodyPr/>
                    <a:lstStyle/>
                    <a:p>
                      <a:r>
                        <a:rPr lang="es-AR" dirty="0" smtClean="0"/>
                        <a:t>Des. K-</a:t>
                      </a:r>
                      <a:r>
                        <a:rPr lang="es-AR" dirty="0" err="1" smtClean="0"/>
                        <a:t>McM</a:t>
                      </a:r>
                      <a:endParaRPr lang="en-US" dirty="0"/>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891435241"/>
                  </a:ext>
                </a:extLst>
              </a:tr>
              <a:tr h="0">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H(S)</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377789662"/>
                  </a:ext>
                </a:extLst>
              </a:tr>
              <a:tr h="0">
                <a:tc>
                  <a:txBody>
                    <a:bodyPr/>
                    <a:lstStyle/>
                    <a:p>
                      <a:pPr marR="65405" algn="ctr">
                        <a:spcBef>
                          <a:spcPts val="600"/>
                        </a:spcBef>
                        <a:spcAft>
                          <a:spcPts val="600"/>
                        </a:spcAft>
                      </a:pPr>
                      <a:r>
                        <a:rPr lang="es-AR" sz="2000" dirty="0" err="1" smtClean="0">
                          <a:effectLst/>
                          <a:latin typeface="Cambria" panose="02040503050406030204" pitchFamily="18" charset="0"/>
                          <a:ea typeface="Cambria" panose="02040503050406030204" pitchFamily="18" charset="0"/>
                          <a:cs typeface="Cambria" panose="02040503050406030204" pitchFamily="18" charset="0"/>
                        </a:rPr>
                        <a:t>Lmin</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525456593"/>
                  </a:ext>
                </a:extLst>
              </a:tr>
              <a:tr h="0">
                <a:tc>
                  <a:txBody>
                    <a:bodyPr/>
                    <a:lstStyle/>
                    <a:p>
                      <a:pPr marR="65405" algn="ctr">
                        <a:spcBef>
                          <a:spcPts val="600"/>
                        </a:spcBef>
                        <a:spcAft>
                          <a:spcPts val="600"/>
                        </a:spcAft>
                      </a:pPr>
                      <a:r>
                        <a:rPr lang="el-GR" sz="2000" dirty="0" smtClean="0">
                          <a:effectLst/>
                          <a:latin typeface="Bookman Old Style" panose="02050604050505020204" pitchFamily="18" charset="0"/>
                          <a:ea typeface="Cambria" panose="02040503050406030204" pitchFamily="18" charset="0"/>
                          <a:cs typeface="Cambria" panose="02040503050406030204" pitchFamily="18" charset="0"/>
                        </a:rPr>
                        <a:t>η</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582931869"/>
                  </a:ext>
                </a:extLst>
              </a:tr>
            </a:tbl>
          </a:graphicData>
        </a:graphic>
      </p:graphicFrame>
      <mc:AlternateContent xmlns:mc="http://schemas.openxmlformats.org/markup-compatibility/2006" xmlns:a14="http://schemas.microsoft.com/office/drawing/2010/main">
        <mc:Choice Requires="a14">
          <p:sp>
            <p:nvSpPr>
              <p:cNvPr id="3" name="Rectángulo 2"/>
              <p:cNvSpPr/>
              <p:nvPr/>
            </p:nvSpPr>
            <p:spPr>
              <a:xfrm>
                <a:off x="467544" y="5373216"/>
                <a:ext cx="1357231"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ctrlPr>
                            <a:rPr lang="en-US" i="1" smtClean="0">
                              <a:latin typeface="Cambria Math" panose="02040503050406030204" pitchFamily="18" charset="0"/>
                            </a:rPr>
                          </m:ctrlPr>
                        </m:naryPr>
                        <m:sub>
                          <m:r>
                            <a:rPr lang="es-AR" b="0" i="1" smtClean="0">
                              <a:latin typeface="Cambria Math" panose="02040503050406030204" pitchFamily="18" charset="0"/>
                            </a:rPr>
                            <m:t>𝑖</m:t>
                          </m:r>
                          <m:r>
                            <a:rPr lang="en-US" i="0">
                              <a:latin typeface="Cambria Math" panose="02040503050406030204" pitchFamily="18" charset="0"/>
                            </a:rPr>
                            <m:t>=0</m:t>
                          </m:r>
                        </m:sub>
                        <m:sup>
                          <m:r>
                            <a:rPr lang="en-US" i="1">
                              <a:latin typeface="Cambria Math" panose="02040503050406030204" pitchFamily="18" charset="0"/>
                            </a:rPr>
                            <m:t>𝐾</m:t>
                          </m:r>
                          <m:r>
                            <a:rPr lang="en-US" i="0">
                              <a:latin typeface="Cambria Math" panose="02040503050406030204" pitchFamily="18" charset="0"/>
                            </a:rPr>
                            <m:t>−1</m:t>
                          </m:r>
                        </m:sup>
                        <m:e>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𝑟</m:t>
                                  </m:r>
                                </m:den>
                              </m:f>
                            </m:e>
                            <m:sup>
                              <m:sSub>
                                <m:sSubPr>
                                  <m:ctrlPr>
                                    <a:rPr lang="en-US" i="1">
                                      <a:latin typeface="Cambria Math" panose="02040503050406030204" pitchFamily="18" charset="0"/>
                                    </a:rPr>
                                  </m:ctrlPr>
                                </m:sSubPr>
                                <m:e>
                                  <m:r>
                                    <a:rPr lang="en-US" i="1">
                                      <a:latin typeface="Cambria Math" panose="02040503050406030204" pitchFamily="18" charset="0"/>
                                    </a:rPr>
                                    <m:t>𝑙</m:t>
                                  </m:r>
                                </m:e>
                                <m:sub>
                                  <m:r>
                                    <a:rPr lang="es-AR" b="0" i="1" smtClean="0">
                                      <a:latin typeface="Cambria Math" panose="02040503050406030204" pitchFamily="18" charset="0"/>
                                    </a:rPr>
                                    <m:t>𝑖</m:t>
                                  </m:r>
                                </m:sub>
                              </m:sSub>
                            </m:sup>
                          </m:sSup>
                          <m:r>
                            <a:rPr lang="en-US" i="0">
                              <a:latin typeface="Cambria Math" panose="02040503050406030204" pitchFamily="18" charset="0"/>
                            </a:rPr>
                            <m:t>≤1</m:t>
                          </m:r>
                        </m:e>
                      </m:nary>
                    </m:oMath>
                  </m:oMathPara>
                </a14:m>
                <a:endParaRPr lang="en-US" dirty="0"/>
              </a:p>
            </p:txBody>
          </p:sp>
        </mc:Choice>
        <mc:Fallback xmlns="">
          <p:sp>
            <p:nvSpPr>
              <p:cNvPr id="3" name="Rectángulo 2"/>
              <p:cNvSpPr>
                <a:spLocks noRot="1" noChangeAspect="1" noMove="1" noResize="1" noEditPoints="1" noAdjustHandles="1" noChangeArrowheads="1" noChangeShapeType="1" noTextEdit="1"/>
              </p:cNvSpPr>
              <p:nvPr/>
            </p:nvSpPr>
            <p:spPr>
              <a:xfrm>
                <a:off x="467544" y="5373216"/>
                <a:ext cx="1357231" cy="871457"/>
              </a:xfrm>
              <a:prstGeom prst="rect">
                <a:avLst/>
              </a:prstGeom>
              <a:blipFill>
                <a:blip r:embed="rId2"/>
                <a:stretch>
                  <a:fillRect/>
                </a:stretch>
              </a:blipFill>
            </p:spPr>
            <p:txBody>
              <a:bodyPr/>
              <a:lstStyle/>
              <a:p>
                <a:r>
                  <a:rPr lang="en-US">
                    <a:noFill/>
                  </a:rPr>
                  <a:t> </a:t>
                </a:r>
              </a:p>
            </p:txBody>
          </p:sp>
        </mc:Fallback>
      </mc:AlternateContent>
      <p:sp>
        <p:nvSpPr>
          <p:cNvPr id="9" name="6 Rectángulo"/>
          <p:cNvSpPr/>
          <p:nvPr/>
        </p:nvSpPr>
        <p:spPr>
          <a:xfrm>
            <a:off x="472851" y="4869160"/>
            <a:ext cx="3163045" cy="369332"/>
          </a:xfrm>
          <a:prstGeom prst="rect">
            <a:avLst/>
          </a:prstGeom>
        </p:spPr>
        <p:txBody>
          <a:bodyPr wrap="none">
            <a:spAutoFit/>
          </a:bodyPr>
          <a:lstStyle/>
          <a:p>
            <a:r>
              <a:rPr lang="es-AR" dirty="0" smtClean="0"/>
              <a:t>Desigualdad de </a:t>
            </a:r>
            <a:r>
              <a:rPr lang="es-AR" dirty="0" err="1" smtClean="0"/>
              <a:t>Kraft</a:t>
            </a:r>
            <a:r>
              <a:rPr lang="es-AR" dirty="0" smtClean="0"/>
              <a:t> - </a:t>
            </a:r>
            <a:r>
              <a:rPr lang="es-AR" dirty="0" err="1" smtClean="0"/>
              <a:t>McMillan</a:t>
            </a:r>
            <a:endParaRPr lang="es-AR" dirty="0"/>
          </a:p>
        </p:txBody>
      </p:sp>
      <mc:AlternateContent xmlns:mc="http://schemas.openxmlformats.org/markup-compatibility/2006" xmlns:a14="http://schemas.microsoft.com/office/drawing/2010/main">
        <mc:Choice Requires="a14">
          <p:sp>
            <p:nvSpPr>
              <p:cNvPr id="10" name="Rectángulo 9"/>
              <p:cNvSpPr/>
              <p:nvPr/>
            </p:nvSpPr>
            <p:spPr>
              <a:xfrm>
                <a:off x="4302232" y="5187146"/>
                <a:ext cx="2008049"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𝐿</m:t>
                          </m:r>
                        </m:e>
                        <m:sub>
                          <m:r>
                            <a:rPr lang="es-AR" b="0" i="1" smtClean="0">
                              <a:latin typeface="Cambria Math" panose="02040503050406030204" pitchFamily="18" charset="0"/>
                            </a:rPr>
                            <m:t>𝑚𝑖𝑛</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𝐻</m:t>
                          </m:r>
                          <m:r>
                            <a:rPr lang="es-AR" b="0" i="1" smtClean="0">
                              <a:latin typeface="Cambria Math" panose="02040503050406030204" pitchFamily="18" charset="0"/>
                            </a:rPr>
                            <m:t>(</m:t>
                          </m:r>
                          <m:r>
                            <a:rPr lang="es-AR" b="0" i="1" smtClean="0">
                              <a:latin typeface="Cambria Math" panose="02040503050406030204" pitchFamily="18" charset="0"/>
                            </a:rPr>
                            <m:t>𝑆</m:t>
                          </m:r>
                          <m:r>
                            <a:rPr lang="es-AR" b="0" i="1" smtClean="0">
                              <a:latin typeface="Cambria Math" panose="02040503050406030204" pitchFamily="18" charset="0"/>
                            </a:rPr>
                            <m:t>)</m:t>
                          </m:r>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r>
                        <a:rPr lang="en-US">
                          <a:latin typeface="Cambria Math" panose="02040503050406030204" pitchFamily="18" charset="0"/>
                        </a:rPr>
                        <m:t>≤</m:t>
                      </m:r>
                      <m:bar>
                        <m:barPr>
                          <m:pos m:val="top"/>
                          <m:ctrlPr>
                            <a:rPr lang="en-US" i="1" smtClean="0">
                              <a:latin typeface="Cambria Math" panose="02040503050406030204" pitchFamily="18" charset="0"/>
                            </a:rPr>
                          </m:ctrlPr>
                        </m:barPr>
                        <m:e>
                          <m:r>
                            <a:rPr lang="es-AR" b="0" i="1" smtClean="0">
                              <a:latin typeface="Cambria Math" panose="02040503050406030204" pitchFamily="18" charset="0"/>
                            </a:rPr>
                            <m:t>𝐿</m:t>
                          </m:r>
                        </m:e>
                      </m:bar>
                    </m:oMath>
                  </m:oMathPara>
                </a14:m>
                <a:endParaRPr lang="en-US" dirty="0"/>
              </a:p>
            </p:txBody>
          </p:sp>
        </mc:Choice>
        <mc:Fallback xmlns="">
          <p:sp>
            <p:nvSpPr>
              <p:cNvPr id="10" name="Rectángulo 9"/>
              <p:cNvSpPr>
                <a:spLocks noRot="1" noChangeAspect="1" noMove="1" noResize="1" noEditPoints="1" noAdjustHandles="1" noChangeArrowheads="1" noChangeShapeType="1" noTextEdit="1"/>
              </p:cNvSpPr>
              <p:nvPr/>
            </p:nvSpPr>
            <p:spPr>
              <a:xfrm>
                <a:off x="4302232" y="5187146"/>
                <a:ext cx="2008049" cy="668516"/>
              </a:xfrm>
              <a:prstGeom prst="rect">
                <a:avLst/>
              </a:prstGeom>
              <a:blipFill>
                <a:blip r:embed="rId3"/>
                <a:stretch>
                  <a:fillRect/>
                </a:stretch>
              </a:blipFill>
            </p:spPr>
            <p:txBody>
              <a:bodyPr/>
              <a:lstStyle/>
              <a:p>
                <a:r>
                  <a:rPr lang="en-US">
                    <a:noFill/>
                  </a:rPr>
                  <a:t> </a:t>
                </a:r>
              </a:p>
            </p:txBody>
          </p:sp>
        </mc:Fallback>
      </mc:AlternateContent>
      <p:sp>
        <p:nvSpPr>
          <p:cNvPr id="11" name="6 Rectángulo"/>
          <p:cNvSpPr/>
          <p:nvPr/>
        </p:nvSpPr>
        <p:spPr>
          <a:xfrm>
            <a:off x="4806288" y="4869160"/>
            <a:ext cx="3510128" cy="369332"/>
          </a:xfrm>
          <a:prstGeom prst="rect">
            <a:avLst/>
          </a:prstGeom>
        </p:spPr>
        <p:txBody>
          <a:bodyPr wrap="none">
            <a:spAutoFit/>
          </a:bodyPr>
          <a:lstStyle/>
          <a:p>
            <a:r>
              <a:rPr lang="es-AR" dirty="0" smtClean="0"/>
              <a:t>Teorema de Codificación de Fuente</a:t>
            </a:r>
            <a:endParaRPr lang="es-AR" dirty="0"/>
          </a:p>
        </p:txBody>
      </p:sp>
      <mc:AlternateContent xmlns:mc="http://schemas.openxmlformats.org/markup-compatibility/2006" xmlns:a14="http://schemas.microsoft.com/office/drawing/2010/main">
        <mc:Choice Requires="a14">
          <p:sp>
            <p:nvSpPr>
              <p:cNvPr id="13" name="Rectángulo 12"/>
              <p:cNvSpPr/>
              <p:nvPr/>
            </p:nvSpPr>
            <p:spPr>
              <a:xfrm>
                <a:off x="5707527" y="5877272"/>
                <a:ext cx="1114985" cy="374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𝑖</m:t>
                          </m:r>
                        </m:sub>
                      </m:sSub>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r>
                            <a:rPr lang="es-AR" b="0" i="1" smtClean="0">
                              <a:latin typeface="Cambria Math" panose="02040503050406030204" pitchFamily="18" charset="0"/>
                            </a:rPr>
                            <m:t>𝑟</m:t>
                          </m:r>
                        </m:e>
                        <m:sup>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𝑙</m:t>
                              </m:r>
                            </m:e>
                            <m:sub>
                              <m:r>
                                <a:rPr lang="es-AR" b="0" i="1" smtClean="0">
                                  <a:latin typeface="Cambria Math" panose="02040503050406030204" pitchFamily="18" charset="0"/>
                                </a:rPr>
                                <m:t>𝑖</m:t>
                              </m:r>
                            </m:sub>
                          </m:sSub>
                        </m:sup>
                      </m:sSup>
                    </m:oMath>
                  </m:oMathPara>
                </a14:m>
                <a:endParaRPr lang="en-US" dirty="0"/>
              </a:p>
            </p:txBody>
          </p:sp>
        </mc:Choice>
        <mc:Fallback xmlns="">
          <p:sp>
            <p:nvSpPr>
              <p:cNvPr id="13" name="Rectángulo 12"/>
              <p:cNvSpPr>
                <a:spLocks noRot="1" noChangeAspect="1" noMove="1" noResize="1" noEditPoints="1" noAdjustHandles="1" noChangeArrowheads="1" noChangeShapeType="1" noTextEdit="1"/>
              </p:cNvSpPr>
              <p:nvPr/>
            </p:nvSpPr>
            <p:spPr>
              <a:xfrm>
                <a:off x="5707527" y="5877272"/>
                <a:ext cx="1114985" cy="374270"/>
              </a:xfrm>
              <a:prstGeom prst="rect">
                <a:avLst/>
              </a:prstGeom>
              <a:blipFill>
                <a:blip r:embed="rId4"/>
                <a:stretch>
                  <a:fillRect b="-8065"/>
                </a:stretch>
              </a:blipFill>
            </p:spPr>
            <p:txBody>
              <a:bodyPr/>
              <a:lstStyle/>
              <a:p>
                <a:r>
                  <a:rPr lang="en-US">
                    <a:noFill/>
                  </a:rPr>
                  <a:t> </a:t>
                </a:r>
              </a:p>
            </p:txBody>
          </p:sp>
        </mc:Fallback>
      </mc:AlternateContent>
      <p:sp>
        <p:nvSpPr>
          <p:cNvPr id="14" name="6 Rectángulo"/>
          <p:cNvSpPr/>
          <p:nvPr/>
        </p:nvSpPr>
        <p:spPr>
          <a:xfrm>
            <a:off x="4878897" y="5933926"/>
            <a:ext cx="917239" cy="338554"/>
          </a:xfrm>
          <a:prstGeom prst="rect">
            <a:avLst/>
          </a:prstGeom>
        </p:spPr>
        <p:txBody>
          <a:bodyPr wrap="none">
            <a:spAutoFit/>
          </a:bodyPr>
          <a:lstStyle/>
          <a:p>
            <a:r>
              <a:rPr lang="es-AR" sz="1600" dirty="0" smtClean="0"/>
              <a:t>Iguales si</a:t>
            </a:r>
            <a:endParaRPr lang="es-AR" sz="1600" dirty="0"/>
          </a:p>
        </p:txBody>
      </p:sp>
      <p:cxnSp>
        <p:nvCxnSpPr>
          <p:cNvPr id="15" name="Conector recto de flecha 14"/>
          <p:cNvCxnSpPr/>
          <p:nvPr/>
        </p:nvCxnSpPr>
        <p:spPr>
          <a:xfrm flipH="1" flipV="1">
            <a:off x="5940152" y="5689888"/>
            <a:ext cx="72008" cy="222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ángulo 15"/>
              <p:cNvSpPr/>
              <p:nvPr/>
            </p:nvSpPr>
            <p:spPr>
              <a:xfrm>
                <a:off x="6741760" y="5187146"/>
                <a:ext cx="1566070" cy="648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b="0" i="1" smtClean="0">
                          <a:latin typeface="Cambria Math" panose="02040503050406030204" pitchFamily="18" charset="0"/>
                        </a:rPr>
                        <m:t>η</m:t>
                      </m:r>
                      <m:r>
                        <a:rPr lang="es-AR" b="0" i="1" smtClean="0">
                          <a:latin typeface="Cambria Math" panose="02040503050406030204" pitchFamily="18" charset="0"/>
                        </a:rPr>
                        <m:t>=</m:t>
                      </m:r>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𝐿</m:t>
                              </m:r>
                            </m:e>
                            <m:sub>
                              <m:r>
                                <a:rPr lang="es-AR" b="0" i="1" smtClean="0">
                                  <a:latin typeface="Cambria Math" panose="02040503050406030204" pitchFamily="18" charset="0"/>
                                </a:rPr>
                                <m:t>𝑚𝑖𝑛</m:t>
                              </m:r>
                            </m:sub>
                          </m:sSub>
                        </m:num>
                        <m:den>
                          <m:bar>
                            <m:barPr>
                              <m:pos m:val="top"/>
                              <m:ctrlPr>
                                <a:rPr lang="en-US" i="1">
                                  <a:latin typeface="Cambria Math" panose="02040503050406030204" pitchFamily="18" charset="0"/>
                                </a:rPr>
                              </m:ctrlPr>
                            </m:barPr>
                            <m:e>
                              <m:r>
                                <a:rPr lang="es-AR" i="1">
                                  <a:latin typeface="Cambria Math" panose="02040503050406030204" pitchFamily="18" charset="0"/>
                                </a:rPr>
                                <m:t>𝐿</m:t>
                              </m:r>
                            </m:e>
                          </m:bar>
                        </m:den>
                      </m:f>
                      <m:r>
                        <a:rPr lang="en-US">
                          <a:latin typeface="Cambria Math" panose="02040503050406030204" pitchFamily="18" charset="0"/>
                        </a:rPr>
                        <m:t>≤</m:t>
                      </m:r>
                      <m:r>
                        <a:rPr lang="es-AR" b="0" i="0" smtClean="0">
                          <a:latin typeface="Cambria Math" panose="02040503050406030204" pitchFamily="18" charset="0"/>
                        </a:rPr>
                        <m:t>1</m:t>
                      </m:r>
                    </m:oMath>
                  </m:oMathPara>
                </a14:m>
                <a:endParaRPr lang="en-US" dirty="0"/>
              </a:p>
            </p:txBody>
          </p:sp>
        </mc:Choice>
        <mc:Fallback xmlns="">
          <p:sp>
            <p:nvSpPr>
              <p:cNvPr id="16" name="Rectángulo 15"/>
              <p:cNvSpPr>
                <a:spLocks noRot="1" noChangeAspect="1" noMove="1" noResize="1" noEditPoints="1" noAdjustHandles="1" noChangeArrowheads="1" noChangeShapeType="1" noTextEdit="1"/>
              </p:cNvSpPr>
              <p:nvPr/>
            </p:nvSpPr>
            <p:spPr>
              <a:xfrm>
                <a:off x="6741760" y="5187146"/>
                <a:ext cx="1566070" cy="648254"/>
              </a:xfrm>
              <a:prstGeom prst="rect">
                <a:avLst/>
              </a:prstGeom>
              <a:blipFill>
                <a:blip r:embed="rId5"/>
                <a:stretch>
                  <a:fillRect/>
                </a:stretch>
              </a:blipFill>
            </p:spPr>
            <p:txBody>
              <a:bodyPr/>
              <a:lstStyle/>
              <a:p>
                <a:r>
                  <a:rPr lang="en-US">
                    <a:noFill/>
                  </a:rPr>
                  <a:t> </a:t>
                </a:r>
              </a:p>
            </p:txBody>
          </p:sp>
        </mc:Fallback>
      </mc:AlternateContent>
      <p:sp>
        <p:nvSpPr>
          <p:cNvPr id="17" name="14 CuadroTexto"/>
          <p:cNvSpPr txBox="1"/>
          <p:nvPr/>
        </p:nvSpPr>
        <p:spPr>
          <a:xfrm>
            <a:off x="6868672" y="5898758"/>
            <a:ext cx="2095816" cy="33855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Limitación para CUD</a:t>
            </a:r>
            <a:endParaRPr lang="es-AR" sz="1600" baseline="30000" dirty="0" smtClean="0"/>
          </a:p>
        </p:txBody>
      </p:sp>
      <p:sp>
        <p:nvSpPr>
          <p:cNvPr id="18" name="14 CuadroTexto"/>
          <p:cNvSpPr txBox="1"/>
          <p:nvPr/>
        </p:nvSpPr>
        <p:spPr>
          <a:xfrm>
            <a:off x="1835696" y="5508521"/>
            <a:ext cx="2218600"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Condición necesaria y suficiente para CP</a:t>
            </a:r>
            <a:endParaRPr lang="es-AR" sz="1600" baseline="30000" dirty="0" smtClean="0"/>
          </a:p>
        </p:txBody>
      </p:sp>
    </p:spTree>
    <p:extLst>
      <p:ext uri="{BB962C8B-B14F-4D97-AF65-F5344CB8AC3E}">
        <p14:creationId xmlns:p14="http://schemas.microsoft.com/office/powerpoint/2010/main" val="11753092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Ejercicios 6 y 7 – Desigualdad K-</a:t>
            </a:r>
            <a:r>
              <a:rPr lang="es-ES" dirty="0" err="1" smtClean="0"/>
              <a:t>McM</a:t>
            </a:r>
            <a:r>
              <a:rPr lang="es-ES" dirty="0" smtClean="0"/>
              <a:t> y TCF</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19</a:t>
            </a:fld>
            <a:endParaRPr lang="es-ES"/>
          </a:p>
        </p:txBody>
      </p:sp>
      <p:sp>
        <p:nvSpPr>
          <p:cNvPr id="8" name="2 Marcador de contenido"/>
          <p:cNvSpPr>
            <a:spLocks noGrp="1"/>
          </p:cNvSpPr>
          <p:nvPr>
            <p:ph sz="quarter" idx="1"/>
          </p:nvPr>
        </p:nvSpPr>
        <p:spPr/>
        <p:txBody>
          <a:bodyPr>
            <a:normAutofit/>
          </a:bodyPr>
          <a:lstStyle/>
          <a:p>
            <a:pPr marL="0" indent="0" algn="just">
              <a:buNone/>
            </a:pPr>
            <a:r>
              <a:rPr lang="es-AR" sz="1800" dirty="0" smtClean="0"/>
              <a:t>Sean los siguientes códigos:</a:t>
            </a:r>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graphicFrame>
        <p:nvGraphicFramePr>
          <p:cNvPr id="12" name="Tabla 11"/>
          <p:cNvGraphicFramePr>
            <a:graphicFrameLocks noGrp="1"/>
          </p:cNvGraphicFramePr>
          <p:nvPr>
            <p:extLst>
              <p:ext uri="{D42A27DB-BD31-4B8C-83A1-F6EECF244321}">
                <p14:modId xmlns:p14="http://schemas.microsoft.com/office/powerpoint/2010/main" val="3056152713"/>
              </p:ext>
            </p:extLst>
          </p:nvPr>
        </p:nvGraphicFramePr>
        <p:xfrm>
          <a:off x="463342" y="1628800"/>
          <a:ext cx="8352865" cy="3048000"/>
        </p:xfrm>
        <a:graphic>
          <a:graphicData uri="http://schemas.openxmlformats.org/drawingml/2006/table">
            <a:tbl>
              <a:tblPr firstRow="1" firstCol="1" bandRow="1">
                <a:tableStyleId>{5C22544A-7EE6-4342-B048-85BDC9FD1C3A}</a:tableStyleId>
              </a:tblPr>
              <a:tblGrid>
                <a:gridCol w="1466850">
                  <a:extLst>
                    <a:ext uri="{9D8B030D-6E8A-4147-A177-3AD203B41FA5}">
                      <a16:colId xmlns:a16="http://schemas.microsoft.com/office/drawing/2014/main" val="3772793028"/>
                    </a:ext>
                  </a:extLst>
                </a:gridCol>
                <a:gridCol w="1416430">
                  <a:extLst>
                    <a:ext uri="{9D8B030D-6E8A-4147-A177-3AD203B41FA5}">
                      <a16:colId xmlns:a16="http://schemas.microsoft.com/office/drawing/2014/main" val="4197801613"/>
                    </a:ext>
                  </a:extLst>
                </a:gridCol>
                <a:gridCol w="1395130">
                  <a:extLst>
                    <a:ext uri="{9D8B030D-6E8A-4147-A177-3AD203B41FA5}">
                      <a16:colId xmlns:a16="http://schemas.microsoft.com/office/drawing/2014/main" val="2153245287"/>
                    </a:ext>
                  </a:extLst>
                </a:gridCol>
                <a:gridCol w="1395130">
                  <a:extLst>
                    <a:ext uri="{9D8B030D-6E8A-4147-A177-3AD203B41FA5}">
                      <a16:colId xmlns:a16="http://schemas.microsoft.com/office/drawing/2014/main" val="3627201423"/>
                    </a:ext>
                  </a:extLst>
                </a:gridCol>
                <a:gridCol w="1403118">
                  <a:extLst>
                    <a:ext uri="{9D8B030D-6E8A-4147-A177-3AD203B41FA5}">
                      <a16:colId xmlns:a16="http://schemas.microsoft.com/office/drawing/2014/main" val="1978439366"/>
                    </a:ext>
                  </a:extLst>
                </a:gridCol>
                <a:gridCol w="1276207">
                  <a:extLst>
                    <a:ext uri="{9D8B030D-6E8A-4147-A177-3AD203B41FA5}">
                      <a16:colId xmlns:a16="http://schemas.microsoft.com/office/drawing/2014/main" val="659798290"/>
                    </a:ext>
                  </a:extLst>
                </a:gridCol>
              </a:tblGrid>
              <a:tr h="0">
                <a:tc>
                  <a:txBody>
                    <a:bodyPr/>
                    <a:lstStyle/>
                    <a:p>
                      <a:pPr marR="65405" algn="ctr">
                        <a:spcBef>
                          <a:spcPts val="600"/>
                        </a:spcBef>
                        <a:spcAft>
                          <a:spcPts val="600"/>
                        </a:spcAft>
                      </a:pPr>
                      <a:r>
                        <a:rPr lang="es-ES" sz="2000">
                          <a:effectLst/>
                        </a:rPr>
                        <a:t>S</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Prob.</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dirty="0">
                          <a:effectLst/>
                        </a:rPr>
                        <a:t>Cód. I</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Cód. II</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Cód III</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Cód. IV</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47078977"/>
                  </a:ext>
                </a:extLst>
              </a:tr>
              <a:tr h="0">
                <a:tc>
                  <a:txBody>
                    <a:bodyPr/>
                    <a:lstStyle/>
                    <a:p>
                      <a:pPr marR="65405" algn="ctr">
                        <a:spcBef>
                          <a:spcPts val="600"/>
                        </a:spcBef>
                        <a:spcAft>
                          <a:spcPts val="600"/>
                        </a:spcAft>
                      </a:pPr>
                      <a:r>
                        <a:rPr lang="es-ES" sz="2000">
                          <a:effectLst/>
                        </a:rPr>
                        <a:t>S</a:t>
                      </a:r>
                      <a:r>
                        <a:rPr lang="es-ES" sz="2000" baseline="-25000">
                          <a:effectLst/>
                        </a:rPr>
                        <a:t>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0,5</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4450050"/>
                  </a:ext>
                </a:extLst>
              </a:tr>
              <a:tr h="0">
                <a:tc>
                  <a:txBody>
                    <a:bodyPr/>
                    <a:lstStyle/>
                    <a:p>
                      <a:pPr marR="65405" algn="ctr">
                        <a:spcBef>
                          <a:spcPts val="600"/>
                        </a:spcBef>
                        <a:spcAft>
                          <a:spcPts val="600"/>
                        </a:spcAft>
                      </a:pPr>
                      <a:r>
                        <a:rPr lang="es-ES" sz="2000">
                          <a:effectLst/>
                        </a:rPr>
                        <a:t>S</a:t>
                      </a:r>
                      <a:r>
                        <a:rPr lang="es-ES" sz="2000" baseline="-25000">
                          <a:effectLst/>
                        </a:rPr>
                        <a:t>2</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dirty="0">
                          <a:effectLst/>
                        </a:rPr>
                        <a:t>0,25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0612161"/>
                  </a:ext>
                </a:extLst>
              </a:tr>
              <a:tr h="0">
                <a:tc>
                  <a:txBody>
                    <a:bodyPr/>
                    <a:lstStyle/>
                    <a:p>
                      <a:pPr marR="65405" algn="ctr">
                        <a:spcBef>
                          <a:spcPts val="600"/>
                        </a:spcBef>
                        <a:spcAft>
                          <a:spcPts val="600"/>
                        </a:spcAft>
                      </a:pPr>
                      <a:r>
                        <a:rPr lang="es-ES" sz="2000">
                          <a:effectLst/>
                        </a:rPr>
                        <a:t>S</a:t>
                      </a:r>
                      <a:r>
                        <a:rPr lang="es-ES" sz="2000" baseline="-25000">
                          <a:effectLst/>
                        </a:rPr>
                        <a:t>3</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0,125</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110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10</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12004202"/>
                  </a:ext>
                </a:extLst>
              </a:tr>
              <a:tr h="0">
                <a:tc>
                  <a:txBody>
                    <a:bodyPr/>
                    <a:lstStyle/>
                    <a:p>
                      <a:pPr marR="65405" algn="ctr">
                        <a:spcBef>
                          <a:spcPts val="600"/>
                        </a:spcBef>
                        <a:spcAft>
                          <a:spcPts val="600"/>
                        </a:spcAft>
                      </a:pPr>
                      <a:r>
                        <a:rPr lang="es-ES" sz="2000">
                          <a:effectLst/>
                        </a:rPr>
                        <a:t>S</a:t>
                      </a:r>
                      <a:r>
                        <a:rPr lang="es-ES" sz="2000" baseline="-25000">
                          <a:effectLst/>
                        </a:rPr>
                        <a:t>4</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0,125</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111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a:effectLst/>
                        </a:rPr>
                        <a:t>0111</a:t>
                      </a:r>
                      <a:endParaRPr lang="en-US" sz="20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2000" dirty="0">
                          <a:effectLst/>
                        </a:rPr>
                        <a:t>11</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26788520"/>
                  </a:ext>
                </a:extLst>
              </a:tr>
              <a:tr h="0">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L</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1,25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1,75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1,875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2</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49984796"/>
                  </a:ext>
                </a:extLst>
              </a:tr>
              <a:tr h="0">
                <a:tc>
                  <a:txBody>
                    <a:bodyPr/>
                    <a:lstStyle/>
                    <a:p>
                      <a:r>
                        <a:rPr lang="es-AR" dirty="0" smtClean="0"/>
                        <a:t>Des. K-</a:t>
                      </a:r>
                      <a:r>
                        <a:rPr lang="es-AR" dirty="0" err="1" smtClean="0"/>
                        <a:t>McM</a:t>
                      </a:r>
                      <a:endParaRPr lang="en-US" dirty="0"/>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solidFill>
                            <a:srgbClr val="FF0000"/>
                          </a:solidFill>
                          <a:effectLst/>
                          <a:latin typeface="Cambria" panose="02040503050406030204" pitchFamily="18" charset="0"/>
                          <a:ea typeface="Cambria" panose="02040503050406030204" pitchFamily="18" charset="0"/>
                          <a:cs typeface="Cambria" panose="02040503050406030204" pitchFamily="18" charset="0"/>
                        </a:rPr>
                        <a:t>1,5</a:t>
                      </a:r>
                      <a:endParaRPr lang="en-US" sz="2000" dirty="0">
                        <a:solidFill>
                          <a:srgbClr val="FF000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solidFill>
                            <a:srgbClr val="00B050"/>
                          </a:solidFill>
                          <a:effectLst/>
                          <a:latin typeface="Cambria" panose="02040503050406030204" pitchFamily="18" charset="0"/>
                          <a:ea typeface="Cambria" panose="02040503050406030204" pitchFamily="18" charset="0"/>
                          <a:cs typeface="Cambria" panose="02040503050406030204" pitchFamily="18" charset="0"/>
                        </a:rPr>
                        <a:t>1</a:t>
                      </a:r>
                      <a:endParaRPr lang="en-US" sz="2000" dirty="0">
                        <a:solidFill>
                          <a:srgbClr val="00B05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solidFill>
                            <a:srgbClr val="00B050"/>
                          </a:solidFill>
                          <a:effectLst/>
                          <a:latin typeface="Cambria" panose="02040503050406030204" pitchFamily="18" charset="0"/>
                          <a:ea typeface="Cambria" panose="02040503050406030204" pitchFamily="18" charset="0"/>
                          <a:cs typeface="Cambria" panose="02040503050406030204" pitchFamily="18" charset="0"/>
                        </a:rPr>
                        <a:t>0,9375</a:t>
                      </a:r>
                      <a:endParaRPr lang="en-US" sz="2000" dirty="0">
                        <a:solidFill>
                          <a:srgbClr val="00B05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solidFill>
                            <a:srgbClr val="00B050"/>
                          </a:solidFill>
                          <a:effectLst/>
                          <a:latin typeface="Cambria" panose="02040503050406030204" pitchFamily="18" charset="0"/>
                          <a:ea typeface="Cambria" panose="02040503050406030204" pitchFamily="18" charset="0"/>
                          <a:cs typeface="Cambria" panose="02040503050406030204" pitchFamily="18" charset="0"/>
                        </a:rPr>
                        <a:t>1</a:t>
                      </a:r>
                      <a:endParaRPr lang="en-US" sz="2000" dirty="0">
                        <a:solidFill>
                          <a:srgbClr val="00B050"/>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891435241"/>
                  </a:ext>
                </a:extLst>
              </a:tr>
              <a:tr h="0">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H(S)</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gridSpan="5">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1,75 bits</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377789662"/>
                  </a:ext>
                </a:extLst>
              </a:tr>
              <a:tr h="0">
                <a:tc>
                  <a:txBody>
                    <a:bodyPr/>
                    <a:lstStyle/>
                    <a:p>
                      <a:pPr marR="65405" algn="ctr">
                        <a:spcBef>
                          <a:spcPts val="600"/>
                        </a:spcBef>
                        <a:spcAft>
                          <a:spcPts val="600"/>
                        </a:spcAft>
                      </a:pPr>
                      <a:r>
                        <a:rPr lang="es-AR" sz="2000" dirty="0" err="1" smtClean="0">
                          <a:effectLst/>
                          <a:latin typeface="Cambria" panose="02040503050406030204" pitchFamily="18" charset="0"/>
                          <a:ea typeface="Cambria" panose="02040503050406030204" pitchFamily="18" charset="0"/>
                          <a:cs typeface="Cambria" panose="02040503050406030204" pitchFamily="18" charset="0"/>
                        </a:rPr>
                        <a:t>Lmin</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gridSpan="5">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1,75</a:t>
                      </a: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hMerge="1">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525456593"/>
                  </a:ext>
                </a:extLst>
              </a:tr>
              <a:tr h="0">
                <a:tc>
                  <a:txBody>
                    <a:bodyPr/>
                    <a:lstStyle/>
                    <a:p>
                      <a:pPr marR="65405" algn="ctr">
                        <a:spcBef>
                          <a:spcPts val="600"/>
                        </a:spcBef>
                        <a:spcAft>
                          <a:spcPts val="600"/>
                        </a:spcAft>
                      </a:pPr>
                      <a:r>
                        <a:rPr lang="el-GR" sz="2000" dirty="0" smtClean="0">
                          <a:effectLst/>
                          <a:latin typeface="Bookman Old Style" panose="02050604050505020204" pitchFamily="18" charset="0"/>
                          <a:ea typeface="Cambria" panose="02040503050406030204" pitchFamily="18" charset="0"/>
                          <a:cs typeface="Cambria" panose="02040503050406030204" pitchFamily="18" charset="0"/>
                        </a:rPr>
                        <a:t>η</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1,16</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1</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0,93</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2000" dirty="0" smtClean="0">
                          <a:effectLst/>
                          <a:latin typeface="Cambria" panose="02040503050406030204" pitchFamily="18" charset="0"/>
                          <a:ea typeface="Cambria" panose="02040503050406030204" pitchFamily="18" charset="0"/>
                          <a:cs typeface="Cambria" panose="02040503050406030204" pitchFamily="18" charset="0"/>
                        </a:rPr>
                        <a:t>0,875</a:t>
                      </a:r>
                      <a:endParaRPr lang="en-US" sz="20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582931869"/>
                  </a:ext>
                </a:extLst>
              </a:tr>
            </a:tbl>
          </a:graphicData>
        </a:graphic>
      </p:graphicFrame>
      <mc:AlternateContent xmlns:mc="http://schemas.openxmlformats.org/markup-compatibility/2006" xmlns:a14="http://schemas.microsoft.com/office/drawing/2010/main">
        <mc:Choice Requires="a14">
          <p:sp>
            <p:nvSpPr>
              <p:cNvPr id="24" name="Rectángulo 23"/>
              <p:cNvSpPr/>
              <p:nvPr/>
            </p:nvSpPr>
            <p:spPr>
              <a:xfrm>
                <a:off x="467544" y="5373216"/>
                <a:ext cx="1357231"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ctrlPr>
                            <a:rPr lang="en-US" i="1" smtClean="0">
                              <a:latin typeface="Cambria Math" panose="02040503050406030204" pitchFamily="18" charset="0"/>
                            </a:rPr>
                          </m:ctrlPr>
                        </m:naryPr>
                        <m:sub>
                          <m:r>
                            <a:rPr lang="es-AR" b="0" i="1" smtClean="0">
                              <a:latin typeface="Cambria Math" panose="02040503050406030204" pitchFamily="18" charset="0"/>
                            </a:rPr>
                            <m:t>𝑖</m:t>
                          </m:r>
                          <m:r>
                            <a:rPr lang="en-US" i="0">
                              <a:latin typeface="Cambria Math" panose="02040503050406030204" pitchFamily="18" charset="0"/>
                            </a:rPr>
                            <m:t>=0</m:t>
                          </m:r>
                        </m:sub>
                        <m:sup>
                          <m:r>
                            <a:rPr lang="en-US" i="1">
                              <a:latin typeface="Cambria Math" panose="02040503050406030204" pitchFamily="18" charset="0"/>
                            </a:rPr>
                            <m:t>𝐾</m:t>
                          </m:r>
                          <m:r>
                            <a:rPr lang="en-US" i="0">
                              <a:latin typeface="Cambria Math" panose="02040503050406030204" pitchFamily="18" charset="0"/>
                            </a:rPr>
                            <m:t>−1</m:t>
                          </m:r>
                        </m:sup>
                        <m:e>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𝑟</m:t>
                                  </m:r>
                                </m:den>
                              </m:f>
                            </m:e>
                            <m:sup>
                              <m:sSub>
                                <m:sSubPr>
                                  <m:ctrlPr>
                                    <a:rPr lang="en-US" i="1">
                                      <a:latin typeface="Cambria Math" panose="02040503050406030204" pitchFamily="18" charset="0"/>
                                    </a:rPr>
                                  </m:ctrlPr>
                                </m:sSubPr>
                                <m:e>
                                  <m:r>
                                    <a:rPr lang="en-US" i="1">
                                      <a:latin typeface="Cambria Math" panose="02040503050406030204" pitchFamily="18" charset="0"/>
                                    </a:rPr>
                                    <m:t>𝑙</m:t>
                                  </m:r>
                                </m:e>
                                <m:sub>
                                  <m:r>
                                    <a:rPr lang="es-AR" b="0" i="1" smtClean="0">
                                      <a:latin typeface="Cambria Math" panose="02040503050406030204" pitchFamily="18" charset="0"/>
                                    </a:rPr>
                                    <m:t>𝑖</m:t>
                                  </m:r>
                                </m:sub>
                              </m:sSub>
                            </m:sup>
                          </m:sSup>
                          <m:r>
                            <a:rPr lang="en-US" i="0">
                              <a:latin typeface="Cambria Math" panose="02040503050406030204" pitchFamily="18" charset="0"/>
                            </a:rPr>
                            <m:t>≤1</m:t>
                          </m:r>
                        </m:e>
                      </m:nary>
                    </m:oMath>
                  </m:oMathPara>
                </a14:m>
                <a:endParaRPr lang="en-US" dirty="0"/>
              </a:p>
            </p:txBody>
          </p:sp>
        </mc:Choice>
        <mc:Fallback xmlns="">
          <p:sp>
            <p:nvSpPr>
              <p:cNvPr id="24" name="Rectángulo 23"/>
              <p:cNvSpPr>
                <a:spLocks noRot="1" noChangeAspect="1" noMove="1" noResize="1" noEditPoints="1" noAdjustHandles="1" noChangeArrowheads="1" noChangeShapeType="1" noTextEdit="1"/>
              </p:cNvSpPr>
              <p:nvPr/>
            </p:nvSpPr>
            <p:spPr>
              <a:xfrm>
                <a:off x="467544" y="5373216"/>
                <a:ext cx="1357231" cy="871457"/>
              </a:xfrm>
              <a:prstGeom prst="rect">
                <a:avLst/>
              </a:prstGeom>
              <a:blipFill>
                <a:blip r:embed="rId2"/>
                <a:stretch>
                  <a:fillRect/>
                </a:stretch>
              </a:blipFill>
            </p:spPr>
            <p:txBody>
              <a:bodyPr/>
              <a:lstStyle/>
              <a:p>
                <a:r>
                  <a:rPr lang="en-US">
                    <a:noFill/>
                  </a:rPr>
                  <a:t> </a:t>
                </a:r>
              </a:p>
            </p:txBody>
          </p:sp>
        </mc:Fallback>
      </mc:AlternateContent>
      <p:sp>
        <p:nvSpPr>
          <p:cNvPr id="25" name="6 Rectángulo"/>
          <p:cNvSpPr/>
          <p:nvPr/>
        </p:nvSpPr>
        <p:spPr>
          <a:xfrm>
            <a:off x="472851" y="4869160"/>
            <a:ext cx="3163045" cy="369332"/>
          </a:xfrm>
          <a:prstGeom prst="rect">
            <a:avLst/>
          </a:prstGeom>
        </p:spPr>
        <p:txBody>
          <a:bodyPr wrap="none">
            <a:spAutoFit/>
          </a:bodyPr>
          <a:lstStyle/>
          <a:p>
            <a:r>
              <a:rPr lang="es-AR" dirty="0" smtClean="0"/>
              <a:t>Desigualdad de </a:t>
            </a:r>
            <a:r>
              <a:rPr lang="es-AR" dirty="0" err="1" smtClean="0"/>
              <a:t>Kraft</a:t>
            </a:r>
            <a:r>
              <a:rPr lang="es-AR" dirty="0" smtClean="0"/>
              <a:t> - </a:t>
            </a:r>
            <a:r>
              <a:rPr lang="es-AR" dirty="0" err="1" smtClean="0"/>
              <a:t>McMillan</a:t>
            </a:r>
            <a:endParaRPr lang="es-AR" dirty="0"/>
          </a:p>
        </p:txBody>
      </p:sp>
      <mc:AlternateContent xmlns:mc="http://schemas.openxmlformats.org/markup-compatibility/2006" xmlns:a14="http://schemas.microsoft.com/office/drawing/2010/main">
        <mc:Choice Requires="a14">
          <p:sp>
            <p:nvSpPr>
              <p:cNvPr id="26" name="Rectángulo 25"/>
              <p:cNvSpPr/>
              <p:nvPr/>
            </p:nvSpPr>
            <p:spPr>
              <a:xfrm>
                <a:off x="4302232" y="5187146"/>
                <a:ext cx="2008049"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𝐿</m:t>
                          </m:r>
                        </m:e>
                        <m:sub>
                          <m:r>
                            <a:rPr lang="es-AR" b="0" i="1" smtClean="0">
                              <a:latin typeface="Cambria Math" panose="02040503050406030204" pitchFamily="18" charset="0"/>
                            </a:rPr>
                            <m:t>𝑚𝑖𝑛</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𝐻</m:t>
                          </m:r>
                          <m:r>
                            <a:rPr lang="es-AR" b="0" i="1" smtClean="0">
                              <a:latin typeface="Cambria Math" panose="02040503050406030204" pitchFamily="18" charset="0"/>
                            </a:rPr>
                            <m:t>(</m:t>
                          </m:r>
                          <m:r>
                            <a:rPr lang="es-AR" b="0" i="1" smtClean="0">
                              <a:latin typeface="Cambria Math" panose="02040503050406030204" pitchFamily="18" charset="0"/>
                            </a:rPr>
                            <m:t>𝑆</m:t>
                          </m:r>
                          <m:r>
                            <a:rPr lang="es-AR" b="0" i="1" smtClean="0">
                              <a:latin typeface="Cambria Math" panose="02040503050406030204" pitchFamily="18" charset="0"/>
                            </a:rPr>
                            <m:t>)</m:t>
                          </m:r>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r>
                        <a:rPr lang="en-US">
                          <a:latin typeface="Cambria Math" panose="02040503050406030204" pitchFamily="18" charset="0"/>
                        </a:rPr>
                        <m:t>≤</m:t>
                      </m:r>
                      <m:bar>
                        <m:barPr>
                          <m:pos m:val="top"/>
                          <m:ctrlPr>
                            <a:rPr lang="en-US" i="1" smtClean="0">
                              <a:latin typeface="Cambria Math" panose="02040503050406030204" pitchFamily="18" charset="0"/>
                            </a:rPr>
                          </m:ctrlPr>
                        </m:barPr>
                        <m:e>
                          <m:r>
                            <a:rPr lang="es-AR" b="0" i="1" smtClean="0">
                              <a:latin typeface="Cambria Math" panose="02040503050406030204" pitchFamily="18" charset="0"/>
                            </a:rPr>
                            <m:t>𝐿</m:t>
                          </m:r>
                        </m:e>
                      </m:bar>
                    </m:oMath>
                  </m:oMathPara>
                </a14:m>
                <a:endParaRPr lang="en-US" dirty="0"/>
              </a:p>
            </p:txBody>
          </p:sp>
        </mc:Choice>
        <mc:Fallback xmlns="">
          <p:sp>
            <p:nvSpPr>
              <p:cNvPr id="26" name="Rectángulo 25"/>
              <p:cNvSpPr>
                <a:spLocks noRot="1" noChangeAspect="1" noMove="1" noResize="1" noEditPoints="1" noAdjustHandles="1" noChangeArrowheads="1" noChangeShapeType="1" noTextEdit="1"/>
              </p:cNvSpPr>
              <p:nvPr/>
            </p:nvSpPr>
            <p:spPr>
              <a:xfrm>
                <a:off x="4302232" y="5187146"/>
                <a:ext cx="2008049" cy="668516"/>
              </a:xfrm>
              <a:prstGeom prst="rect">
                <a:avLst/>
              </a:prstGeom>
              <a:blipFill>
                <a:blip r:embed="rId3"/>
                <a:stretch>
                  <a:fillRect/>
                </a:stretch>
              </a:blipFill>
            </p:spPr>
            <p:txBody>
              <a:bodyPr/>
              <a:lstStyle/>
              <a:p>
                <a:r>
                  <a:rPr lang="en-US">
                    <a:noFill/>
                  </a:rPr>
                  <a:t> </a:t>
                </a:r>
              </a:p>
            </p:txBody>
          </p:sp>
        </mc:Fallback>
      </mc:AlternateContent>
      <p:sp>
        <p:nvSpPr>
          <p:cNvPr id="27" name="6 Rectángulo"/>
          <p:cNvSpPr/>
          <p:nvPr/>
        </p:nvSpPr>
        <p:spPr>
          <a:xfrm>
            <a:off x="4806288" y="4869160"/>
            <a:ext cx="3510128" cy="369332"/>
          </a:xfrm>
          <a:prstGeom prst="rect">
            <a:avLst/>
          </a:prstGeom>
        </p:spPr>
        <p:txBody>
          <a:bodyPr wrap="none">
            <a:spAutoFit/>
          </a:bodyPr>
          <a:lstStyle/>
          <a:p>
            <a:r>
              <a:rPr lang="es-AR" dirty="0" smtClean="0"/>
              <a:t>Teorema de Codificación de Fuente</a:t>
            </a:r>
            <a:endParaRPr lang="es-AR" dirty="0"/>
          </a:p>
        </p:txBody>
      </p:sp>
      <mc:AlternateContent xmlns:mc="http://schemas.openxmlformats.org/markup-compatibility/2006" xmlns:a14="http://schemas.microsoft.com/office/drawing/2010/main">
        <mc:Choice Requires="a14">
          <p:sp>
            <p:nvSpPr>
              <p:cNvPr id="28" name="Rectángulo 27"/>
              <p:cNvSpPr/>
              <p:nvPr/>
            </p:nvSpPr>
            <p:spPr>
              <a:xfrm>
                <a:off x="5707527" y="5877272"/>
                <a:ext cx="1114985" cy="374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𝑖</m:t>
                          </m:r>
                        </m:sub>
                      </m:sSub>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r>
                            <a:rPr lang="es-AR" b="0" i="1" smtClean="0">
                              <a:latin typeface="Cambria Math" panose="02040503050406030204" pitchFamily="18" charset="0"/>
                            </a:rPr>
                            <m:t>𝑟</m:t>
                          </m:r>
                        </m:e>
                        <m:sup>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𝑙</m:t>
                              </m:r>
                            </m:e>
                            <m:sub>
                              <m:r>
                                <a:rPr lang="es-AR" b="0" i="1" smtClean="0">
                                  <a:latin typeface="Cambria Math" panose="02040503050406030204" pitchFamily="18" charset="0"/>
                                </a:rPr>
                                <m:t>𝑖</m:t>
                              </m:r>
                            </m:sub>
                          </m:sSub>
                        </m:sup>
                      </m:sSup>
                    </m:oMath>
                  </m:oMathPara>
                </a14:m>
                <a:endParaRPr lang="en-US" dirty="0"/>
              </a:p>
            </p:txBody>
          </p:sp>
        </mc:Choice>
        <mc:Fallback xmlns="">
          <p:sp>
            <p:nvSpPr>
              <p:cNvPr id="28" name="Rectángulo 27"/>
              <p:cNvSpPr>
                <a:spLocks noRot="1" noChangeAspect="1" noMove="1" noResize="1" noEditPoints="1" noAdjustHandles="1" noChangeArrowheads="1" noChangeShapeType="1" noTextEdit="1"/>
              </p:cNvSpPr>
              <p:nvPr/>
            </p:nvSpPr>
            <p:spPr>
              <a:xfrm>
                <a:off x="5707527" y="5877272"/>
                <a:ext cx="1114985" cy="374270"/>
              </a:xfrm>
              <a:prstGeom prst="rect">
                <a:avLst/>
              </a:prstGeom>
              <a:blipFill>
                <a:blip r:embed="rId4"/>
                <a:stretch>
                  <a:fillRect b="-8065"/>
                </a:stretch>
              </a:blipFill>
            </p:spPr>
            <p:txBody>
              <a:bodyPr/>
              <a:lstStyle/>
              <a:p>
                <a:r>
                  <a:rPr lang="en-US">
                    <a:noFill/>
                  </a:rPr>
                  <a:t> </a:t>
                </a:r>
              </a:p>
            </p:txBody>
          </p:sp>
        </mc:Fallback>
      </mc:AlternateContent>
      <p:sp>
        <p:nvSpPr>
          <p:cNvPr id="29" name="6 Rectángulo"/>
          <p:cNvSpPr/>
          <p:nvPr/>
        </p:nvSpPr>
        <p:spPr>
          <a:xfrm>
            <a:off x="4878897" y="5933926"/>
            <a:ext cx="917239" cy="338554"/>
          </a:xfrm>
          <a:prstGeom prst="rect">
            <a:avLst/>
          </a:prstGeom>
        </p:spPr>
        <p:txBody>
          <a:bodyPr wrap="none">
            <a:spAutoFit/>
          </a:bodyPr>
          <a:lstStyle/>
          <a:p>
            <a:r>
              <a:rPr lang="es-AR" sz="1600" dirty="0" smtClean="0"/>
              <a:t>Iguales si</a:t>
            </a:r>
            <a:endParaRPr lang="es-AR" sz="1600" dirty="0"/>
          </a:p>
        </p:txBody>
      </p:sp>
      <p:cxnSp>
        <p:nvCxnSpPr>
          <p:cNvPr id="30" name="Conector recto de flecha 29"/>
          <p:cNvCxnSpPr/>
          <p:nvPr/>
        </p:nvCxnSpPr>
        <p:spPr>
          <a:xfrm flipH="1" flipV="1">
            <a:off x="5940152" y="5689888"/>
            <a:ext cx="72008" cy="222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ángulo 30"/>
              <p:cNvSpPr/>
              <p:nvPr/>
            </p:nvSpPr>
            <p:spPr>
              <a:xfrm>
                <a:off x="6741760" y="5187146"/>
                <a:ext cx="1566070" cy="648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b="0" i="1" smtClean="0">
                          <a:latin typeface="Cambria Math" panose="02040503050406030204" pitchFamily="18" charset="0"/>
                        </a:rPr>
                        <m:t>η</m:t>
                      </m:r>
                      <m:r>
                        <a:rPr lang="es-AR" b="0" i="1" smtClean="0">
                          <a:latin typeface="Cambria Math" panose="02040503050406030204" pitchFamily="18" charset="0"/>
                        </a:rPr>
                        <m:t>=</m:t>
                      </m:r>
                      <m:f>
                        <m:fPr>
                          <m:ctrlPr>
                            <a:rPr lang="es-AR" b="0" i="1" smtClean="0">
                              <a:latin typeface="Cambria Math" panose="02040503050406030204" pitchFamily="18" charset="0"/>
                            </a:rPr>
                          </m:ctrlPr>
                        </m:fPr>
                        <m:num>
                          <m:sSub>
                            <m:sSubPr>
                              <m:ctrlPr>
                                <a:rPr lang="es-AR" b="0" i="1" smtClean="0">
                                  <a:latin typeface="Cambria Math" panose="02040503050406030204" pitchFamily="18" charset="0"/>
                                </a:rPr>
                              </m:ctrlPr>
                            </m:sSubPr>
                            <m:e>
                              <m:r>
                                <a:rPr lang="es-AR" b="0" i="1" smtClean="0">
                                  <a:latin typeface="Cambria Math" panose="02040503050406030204" pitchFamily="18" charset="0"/>
                                </a:rPr>
                                <m:t>𝐿</m:t>
                              </m:r>
                            </m:e>
                            <m:sub>
                              <m:r>
                                <a:rPr lang="es-AR" b="0" i="1" smtClean="0">
                                  <a:latin typeface="Cambria Math" panose="02040503050406030204" pitchFamily="18" charset="0"/>
                                </a:rPr>
                                <m:t>𝑚𝑖𝑛</m:t>
                              </m:r>
                            </m:sub>
                          </m:sSub>
                        </m:num>
                        <m:den>
                          <m:bar>
                            <m:barPr>
                              <m:pos m:val="top"/>
                              <m:ctrlPr>
                                <a:rPr lang="en-US" i="1">
                                  <a:latin typeface="Cambria Math" panose="02040503050406030204" pitchFamily="18" charset="0"/>
                                </a:rPr>
                              </m:ctrlPr>
                            </m:barPr>
                            <m:e>
                              <m:r>
                                <a:rPr lang="es-AR" i="1">
                                  <a:latin typeface="Cambria Math" panose="02040503050406030204" pitchFamily="18" charset="0"/>
                                </a:rPr>
                                <m:t>𝐿</m:t>
                              </m:r>
                            </m:e>
                          </m:bar>
                        </m:den>
                      </m:f>
                      <m:r>
                        <a:rPr lang="en-US">
                          <a:latin typeface="Cambria Math" panose="02040503050406030204" pitchFamily="18" charset="0"/>
                        </a:rPr>
                        <m:t>≤</m:t>
                      </m:r>
                      <m:r>
                        <a:rPr lang="es-AR" b="0" i="0" smtClean="0">
                          <a:latin typeface="Cambria Math" panose="02040503050406030204" pitchFamily="18" charset="0"/>
                        </a:rPr>
                        <m:t>1</m:t>
                      </m:r>
                    </m:oMath>
                  </m:oMathPara>
                </a14:m>
                <a:endParaRPr lang="en-US" dirty="0"/>
              </a:p>
            </p:txBody>
          </p:sp>
        </mc:Choice>
        <mc:Fallback xmlns="">
          <p:sp>
            <p:nvSpPr>
              <p:cNvPr id="31" name="Rectángulo 30"/>
              <p:cNvSpPr>
                <a:spLocks noRot="1" noChangeAspect="1" noMove="1" noResize="1" noEditPoints="1" noAdjustHandles="1" noChangeArrowheads="1" noChangeShapeType="1" noTextEdit="1"/>
              </p:cNvSpPr>
              <p:nvPr/>
            </p:nvSpPr>
            <p:spPr>
              <a:xfrm>
                <a:off x="6741760" y="5187146"/>
                <a:ext cx="1566070" cy="648254"/>
              </a:xfrm>
              <a:prstGeom prst="rect">
                <a:avLst/>
              </a:prstGeom>
              <a:blipFill>
                <a:blip r:embed="rId5"/>
                <a:stretch>
                  <a:fillRect/>
                </a:stretch>
              </a:blipFill>
            </p:spPr>
            <p:txBody>
              <a:bodyPr/>
              <a:lstStyle/>
              <a:p>
                <a:r>
                  <a:rPr lang="en-US">
                    <a:noFill/>
                  </a:rPr>
                  <a:t> </a:t>
                </a:r>
              </a:p>
            </p:txBody>
          </p:sp>
        </mc:Fallback>
      </mc:AlternateContent>
      <p:sp>
        <p:nvSpPr>
          <p:cNvPr id="32" name="14 CuadroTexto"/>
          <p:cNvSpPr txBox="1"/>
          <p:nvPr/>
        </p:nvSpPr>
        <p:spPr>
          <a:xfrm>
            <a:off x="6868672" y="5898758"/>
            <a:ext cx="2095816" cy="33855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Limitación para CUD</a:t>
            </a:r>
            <a:endParaRPr lang="es-AR" sz="1600" baseline="30000" dirty="0" smtClean="0"/>
          </a:p>
        </p:txBody>
      </p:sp>
      <p:sp>
        <p:nvSpPr>
          <p:cNvPr id="33" name="14 CuadroTexto"/>
          <p:cNvSpPr txBox="1"/>
          <p:nvPr/>
        </p:nvSpPr>
        <p:spPr>
          <a:xfrm>
            <a:off x="1835696" y="5508521"/>
            <a:ext cx="2218600"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Condición necesaria y suficiente para CP</a:t>
            </a:r>
            <a:endParaRPr lang="es-AR" sz="1600" baseline="30000" dirty="0" smtClean="0"/>
          </a:p>
        </p:txBody>
      </p:sp>
    </p:spTree>
    <p:extLst>
      <p:ext uri="{BB962C8B-B14F-4D97-AF65-F5344CB8AC3E}">
        <p14:creationId xmlns:p14="http://schemas.microsoft.com/office/powerpoint/2010/main" val="41460235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20</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cxnSp>
        <p:nvCxnSpPr>
          <p:cNvPr id="12" name="Conector recto de flecha 11"/>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ángulo 12"/>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Tree>
    <p:extLst>
      <p:ext uri="{BB962C8B-B14F-4D97-AF65-F5344CB8AC3E}">
        <p14:creationId xmlns:p14="http://schemas.microsoft.com/office/powerpoint/2010/main" val="30661288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21</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cxnSp>
        <p:nvCxnSpPr>
          <p:cNvPr id="12" name="Conector recto de flecha 11"/>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ángulo 20"/>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
        <p:nvSpPr>
          <p:cNvPr id="15"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16"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Tree>
    <p:extLst>
      <p:ext uri="{BB962C8B-B14F-4D97-AF65-F5344CB8AC3E}">
        <p14:creationId xmlns:p14="http://schemas.microsoft.com/office/powerpoint/2010/main" val="15174528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22</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cxnSp>
        <p:nvCxnSpPr>
          <p:cNvPr id="12" name="Conector recto de flecha 11"/>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16"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
        <p:nvSpPr>
          <p:cNvPr id="20" name="6 Rectángulo"/>
          <p:cNvSpPr/>
          <p:nvPr/>
        </p:nvSpPr>
        <p:spPr>
          <a:xfrm>
            <a:off x="6153470" y="3059668"/>
            <a:ext cx="300082" cy="369332"/>
          </a:xfrm>
          <a:prstGeom prst="rect">
            <a:avLst/>
          </a:prstGeom>
        </p:spPr>
        <p:txBody>
          <a:bodyPr wrap="none">
            <a:spAutoFit/>
          </a:bodyPr>
          <a:lstStyle/>
          <a:p>
            <a:r>
              <a:rPr lang="es-AR" dirty="0" smtClean="0"/>
              <a:t>0</a:t>
            </a:r>
            <a:endParaRPr lang="es-AR" dirty="0"/>
          </a:p>
        </p:txBody>
      </p:sp>
      <p:sp>
        <p:nvSpPr>
          <p:cNvPr id="22" name="6 Rectángulo"/>
          <p:cNvSpPr/>
          <p:nvPr/>
        </p:nvSpPr>
        <p:spPr>
          <a:xfrm>
            <a:off x="6156176" y="1745940"/>
            <a:ext cx="300082" cy="369332"/>
          </a:xfrm>
          <a:prstGeom prst="rect">
            <a:avLst/>
          </a:prstGeom>
        </p:spPr>
        <p:txBody>
          <a:bodyPr wrap="none">
            <a:spAutoFit/>
          </a:bodyPr>
          <a:lstStyle/>
          <a:p>
            <a:r>
              <a:rPr lang="es-AR" dirty="0" smtClean="0"/>
              <a:t>1</a:t>
            </a:r>
            <a:endParaRPr lang="es-AR" dirty="0"/>
          </a:p>
        </p:txBody>
      </p:sp>
      <p:sp>
        <p:nvSpPr>
          <p:cNvPr id="23" name="Rectángulo 22"/>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Tree>
    <p:extLst>
      <p:ext uri="{BB962C8B-B14F-4D97-AF65-F5344CB8AC3E}">
        <p14:creationId xmlns:p14="http://schemas.microsoft.com/office/powerpoint/2010/main" val="39367246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23</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cxnSp>
        <p:nvCxnSpPr>
          <p:cNvPr id="12" name="Conector recto de flecha 11"/>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16"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
        <p:nvSpPr>
          <p:cNvPr id="20" name="6 Rectángulo"/>
          <p:cNvSpPr/>
          <p:nvPr/>
        </p:nvSpPr>
        <p:spPr>
          <a:xfrm>
            <a:off x="6153470" y="3059668"/>
            <a:ext cx="300082" cy="369332"/>
          </a:xfrm>
          <a:prstGeom prst="rect">
            <a:avLst/>
          </a:prstGeom>
        </p:spPr>
        <p:txBody>
          <a:bodyPr wrap="none">
            <a:spAutoFit/>
          </a:bodyPr>
          <a:lstStyle/>
          <a:p>
            <a:r>
              <a:rPr lang="es-AR" dirty="0" smtClean="0"/>
              <a:t>0</a:t>
            </a:r>
            <a:endParaRPr lang="es-AR" dirty="0"/>
          </a:p>
        </p:txBody>
      </p:sp>
      <p:sp>
        <p:nvSpPr>
          <p:cNvPr id="22" name="6 Rectángulo"/>
          <p:cNvSpPr/>
          <p:nvPr/>
        </p:nvSpPr>
        <p:spPr>
          <a:xfrm>
            <a:off x="6156176" y="1745940"/>
            <a:ext cx="300082" cy="369332"/>
          </a:xfrm>
          <a:prstGeom prst="rect">
            <a:avLst/>
          </a:prstGeom>
        </p:spPr>
        <p:txBody>
          <a:bodyPr wrap="none">
            <a:spAutoFit/>
          </a:bodyPr>
          <a:lstStyle/>
          <a:p>
            <a:r>
              <a:rPr lang="es-AR" dirty="0" smtClean="0"/>
              <a:t>1</a:t>
            </a:r>
            <a:endParaRPr lang="es-AR" dirty="0"/>
          </a:p>
        </p:txBody>
      </p:sp>
      <p:sp>
        <p:nvSpPr>
          <p:cNvPr id="23" name="6 Rectángulo"/>
          <p:cNvSpPr/>
          <p:nvPr/>
        </p:nvSpPr>
        <p:spPr>
          <a:xfrm>
            <a:off x="5424046" y="1745940"/>
            <a:ext cx="300082" cy="369332"/>
          </a:xfrm>
          <a:prstGeom prst="rect">
            <a:avLst/>
          </a:prstGeom>
        </p:spPr>
        <p:txBody>
          <a:bodyPr wrap="none">
            <a:spAutoFit/>
          </a:bodyPr>
          <a:lstStyle/>
          <a:p>
            <a:r>
              <a:rPr lang="es-AR" dirty="0" smtClean="0"/>
              <a:t>1</a:t>
            </a:r>
            <a:endParaRPr lang="es-AR" dirty="0"/>
          </a:p>
        </p:txBody>
      </p:sp>
      <p:sp>
        <p:nvSpPr>
          <p:cNvPr id="24" name="6 Rectángulo"/>
          <p:cNvSpPr/>
          <p:nvPr/>
        </p:nvSpPr>
        <p:spPr>
          <a:xfrm>
            <a:off x="5355296" y="2150440"/>
            <a:ext cx="415498" cy="369332"/>
          </a:xfrm>
          <a:prstGeom prst="rect">
            <a:avLst/>
          </a:prstGeom>
        </p:spPr>
        <p:txBody>
          <a:bodyPr wrap="none">
            <a:spAutoFit/>
          </a:bodyPr>
          <a:lstStyle/>
          <a:p>
            <a:r>
              <a:rPr lang="es-AR" dirty="0" smtClean="0"/>
              <a:t>00</a:t>
            </a:r>
            <a:endParaRPr lang="es-AR" dirty="0"/>
          </a:p>
        </p:txBody>
      </p:sp>
      <p:sp>
        <p:nvSpPr>
          <p:cNvPr id="25" name="6 Rectángulo"/>
          <p:cNvSpPr/>
          <p:nvPr/>
        </p:nvSpPr>
        <p:spPr>
          <a:xfrm>
            <a:off x="5355296" y="2987660"/>
            <a:ext cx="415498" cy="369332"/>
          </a:xfrm>
          <a:prstGeom prst="rect">
            <a:avLst/>
          </a:prstGeom>
        </p:spPr>
        <p:txBody>
          <a:bodyPr wrap="none">
            <a:spAutoFit/>
          </a:bodyPr>
          <a:lstStyle/>
          <a:p>
            <a:r>
              <a:rPr lang="es-AR" dirty="0" smtClean="0"/>
              <a:t>01</a:t>
            </a:r>
            <a:endParaRPr lang="es-AR" dirty="0"/>
          </a:p>
        </p:txBody>
      </p:sp>
      <p:sp>
        <p:nvSpPr>
          <p:cNvPr id="26" name="Rectángulo 25"/>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Tree>
    <p:extLst>
      <p:ext uri="{BB962C8B-B14F-4D97-AF65-F5344CB8AC3E}">
        <p14:creationId xmlns:p14="http://schemas.microsoft.com/office/powerpoint/2010/main" val="25069021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24</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cxnSp>
        <p:nvCxnSpPr>
          <p:cNvPr id="12" name="Conector recto de flecha 11"/>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16"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
        <p:nvSpPr>
          <p:cNvPr id="20" name="6 Rectángulo"/>
          <p:cNvSpPr/>
          <p:nvPr/>
        </p:nvSpPr>
        <p:spPr>
          <a:xfrm>
            <a:off x="6153470" y="3059668"/>
            <a:ext cx="300082" cy="369332"/>
          </a:xfrm>
          <a:prstGeom prst="rect">
            <a:avLst/>
          </a:prstGeom>
        </p:spPr>
        <p:txBody>
          <a:bodyPr wrap="none">
            <a:spAutoFit/>
          </a:bodyPr>
          <a:lstStyle/>
          <a:p>
            <a:r>
              <a:rPr lang="es-AR" dirty="0" smtClean="0"/>
              <a:t>0</a:t>
            </a:r>
            <a:endParaRPr lang="es-AR" dirty="0"/>
          </a:p>
        </p:txBody>
      </p:sp>
      <p:sp>
        <p:nvSpPr>
          <p:cNvPr id="22" name="6 Rectángulo"/>
          <p:cNvSpPr/>
          <p:nvPr/>
        </p:nvSpPr>
        <p:spPr>
          <a:xfrm>
            <a:off x="6156176" y="1745940"/>
            <a:ext cx="300082" cy="369332"/>
          </a:xfrm>
          <a:prstGeom prst="rect">
            <a:avLst/>
          </a:prstGeom>
        </p:spPr>
        <p:txBody>
          <a:bodyPr wrap="none">
            <a:spAutoFit/>
          </a:bodyPr>
          <a:lstStyle/>
          <a:p>
            <a:r>
              <a:rPr lang="es-AR" dirty="0" smtClean="0"/>
              <a:t>1</a:t>
            </a:r>
            <a:endParaRPr lang="es-AR" dirty="0"/>
          </a:p>
        </p:txBody>
      </p:sp>
      <p:sp>
        <p:nvSpPr>
          <p:cNvPr id="23" name="6 Rectángulo"/>
          <p:cNvSpPr/>
          <p:nvPr/>
        </p:nvSpPr>
        <p:spPr>
          <a:xfrm>
            <a:off x="5424046" y="1745940"/>
            <a:ext cx="300082" cy="369332"/>
          </a:xfrm>
          <a:prstGeom prst="rect">
            <a:avLst/>
          </a:prstGeom>
        </p:spPr>
        <p:txBody>
          <a:bodyPr wrap="none">
            <a:spAutoFit/>
          </a:bodyPr>
          <a:lstStyle/>
          <a:p>
            <a:r>
              <a:rPr lang="es-AR" dirty="0" smtClean="0"/>
              <a:t>1</a:t>
            </a:r>
            <a:endParaRPr lang="es-AR" dirty="0"/>
          </a:p>
        </p:txBody>
      </p:sp>
      <p:sp>
        <p:nvSpPr>
          <p:cNvPr id="24" name="6 Rectángulo"/>
          <p:cNvSpPr/>
          <p:nvPr/>
        </p:nvSpPr>
        <p:spPr>
          <a:xfrm>
            <a:off x="5355296" y="2150440"/>
            <a:ext cx="415498" cy="369332"/>
          </a:xfrm>
          <a:prstGeom prst="rect">
            <a:avLst/>
          </a:prstGeom>
        </p:spPr>
        <p:txBody>
          <a:bodyPr wrap="none">
            <a:spAutoFit/>
          </a:bodyPr>
          <a:lstStyle/>
          <a:p>
            <a:r>
              <a:rPr lang="es-AR" dirty="0" smtClean="0"/>
              <a:t>00</a:t>
            </a:r>
            <a:endParaRPr lang="es-AR" dirty="0"/>
          </a:p>
        </p:txBody>
      </p:sp>
      <p:sp>
        <p:nvSpPr>
          <p:cNvPr id="25" name="6 Rectángulo"/>
          <p:cNvSpPr/>
          <p:nvPr/>
        </p:nvSpPr>
        <p:spPr>
          <a:xfrm>
            <a:off x="5355296" y="2987660"/>
            <a:ext cx="415498" cy="369332"/>
          </a:xfrm>
          <a:prstGeom prst="rect">
            <a:avLst/>
          </a:prstGeom>
        </p:spPr>
        <p:txBody>
          <a:bodyPr wrap="none">
            <a:spAutoFit/>
          </a:bodyPr>
          <a:lstStyle/>
          <a:p>
            <a:r>
              <a:rPr lang="es-AR" dirty="0" smtClean="0"/>
              <a:t>01</a:t>
            </a:r>
            <a:endParaRPr lang="es-AR" dirty="0"/>
          </a:p>
        </p:txBody>
      </p:sp>
      <p:sp>
        <p:nvSpPr>
          <p:cNvPr id="26" name="6 Rectángulo"/>
          <p:cNvSpPr/>
          <p:nvPr/>
        </p:nvSpPr>
        <p:spPr>
          <a:xfrm>
            <a:off x="4644008" y="2987660"/>
            <a:ext cx="300082" cy="369332"/>
          </a:xfrm>
          <a:prstGeom prst="rect">
            <a:avLst/>
          </a:prstGeom>
        </p:spPr>
        <p:txBody>
          <a:bodyPr wrap="none">
            <a:spAutoFit/>
          </a:bodyPr>
          <a:lstStyle/>
          <a:p>
            <a:r>
              <a:rPr lang="es-AR" dirty="0" smtClean="0"/>
              <a:t>1</a:t>
            </a:r>
            <a:endParaRPr lang="es-AR" dirty="0"/>
          </a:p>
        </p:txBody>
      </p:sp>
      <p:sp>
        <p:nvSpPr>
          <p:cNvPr id="27" name="6 Rectángulo"/>
          <p:cNvSpPr/>
          <p:nvPr/>
        </p:nvSpPr>
        <p:spPr>
          <a:xfrm>
            <a:off x="4626424" y="1764024"/>
            <a:ext cx="415498" cy="369332"/>
          </a:xfrm>
          <a:prstGeom prst="rect">
            <a:avLst/>
          </a:prstGeom>
        </p:spPr>
        <p:txBody>
          <a:bodyPr wrap="none">
            <a:spAutoFit/>
          </a:bodyPr>
          <a:lstStyle/>
          <a:p>
            <a:r>
              <a:rPr lang="es-AR" dirty="0" smtClean="0"/>
              <a:t>00</a:t>
            </a:r>
            <a:endParaRPr lang="es-AR" dirty="0"/>
          </a:p>
        </p:txBody>
      </p:sp>
      <p:sp>
        <p:nvSpPr>
          <p:cNvPr id="28" name="6 Rectángulo"/>
          <p:cNvSpPr/>
          <p:nvPr/>
        </p:nvSpPr>
        <p:spPr>
          <a:xfrm>
            <a:off x="4625390" y="2124064"/>
            <a:ext cx="415498" cy="369332"/>
          </a:xfrm>
          <a:prstGeom prst="rect">
            <a:avLst/>
          </a:prstGeom>
        </p:spPr>
        <p:txBody>
          <a:bodyPr wrap="none">
            <a:spAutoFit/>
          </a:bodyPr>
          <a:lstStyle/>
          <a:p>
            <a:r>
              <a:rPr lang="es-AR" dirty="0" smtClean="0"/>
              <a:t>01</a:t>
            </a:r>
            <a:endParaRPr lang="es-AR" dirty="0"/>
          </a:p>
        </p:txBody>
      </p:sp>
      <p:sp>
        <p:nvSpPr>
          <p:cNvPr id="29" name="Rectángulo 28"/>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Tree>
    <p:extLst>
      <p:ext uri="{BB962C8B-B14F-4D97-AF65-F5344CB8AC3E}">
        <p14:creationId xmlns:p14="http://schemas.microsoft.com/office/powerpoint/2010/main" val="33450245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25</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cxnSp>
        <p:nvCxnSpPr>
          <p:cNvPr id="12" name="Conector recto de flecha 11"/>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16"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
        <p:nvSpPr>
          <p:cNvPr id="20" name="6 Rectángulo"/>
          <p:cNvSpPr/>
          <p:nvPr/>
        </p:nvSpPr>
        <p:spPr>
          <a:xfrm>
            <a:off x="6153470" y="3059668"/>
            <a:ext cx="300082" cy="369332"/>
          </a:xfrm>
          <a:prstGeom prst="rect">
            <a:avLst/>
          </a:prstGeom>
        </p:spPr>
        <p:txBody>
          <a:bodyPr wrap="none">
            <a:spAutoFit/>
          </a:bodyPr>
          <a:lstStyle/>
          <a:p>
            <a:r>
              <a:rPr lang="es-AR" dirty="0" smtClean="0"/>
              <a:t>0</a:t>
            </a:r>
            <a:endParaRPr lang="es-AR" dirty="0"/>
          </a:p>
        </p:txBody>
      </p:sp>
      <p:sp>
        <p:nvSpPr>
          <p:cNvPr id="22" name="6 Rectángulo"/>
          <p:cNvSpPr/>
          <p:nvPr/>
        </p:nvSpPr>
        <p:spPr>
          <a:xfrm>
            <a:off x="6156176" y="1745940"/>
            <a:ext cx="300082" cy="369332"/>
          </a:xfrm>
          <a:prstGeom prst="rect">
            <a:avLst/>
          </a:prstGeom>
        </p:spPr>
        <p:txBody>
          <a:bodyPr wrap="none">
            <a:spAutoFit/>
          </a:bodyPr>
          <a:lstStyle/>
          <a:p>
            <a:r>
              <a:rPr lang="es-AR" dirty="0" smtClean="0"/>
              <a:t>1</a:t>
            </a:r>
            <a:endParaRPr lang="es-AR" dirty="0"/>
          </a:p>
        </p:txBody>
      </p:sp>
      <p:sp>
        <p:nvSpPr>
          <p:cNvPr id="23" name="6 Rectángulo"/>
          <p:cNvSpPr/>
          <p:nvPr/>
        </p:nvSpPr>
        <p:spPr>
          <a:xfrm>
            <a:off x="5424046" y="1745940"/>
            <a:ext cx="300082" cy="369332"/>
          </a:xfrm>
          <a:prstGeom prst="rect">
            <a:avLst/>
          </a:prstGeom>
        </p:spPr>
        <p:txBody>
          <a:bodyPr wrap="none">
            <a:spAutoFit/>
          </a:bodyPr>
          <a:lstStyle/>
          <a:p>
            <a:r>
              <a:rPr lang="es-AR" dirty="0" smtClean="0"/>
              <a:t>1</a:t>
            </a:r>
            <a:endParaRPr lang="es-AR" dirty="0"/>
          </a:p>
        </p:txBody>
      </p:sp>
      <p:sp>
        <p:nvSpPr>
          <p:cNvPr id="24" name="6 Rectángulo"/>
          <p:cNvSpPr/>
          <p:nvPr/>
        </p:nvSpPr>
        <p:spPr>
          <a:xfrm>
            <a:off x="5355296" y="2150440"/>
            <a:ext cx="415498" cy="369332"/>
          </a:xfrm>
          <a:prstGeom prst="rect">
            <a:avLst/>
          </a:prstGeom>
        </p:spPr>
        <p:txBody>
          <a:bodyPr wrap="none">
            <a:spAutoFit/>
          </a:bodyPr>
          <a:lstStyle/>
          <a:p>
            <a:r>
              <a:rPr lang="es-AR" dirty="0" smtClean="0"/>
              <a:t>00</a:t>
            </a:r>
            <a:endParaRPr lang="es-AR" dirty="0"/>
          </a:p>
        </p:txBody>
      </p:sp>
      <p:sp>
        <p:nvSpPr>
          <p:cNvPr id="25" name="6 Rectángulo"/>
          <p:cNvSpPr/>
          <p:nvPr/>
        </p:nvSpPr>
        <p:spPr>
          <a:xfrm>
            <a:off x="5355296" y="2987660"/>
            <a:ext cx="415498" cy="369332"/>
          </a:xfrm>
          <a:prstGeom prst="rect">
            <a:avLst/>
          </a:prstGeom>
        </p:spPr>
        <p:txBody>
          <a:bodyPr wrap="none">
            <a:spAutoFit/>
          </a:bodyPr>
          <a:lstStyle/>
          <a:p>
            <a:r>
              <a:rPr lang="es-AR" dirty="0" smtClean="0"/>
              <a:t>01</a:t>
            </a:r>
            <a:endParaRPr lang="es-AR" dirty="0"/>
          </a:p>
        </p:txBody>
      </p:sp>
      <p:sp>
        <p:nvSpPr>
          <p:cNvPr id="26" name="6 Rectángulo"/>
          <p:cNvSpPr/>
          <p:nvPr/>
        </p:nvSpPr>
        <p:spPr>
          <a:xfrm>
            <a:off x="4644008" y="2987660"/>
            <a:ext cx="300082" cy="369332"/>
          </a:xfrm>
          <a:prstGeom prst="rect">
            <a:avLst/>
          </a:prstGeom>
        </p:spPr>
        <p:txBody>
          <a:bodyPr wrap="none">
            <a:spAutoFit/>
          </a:bodyPr>
          <a:lstStyle/>
          <a:p>
            <a:r>
              <a:rPr lang="es-AR" dirty="0" smtClean="0"/>
              <a:t>1</a:t>
            </a:r>
            <a:endParaRPr lang="es-AR" dirty="0"/>
          </a:p>
        </p:txBody>
      </p:sp>
      <p:sp>
        <p:nvSpPr>
          <p:cNvPr id="27" name="6 Rectángulo"/>
          <p:cNvSpPr/>
          <p:nvPr/>
        </p:nvSpPr>
        <p:spPr>
          <a:xfrm>
            <a:off x="4626424" y="1764024"/>
            <a:ext cx="415498" cy="369332"/>
          </a:xfrm>
          <a:prstGeom prst="rect">
            <a:avLst/>
          </a:prstGeom>
        </p:spPr>
        <p:txBody>
          <a:bodyPr wrap="none">
            <a:spAutoFit/>
          </a:bodyPr>
          <a:lstStyle/>
          <a:p>
            <a:r>
              <a:rPr lang="es-AR" dirty="0" smtClean="0"/>
              <a:t>00</a:t>
            </a:r>
            <a:endParaRPr lang="es-AR" dirty="0"/>
          </a:p>
        </p:txBody>
      </p:sp>
      <p:sp>
        <p:nvSpPr>
          <p:cNvPr id="28" name="6 Rectángulo"/>
          <p:cNvSpPr/>
          <p:nvPr/>
        </p:nvSpPr>
        <p:spPr>
          <a:xfrm>
            <a:off x="4634182" y="2124064"/>
            <a:ext cx="415498" cy="369332"/>
          </a:xfrm>
          <a:prstGeom prst="rect">
            <a:avLst/>
          </a:prstGeom>
        </p:spPr>
        <p:txBody>
          <a:bodyPr wrap="none">
            <a:spAutoFit/>
          </a:bodyPr>
          <a:lstStyle/>
          <a:p>
            <a:r>
              <a:rPr lang="es-AR" dirty="0" smtClean="0"/>
              <a:t>01</a:t>
            </a:r>
            <a:endParaRPr lang="es-AR" dirty="0"/>
          </a:p>
        </p:txBody>
      </p:sp>
      <p:sp>
        <p:nvSpPr>
          <p:cNvPr id="29" name="6 Rectángulo"/>
          <p:cNvSpPr/>
          <p:nvPr/>
        </p:nvSpPr>
        <p:spPr>
          <a:xfrm>
            <a:off x="3788704" y="1764024"/>
            <a:ext cx="415498" cy="369332"/>
          </a:xfrm>
          <a:prstGeom prst="rect">
            <a:avLst/>
          </a:prstGeom>
        </p:spPr>
        <p:txBody>
          <a:bodyPr wrap="none">
            <a:spAutoFit/>
          </a:bodyPr>
          <a:lstStyle/>
          <a:p>
            <a:r>
              <a:rPr lang="es-AR" dirty="0" smtClean="0"/>
              <a:t>00</a:t>
            </a:r>
            <a:endParaRPr lang="es-AR" dirty="0"/>
          </a:p>
        </p:txBody>
      </p:sp>
      <p:sp>
        <p:nvSpPr>
          <p:cNvPr id="30" name="6 Rectángulo"/>
          <p:cNvSpPr/>
          <p:nvPr/>
        </p:nvSpPr>
        <p:spPr>
          <a:xfrm>
            <a:off x="3788704" y="2195572"/>
            <a:ext cx="415498" cy="369332"/>
          </a:xfrm>
          <a:prstGeom prst="rect">
            <a:avLst/>
          </a:prstGeom>
        </p:spPr>
        <p:txBody>
          <a:bodyPr wrap="none">
            <a:spAutoFit/>
          </a:bodyPr>
          <a:lstStyle/>
          <a:p>
            <a:r>
              <a:rPr lang="es-AR" dirty="0" smtClean="0"/>
              <a:t>01</a:t>
            </a:r>
            <a:endParaRPr lang="es-AR" dirty="0"/>
          </a:p>
        </p:txBody>
      </p:sp>
      <p:sp>
        <p:nvSpPr>
          <p:cNvPr id="32" name="6 Rectángulo"/>
          <p:cNvSpPr/>
          <p:nvPr/>
        </p:nvSpPr>
        <p:spPr>
          <a:xfrm>
            <a:off x="3788704" y="2547320"/>
            <a:ext cx="415498" cy="369332"/>
          </a:xfrm>
          <a:prstGeom prst="rect">
            <a:avLst/>
          </a:prstGeom>
        </p:spPr>
        <p:txBody>
          <a:bodyPr wrap="none">
            <a:spAutoFit/>
          </a:bodyPr>
          <a:lstStyle/>
          <a:p>
            <a:r>
              <a:rPr lang="es-AR" dirty="0" smtClean="0"/>
              <a:t>10</a:t>
            </a:r>
            <a:endParaRPr lang="es-AR" dirty="0"/>
          </a:p>
        </p:txBody>
      </p:sp>
      <p:sp>
        <p:nvSpPr>
          <p:cNvPr id="33" name="6 Rectángulo"/>
          <p:cNvSpPr/>
          <p:nvPr/>
        </p:nvSpPr>
        <p:spPr>
          <a:xfrm>
            <a:off x="3788704" y="3131676"/>
            <a:ext cx="415498" cy="369332"/>
          </a:xfrm>
          <a:prstGeom prst="rect">
            <a:avLst/>
          </a:prstGeom>
        </p:spPr>
        <p:txBody>
          <a:bodyPr wrap="none">
            <a:spAutoFit/>
          </a:bodyPr>
          <a:lstStyle/>
          <a:p>
            <a:r>
              <a:rPr lang="es-AR" dirty="0" smtClean="0"/>
              <a:t>11</a:t>
            </a:r>
            <a:endParaRPr lang="es-AR" dirty="0"/>
          </a:p>
        </p:txBody>
      </p:sp>
      <p:sp>
        <p:nvSpPr>
          <p:cNvPr id="31" name="Rectángulo 30"/>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Tree>
    <p:extLst>
      <p:ext uri="{BB962C8B-B14F-4D97-AF65-F5344CB8AC3E}">
        <p14:creationId xmlns:p14="http://schemas.microsoft.com/office/powerpoint/2010/main" val="28811506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26</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sp>
        <p:nvSpPr>
          <p:cNvPr id="31" name="6 Rectángulo"/>
          <p:cNvSpPr/>
          <p:nvPr/>
        </p:nvSpPr>
        <p:spPr>
          <a:xfrm>
            <a:off x="2987824" y="1764024"/>
            <a:ext cx="415498" cy="369332"/>
          </a:xfrm>
          <a:prstGeom prst="rect">
            <a:avLst/>
          </a:prstGeom>
        </p:spPr>
        <p:txBody>
          <a:bodyPr wrap="none">
            <a:spAutoFit/>
          </a:bodyPr>
          <a:lstStyle/>
          <a:p>
            <a:r>
              <a:rPr lang="es-AR" dirty="0" smtClean="0">
                <a:solidFill>
                  <a:srgbClr val="00B050"/>
                </a:solidFill>
              </a:rPr>
              <a:t>00</a:t>
            </a:r>
            <a:endParaRPr lang="es-AR" dirty="0">
              <a:solidFill>
                <a:srgbClr val="00B050"/>
              </a:solidFill>
            </a:endParaRPr>
          </a:p>
        </p:txBody>
      </p:sp>
      <p:sp>
        <p:nvSpPr>
          <p:cNvPr id="34" name="6 Rectángulo"/>
          <p:cNvSpPr/>
          <p:nvPr/>
        </p:nvSpPr>
        <p:spPr>
          <a:xfrm>
            <a:off x="2987824" y="2195572"/>
            <a:ext cx="415498" cy="369332"/>
          </a:xfrm>
          <a:prstGeom prst="rect">
            <a:avLst/>
          </a:prstGeom>
        </p:spPr>
        <p:txBody>
          <a:bodyPr wrap="none">
            <a:spAutoFit/>
          </a:bodyPr>
          <a:lstStyle/>
          <a:p>
            <a:r>
              <a:rPr lang="es-AR" dirty="0" smtClean="0">
                <a:solidFill>
                  <a:srgbClr val="00B050"/>
                </a:solidFill>
              </a:rPr>
              <a:t>01</a:t>
            </a:r>
            <a:endParaRPr lang="es-AR" dirty="0">
              <a:solidFill>
                <a:srgbClr val="00B050"/>
              </a:solidFill>
            </a:endParaRPr>
          </a:p>
        </p:txBody>
      </p:sp>
      <p:sp>
        <p:nvSpPr>
          <p:cNvPr id="35" name="6 Rectángulo"/>
          <p:cNvSpPr/>
          <p:nvPr/>
        </p:nvSpPr>
        <p:spPr>
          <a:xfrm>
            <a:off x="2987824" y="2547320"/>
            <a:ext cx="415498" cy="369332"/>
          </a:xfrm>
          <a:prstGeom prst="rect">
            <a:avLst/>
          </a:prstGeom>
        </p:spPr>
        <p:txBody>
          <a:bodyPr wrap="none">
            <a:spAutoFit/>
          </a:bodyPr>
          <a:lstStyle/>
          <a:p>
            <a:r>
              <a:rPr lang="es-AR" dirty="0" smtClean="0">
                <a:solidFill>
                  <a:srgbClr val="00B050"/>
                </a:solidFill>
              </a:rPr>
              <a:t>10</a:t>
            </a:r>
            <a:endParaRPr lang="es-AR" dirty="0">
              <a:solidFill>
                <a:srgbClr val="00B050"/>
              </a:solidFill>
            </a:endParaRPr>
          </a:p>
        </p:txBody>
      </p:sp>
      <p:sp>
        <p:nvSpPr>
          <p:cNvPr id="36" name="6 Rectángulo"/>
          <p:cNvSpPr/>
          <p:nvPr/>
        </p:nvSpPr>
        <p:spPr>
          <a:xfrm>
            <a:off x="2977360" y="2960112"/>
            <a:ext cx="530915" cy="369332"/>
          </a:xfrm>
          <a:prstGeom prst="rect">
            <a:avLst/>
          </a:prstGeom>
        </p:spPr>
        <p:txBody>
          <a:bodyPr wrap="none">
            <a:spAutoFit/>
          </a:bodyPr>
          <a:lstStyle/>
          <a:p>
            <a:r>
              <a:rPr lang="es-AR" dirty="0" smtClean="0">
                <a:solidFill>
                  <a:srgbClr val="00B050"/>
                </a:solidFill>
              </a:rPr>
              <a:t>110</a:t>
            </a:r>
            <a:endParaRPr lang="es-AR" dirty="0">
              <a:solidFill>
                <a:srgbClr val="00B050"/>
              </a:solidFill>
            </a:endParaRPr>
          </a:p>
        </p:txBody>
      </p:sp>
      <p:sp>
        <p:nvSpPr>
          <p:cNvPr id="37" name="6 Rectángulo"/>
          <p:cNvSpPr/>
          <p:nvPr/>
        </p:nvSpPr>
        <p:spPr>
          <a:xfrm>
            <a:off x="2950984" y="3333904"/>
            <a:ext cx="530915" cy="369332"/>
          </a:xfrm>
          <a:prstGeom prst="rect">
            <a:avLst/>
          </a:prstGeom>
        </p:spPr>
        <p:txBody>
          <a:bodyPr wrap="none">
            <a:spAutoFit/>
          </a:bodyPr>
          <a:lstStyle/>
          <a:p>
            <a:r>
              <a:rPr lang="es-AR" dirty="0" smtClean="0">
                <a:solidFill>
                  <a:srgbClr val="00B050"/>
                </a:solidFill>
              </a:rPr>
              <a:t>111</a:t>
            </a:r>
            <a:endParaRPr lang="es-AR" dirty="0">
              <a:solidFill>
                <a:srgbClr val="00B050"/>
              </a:solidFill>
            </a:endParaRPr>
          </a:p>
        </p:txBody>
      </p:sp>
      <p:cxnSp>
        <p:nvCxnSpPr>
          <p:cNvPr id="38" name="Conector recto de flecha 37"/>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38"/>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44"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
        <p:nvSpPr>
          <p:cNvPr id="45" name="6 Rectángulo"/>
          <p:cNvSpPr/>
          <p:nvPr/>
        </p:nvSpPr>
        <p:spPr>
          <a:xfrm>
            <a:off x="6153470" y="3059668"/>
            <a:ext cx="300082" cy="369332"/>
          </a:xfrm>
          <a:prstGeom prst="rect">
            <a:avLst/>
          </a:prstGeom>
        </p:spPr>
        <p:txBody>
          <a:bodyPr wrap="none">
            <a:spAutoFit/>
          </a:bodyPr>
          <a:lstStyle/>
          <a:p>
            <a:r>
              <a:rPr lang="es-AR" dirty="0" smtClean="0"/>
              <a:t>0</a:t>
            </a:r>
            <a:endParaRPr lang="es-AR" dirty="0"/>
          </a:p>
        </p:txBody>
      </p:sp>
      <p:sp>
        <p:nvSpPr>
          <p:cNvPr id="46" name="6 Rectángulo"/>
          <p:cNvSpPr/>
          <p:nvPr/>
        </p:nvSpPr>
        <p:spPr>
          <a:xfrm>
            <a:off x="6156176" y="1745940"/>
            <a:ext cx="300082" cy="369332"/>
          </a:xfrm>
          <a:prstGeom prst="rect">
            <a:avLst/>
          </a:prstGeom>
        </p:spPr>
        <p:txBody>
          <a:bodyPr wrap="none">
            <a:spAutoFit/>
          </a:bodyPr>
          <a:lstStyle/>
          <a:p>
            <a:r>
              <a:rPr lang="es-AR" dirty="0" smtClean="0"/>
              <a:t>1</a:t>
            </a:r>
            <a:endParaRPr lang="es-AR" dirty="0"/>
          </a:p>
        </p:txBody>
      </p:sp>
      <p:sp>
        <p:nvSpPr>
          <p:cNvPr id="47" name="6 Rectángulo"/>
          <p:cNvSpPr/>
          <p:nvPr/>
        </p:nvSpPr>
        <p:spPr>
          <a:xfrm>
            <a:off x="5424046" y="1745940"/>
            <a:ext cx="300082" cy="369332"/>
          </a:xfrm>
          <a:prstGeom prst="rect">
            <a:avLst/>
          </a:prstGeom>
        </p:spPr>
        <p:txBody>
          <a:bodyPr wrap="none">
            <a:spAutoFit/>
          </a:bodyPr>
          <a:lstStyle/>
          <a:p>
            <a:r>
              <a:rPr lang="es-AR" dirty="0" smtClean="0"/>
              <a:t>1</a:t>
            </a:r>
            <a:endParaRPr lang="es-AR" dirty="0"/>
          </a:p>
        </p:txBody>
      </p:sp>
      <p:sp>
        <p:nvSpPr>
          <p:cNvPr id="48" name="6 Rectángulo"/>
          <p:cNvSpPr/>
          <p:nvPr/>
        </p:nvSpPr>
        <p:spPr>
          <a:xfrm>
            <a:off x="5355296" y="2150440"/>
            <a:ext cx="415498" cy="369332"/>
          </a:xfrm>
          <a:prstGeom prst="rect">
            <a:avLst/>
          </a:prstGeom>
        </p:spPr>
        <p:txBody>
          <a:bodyPr wrap="none">
            <a:spAutoFit/>
          </a:bodyPr>
          <a:lstStyle/>
          <a:p>
            <a:r>
              <a:rPr lang="es-AR" dirty="0" smtClean="0"/>
              <a:t>00</a:t>
            </a:r>
            <a:endParaRPr lang="es-AR" dirty="0"/>
          </a:p>
        </p:txBody>
      </p:sp>
      <p:sp>
        <p:nvSpPr>
          <p:cNvPr id="49" name="6 Rectángulo"/>
          <p:cNvSpPr/>
          <p:nvPr/>
        </p:nvSpPr>
        <p:spPr>
          <a:xfrm>
            <a:off x="5355296" y="2987660"/>
            <a:ext cx="415498" cy="369332"/>
          </a:xfrm>
          <a:prstGeom prst="rect">
            <a:avLst/>
          </a:prstGeom>
        </p:spPr>
        <p:txBody>
          <a:bodyPr wrap="none">
            <a:spAutoFit/>
          </a:bodyPr>
          <a:lstStyle/>
          <a:p>
            <a:r>
              <a:rPr lang="es-AR" dirty="0" smtClean="0"/>
              <a:t>01</a:t>
            </a:r>
            <a:endParaRPr lang="es-AR" dirty="0"/>
          </a:p>
        </p:txBody>
      </p:sp>
      <p:sp>
        <p:nvSpPr>
          <p:cNvPr id="50" name="6 Rectángulo"/>
          <p:cNvSpPr/>
          <p:nvPr/>
        </p:nvSpPr>
        <p:spPr>
          <a:xfrm>
            <a:off x="4644008" y="2987660"/>
            <a:ext cx="300082" cy="369332"/>
          </a:xfrm>
          <a:prstGeom prst="rect">
            <a:avLst/>
          </a:prstGeom>
        </p:spPr>
        <p:txBody>
          <a:bodyPr wrap="none">
            <a:spAutoFit/>
          </a:bodyPr>
          <a:lstStyle/>
          <a:p>
            <a:r>
              <a:rPr lang="es-AR" dirty="0" smtClean="0"/>
              <a:t>1</a:t>
            </a:r>
            <a:endParaRPr lang="es-AR" dirty="0"/>
          </a:p>
        </p:txBody>
      </p:sp>
      <p:sp>
        <p:nvSpPr>
          <p:cNvPr id="51" name="6 Rectángulo"/>
          <p:cNvSpPr/>
          <p:nvPr/>
        </p:nvSpPr>
        <p:spPr>
          <a:xfrm>
            <a:off x="4626424" y="1764024"/>
            <a:ext cx="415498" cy="369332"/>
          </a:xfrm>
          <a:prstGeom prst="rect">
            <a:avLst/>
          </a:prstGeom>
        </p:spPr>
        <p:txBody>
          <a:bodyPr wrap="none">
            <a:spAutoFit/>
          </a:bodyPr>
          <a:lstStyle/>
          <a:p>
            <a:r>
              <a:rPr lang="es-AR" dirty="0" smtClean="0"/>
              <a:t>00</a:t>
            </a:r>
            <a:endParaRPr lang="es-AR" dirty="0"/>
          </a:p>
        </p:txBody>
      </p:sp>
      <p:sp>
        <p:nvSpPr>
          <p:cNvPr id="52" name="6 Rectángulo"/>
          <p:cNvSpPr/>
          <p:nvPr/>
        </p:nvSpPr>
        <p:spPr>
          <a:xfrm>
            <a:off x="4634182" y="2124064"/>
            <a:ext cx="415498" cy="369332"/>
          </a:xfrm>
          <a:prstGeom prst="rect">
            <a:avLst/>
          </a:prstGeom>
        </p:spPr>
        <p:txBody>
          <a:bodyPr wrap="none">
            <a:spAutoFit/>
          </a:bodyPr>
          <a:lstStyle/>
          <a:p>
            <a:r>
              <a:rPr lang="es-AR" dirty="0" smtClean="0"/>
              <a:t>01</a:t>
            </a:r>
            <a:endParaRPr lang="es-AR" dirty="0"/>
          </a:p>
        </p:txBody>
      </p:sp>
      <p:sp>
        <p:nvSpPr>
          <p:cNvPr id="53" name="6 Rectángulo"/>
          <p:cNvSpPr/>
          <p:nvPr/>
        </p:nvSpPr>
        <p:spPr>
          <a:xfrm>
            <a:off x="3788704" y="1764024"/>
            <a:ext cx="415498" cy="369332"/>
          </a:xfrm>
          <a:prstGeom prst="rect">
            <a:avLst/>
          </a:prstGeom>
        </p:spPr>
        <p:txBody>
          <a:bodyPr wrap="none">
            <a:spAutoFit/>
          </a:bodyPr>
          <a:lstStyle/>
          <a:p>
            <a:r>
              <a:rPr lang="es-AR" dirty="0" smtClean="0"/>
              <a:t>00</a:t>
            </a:r>
            <a:endParaRPr lang="es-AR" dirty="0"/>
          </a:p>
        </p:txBody>
      </p:sp>
      <p:sp>
        <p:nvSpPr>
          <p:cNvPr id="54" name="6 Rectángulo"/>
          <p:cNvSpPr/>
          <p:nvPr/>
        </p:nvSpPr>
        <p:spPr>
          <a:xfrm>
            <a:off x="3788704" y="2195572"/>
            <a:ext cx="415498" cy="369332"/>
          </a:xfrm>
          <a:prstGeom prst="rect">
            <a:avLst/>
          </a:prstGeom>
        </p:spPr>
        <p:txBody>
          <a:bodyPr wrap="none">
            <a:spAutoFit/>
          </a:bodyPr>
          <a:lstStyle/>
          <a:p>
            <a:r>
              <a:rPr lang="es-AR" dirty="0" smtClean="0"/>
              <a:t>01</a:t>
            </a:r>
            <a:endParaRPr lang="es-AR" dirty="0"/>
          </a:p>
        </p:txBody>
      </p:sp>
      <p:sp>
        <p:nvSpPr>
          <p:cNvPr id="55" name="6 Rectángulo"/>
          <p:cNvSpPr/>
          <p:nvPr/>
        </p:nvSpPr>
        <p:spPr>
          <a:xfrm>
            <a:off x="3788704" y="2547320"/>
            <a:ext cx="415498" cy="369332"/>
          </a:xfrm>
          <a:prstGeom prst="rect">
            <a:avLst/>
          </a:prstGeom>
        </p:spPr>
        <p:txBody>
          <a:bodyPr wrap="none">
            <a:spAutoFit/>
          </a:bodyPr>
          <a:lstStyle/>
          <a:p>
            <a:r>
              <a:rPr lang="es-AR" dirty="0" smtClean="0"/>
              <a:t>10</a:t>
            </a:r>
            <a:endParaRPr lang="es-AR" dirty="0"/>
          </a:p>
        </p:txBody>
      </p:sp>
      <p:sp>
        <p:nvSpPr>
          <p:cNvPr id="56" name="6 Rectángulo"/>
          <p:cNvSpPr/>
          <p:nvPr/>
        </p:nvSpPr>
        <p:spPr>
          <a:xfrm>
            <a:off x="3788704" y="3131676"/>
            <a:ext cx="415498" cy="369332"/>
          </a:xfrm>
          <a:prstGeom prst="rect">
            <a:avLst/>
          </a:prstGeom>
        </p:spPr>
        <p:txBody>
          <a:bodyPr wrap="none">
            <a:spAutoFit/>
          </a:bodyPr>
          <a:lstStyle/>
          <a:p>
            <a:r>
              <a:rPr lang="es-AR" dirty="0" smtClean="0"/>
              <a:t>11</a:t>
            </a:r>
            <a:endParaRPr lang="es-AR" dirty="0"/>
          </a:p>
        </p:txBody>
      </p:sp>
      <p:sp>
        <p:nvSpPr>
          <p:cNvPr id="32" name="Rectángulo 31"/>
          <p:cNvSpPr/>
          <p:nvPr/>
        </p:nvSpPr>
        <p:spPr>
          <a:xfrm>
            <a:off x="683568" y="4255928"/>
            <a:ext cx="7776864" cy="1477328"/>
          </a:xfrm>
          <a:prstGeom prst="rect">
            <a:avLst/>
          </a:prstGeom>
        </p:spPr>
        <p:txBody>
          <a:bodyPr wrap="square">
            <a:spAutoFit/>
          </a:bodyPr>
          <a:lstStyle/>
          <a:p>
            <a:r>
              <a:rPr lang="es-AR" i="1" dirty="0">
                <a:latin typeface="Cambria Math" panose="02040503050406030204" pitchFamily="18" charset="0"/>
              </a:rPr>
              <a:t>Paso 1: Ordenamos los símbolos por probabilidad decreciente</a:t>
            </a:r>
          </a:p>
          <a:p>
            <a:r>
              <a:rPr lang="es-AR" i="1" dirty="0">
                <a:latin typeface="Cambria Math" panose="02040503050406030204" pitchFamily="18" charset="0"/>
              </a:rPr>
              <a:t>Paso 2:  Agrupamos los dos símbolos de menor probabilidad.</a:t>
            </a:r>
          </a:p>
          <a:p>
            <a:r>
              <a:rPr lang="es-AR" i="1" dirty="0">
                <a:latin typeface="Cambria Math" panose="02040503050406030204" pitchFamily="18" charset="0"/>
              </a:rPr>
              <a:t>Paso 3: Sumamos la probabilidad de los dos símbolos agrupados.</a:t>
            </a:r>
          </a:p>
          <a:p>
            <a:r>
              <a:rPr lang="es-AR" i="1" dirty="0">
                <a:latin typeface="Cambria Math" panose="02040503050406030204" pitchFamily="18" charset="0"/>
              </a:rPr>
              <a:t>Paso 4: Repetimos el algoritmo hasta </a:t>
            </a:r>
            <a:r>
              <a:rPr lang="es-AR" i="1" dirty="0" smtClean="0">
                <a:latin typeface="Cambria Math" panose="02040503050406030204" pitchFamily="18" charset="0"/>
              </a:rPr>
              <a:t>reducirlo a </a:t>
            </a:r>
            <a:r>
              <a:rPr lang="es-AR" i="1" dirty="0">
                <a:latin typeface="Cambria Math" panose="02040503050406030204" pitchFamily="18" charset="0"/>
              </a:rPr>
              <a:t>dos símbolos.</a:t>
            </a:r>
          </a:p>
          <a:p>
            <a:r>
              <a:rPr lang="es-AR" i="1" dirty="0">
                <a:latin typeface="Cambria Math" panose="02040503050406030204" pitchFamily="18" charset="0"/>
              </a:rPr>
              <a:t>Paso 5: Asignamos los </a:t>
            </a:r>
            <a:r>
              <a:rPr lang="es-AR" i="1" dirty="0" smtClean="0">
                <a:latin typeface="Cambria Math" panose="02040503050406030204" pitchFamily="18" charset="0"/>
              </a:rPr>
              <a:t>bits, de derecha a izquierda.</a:t>
            </a:r>
            <a:endParaRPr lang="es-AR" i="1" dirty="0">
              <a:latin typeface="Cambria Math" panose="02040503050406030204" pitchFamily="18" charset="0"/>
            </a:endParaRPr>
          </a:p>
        </p:txBody>
      </p:sp>
    </p:spTree>
    <p:extLst>
      <p:ext uri="{BB962C8B-B14F-4D97-AF65-F5344CB8AC3E}">
        <p14:creationId xmlns:p14="http://schemas.microsoft.com/office/powerpoint/2010/main" val="35701991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Ejercicio 8 – Obtención de códigos óptimos – Método de </a:t>
            </a:r>
            <a:r>
              <a:rPr lang="es-ES" dirty="0" err="1"/>
              <a:t>Huffman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smtClean="0"/>
              <a:t>Ing. Leonel E. Hochman</a:t>
            </a:r>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27</a:t>
            </a:fld>
            <a:endParaRPr lang="es-ES"/>
          </a:p>
        </p:txBody>
      </p:sp>
      <p:graphicFrame>
        <p:nvGraphicFramePr>
          <p:cNvPr id="9" name="Tabla 8"/>
          <p:cNvGraphicFramePr>
            <a:graphicFrameLocks noGrp="1"/>
          </p:cNvGraphicFramePr>
          <p:nvPr>
            <p:extLst>
              <p:ext uri="{D42A27DB-BD31-4B8C-83A1-F6EECF244321}">
                <p14:modId xmlns:p14="http://schemas.microsoft.com/office/powerpoint/2010/main" val="2566847998"/>
              </p:ext>
            </p:extLst>
          </p:nvPr>
        </p:nvGraphicFramePr>
        <p:xfrm>
          <a:off x="1826904" y="1412776"/>
          <a:ext cx="5492627" cy="2304258"/>
        </p:xfrm>
        <a:graphic>
          <a:graphicData uri="http://schemas.openxmlformats.org/drawingml/2006/table">
            <a:tbl>
              <a:tblPr firstRow="1" firstCol="1" bandRow="1">
                <a:tableStyleId>{5C22544A-7EE6-4342-B048-85BDC9FD1C3A}</a:tableStyleId>
              </a:tblPr>
              <a:tblGrid>
                <a:gridCol w="784661">
                  <a:extLst>
                    <a:ext uri="{9D8B030D-6E8A-4147-A177-3AD203B41FA5}">
                      <a16:colId xmlns:a16="http://schemas.microsoft.com/office/drawing/2014/main" val="517477713"/>
                    </a:ext>
                  </a:extLst>
                </a:gridCol>
                <a:gridCol w="784661">
                  <a:extLst>
                    <a:ext uri="{9D8B030D-6E8A-4147-A177-3AD203B41FA5}">
                      <a16:colId xmlns:a16="http://schemas.microsoft.com/office/drawing/2014/main" val="2408897566"/>
                    </a:ext>
                  </a:extLst>
                </a:gridCol>
                <a:gridCol w="784661">
                  <a:extLst>
                    <a:ext uri="{9D8B030D-6E8A-4147-A177-3AD203B41FA5}">
                      <a16:colId xmlns:a16="http://schemas.microsoft.com/office/drawing/2014/main" val="3025898458"/>
                    </a:ext>
                  </a:extLst>
                </a:gridCol>
                <a:gridCol w="784661">
                  <a:extLst>
                    <a:ext uri="{9D8B030D-6E8A-4147-A177-3AD203B41FA5}">
                      <a16:colId xmlns:a16="http://schemas.microsoft.com/office/drawing/2014/main" val="1497070364"/>
                    </a:ext>
                  </a:extLst>
                </a:gridCol>
                <a:gridCol w="784661">
                  <a:extLst>
                    <a:ext uri="{9D8B030D-6E8A-4147-A177-3AD203B41FA5}">
                      <a16:colId xmlns:a16="http://schemas.microsoft.com/office/drawing/2014/main" val="966143054"/>
                    </a:ext>
                  </a:extLst>
                </a:gridCol>
                <a:gridCol w="784661">
                  <a:extLst>
                    <a:ext uri="{9D8B030D-6E8A-4147-A177-3AD203B41FA5}">
                      <a16:colId xmlns:a16="http://schemas.microsoft.com/office/drawing/2014/main" val="3040689069"/>
                    </a:ext>
                  </a:extLst>
                </a:gridCol>
                <a:gridCol w="784661">
                  <a:extLst>
                    <a:ext uri="{9D8B030D-6E8A-4147-A177-3AD203B41FA5}">
                      <a16:colId xmlns:a16="http://schemas.microsoft.com/office/drawing/2014/main" val="1502897882"/>
                    </a:ext>
                  </a:extLst>
                </a:gridCol>
              </a:tblGrid>
              <a:tr h="384043">
                <a:tc>
                  <a:txBody>
                    <a:bodyPr/>
                    <a:lstStyle/>
                    <a:p>
                      <a:pPr marR="65405" algn="ctr">
                        <a:spcBef>
                          <a:spcPts val="600"/>
                        </a:spcBef>
                        <a:spcAft>
                          <a:spcPts val="600"/>
                        </a:spcAft>
                      </a:pPr>
                      <a:r>
                        <a:rPr lang="es-ES" sz="1100">
                          <a:effectLst/>
                        </a:rPr>
                        <a:t>S</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err="1">
                          <a:effectLst/>
                        </a:rPr>
                        <a:t>Prob</a:t>
                      </a:r>
                      <a:r>
                        <a:rPr lang="es-ES" sz="1100" dirty="0">
                          <a:effectLst/>
                        </a:rPr>
                        <a:t>.</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P2’’ y P3’’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P1’’’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4092697317"/>
                  </a:ext>
                </a:extLst>
              </a:tr>
              <a:tr h="384043">
                <a:tc>
                  <a:txBody>
                    <a:bodyPr/>
                    <a:lstStyle/>
                    <a:p>
                      <a:pPr marR="65405" algn="ctr">
                        <a:spcBef>
                          <a:spcPts val="600"/>
                        </a:spcBef>
                        <a:spcAft>
                          <a:spcPts val="600"/>
                        </a:spcAft>
                      </a:pPr>
                      <a:r>
                        <a:rPr lang="es-ES" sz="1100" dirty="0">
                          <a:effectLst/>
                        </a:rPr>
                        <a:t>S</a:t>
                      </a:r>
                      <a:r>
                        <a:rPr lang="es-ES" sz="1100" baseline="-25000" dirty="0">
                          <a:effectLst/>
                        </a:rPr>
                        <a:t>0</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2429575031"/>
                  </a:ext>
                </a:extLst>
              </a:tr>
              <a:tr h="384043">
                <a:tc>
                  <a:txBody>
                    <a:bodyPr/>
                    <a:lstStyle/>
                    <a:p>
                      <a:pPr marR="65405" algn="ctr">
                        <a:spcBef>
                          <a:spcPts val="600"/>
                        </a:spcBef>
                        <a:spcAft>
                          <a:spcPts val="600"/>
                        </a:spcAft>
                      </a:pPr>
                      <a:r>
                        <a:rPr lang="es-ES" sz="1100">
                          <a:effectLst/>
                        </a:rPr>
                        <a:t>S</a:t>
                      </a:r>
                      <a:r>
                        <a:rPr lang="es-ES" sz="1100" baseline="-25000">
                          <a:effectLst/>
                        </a:rPr>
                        <a:t>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0,6</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4">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extLst>
                  <a:ext uri="{0D108BD9-81ED-4DB2-BD59-A6C34878D82A}">
                    <a16:rowId xmlns:a16="http://schemas.microsoft.com/office/drawing/2014/main" val="1497284858"/>
                  </a:ext>
                </a:extLst>
              </a:tr>
              <a:tr h="384043">
                <a:tc>
                  <a:txBody>
                    <a:bodyPr/>
                    <a:lstStyle/>
                    <a:p>
                      <a:pPr marR="65405" algn="ctr">
                        <a:spcBef>
                          <a:spcPts val="600"/>
                        </a:spcBef>
                        <a:spcAft>
                          <a:spcPts val="600"/>
                        </a:spcAft>
                      </a:pPr>
                      <a:r>
                        <a:rPr lang="es-ES" sz="1100">
                          <a:effectLst/>
                        </a:rPr>
                        <a:t>S</a:t>
                      </a:r>
                      <a:r>
                        <a:rPr lang="es-ES" sz="1100" baseline="-25000">
                          <a:effectLst/>
                        </a:rPr>
                        <a:t>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0,2</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0,4</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3">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0,3</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1685791740"/>
                  </a:ext>
                </a:extLst>
              </a:tr>
              <a:tr h="384043">
                <a:tc>
                  <a:txBody>
                    <a:bodyPr/>
                    <a:lstStyle/>
                    <a:p>
                      <a:pPr marR="65405" algn="ctr">
                        <a:spcBef>
                          <a:spcPts val="600"/>
                        </a:spcBef>
                        <a:spcAft>
                          <a:spcPts val="600"/>
                        </a:spcAft>
                      </a:pPr>
                      <a:r>
                        <a:rPr lang="es-ES" sz="1100">
                          <a:effectLst/>
                        </a:rPr>
                        <a:t>S</a:t>
                      </a:r>
                      <a:r>
                        <a:rPr lang="es-ES" sz="1100" baseline="-25000">
                          <a:effectLst/>
                        </a:rPr>
                        <a:t>3</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a:effectLst/>
                        </a:rPr>
                        <a:t>0,1</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rowSpan="2">
                  <a:txBody>
                    <a:bodyPr/>
                    <a:lstStyle/>
                    <a:p>
                      <a:pPr marR="65405" algn="ctr">
                        <a:spcBef>
                          <a:spcPts val="600"/>
                        </a:spcBef>
                        <a:spcAft>
                          <a:spcPts val="600"/>
                        </a:spcAft>
                      </a:pPr>
                      <a:r>
                        <a:rPr lang="es-AR" sz="1100" dirty="0" smtClean="0">
                          <a:effectLst/>
                          <a:latin typeface="Cambria" panose="02040503050406030204" pitchFamily="18" charset="0"/>
                          <a:ea typeface="Cambria" panose="02040503050406030204" pitchFamily="18" charset="0"/>
                          <a:cs typeface="Cambria" panose="02040503050406030204" pitchFamily="18" charset="0"/>
                        </a:rPr>
                        <a:t>0,2</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24402030"/>
                  </a:ext>
                </a:extLst>
              </a:tr>
              <a:tr h="384043">
                <a:tc>
                  <a:txBody>
                    <a:bodyPr/>
                    <a:lstStyle/>
                    <a:p>
                      <a:pPr marR="65405" algn="ctr">
                        <a:spcBef>
                          <a:spcPts val="600"/>
                        </a:spcBef>
                        <a:spcAft>
                          <a:spcPts val="600"/>
                        </a:spcAft>
                      </a:pPr>
                      <a:r>
                        <a:rPr lang="es-ES" sz="1100">
                          <a:effectLst/>
                        </a:rPr>
                        <a:t>S</a:t>
                      </a:r>
                      <a:r>
                        <a:rPr lang="es-ES" sz="1100" baseline="-25000">
                          <a:effectLst/>
                        </a:rPr>
                        <a:t>4</a:t>
                      </a:r>
                      <a:endParaRPr lang="en-US" sz="11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a:txBody>
                    <a:bodyPr/>
                    <a:lstStyle/>
                    <a:p>
                      <a:pPr marR="65405" algn="ctr">
                        <a:spcBef>
                          <a:spcPts val="600"/>
                        </a:spcBef>
                        <a:spcAft>
                          <a:spcPts val="600"/>
                        </a:spcAft>
                      </a:pPr>
                      <a:r>
                        <a:rPr lang="es-ES" sz="1100" dirty="0">
                          <a:effectLst/>
                        </a:rPr>
                        <a:t>0,1</a:t>
                      </a: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pPr marR="65405" algn="ctr">
                        <a:spcBef>
                          <a:spcPts val="600"/>
                        </a:spcBef>
                        <a:spcAft>
                          <a:spcPts val="600"/>
                        </a:spcAft>
                      </a:pPr>
                      <a:endParaRPr lang="en-US" sz="11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1495915"/>
                  </a:ext>
                </a:extLst>
              </a:tr>
            </a:tbl>
          </a:graphicData>
        </a:graphic>
      </p:graphicFrame>
      <p:sp>
        <p:nvSpPr>
          <p:cNvPr id="21" name="Rectángulo 20"/>
          <p:cNvSpPr/>
          <p:nvPr/>
        </p:nvSpPr>
        <p:spPr>
          <a:xfrm>
            <a:off x="683568" y="4005064"/>
            <a:ext cx="7776864" cy="1754326"/>
          </a:xfrm>
          <a:prstGeom prst="rect">
            <a:avLst/>
          </a:prstGeom>
        </p:spPr>
        <p:txBody>
          <a:bodyPr wrap="square">
            <a:spAutoFit/>
          </a:bodyPr>
          <a:lstStyle/>
          <a:p>
            <a:r>
              <a:rPr lang="es-AR" i="1" dirty="0" err="1" smtClean="0">
                <a:latin typeface="Cambria Math" panose="02040503050406030204" pitchFamily="18" charset="0"/>
              </a:rPr>
              <a:t>L</a:t>
            </a:r>
            <a:r>
              <a:rPr lang="es-AR" i="1" baseline="-25000" dirty="0" err="1" smtClean="0">
                <a:latin typeface="Cambria Math" panose="02040503050406030204" pitchFamily="18" charset="0"/>
              </a:rPr>
              <a:t>Huffman</a:t>
            </a:r>
            <a:r>
              <a:rPr lang="es-AR" i="1" dirty="0" smtClean="0">
                <a:latin typeface="Cambria Math" panose="02040503050406030204" pitchFamily="18" charset="0"/>
              </a:rPr>
              <a:t> = 2 x 0,3 + 2 x 0,3 + 2 x 0,2 + 3 x 0,1 + 3 x 0,1 = 2,2 </a:t>
            </a:r>
          </a:p>
          <a:p>
            <a:endParaRPr lang="es-AR" i="1" dirty="0">
              <a:latin typeface="Cambria Math" panose="02040503050406030204" pitchFamily="18" charset="0"/>
            </a:endParaRPr>
          </a:p>
          <a:p>
            <a:r>
              <a:rPr lang="es-AR" i="1" dirty="0" smtClean="0">
                <a:latin typeface="Cambria Math" panose="02040503050406030204" pitchFamily="18" charset="0"/>
              </a:rPr>
              <a:t>L</a:t>
            </a:r>
            <a:r>
              <a:rPr lang="es-AR" i="1" baseline="-25000" dirty="0" smtClean="0">
                <a:latin typeface="Cambria Math" panose="02040503050406030204" pitchFamily="18" charset="0"/>
              </a:rPr>
              <a:t>BCD</a:t>
            </a:r>
            <a:r>
              <a:rPr lang="es-AR" i="1" dirty="0" smtClean="0">
                <a:latin typeface="Cambria Math" panose="02040503050406030204" pitchFamily="18" charset="0"/>
              </a:rPr>
              <a:t> </a:t>
            </a:r>
            <a:r>
              <a:rPr lang="es-AR" i="1" dirty="0">
                <a:latin typeface="Cambria Math" panose="02040503050406030204" pitchFamily="18" charset="0"/>
              </a:rPr>
              <a:t>= </a:t>
            </a:r>
            <a:r>
              <a:rPr lang="es-AR" i="1" dirty="0" smtClean="0">
                <a:latin typeface="Cambria Math" panose="02040503050406030204" pitchFamily="18" charset="0"/>
              </a:rPr>
              <a:t>3 </a:t>
            </a:r>
            <a:r>
              <a:rPr lang="es-AR" i="1" dirty="0">
                <a:latin typeface="Cambria Math" panose="02040503050406030204" pitchFamily="18" charset="0"/>
              </a:rPr>
              <a:t>x 0,3 + </a:t>
            </a:r>
            <a:r>
              <a:rPr lang="es-AR" i="1" dirty="0" smtClean="0">
                <a:latin typeface="Cambria Math" panose="02040503050406030204" pitchFamily="18" charset="0"/>
              </a:rPr>
              <a:t>3 </a:t>
            </a:r>
            <a:r>
              <a:rPr lang="es-AR" i="1" dirty="0">
                <a:latin typeface="Cambria Math" panose="02040503050406030204" pitchFamily="18" charset="0"/>
              </a:rPr>
              <a:t>x 0,3 + </a:t>
            </a:r>
            <a:r>
              <a:rPr lang="es-AR" i="1" dirty="0" smtClean="0">
                <a:latin typeface="Cambria Math" panose="02040503050406030204" pitchFamily="18" charset="0"/>
              </a:rPr>
              <a:t>3 </a:t>
            </a:r>
            <a:r>
              <a:rPr lang="es-AR" i="1" dirty="0">
                <a:latin typeface="Cambria Math" panose="02040503050406030204" pitchFamily="18" charset="0"/>
              </a:rPr>
              <a:t>x 0,2 + 3 x 0,1 + 3 x 0,1 = </a:t>
            </a:r>
            <a:r>
              <a:rPr lang="es-AR" i="1" dirty="0" smtClean="0">
                <a:latin typeface="Cambria Math" panose="02040503050406030204" pitchFamily="18" charset="0"/>
              </a:rPr>
              <a:t>3</a:t>
            </a:r>
          </a:p>
          <a:p>
            <a:endParaRPr lang="es-AR" i="1" dirty="0">
              <a:latin typeface="Cambria Math" panose="02040503050406030204" pitchFamily="18" charset="0"/>
            </a:endParaRPr>
          </a:p>
          <a:p>
            <a:r>
              <a:rPr lang="es-AR" i="1" dirty="0" smtClean="0">
                <a:latin typeface="Cambria Math" panose="02040503050406030204" pitchFamily="18" charset="0"/>
              </a:rPr>
              <a:t>H(S) = 2,17 bits</a:t>
            </a:r>
            <a:endParaRPr lang="es-AR" i="1" dirty="0">
              <a:latin typeface="Cambria Math" panose="02040503050406030204" pitchFamily="18" charset="0"/>
            </a:endParaRPr>
          </a:p>
          <a:p>
            <a:endParaRPr lang="es-AR" i="1" dirty="0">
              <a:latin typeface="Cambria Math" panose="02040503050406030204" pitchFamily="18" charset="0"/>
            </a:endParaRPr>
          </a:p>
        </p:txBody>
      </p:sp>
      <p:sp>
        <p:nvSpPr>
          <p:cNvPr id="38" name="6 Rectángulo"/>
          <p:cNvSpPr/>
          <p:nvPr/>
        </p:nvSpPr>
        <p:spPr>
          <a:xfrm>
            <a:off x="2987824" y="1764024"/>
            <a:ext cx="415498" cy="369332"/>
          </a:xfrm>
          <a:prstGeom prst="rect">
            <a:avLst/>
          </a:prstGeom>
        </p:spPr>
        <p:txBody>
          <a:bodyPr wrap="none">
            <a:spAutoFit/>
          </a:bodyPr>
          <a:lstStyle/>
          <a:p>
            <a:r>
              <a:rPr lang="es-AR" dirty="0" smtClean="0">
                <a:solidFill>
                  <a:srgbClr val="00B050"/>
                </a:solidFill>
              </a:rPr>
              <a:t>00</a:t>
            </a:r>
            <a:endParaRPr lang="es-AR" dirty="0">
              <a:solidFill>
                <a:srgbClr val="00B050"/>
              </a:solidFill>
            </a:endParaRPr>
          </a:p>
        </p:txBody>
      </p:sp>
      <p:sp>
        <p:nvSpPr>
          <p:cNvPr id="39" name="6 Rectángulo"/>
          <p:cNvSpPr/>
          <p:nvPr/>
        </p:nvSpPr>
        <p:spPr>
          <a:xfrm>
            <a:off x="2987824" y="2195572"/>
            <a:ext cx="415498" cy="369332"/>
          </a:xfrm>
          <a:prstGeom prst="rect">
            <a:avLst/>
          </a:prstGeom>
        </p:spPr>
        <p:txBody>
          <a:bodyPr wrap="none">
            <a:spAutoFit/>
          </a:bodyPr>
          <a:lstStyle/>
          <a:p>
            <a:r>
              <a:rPr lang="es-AR" dirty="0" smtClean="0">
                <a:solidFill>
                  <a:srgbClr val="00B050"/>
                </a:solidFill>
              </a:rPr>
              <a:t>01</a:t>
            </a:r>
            <a:endParaRPr lang="es-AR" dirty="0">
              <a:solidFill>
                <a:srgbClr val="00B050"/>
              </a:solidFill>
            </a:endParaRPr>
          </a:p>
        </p:txBody>
      </p:sp>
      <p:sp>
        <p:nvSpPr>
          <p:cNvPr id="40" name="6 Rectángulo"/>
          <p:cNvSpPr/>
          <p:nvPr/>
        </p:nvSpPr>
        <p:spPr>
          <a:xfrm>
            <a:off x="2987824" y="2547320"/>
            <a:ext cx="415498" cy="369332"/>
          </a:xfrm>
          <a:prstGeom prst="rect">
            <a:avLst/>
          </a:prstGeom>
        </p:spPr>
        <p:txBody>
          <a:bodyPr wrap="none">
            <a:spAutoFit/>
          </a:bodyPr>
          <a:lstStyle/>
          <a:p>
            <a:r>
              <a:rPr lang="es-AR" dirty="0" smtClean="0">
                <a:solidFill>
                  <a:srgbClr val="00B050"/>
                </a:solidFill>
              </a:rPr>
              <a:t>10</a:t>
            </a:r>
            <a:endParaRPr lang="es-AR" dirty="0">
              <a:solidFill>
                <a:srgbClr val="00B050"/>
              </a:solidFill>
            </a:endParaRPr>
          </a:p>
        </p:txBody>
      </p:sp>
      <p:sp>
        <p:nvSpPr>
          <p:cNvPr id="41" name="6 Rectángulo"/>
          <p:cNvSpPr/>
          <p:nvPr/>
        </p:nvSpPr>
        <p:spPr>
          <a:xfrm>
            <a:off x="2977360" y="2960112"/>
            <a:ext cx="530915" cy="369332"/>
          </a:xfrm>
          <a:prstGeom prst="rect">
            <a:avLst/>
          </a:prstGeom>
        </p:spPr>
        <p:txBody>
          <a:bodyPr wrap="none">
            <a:spAutoFit/>
          </a:bodyPr>
          <a:lstStyle/>
          <a:p>
            <a:r>
              <a:rPr lang="es-AR" dirty="0" smtClean="0">
                <a:solidFill>
                  <a:srgbClr val="00B050"/>
                </a:solidFill>
              </a:rPr>
              <a:t>110</a:t>
            </a:r>
            <a:endParaRPr lang="es-AR" dirty="0">
              <a:solidFill>
                <a:srgbClr val="00B050"/>
              </a:solidFill>
            </a:endParaRPr>
          </a:p>
        </p:txBody>
      </p:sp>
      <p:sp>
        <p:nvSpPr>
          <p:cNvPr id="42" name="6 Rectángulo"/>
          <p:cNvSpPr/>
          <p:nvPr/>
        </p:nvSpPr>
        <p:spPr>
          <a:xfrm>
            <a:off x="2950984" y="3333904"/>
            <a:ext cx="530915" cy="369332"/>
          </a:xfrm>
          <a:prstGeom prst="rect">
            <a:avLst/>
          </a:prstGeom>
        </p:spPr>
        <p:txBody>
          <a:bodyPr wrap="none">
            <a:spAutoFit/>
          </a:bodyPr>
          <a:lstStyle/>
          <a:p>
            <a:r>
              <a:rPr lang="es-AR" dirty="0" smtClean="0">
                <a:solidFill>
                  <a:srgbClr val="00B050"/>
                </a:solidFill>
              </a:rPr>
              <a:t>111</a:t>
            </a:r>
            <a:endParaRPr lang="es-AR" dirty="0">
              <a:solidFill>
                <a:srgbClr val="00B050"/>
              </a:solidFill>
            </a:endParaRPr>
          </a:p>
        </p:txBody>
      </p:sp>
      <p:cxnSp>
        <p:nvCxnSpPr>
          <p:cNvPr id="43" name="Conector recto de flecha 42"/>
          <p:cNvCxnSpPr/>
          <p:nvPr/>
        </p:nvCxnSpPr>
        <p:spPr>
          <a:xfrm flipV="1">
            <a:off x="4672817" y="2052056"/>
            <a:ext cx="57606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p:cNvCxnSpPr/>
          <p:nvPr/>
        </p:nvCxnSpPr>
        <p:spPr>
          <a:xfrm>
            <a:off x="4692073"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p:cNvCxnSpPr/>
          <p:nvPr/>
        </p:nvCxnSpPr>
        <p:spPr>
          <a:xfrm>
            <a:off x="4672817" y="241209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p:cNvCxnSpPr/>
          <p:nvPr/>
        </p:nvCxnSpPr>
        <p:spPr>
          <a:xfrm>
            <a:off x="6311417" y="2052056"/>
            <a:ext cx="576064" cy="4320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p:cNvCxnSpPr/>
          <p:nvPr/>
        </p:nvCxnSpPr>
        <p:spPr>
          <a:xfrm flipV="1">
            <a:off x="6239409" y="2071312"/>
            <a:ext cx="504056" cy="7832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6 Rectángulo"/>
          <p:cNvSpPr/>
          <p:nvPr/>
        </p:nvSpPr>
        <p:spPr>
          <a:xfrm>
            <a:off x="7020272" y="1772816"/>
            <a:ext cx="300082" cy="369332"/>
          </a:xfrm>
          <a:prstGeom prst="rect">
            <a:avLst/>
          </a:prstGeom>
        </p:spPr>
        <p:txBody>
          <a:bodyPr wrap="none">
            <a:spAutoFit/>
          </a:bodyPr>
          <a:lstStyle/>
          <a:p>
            <a:r>
              <a:rPr lang="es-AR" dirty="0" smtClean="0"/>
              <a:t>0</a:t>
            </a:r>
            <a:endParaRPr lang="es-AR" dirty="0"/>
          </a:p>
        </p:txBody>
      </p:sp>
      <p:sp>
        <p:nvSpPr>
          <p:cNvPr id="49" name="6 Rectángulo"/>
          <p:cNvSpPr/>
          <p:nvPr/>
        </p:nvSpPr>
        <p:spPr>
          <a:xfrm>
            <a:off x="7020272" y="2627620"/>
            <a:ext cx="300082" cy="369332"/>
          </a:xfrm>
          <a:prstGeom prst="rect">
            <a:avLst/>
          </a:prstGeom>
        </p:spPr>
        <p:txBody>
          <a:bodyPr wrap="none">
            <a:spAutoFit/>
          </a:bodyPr>
          <a:lstStyle/>
          <a:p>
            <a:r>
              <a:rPr lang="es-AR" dirty="0" smtClean="0"/>
              <a:t>1</a:t>
            </a:r>
            <a:endParaRPr lang="es-AR" dirty="0"/>
          </a:p>
        </p:txBody>
      </p:sp>
      <p:sp>
        <p:nvSpPr>
          <p:cNvPr id="50" name="6 Rectángulo"/>
          <p:cNvSpPr/>
          <p:nvPr/>
        </p:nvSpPr>
        <p:spPr>
          <a:xfrm>
            <a:off x="6153470" y="3059668"/>
            <a:ext cx="300082" cy="369332"/>
          </a:xfrm>
          <a:prstGeom prst="rect">
            <a:avLst/>
          </a:prstGeom>
        </p:spPr>
        <p:txBody>
          <a:bodyPr wrap="none">
            <a:spAutoFit/>
          </a:bodyPr>
          <a:lstStyle/>
          <a:p>
            <a:r>
              <a:rPr lang="es-AR" dirty="0" smtClean="0"/>
              <a:t>0</a:t>
            </a:r>
            <a:endParaRPr lang="es-AR" dirty="0"/>
          </a:p>
        </p:txBody>
      </p:sp>
      <p:sp>
        <p:nvSpPr>
          <p:cNvPr id="51" name="6 Rectángulo"/>
          <p:cNvSpPr/>
          <p:nvPr/>
        </p:nvSpPr>
        <p:spPr>
          <a:xfrm>
            <a:off x="6156176" y="1745940"/>
            <a:ext cx="300082" cy="369332"/>
          </a:xfrm>
          <a:prstGeom prst="rect">
            <a:avLst/>
          </a:prstGeom>
        </p:spPr>
        <p:txBody>
          <a:bodyPr wrap="none">
            <a:spAutoFit/>
          </a:bodyPr>
          <a:lstStyle/>
          <a:p>
            <a:r>
              <a:rPr lang="es-AR" dirty="0" smtClean="0"/>
              <a:t>1</a:t>
            </a:r>
            <a:endParaRPr lang="es-AR" dirty="0"/>
          </a:p>
        </p:txBody>
      </p:sp>
      <p:sp>
        <p:nvSpPr>
          <p:cNvPr id="52" name="6 Rectángulo"/>
          <p:cNvSpPr/>
          <p:nvPr/>
        </p:nvSpPr>
        <p:spPr>
          <a:xfrm>
            <a:off x="5424046" y="1745940"/>
            <a:ext cx="300082" cy="369332"/>
          </a:xfrm>
          <a:prstGeom prst="rect">
            <a:avLst/>
          </a:prstGeom>
        </p:spPr>
        <p:txBody>
          <a:bodyPr wrap="none">
            <a:spAutoFit/>
          </a:bodyPr>
          <a:lstStyle/>
          <a:p>
            <a:r>
              <a:rPr lang="es-AR" dirty="0" smtClean="0"/>
              <a:t>1</a:t>
            </a:r>
            <a:endParaRPr lang="es-AR" dirty="0"/>
          </a:p>
        </p:txBody>
      </p:sp>
      <p:sp>
        <p:nvSpPr>
          <p:cNvPr id="53" name="6 Rectángulo"/>
          <p:cNvSpPr/>
          <p:nvPr/>
        </p:nvSpPr>
        <p:spPr>
          <a:xfrm>
            <a:off x="5355296" y="2150440"/>
            <a:ext cx="415498" cy="369332"/>
          </a:xfrm>
          <a:prstGeom prst="rect">
            <a:avLst/>
          </a:prstGeom>
        </p:spPr>
        <p:txBody>
          <a:bodyPr wrap="none">
            <a:spAutoFit/>
          </a:bodyPr>
          <a:lstStyle/>
          <a:p>
            <a:r>
              <a:rPr lang="es-AR" dirty="0" smtClean="0"/>
              <a:t>00</a:t>
            </a:r>
            <a:endParaRPr lang="es-AR" dirty="0"/>
          </a:p>
        </p:txBody>
      </p:sp>
      <p:sp>
        <p:nvSpPr>
          <p:cNvPr id="54" name="6 Rectángulo"/>
          <p:cNvSpPr/>
          <p:nvPr/>
        </p:nvSpPr>
        <p:spPr>
          <a:xfrm>
            <a:off x="5355296" y="2987660"/>
            <a:ext cx="415498" cy="369332"/>
          </a:xfrm>
          <a:prstGeom prst="rect">
            <a:avLst/>
          </a:prstGeom>
        </p:spPr>
        <p:txBody>
          <a:bodyPr wrap="none">
            <a:spAutoFit/>
          </a:bodyPr>
          <a:lstStyle/>
          <a:p>
            <a:r>
              <a:rPr lang="es-AR" dirty="0" smtClean="0"/>
              <a:t>01</a:t>
            </a:r>
            <a:endParaRPr lang="es-AR" dirty="0"/>
          </a:p>
        </p:txBody>
      </p:sp>
      <p:sp>
        <p:nvSpPr>
          <p:cNvPr id="55" name="6 Rectángulo"/>
          <p:cNvSpPr/>
          <p:nvPr/>
        </p:nvSpPr>
        <p:spPr>
          <a:xfrm>
            <a:off x="4644008" y="2987660"/>
            <a:ext cx="300082" cy="369332"/>
          </a:xfrm>
          <a:prstGeom prst="rect">
            <a:avLst/>
          </a:prstGeom>
        </p:spPr>
        <p:txBody>
          <a:bodyPr wrap="none">
            <a:spAutoFit/>
          </a:bodyPr>
          <a:lstStyle/>
          <a:p>
            <a:r>
              <a:rPr lang="es-AR" dirty="0" smtClean="0"/>
              <a:t>1</a:t>
            </a:r>
            <a:endParaRPr lang="es-AR" dirty="0"/>
          </a:p>
        </p:txBody>
      </p:sp>
      <p:sp>
        <p:nvSpPr>
          <p:cNvPr id="56" name="6 Rectángulo"/>
          <p:cNvSpPr/>
          <p:nvPr/>
        </p:nvSpPr>
        <p:spPr>
          <a:xfrm>
            <a:off x="4626424" y="1764024"/>
            <a:ext cx="415498" cy="369332"/>
          </a:xfrm>
          <a:prstGeom prst="rect">
            <a:avLst/>
          </a:prstGeom>
        </p:spPr>
        <p:txBody>
          <a:bodyPr wrap="none">
            <a:spAutoFit/>
          </a:bodyPr>
          <a:lstStyle/>
          <a:p>
            <a:r>
              <a:rPr lang="es-AR" dirty="0" smtClean="0"/>
              <a:t>00</a:t>
            </a:r>
            <a:endParaRPr lang="es-AR" dirty="0"/>
          </a:p>
        </p:txBody>
      </p:sp>
      <p:sp>
        <p:nvSpPr>
          <p:cNvPr id="57" name="6 Rectángulo"/>
          <p:cNvSpPr/>
          <p:nvPr/>
        </p:nvSpPr>
        <p:spPr>
          <a:xfrm>
            <a:off x="4634182" y="2124064"/>
            <a:ext cx="415498" cy="369332"/>
          </a:xfrm>
          <a:prstGeom prst="rect">
            <a:avLst/>
          </a:prstGeom>
        </p:spPr>
        <p:txBody>
          <a:bodyPr wrap="none">
            <a:spAutoFit/>
          </a:bodyPr>
          <a:lstStyle/>
          <a:p>
            <a:r>
              <a:rPr lang="es-AR" dirty="0" smtClean="0"/>
              <a:t>01</a:t>
            </a:r>
            <a:endParaRPr lang="es-AR" dirty="0"/>
          </a:p>
        </p:txBody>
      </p:sp>
      <p:sp>
        <p:nvSpPr>
          <p:cNvPr id="58" name="6 Rectángulo"/>
          <p:cNvSpPr/>
          <p:nvPr/>
        </p:nvSpPr>
        <p:spPr>
          <a:xfrm>
            <a:off x="3788704" y="1764024"/>
            <a:ext cx="415498" cy="369332"/>
          </a:xfrm>
          <a:prstGeom prst="rect">
            <a:avLst/>
          </a:prstGeom>
        </p:spPr>
        <p:txBody>
          <a:bodyPr wrap="none">
            <a:spAutoFit/>
          </a:bodyPr>
          <a:lstStyle/>
          <a:p>
            <a:r>
              <a:rPr lang="es-AR" dirty="0" smtClean="0"/>
              <a:t>00</a:t>
            </a:r>
            <a:endParaRPr lang="es-AR" dirty="0"/>
          </a:p>
        </p:txBody>
      </p:sp>
      <p:sp>
        <p:nvSpPr>
          <p:cNvPr id="59" name="6 Rectángulo"/>
          <p:cNvSpPr/>
          <p:nvPr/>
        </p:nvSpPr>
        <p:spPr>
          <a:xfrm>
            <a:off x="3788704" y="2195572"/>
            <a:ext cx="415498" cy="369332"/>
          </a:xfrm>
          <a:prstGeom prst="rect">
            <a:avLst/>
          </a:prstGeom>
        </p:spPr>
        <p:txBody>
          <a:bodyPr wrap="none">
            <a:spAutoFit/>
          </a:bodyPr>
          <a:lstStyle/>
          <a:p>
            <a:r>
              <a:rPr lang="es-AR" dirty="0" smtClean="0"/>
              <a:t>01</a:t>
            </a:r>
            <a:endParaRPr lang="es-AR" dirty="0"/>
          </a:p>
        </p:txBody>
      </p:sp>
      <p:sp>
        <p:nvSpPr>
          <p:cNvPr id="60" name="6 Rectángulo"/>
          <p:cNvSpPr/>
          <p:nvPr/>
        </p:nvSpPr>
        <p:spPr>
          <a:xfrm>
            <a:off x="3788704" y="2547320"/>
            <a:ext cx="415498" cy="369332"/>
          </a:xfrm>
          <a:prstGeom prst="rect">
            <a:avLst/>
          </a:prstGeom>
        </p:spPr>
        <p:txBody>
          <a:bodyPr wrap="none">
            <a:spAutoFit/>
          </a:bodyPr>
          <a:lstStyle/>
          <a:p>
            <a:r>
              <a:rPr lang="es-AR" dirty="0" smtClean="0"/>
              <a:t>10</a:t>
            </a:r>
            <a:endParaRPr lang="es-AR" dirty="0"/>
          </a:p>
        </p:txBody>
      </p:sp>
      <p:sp>
        <p:nvSpPr>
          <p:cNvPr id="61" name="6 Rectángulo"/>
          <p:cNvSpPr/>
          <p:nvPr/>
        </p:nvSpPr>
        <p:spPr>
          <a:xfrm>
            <a:off x="3788704" y="3131676"/>
            <a:ext cx="415498" cy="369332"/>
          </a:xfrm>
          <a:prstGeom prst="rect">
            <a:avLst/>
          </a:prstGeom>
        </p:spPr>
        <p:txBody>
          <a:bodyPr wrap="none">
            <a:spAutoFit/>
          </a:bodyPr>
          <a:lstStyle/>
          <a:p>
            <a:r>
              <a:rPr lang="es-AR" dirty="0" smtClean="0"/>
              <a:t>11</a:t>
            </a:r>
            <a:endParaRPr lang="es-AR" dirty="0"/>
          </a:p>
        </p:txBody>
      </p:sp>
      <p:sp>
        <p:nvSpPr>
          <p:cNvPr id="32" name="14 CuadroTexto"/>
          <p:cNvSpPr txBox="1"/>
          <p:nvPr/>
        </p:nvSpPr>
        <p:spPr>
          <a:xfrm>
            <a:off x="481192" y="5589240"/>
            <a:ext cx="8158277" cy="64633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dirty="0" smtClean="0"/>
              <a:t>Se logra un código óptimo, el cual posee la menor longitud promedio para esta distribución de probabilidades.</a:t>
            </a:r>
            <a:endParaRPr lang="es-AR" baseline="30000" dirty="0" smtClean="0"/>
          </a:p>
        </p:txBody>
      </p:sp>
    </p:spTree>
    <p:extLst>
      <p:ext uri="{BB962C8B-B14F-4D97-AF65-F5344CB8AC3E}">
        <p14:creationId xmlns:p14="http://schemas.microsoft.com/office/powerpoint/2010/main" val="29385572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Primer Teorema de Shannon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28</a:t>
            </a:fld>
            <a:endParaRPr lang="es-ES"/>
          </a:p>
        </p:txBody>
      </p:sp>
      <mc:AlternateContent xmlns:mc="http://schemas.openxmlformats.org/markup-compatibility/2006" xmlns:a14="http://schemas.microsoft.com/office/drawing/2010/main">
        <mc:Choice Requires="a14">
          <p:sp>
            <p:nvSpPr>
              <p:cNvPr id="33" name="Rectángulo 32"/>
              <p:cNvSpPr/>
              <p:nvPr/>
            </p:nvSpPr>
            <p:spPr>
              <a:xfrm>
                <a:off x="251520" y="1727210"/>
                <a:ext cx="2008049"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𝐿</m:t>
                          </m:r>
                        </m:e>
                        <m:sub>
                          <m:r>
                            <a:rPr lang="es-AR" b="0" i="1" smtClean="0">
                              <a:latin typeface="Cambria Math" panose="02040503050406030204" pitchFamily="18" charset="0"/>
                            </a:rPr>
                            <m:t>𝑚𝑖𝑛</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𝐻</m:t>
                          </m:r>
                          <m:r>
                            <a:rPr lang="es-AR" b="0" i="1" smtClean="0">
                              <a:latin typeface="Cambria Math" panose="02040503050406030204" pitchFamily="18" charset="0"/>
                            </a:rPr>
                            <m:t>(</m:t>
                          </m:r>
                          <m:r>
                            <a:rPr lang="es-AR" b="0" i="1" smtClean="0">
                              <a:latin typeface="Cambria Math" panose="02040503050406030204" pitchFamily="18" charset="0"/>
                            </a:rPr>
                            <m:t>𝑆</m:t>
                          </m:r>
                          <m:r>
                            <a:rPr lang="es-AR" b="0" i="1" smtClean="0">
                              <a:latin typeface="Cambria Math" panose="02040503050406030204" pitchFamily="18" charset="0"/>
                            </a:rPr>
                            <m:t>)</m:t>
                          </m:r>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r>
                        <a:rPr lang="en-US">
                          <a:latin typeface="Cambria Math" panose="02040503050406030204" pitchFamily="18" charset="0"/>
                        </a:rPr>
                        <m:t>≤</m:t>
                      </m:r>
                      <m:bar>
                        <m:barPr>
                          <m:pos m:val="top"/>
                          <m:ctrlPr>
                            <a:rPr lang="en-US" i="1" smtClean="0">
                              <a:latin typeface="Cambria Math" panose="02040503050406030204" pitchFamily="18" charset="0"/>
                            </a:rPr>
                          </m:ctrlPr>
                        </m:barPr>
                        <m:e>
                          <m:r>
                            <a:rPr lang="es-AR" b="0" i="1" smtClean="0">
                              <a:latin typeface="Cambria Math" panose="02040503050406030204" pitchFamily="18" charset="0"/>
                            </a:rPr>
                            <m:t>𝐿</m:t>
                          </m:r>
                        </m:e>
                      </m:bar>
                    </m:oMath>
                  </m:oMathPara>
                </a14:m>
                <a:endParaRPr lang="en-US" dirty="0"/>
              </a:p>
            </p:txBody>
          </p:sp>
        </mc:Choice>
        <mc:Fallback xmlns="">
          <p:sp>
            <p:nvSpPr>
              <p:cNvPr id="33" name="Rectángulo 32"/>
              <p:cNvSpPr>
                <a:spLocks noRot="1" noChangeAspect="1" noMove="1" noResize="1" noEditPoints="1" noAdjustHandles="1" noChangeArrowheads="1" noChangeShapeType="1" noTextEdit="1"/>
              </p:cNvSpPr>
              <p:nvPr/>
            </p:nvSpPr>
            <p:spPr>
              <a:xfrm>
                <a:off x="251520" y="1727210"/>
                <a:ext cx="2008049" cy="668516"/>
              </a:xfrm>
              <a:prstGeom prst="rect">
                <a:avLst/>
              </a:prstGeom>
              <a:blipFill>
                <a:blip r:embed="rId2"/>
                <a:stretch>
                  <a:fillRect/>
                </a:stretch>
              </a:blipFill>
            </p:spPr>
            <p:txBody>
              <a:bodyPr/>
              <a:lstStyle/>
              <a:p>
                <a:r>
                  <a:rPr lang="en-US">
                    <a:noFill/>
                  </a:rPr>
                  <a:t> </a:t>
                </a:r>
              </a:p>
            </p:txBody>
          </p:sp>
        </mc:Fallback>
      </mc:AlternateContent>
      <p:sp>
        <p:nvSpPr>
          <p:cNvPr id="34" name="6 Rectángulo"/>
          <p:cNvSpPr/>
          <p:nvPr/>
        </p:nvSpPr>
        <p:spPr>
          <a:xfrm>
            <a:off x="395536" y="1268760"/>
            <a:ext cx="1781000" cy="369332"/>
          </a:xfrm>
          <a:prstGeom prst="rect">
            <a:avLst/>
          </a:prstGeom>
        </p:spPr>
        <p:txBody>
          <a:bodyPr wrap="none">
            <a:spAutoFit/>
          </a:bodyPr>
          <a:lstStyle/>
          <a:p>
            <a:r>
              <a:rPr lang="es-AR" dirty="0" smtClean="0"/>
              <a:t>Recordando que:</a:t>
            </a:r>
            <a:endParaRPr lang="es-AR" dirty="0"/>
          </a:p>
        </p:txBody>
      </p:sp>
      <mc:AlternateContent xmlns:mc="http://schemas.openxmlformats.org/markup-compatibility/2006" xmlns:a14="http://schemas.microsoft.com/office/drawing/2010/main">
        <mc:Choice Requires="a14">
          <p:sp>
            <p:nvSpPr>
              <p:cNvPr id="35" name="Rectángulo 34"/>
              <p:cNvSpPr/>
              <p:nvPr/>
            </p:nvSpPr>
            <p:spPr>
              <a:xfrm>
                <a:off x="4347801" y="1842272"/>
                <a:ext cx="1114985" cy="374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𝑖</m:t>
                          </m:r>
                        </m:sub>
                      </m:sSub>
                      <m:r>
                        <a:rPr lang="es-AR" b="0" i="1" smtClean="0">
                          <a:latin typeface="Cambria Math" panose="02040503050406030204" pitchFamily="18" charset="0"/>
                        </a:rPr>
                        <m:t>=</m:t>
                      </m:r>
                      <m:sSup>
                        <m:sSupPr>
                          <m:ctrlPr>
                            <a:rPr lang="es-AR" b="0" i="1" smtClean="0">
                              <a:latin typeface="Cambria Math" panose="02040503050406030204" pitchFamily="18" charset="0"/>
                            </a:rPr>
                          </m:ctrlPr>
                        </m:sSupPr>
                        <m:e>
                          <m:r>
                            <a:rPr lang="es-AR" b="0" i="1" smtClean="0">
                              <a:latin typeface="Cambria Math" panose="02040503050406030204" pitchFamily="18" charset="0"/>
                            </a:rPr>
                            <m:t>𝑟</m:t>
                          </m:r>
                        </m:e>
                        <m:sup>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𝑙</m:t>
                              </m:r>
                            </m:e>
                            <m:sub>
                              <m:r>
                                <a:rPr lang="es-AR" b="0" i="1" smtClean="0">
                                  <a:latin typeface="Cambria Math" panose="02040503050406030204" pitchFamily="18" charset="0"/>
                                </a:rPr>
                                <m:t>𝑖</m:t>
                              </m:r>
                            </m:sub>
                          </m:sSub>
                        </m:sup>
                      </m:sSup>
                    </m:oMath>
                  </m:oMathPara>
                </a14:m>
                <a:endParaRPr lang="en-US" dirty="0"/>
              </a:p>
            </p:txBody>
          </p:sp>
        </mc:Choice>
        <mc:Fallback xmlns="">
          <p:sp>
            <p:nvSpPr>
              <p:cNvPr id="35" name="Rectángulo 34"/>
              <p:cNvSpPr>
                <a:spLocks noRot="1" noChangeAspect="1" noMove="1" noResize="1" noEditPoints="1" noAdjustHandles="1" noChangeArrowheads="1" noChangeShapeType="1" noTextEdit="1"/>
              </p:cNvSpPr>
              <p:nvPr/>
            </p:nvSpPr>
            <p:spPr>
              <a:xfrm>
                <a:off x="4347801" y="1842272"/>
                <a:ext cx="1114985" cy="374270"/>
              </a:xfrm>
              <a:prstGeom prst="rect">
                <a:avLst/>
              </a:prstGeom>
              <a:blipFill>
                <a:blip r:embed="rId3"/>
                <a:stretch>
                  <a:fillRect b="-8065"/>
                </a:stretch>
              </a:blipFill>
            </p:spPr>
            <p:txBody>
              <a:bodyPr/>
              <a:lstStyle/>
              <a:p>
                <a:r>
                  <a:rPr lang="en-US">
                    <a:noFill/>
                  </a:rPr>
                  <a:t> </a:t>
                </a:r>
              </a:p>
            </p:txBody>
          </p:sp>
        </mc:Fallback>
      </mc:AlternateContent>
      <p:sp>
        <p:nvSpPr>
          <p:cNvPr id="36" name="6 Rectángulo"/>
          <p:cNvSpPr/>
          <p:nvPr/>
        </p:nvSpPr>
        <p:spPr>
          <a:xfrm>
            <a:off x="2619609" y="1895023"/>
            <a:ext cx="1806905" cy="338554"/>
          </a:xfrm>
          <a:prstGeom prst="rect">
            <a:avLst/>
          </a:prstGeom>
        </p:spPr>
        <p:txBody>
          <a:bodyPr wrap="none">
            <a:spAutoFit/>
          </a:bodyPr>
          <a:lstStyle/>
          <a:p>
            <a:r>
              <a:rPr lang="es-AR" sz="1600" dirty="0" smtClean="0"/>
              <a:t>La igualdad se da si</a:t>
            </a:r>
            <a:endParaRPr lang="es-AR" sz="1600" dirty="0"/>
          </a:p>
        </p:txBody>
      </p:sp>
      <mc:AlternateContent xmlns:mc="http://schemas.openxmlformats.org/markup-compatibility/2006" xmlns:a14="http://schemas.microsoft.com/office/drawing/2010/main">
        <mc:Choice Requires="a14">
          <p:sp>
            <p:nvSpPr>
              <p:cNvPr id="37" name="Rectángulo 36"/>
              <p:cNvSpPr/>
              <p:nvPr/>
            </p:nvSpPr>
            <p:spPr>
              <a:xfrm>
                <a:off x="5675593" y="1728812"/>
                <a:ext cx="1557093" cy="6669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AR" b="0" i="1" smtClean="0">
                              <a:latin typeface="Cambria Math" panose="02040503050406030204" pitchFamily="18" charset="0"/>
                            </a:rPr>
                            <m:t>𝑙</m:t>
                          </m:r>
                        </m:e>
                        <m:sub>
                          <m:r>
                            <a:rPr lang="es-AR" b="0" i="1" smtClean="0">
                              <a:latin typeface="Cambria Math" panose="02040503050406030204" pitchFamily="18" charset="0"/>
                            </a:rPr>
                            <m:t>𝑖</m:t>
                          </m:r>
                        </m:sub>
                      </m:sSub>
                      <m:r>
                        <a:rPr lang="es-AR" b="0" i="1" smtClean="0">
                          <a:latin typeface="Cambria Math" panose="02040503050406030204" pitchFamily="18" charset="0"/>
                        </a:rPr>
                        <m:t>=−</m:t>
                      </m:r>
                      <m:f>
                        <m:fPr>
                          <m:ctrlPr>
                            <a:rPr lang="es-AR" b="0" i="1" smtClean="0">
                              <a:latin typeface="Cambria Math" panose="02040503050406030204" pitchFamily="18" charset="0"/>
                            </a:rPr>
                          </m:ctrlPr>
                        </m:fPr>
                        <m:num>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sSub>
                                <m:sSubPr>
                                  <m:ctrlPr>
                                    <a:rPr lang="en-US"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𝑖</m:t>
                                  </m:r>
                                </m:sub>
                              </m:sSub>
                            </m:e>
                          </m:func>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oMath>
                  </m:oMathPara>
                </a14:m>
                <a:endParaRPr lang="en-US" dirty="0"/>
              </a:p>
            </p:txBody>
          </p:sp>
        </mc:Choice>
        <mc:Fallback xmlns="">
          <p:sp>
            <p:nvSpPr>
              <p:cNvPr id="37" name="Rectángulo 36"/>
              <p:cNvSpPr>
                <a:spLocks noRot="1" noChangeAspect="1" noMove="1" noResize="1" noEditPoints="1" noAdjustHandles="1" noChangeArrowheads="1" noChangeShapeType="1" noTextEdit="1"/>
              </p:cNvSpPr>
              <p:nvPr/>
            </p:nvSpPr>
            <p:spPr>
              <a:xfrm>
                <a:off x="5675593" y="1728812"/>
                <a:ext cx="1557093" cy="666914"/>
              </a:xfrm>
              <a:prstGeom prst="rect">
                <a:avLst/>
              </a:prstGeom>
              <a:blipFill>
                <a:blip r:embed="rId4"/>
                <a:stretch>
                  <a:fillRect/>
                </a:stretch>
              </a:blipFill>
            </p:spPr>
            <p:txBody>
              <a:bodyPr/>
              <a:lstStyle/>
              <a:p>
                <a:r>
                  <a:rPr lang="en-US">
                    <a:noFill/>
                  </a:rPr>
                  <a:t> </a:t>
                </a:r>
              </a:p>
            </p:txBody>
          </p:sp>
        </mc:Fallback>
      </mc:AlternateContent>
      <p:sp>
        <p:nvSpPr>
          <p:cNvPr id="62" name="14 CuadroTexto"/>
          <p:cNvSpPr txBox="1"/>
          <p:nvPr/>
        </p:nvSpPr>
        <p:spPr>
          <a:xfrm>
            <a:off x="6876256" y="2492896"/>
            <a:ext cx="2218600"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Este cociente puede no resultar entero…</a:t>
            </a:r>
            <a:endParaRPr lang="es-AR" sz="1600" baseline="30000" dirty="0" smtClean="0"/>
          </a:p>
        </p:txBody>
      </p:sp>
      <p:sp>
        <p:nvSpPr>
          <p:cNvPr id="63" name="6 Rectángulo"/>
          <p:cNvSpPr/>
          <p:nvPr/>
        </p:nvSpPr>
        <p:spPr>
          <a:xfrm>
            <a:off x="395536" y="2780928"/>
            <a:ext cx="2559290" cy="369332"/>
          </a:xfrm>
          <a:prstGeom prst="rect">
            <a:avLst/>
          </a:prstGeom>
        </p:spPr>
        <p:txBody>
          <a:bodyPr wrap="none">
            <a:spAutoFit/>
          </a:bodyPr>
          <a:lstStyle/>
          <a:p>
            <a:r>
              <a:rPr lang="es-AR" dirty="0" smtClean="0"/>
              <a:t>Entonces, puedo adoptar:</a:t>
            </a:r>
            <a:endParaRPr lang="es-AR" dirty="0"/>
          </a:p>
        </p:txBody>
      </p:sp>
      <mc:AlternateContent xmlns:mc="http://schemas.openxmlformats.org/markup-compatibility/2006" xmlns:a14="http://schemas.microsoft.com/office/drawing/2010/main">
        <mc:Choice Requires="a14">
          <p:sp>
            <p:nvSpPr>
              <p:cNvPr id="64" name="Rectángulo 63"/>
              <p:cNvSpPr/>
              <p:nvPr/>
            </p:nvSpPr>
            <p:spPr>
              <a:xfrm>
                <a:off x="251520" y="3501008"/>
                <a:ext cx="2686954" cy="533864"/>
              </a:xfrm>
              <a:prstGeom prst="rect">
                <a:avLst/>
              </a:prstGeom>
            </p:spPr>
            <p:txBody>
              <a:bodyPr wrap="none">
                <a:spAutoFit/>
              </a:bodyPr>
              <a:lstStyle/>
              <a:p>
                <a14:m>
                  <m:oMath xmlns:m="http://schemas.openxmlformats.org/officeDocument/2006/math">
                    <m:r>
                      <a:rPr lang="es-AR" b="0" i="1" smtClean="0">
                        <a:latin typeface="Cambria Math" panose="02040503050406030204" pitchFamily="18" charset="0"/>
                      </a:rPr>
                      <m:t>−</m:t>
                    </m:r>
                    <m:f>
                      <m:fPr>
                        <m:ctrlPr>
                          <a:rPr lang="es-AR" b="0" i="1" smtClean="0">
                            <a:latin typeface="Cambria Math" panose="02040503050406030204" pitchFamily="18" charset="0"/>
                          </a:rPr>
                        </m:ctrlPr>
                      </m:fPr>
                      <m:num>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sSub>
                              <m:sSubPr>
                                <m:ctrlPr>
                                  <a:rPr lang="en-US"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𝑖</m:t>
                                </m:r>
                              </m:sub>
                            </m:sSub>
                          </m:e>
                        </m:func>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r>
                      <a:rPr lang="es-AR"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s-AR" i="1">
                            <a:latin typeface="Cambria Math" panose="02040503050406030204" pitchFamily="18" charset="0"/>
                          </a:rPr>
                          <m:t>𝑙</m:t>
                        </m:r>
                      </m:e>
                      <m:sub>
                        <m:r>
                          <a:rPr lang="es-AR" i="1">
                            <a:latin typeface="Cambria Math" panose="02040503050406030204" pitchFamily="18" charset="0"/>
                          </a:rPr>
                          <m:t>𝑖</m:t>
                        </m:r>
                      </m:sub>
                    </m:sSub>
                    <m:r>
                      <a:rPr lang="en-US" dirty="0">
                        <a:latin typeface="Cambria Math" panose="02040503050406030204" pitchFamily="18" charset="0"/>
                        <a:ea typeface="Cambria Math" panose="02040503050406030204" pitchFamily="18" charset="0"/>
                      </a:rPr>
                      <m:t>&lt;</m:t>
                    </m:r>
                    <m:r>
                      <a:rPr lang="es-AR" i="1">
                        <a:latin typeface="Cambria Math" panose="02040503050406030204" pitchFamily="18" charset="0"/>
                      </a:rPr>
                      <m:t>−</m:t>
                    </m:r>
                    <m:f>
                      <m:fPr>
                        <m:ctrlPr>
                          <a:rPr lang="es-AR" i="1">
                            <a:latin typeface="Cambria Math" panose="02040503050406030204" pitchFamily="18" charset="0"/>
                          </a:rPr>
                        </m:ctrlPr>
                      </m:fPr>
                      <m:num>
                        <m:func>
                          <m:funcPr>
                            <m:ctrlPr>
                              <a:rPr lang="es-AR" i="1">
                                <a:latin typeface="Cambria Math" panose="02040503050406030204" pitchFamily="18" charset="0"/>
                              </a:rPr>
                            </m:ctrlPr>
                          </m:funcPr>
                          <m:fName>
                            <m:sSub>
                              <m:sSubPr>
                                <m:ctrlPr>
                                  <a:rPr lang="es-AR" i="1">
                                    <a:latin typeface="Cambria Math" panose="02040503050406030204" pitchFamily="18" charset="0"/>
                                  </a:rPr>
                                </m:ctrlPr>
                              </m:sSubPr>
                              <m:e>
                                <m:r>
                                  <m:rPr>
                                    <m:sty m:val="p"/>
                                  </m:rPr>
                                  <a:rPr lang="es-AR">
                                    <a:latin typeface="Cambria Math" panose="02040503050406030204" pitchFamily="18" charset="0"/>
                                  </a:rPr>
                                  <m:t>log</m:t>
                                </m:r>
                              </m:e>
                              <m:sub>
                                <m:r>
                                  <a:rPr lang="es-AR" i="1">
                                    <a:latin typeface="Cambria Math" panose="02040503050406030204" pitchFamily="18" charset="0"/>
                                  </a:rPr>
                                  <m:t>2</m:t>
                                </m:r>
                              </m:sub>
                            </m:sSub>
                          </m:fName>
                          <m:e>
                            <m:sSub>
                              <m:sSubPr>
                                <m:ctrlPr>
                                  <a:rPr lang="en-US"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𝑖</m:t>
                                </m:r>
                              </m:sub>
                            </m:sSub>
                          </m:e>
                        </m:func>
                      </m:num>
                      <m:den>
                        <m:func>
                          <m:funcPr>
                            <m:ctrlPr>
                              <a:rPr lang="es-AR" i="1">
                                <a:latin typeface="Cambria Math" panose="02040503050406030204" pitchFamily="18" charset="0"/>
                              </a:rPr>
                            </m:ctrlPr>
                          </m:funcPr>
                          <m:fName>
                            <m:sSub>
                              <m:sSubPr>
                                <m:ctrlPr>
                                  <a:rPr lang="es-AR" i="1">
                                    <a:latin typeface="Cambria Math" panose="02040503050406030204" pitchFamily="18" charset="0"/>
                                  </a:rPr>
                                </m:ctrlPr>
                              </m:sSubPr>
                              <m:e>
                                <m:r>
                                  <m:rPr>
                                    <m:sty m:val="p"/>
                                  </m:rPr>
                                  <a:rPr lang="es-AR">
                                    <a:latin typeface="Cambria Math" panose="02040503050406030204" pitchFamily="18" charset="0"/>
                                  </a:rPr>
                                  <m:t>log</m:t>
                                </m:r>
                              </m:e>
                              <m:sub>
                                <m:r>
                                  <a:rPr lang="es-AR" i="1">
                                    <a:latin typeface="Cambria Math" panose="02040503050406030204" pitchFamily="18" charset="0"/>
                                  </a:rPr>
                                  <m:t>2</m:t>
                                </m:r>
                              </m:sub>
                            </m:sSub>
                          </m:fName>
                          <m:e>
                            <m:r>
                              <a:rPr lang="es-AR" i="1">
                                <a:latin typeface="Cambria Math" panose="02040503050406030204" pitchFamily="18" charset="0"/>
                              </a:rPr>
                              <m:t>𝑟</m:t>
                            </m:r>
                          </m:e>
                        </m:func>
                      </m:den>
                    </m:f>
                  </m:oMath>
                </a14:m>
                <a:r>
                  <a:rPr lang="en-US" dirty="0" smtClean="0"/>
                  <a:t>+1</a:t>
                </a:r>
                <a:endParaRPr lang="en-US" dirty="0"/>
              </a:p>
            </p:txBody>
          </p:sp>
        </mc:Choice>
        <mc:Fallback xmlns="">
          <p:sp>
            <p:nvSpPr>
              <p:cNvPr id="64" name="Rectángulo 63"/>
              <p:cNvSpPr>
                <a:spLocks noRot="1" noChangeAspect="1" noMove="1" noResize="1" noEditPoints="1" noAdjustHandles="1" noChangeArrowheads="1" noChangeShapeType="1" noTextEdit="1"/>
              </p:cNvSpPr>
              <p:nvPr/>
            </p:nvSpPr>
            <p:spPr>
              <a:xfrm>
                <a:off x="251520" y="3501008"/>
                <a:ext cx="2686954" cy="533864"/>
              </a:xfrm>
              <a:prstGeom prst="rect">
                <a:avLst/>
              </a:prstGeom>
              <a:blipFill>
                <a:blip r:embed="rId5"/>
                <a:stretch>
                  <a:fillRect r="-1134" b="-5682"/>
                </a:stretch>
              </a:blipFill>
            </p:spPr>
            <p:txBody>
              <a:bodyPr/>
              <a:lstStyle/>
              <a:p>
                <a:r>
                  <a:rPr lang="en-US">
                    <a:noFill/>
                  </a:rPr>
                  <a:t> </a:t>
                </a:r>
              </a:p>
            </p:txBody>
          </p:sp>
        </mc:Fallback>
      </mc:AlternateContent>
      <p:sp>
        <p:nvSpPr>
          <p:cNvPr id="65" name="6 Rectángulo"/>
          <p:cNvSpPr/>
          <p:nvPr/>
        </p:nvSpPr>
        <p:spPr>
          <a:xfrm>
            <a:off x="3319338" y="3598663"/>
            <a:ext cx="1109599" cy="338554"/>
          </a:xfrm>
          <a:prstGeom prst="rect">
            <a:avLst/>
          </a:prstGeom>
        </p:spPr>
        <p:txBody>
          <a:bodyPr wrap="none">
            <a:spAutoFit/>
          </a:bodyPr>
          <a:lstStyle/>
          <a:p>
            <a:r>
              <a:rPr lang="es-AR" sz="1600" dirty="0" smtClean="0"/>
              <a:t>Resultando</a:t>
            </a:r>
            <a:endParaRPr lang="es-AR" sz="1600" dirty="0"/>
          </a:p>
        </p:txBody>
      </p:sp>
      <mc:AlternateContent xmlns:mc="http://schemas.openxmlformats.org/markup-compatibility/2006" xmlns:a14="http://schemas.microsoft.com/office/drawing/2010/main">
        <mc:Choice Requires="a14">
          <p:sp>
            <p:nvSpPr>
              <p:cNvPr id="66" name="Rectángulo 65"/>
              <p:cNvSpPr/>
              <p:nvPr/>
            </p:nvSpPr>
            <p:spPr>
              <a:xfrm>
                <a:off x="4614017" y="3501841"/>
                <a:ext cx="2107180" cy="533031"/>
              </a:xfrm>
              <a:prstGeom prst="rect">
                <a:avLst/>
              </a:prstGeom>
            </p:spPr>
            <p:txBody>
              <a:bodyPr wrap="none">
                <a:spAutoFit/>
              </a:bodyPr>
              <a:lstStyle/>
              <a:p>
                <a14:m>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𝐻</m:t>
                        </m:r>
                        <m:r>
                          <a:rPr lang="es-AR" b="0" i="1" smtClean="0">
                            <a:latin typeface="Cambria Math" panose="02040503050406030204" pitchFamily="18" charset="0"/>
                          </a:rPr>
                          <m:t>(</m:t>
                        </m:r>
                        <m:r>
                          <a:rPr lang="es-AR" b="0" i="1" smtClean="0">
                            <a:latin typeface="Cambria Math" panose="02040503050406030204" pitchFamily="18" charset="0"/>
                          </a:rPr>
                          <m:t>𝑆</m:t>
                        </m:r>
                        <m:r>
                          <a:rPr lang="es-AR" b="0" i="1" smtClean="0">
                            <a:latin typeface="Cambria Math" panose="02040503050406030204" pitchFamily="18" charset="0"/>
                          </a:rPr>
                          <m:t>)</m:t>
                        </m:r>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r>
                      <a:rPr lang="en-US">
                        <a:latin typeface="Cambria Math" panose="02040503050406030204" pitchFamily="18" charset="0"/>
                      </a:rPr>
                      <m:t>≤</m:t>
                    </m:r>
                    <m:bar>
                      <m:barPr>
                        <m:pos m:val="top"/>
                        <m:ctrlPr>
                          <a:rPr lang="en-US" i="1" smtClean="0">
                            <a:latin typeface="Cambria Math" panose="02040503050406030204" pitchFamily="18" charset="0"/>
                          </a:rPr>
                        </m:ctrlPr>
                      </m:barPr>
                      <m:e>
                        <m:r>
                          <a:rPr lang="es-AR" b="0" i="1" smtClean="0">
                            <a:latin typeface="Cambria Math" panose="02040503050406030204" pitchFamily="18" charset="0"/>
                          </a:rPr>
                          <m:t>𝐿</m:t>
                        </m:r>
                      </m:e>
                    </m:bar>
                    <m:r>
                      <a:rPr lang="es-AR" b="0" i="1" smtClean="0">
                        <a:latin typeface="Cambria Math" panose="02040503050406030204" pitchFamily="18" charset="0"/>
                        <a:ea typeface="Cambria Math" panose="02040503050406030204" pitchFamily="18" charset="0"/>
                      </a:rPr>
                      <m:t>&lt;</m:t>
                    </m:r>
                    <m:f>
                      <m:fPr>
                        <m:ctrlPr>
                          <a:rPr lang="es-AR" i="1">
                            <a:latin typeface="Cambria Math" panose="02040503050406030204" pitchFamily="18" charset="0"/>
                          </a:rPr>
                        </m:ctrlPr>
                      </m:fPr>
                      <m:num>
                        <m:r>
                          <a:rPr lang="es-AR" i="1">
                            <a:latin typeface="Cambria Math" panose="02040503050406030204" pitchFamily="18" charset="0"/>
                          </a:rPr>
                          <m:t>𝐻</m:t>
                        </m:r>
                        <m:r>
                          <a:rPr lang="es-AR" i="1">
                            <a:latin typeface="Cambria Math" panose="02040503050406030204" pitchFamily="18" charset="0"/>
                          </a:rPr>
                          <m:t>(</m:t>
                        </m:r>
                        <m:r>
                          <a:rPr lang="es-AR" i="1">
                            <a:latin typeface="Cambria Math" panose="02040503050406030204" pitchFamily="18" charset="0"/>
                          </a:rPr>
                          <m:t>𝑆</m:t>
                        </m:r>
                        <m:r>
                          <a:rPr lang="es-AR" i="1">
                            <a:latin typeface="Cambria Math" panose="02040503050406030204" pitchFamily="18" charset="0"/>
                          </a:rPr>
                          <m:t>)</m:t>
                        </m:r>
                      </m:num>
                      <m:den>
                        <m:func>
                          <m:funcPr>
                            <m:ctrlPr>
                              <a:rPr lang="es-AR" i="1">
                                <a:latin typeface="Cambria Math" panose="02040503050406030204" pitchFamily="18" charset="0"/>
                              </a:rPr>
                            </m:ctrlPr>
                          </m:funcPr>
                          <m:fName>
                            <m:sSub>
                              <m:sSubPr>
                                <m:ctrlPr>
                                  <a:rPr lang="es-AR" i="1">
                                    <a:latin typeface="Cambria Math" panose="02040503050406030204" pitchFamily="18" charset="0"/>
                                  </a:rPr>
                                </m:ctrlPr>
                              </m:sSubPr>
                              <m:e>
                                <m:r>
                                  <m:rPr>
                                    <m:sty m:val="p"/>
                                  </m:rPr>
                                  <a:rPr lang="es-AR">
                                    <a:latin typeface="Cambria Math" panose="02040503050406030204" pitchFamily="18" charset="0"/>
                                  </a:rPr>
                                  <m:t>log</m:t>
                                </m:r>
                              </m:e>
                              <m:sub>
                                <m:r>
                                  <a:rPr lang="es-AR" i="1">
                                    <a:latin typeface="Cambria Math" panose="02040503050406030204" pitchFamily="18" charset="0"/>
                                  </a:rPr>
                                  <m:t>2</m:t>
                                </m:r>
                              </m:sub>
                            </m:sSub>
                          </m:fName>
                          <m:e>
                            <m:r>
                              <a:rPr lang="es-AR" i="1">
                                <a:latin typeface="Cambria Math" panose="02040503050406030204" pitchFamily="18" charset="0"/>
                              </a:rPr>
                              <m:t>𝑟</m:t>
                            </m:r>
                          </m:e>
                        </m:func>
                      </m:den>
                    </m:f>
                  </m:oMath>
                </a14:m>
                <a:r>
                  <a:rPr lang="en-US" dirty="0" smtClean="0"/>
                  <a:t>+1</a:t>
                </a:r>
                <a:endParaRPr lang="en-US" dirty="0"/>
              </a:p>
            </p:txBody>
          </p:sp>
        </mc:Choice>
        <mc:Fallback xmlns="">
          <p:sp>
            <p:nvSpPr>
              <p:cNvPr id="66" name="Rectángulo 65"/>
              <p:cNvSpPr>
                <a:spLocks noRot="1" noChangeAspect="1" noMove="1" noResize="1" noEditPoints="1" noAdjustHandles="1" noChangeArrowheads="1" noChangeShapeType="1" noTextEdit="1"/>
              </p:cNvSpPr>
              <p:nvPr/>
            </p:nvSpPr>
            <p:spPr>
              <a:xfrm>
                <a:off x="4614017" y="3501841"/>
                <a:ext cx="2107180" cy="533031"/>
              </a:xfrm>
              <a:prstGeom prst="rect">
                <a:avLst/>
              </a:prstGeom>
              <a:blipFill>
                <a:blip r:embed="rId6"/>
                <a:stretch>
                  <a:fillRect r="-1445" b="-56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6 Rectángulo"/>
              <p:cNvSpPr/>
              <p:nvPr/>
            </p:nvSpPr>
            <p:spPr>
              <a:xfrm>
                <a:off x="395536" y="4653136"/>
                <a:ext cx="7868244" cy="400110"/>
              </a:xfrm>
              <a:prstGeom prst="rect">
                <a:avLst/>
              </a:prstGeom>
            </p:spPr>
            <p:txBody>
              <a:bodyPr wrap="none">
                <a:spAutoFit/>
              </a:bodyPr>
              <a:lstStyle/>
              <a:p>
                <a:r>
                  <a:rPr lang="es-AR" dirty="0" smtClean="0"/>
                  <a:t>Y si se adopta la extensión n-</a:t>
                </a:r>
                <a:r>
                  <a:rPr lang="es-AR" dirty="0" err="1" smtClean="0"/>
                  <a:t>ésima</a:t>
                </a:r>
                <a:r>
                  <a:rPr lang="es-AR" dirty="0" smtClean="0"/>
                  <a:t> de la fuente, con longitud media de palabra </a:t>
                </a:r>
                <a14:m>
                  <m:oMath xmlns:m="http://schemas.openxmlformats.org/officeDocument/2006/math">
                    <m:sSub>
                      <m:sSubPr>
                        <m:ctrlPr>
                          <a:rPr lang="en-US" i="1">
                            <a:latin typeface="Cambria Math" panose="02040503050406030204" pitchFamily="18" charset="0"/>
                          </a:rPr>
                        </m:ctrlPr>
                      </m:sSubPr>
                      <m:e>
                        <m:bar>
                          <m:barPr>
                            <m:pos m:val="top"/>
                            <m:ctrlPr>
                              <a:rPr lang="en-US" i="1">
                                <a:latin typeface="Cambria Math" panose="02040503050406030204" pitchFamily="18" charset="0"/>
                              </a:rPr>
                            </m:ctrlPr>
                          </m:barPr>
                          <m:e>
                            <m:r>
                              <a:rPr lang="es-AR" i="1">
                                <a:latin typeface="Cambria Math" panose="02040503050406030204" pitchFamily="18" charset="0"/>
                              </a:rPr>
                              <m:t>𝐿</m:t>
                            </m:r>
                          </m:e>
                        </m:bar>
                      </m:e>
                      <m:sub>
                        <m:r>
                          <a:rPr lang="es-AR" i="1">
                            <a:latin typeface="Cambria Math" panose="02040503050406030204" pitchFamily="18" charset="0"/>
                          </a:rPr>
                          <m:t>𝑛</m:t>
                        </m:r>
                      </m:sub>
                    </m:sSub>
                  </m:oMath>
                </a14:m>
                <a:r>
                  <a:rPr lang="es-AR" dirty="0" smtClean="0"/>
                  <a:t>:</a:t>
                </a:r>
                <a:endParaRPr lang="es-AR" dirty="0"/>
              </a:p>
            </p:txBody>
          </p:sp>
        </mc:Choice>
        <mc:Fallback xmlns="">
          <p:sp>
            <p:nvSpPr>
              <p:cNvPr id="67" name="6 Rectángulo"/>
              <p:cNvSpPr>
                <a:spLocks noRot="1" noChangeAspect="1" noMove="1" noResize="1" noEditPoints="1" noAdjustHandles="1" noChangeArrowheads="1" noChangeShapeType="1" noTextEdit="1"/>
              </p:cNvSpPr>
              <p:nvPr/>
            </p:nvSpPr>
            <p:spPr>
              <a:xfrm>
                <a:off x="395536" y="4653136"/>
                <a:ext cx="7868244" cy="400110"/>
              </a:xfrm>
              <a:prstGeom prst="rect">
                <a:avLst/>
              </a:prstGeom>
              <a:blipFill>
                <a:blip r:embed="rId7"/>
                <a:stretch>
                  <a:fillRect l="-697" b="-2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ángulo 67"/>
              <p:cNvSpPr/>
              <p:nvPr/>
            </p:nvSpPr>
            <p:spPr>
              <a:xfrm>
                <a:off x="323528" y="5416249"/>
                <a:ext cx="2717860" cy="7283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𝐻</m:t>
                          </m:r>
                          <m:r>
                            <a:rPr lang="es-AR" b="0" i="1" smtClean="0">
                              <a:latin typeface="Cambria Math" panose="02040503050406030204" pitchFamily="18" charset="0"/>
                            </a:rPr>
                            <m:t>(</m:t>
                          </m:r>
                          <m:r>
                            <a:rPr lang="es-AR" b="0" i="1" smtClean="0">
                              <a:latin typeface="Cambria Math" panose="02040503050406030204" pitchFamily="18" charset="0"/>
                            </a:rPr>
                            <m:t>𝑆</m:t>
                          </m:r>
                          <m:r>
                            <a:rPr lang="es-AR" b="0" i="1" smtClean="0">
                              <a:latin typeface="Cambria Math" panose="02040503050406030204" pitchFamily="18" charset="0"/>
                            </a:rPr>
                            <m:t>)</m:t>
                          </m:r>
                        </m:num>
                        <m:den>
                          <m:func>
                            <m:funcPr>
                              <m:ctrlPr>
                                <a:rPr lang="es-AR" b="0" i="1" smtClean="0">
                                  <a:latin typeface="Cambria Math" panose="02040503050406030204" pitchFamily="18" charset="0"/>
                                </a:rPr>
                              </m:ctrlPr>
                            </m:funcPr>
                            <m:fName>
                              <m:sSub>
                                <m:sSubPr>
                                  <m:ctrlPr>
                                    <a:rPr lang="es-AR" b="0" i="1" smtClean="0">
                                      <a:latin typeface="Cambria Math" panose="02040503050406030204" pitchFamily="18" charset="0"/>
                                    </a:rPr>
                                  </m:ctrlPr>
                                </m:sSubPr>
                                <m:e>
                                  <m:r>
                                    <m:rPr>
                                      <m:sty m:val="p"/>
                                    </m:rPr>
                                    <a:rPr lang="es-AR" b="0" i="0" smtClean="0">
                                      <a:latin typeface="Cambria Math" panose="02040503050406030204" pitchFamily="18" charset="0"/>
                                    </a:rPr>
                                    <m:t>log</m:t>
                                  </m:r>
                                </m:e>
                                <m:sub>
                                  <m:r>
                                    <a:rPr lang="es-AR" b="0" i="1" smtClean="0">
                                      <a:latin typeface="Cambria Math" panose="02040503050406030204" pitchFamily="18" charset="0"/>
                                    </a:rPr>
                                    <m:t>2</m:t>
                                  </m:r>
                                </m:sub>
                              </m:sSub>
                            </m:fName>
                            <m:e>
                              <m:r>
                                <a:rPr lang="es-AR" b="0" i="1" smtClean="0">
                                  <a:latin typeface="Cambria Math" panose="02040503050406030204" pitchFamily="18" charset="0"/>
                                </a:rPr>
                                <m:t>𝑟</m:t>
                              </m:r>
                            </m:e>
                          </m:func>
                        </m:den>
                      </m:f>
                      <m:r>
                        <a:rPr lang="en-US">
                          <a:latin typeface="Cambria Math" panose="02040503050406030204" pitchFamily="18" charset="0"/>
                        </a:rPr>
                        <m:t>≤</m:t>
                      </m:r>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bar>
                                <m:barPr>
                                  <m:pos m:val="top"/>
                                  <m:ctrlPr>
                                    <a:rPr lang="en-US" i="1">
                                      <a:latin typeface="Cambria Math" panose="02040503050406030204" pitchFamily="18" charset="0"/>
                                    </a:rPr>
                                  </m:ctrlPr>
                                </m:barPr>
                                <m:e>
                                  <m:r>
                                    <a:rPr lang="es-AR" i="1">
                                      <a:latin typeface="Cambria Math" panose="02040503050406030204" pitchFamily="18" charset="0"/>
                                    </a:rPr>
                                    <m:t>𝐿</m:t>
                                  </m:r>
                                </m:e>
                              </m:bar>
                            </m:e>
                            <m:sub>
                              <m:r>
                                <a:rPr lang="es-AR" b="0" i="1" smtClean="0">
                                  <a:latin typeface="Cambria Math" panose="02040503050406030204" pitchFamily="18" charset="0"/>
                                </a:rPr>
                                <m:t>𝑛</m:t>
                              </m:r>
                            </m:sub>
                          </m:sSub>
                        </m:num>
                        <m:den>
                          <m:r>
                            <a:rPr lang="es-AR" b="0" i="1" smtClean="0">
                              <a:latin typeface="Cambria Math" panose="02040503050406030204" pitchFamily="18" charset="0"/>
                            </a:rPr>
                            <m:t>𝑛</m:t>
                          </m:r>
                        </m:den>
                      </m:f>
                      <m:r>
                        <a:rPr lang="es-AR" b="0" i="1" smtClean="0">
                          <a:latin typeface="Cambria Math" panose="02040503050406030204" pitchFamily="18" charset="0"/>
                          <a:ea typeface="Cambria Math" panose="02040503050406030204" pitchFamily="18" charset="0"/>
                        </a:rPr>
                        <m:t>&lt;</m:t>
                      </m:r>
                      <m:f>
                        <m:fPr>
                          <m:ctrlPr>
                            <a:rPr lang="es-AR" i="1">
                              <a:latin typeface="Cambria Math" panose="02040503050406030204" pitchFamily="18" charset="0"/>
                            </a:rPr>
                          </m:ctrlPr>
                        </m:fPr>
                        <m:num>
                          <m:r>
                            <a:rPr lang="es-AR" i="1">
                              <a:latin typeface="Cambria Math" panose="02040503050406030204" pitchFamily="18" charset="0"/>
                            </a:rPr>
                            <m:t>𝐻</m:t>
                          </m:r>
                          <m:d>
                            <m:dPr>
                              <m:ctrlPr>
                                <a:rPr lang="es-AR" i="1">
                                  <a:latin typeface="Cambria Math" panose="02040503050406030204" pitchFamily="18" charset="0"/>
                                </a:rPr>
                              </m:ctrlPr>
                            </m:dPr>
                            <m:e>
                              <m:r>
                                <a:rPr lang="es-AR" i="1">
                                  <a:latin typeface="Cambria Math" panose="02040503050406030204" pitchFamily="18" charset="0"/>
                                </a:rPr>
                                <m:t>𝑆</m:t>
                              </m:r>
                            </m:e>
                          </m:d>
                        </m:num>
                        <m:den>
                          <m:func>
                            <m:funcPr>
                              <m:ctrlPr>
                                <a:rPr lang="es-AR" i="1">
                                  <a:latin typeface="Cambria Math" panose="02040503050406030204" pitchFamily="18" charset="0"/>
                                </a:rPr>
                              </m:ctrlPr>
                            </m:funcPr>
                            <m:fName>
                              <m:sSub>
                                <m:sSubPr>
                                  <m:ctrlPr>
                                    <a:rPr lang="es-AR" i="1">
                                      <a:latin typeface="Cambria Math" panose="02040503050406030204" pitchFamily="18" charset="0"/>
                                    </a:rPr>
                                  </m:ctrlPr>
                                </m:sSubPr>
                                <m:e>
                                  <m:r>
                                    <m:rPr>
                                      <m:sty m:val="p"/>
                                    </m:rPr>
                                    <a:rPr lang="es-AR">
                                      <a:latin typeface="Cambria Math" panose="02040503050406030204" pitchFamily="18" charset="0"/>
                                    </a:rPr>
                                    <m:t>log</m:t>
                                  </m:r>
                                </m:e>
                                <m:sub>
                                  <m:r>
                                    <a:rPr lang="es-AR" i="1">
                                      <a:latin typeface="Cambria Math" panose="02040503050406030204" pitchFamily="18" charset="0"/>
                                    </a:rPr>
                                    <m:t>2</m:t>
                                  </m:r>
                                </m:sub>
                              </m:sSub>
                            </m:fName>
                            <m:e>
                              <m:r>
                                <a:rPr lang="es-AR" i="1">
                                  <a:latin typeface="Cambria Math" panose="02040503050406030204" pitchFamily="18" charset="0"/>
                                </a:rPr>
                                <m:t>𝑟</m:t>
                              </m:r>
                            </m:e>
                          </m:func>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1</m:t>
                          </m:r>
                        </m:num>
                        <m:den>
                          <m:r>
                            <a:rPr lang="es-AR" b="0" i="1" smtClean="0">
                              <a:latin typeface="Cambria Math" panose="02040503050406030204" pitchFamily="18" charset="0"/>
                            </a:rPr>
                            <m:t>𝑛</m:t>
                          </m:r>
                        </m:den>
                      </m:f>
                    </m:oMath>
                  </m:oMathPara>
                </a14:m>
                <a:endParaRPr lang="en-US" dirty="0"/>
              </a:p>
            </p:txBody>
          </p:sp>
        </mc:Choice>
        <mc:Fallback xmlns="">
          <p:sp>
            <p:nvSpPr>
              <p:cNvPr id="68" name="Rectángulo 67"/>
              <p:cNvSpPr>
                <a:spLocks noRot="1" noChangeAspect="1" noMove="1" noResize="1" noEditPoints="1" noAdjustHandles="1" noChangeArrowheads="1" noChangeShapeType="1" noTextEdit="1"/>
              </p:cNvSpPr>
              <p:nvPr/>
            </p:nvSpPr>
            <p:spPr>
              <a:xfrm>
                <a:off x="323528" y="5416249"/>
                <a:ext cx="2717860" cy="728341"/>
              </a:xfrm>
              <a:prstGeom prst="rect">
                <a:avLst/>
              </a:prstGeom>
              <a:blipFill>
                <a:blip r:embed="rId8"/>
                <a:stretch>
                  <a:fillRect/>
                </a:stretch>
              </a:blipFill>
            </p:spPr>
            <p:txBody>
              <a:bodyPr/>
              <a:lstStyle/>
              <a:p>
                <a:r>
                  <a:rPr lang="en-US">
                    <a:noFill/>
                  </a:rPr>
                  <a:t> </a:t>
                </a:r>
              </a:p>
            </p:txBody>
          </p:sp>
        </mc:Fallback>
      </mc:AlternateContent>
      <p:sp>
        <p:nvSpPr>
          <p:cNvPr id="69" name="6 Rectángulo"/>
          <p:cNvSpPr/>
          <p:nvPr/>
        </p:nvSpPr>
        <p:spPr>
          <a:xfrm>
            <a:off x="3318385" y="5610726"/>
            <a:ext cx="1109599" cy="338554"/>
          </a:xfrm>
          <a:prstGeom prst="rect">
            <a:avLst/>
          </a:prstGeom>
        </p:spPr>
        <p:txBody>
          <a:bodyPr wrap="none">
            <a:spAutoFit/>
          </a:bodyPr>
          <a:lstStyle/>
          <a:p>
            <a:r>
              <a:rPr lang="es-AR" sz="1600" dirty="0" smtClean="0"/>
              <a:t>Resultando</a:t>
            </a:r>
            <a:endParaRPr lang="es-AR" sz="1600" dirty="0"/>
          </a:p>
        </p:txBody>
      </p:sp>
      <mc:AlternateContent xmlns:mc="http://schemas.openxmlformats.org/markup-compatibility/2006" xmlns:a14="http://schemas.microsoft.com/office/drawing/2010/main">
        <mc:Choice Requires="a14">
          <p:sp>
            <p:nvSpPr>
              <p:cNvPr id="3" name="Rectángulo 2"/>
              <p:cNvSpPr/>
              <p:nvPr/>
            </p:nvSpPr>
            <p:spPr>
              <a:xfrm>
                <a:off x="4427984" y="5336618"/>
                <a:ext cx="1783373" cy="7283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s-AR" i="1" smtClean="0">
                              <a:latin typeface="Cambria Math" panose="02040503050406030204" pitchFamily="18" charset="0"/>
                            </a:rPr>
                          </m:ctrlPr>
                        </m:funcPr>
                        <m:fName>
                          <m:limLow>
                            <m:limLowPr>
                              <m:ctrlPr>
                                <a:rPr lang="es-AR" i="1" smtClean="0">
                                  <a:latin typeface="Cambria Math" panose="02040503050406030204" pitchFamily="18" charset="0"/>
                                </a:rPr>
                              </m:ctrlPr>
                            </m:limLowPr>
                            <m:e>
                              <m:r>
                                <m:rPr>
                                  <m:sty m:val="p"/>
                                </m:rPr>
                                <a:rPr lang="es-AR" i="0" smtClean="0">
                                  <a:latin typeface="Cambria Math" panose="02040503050406030204" pitchFamily="18" charset="0"/>
                                </a:rPr>
                                <m:t>lim</m:t>
                              </m:r>
                            </m:e>
                            <m:lim>
                              <m:r>
                                <a:rPr lang="es-AR" b="0" i="1" smtClean="0">
                                  <a:latin typeface="Cambria Math" panose="02040503050406030204" pitchFamily="18" charset="0"/>
                                </a:rPr>
                                <m:t>𝑛</m:t>
                              </m:r>
                              <m:r>
                                <a:rPr lang="es-AR" b="0" i="1" smtClean="0">
                                  <a:latin typeface="Cambria Math" panose="02040503050406030204" pitchFamily="18" charset="0"/>
                                  <a:ea typeface="Cambria Math" panose="02040503050406030204" pitchFamily="18" charset="0"/>
                                </a:rPr>
                                <m:t>→∞</m:t>
                              </m:r>
                            </m:lim>
                          </m:limLow>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bar>
                                    <m:barPr>
                                      <m:pos m:val="top"/>
                                      <m:ctrlPr>
                                        <a:rPr lang="en-US" i="1">
                                          <a:latin typeface="Cambria Math" panose="02040503050406030204" pitchFamily="18" charset="0"/>
                                        </a:rPr>
                                      </m:ctrlPr>
                                    </m:barPr>
                                    <m:e>
                                      <m:r>
                                        <a:rPr lang="es-AR" i="1">
                                          <a:latin typeface="Cambria Math" panose="02040503050406030204" pitchFamily="18" charset="0"/>
                                        </a:rPr>
                                        <m:t>𝐿</m:t>
                                      </m:r>
                                    </m:e>
                                  </m:bar>
                                </m:e>
                                <m:sub>
                                  <m:r>
                                    <a:rPr lang="es-AR" i="1">
                                      <a:latin typeface="Cambria Math" panose="02040503050406030204" pitchFamily="18" charset="0"/>
                                    </a:rPr>
                                    <m:t>𝑛</m:t>
                                  </m:r>
                                </m:sub>
                              </m:sSub>
                            </m:num>
                            <m:den>
                              <m:r>
                                <a:rPr lang="es-AR" i="1">
                                  <a:latin typeface="Cambria Math" panose="02040503050406030204" pitchFamily="18" charset="0"/>
                                </a:rPr>
                                <m:t>𝑛</m:t>
                              </m:r>
                            </m:den>
                          </m:f>
                          <m:r>
                            <a:rPr lang="es-AR" b="0" i="1" smtClean="0">
                              <a:latin typeface="Cambria Math" panose="02040503050406030204" pitchFamily="18" charset="0"/>
                            </a:rPr>
                            <m:t>=</m:t>
                          </m:r>
                        </m:e>
                      </m:func>
                      <m:f>
                        <m:fPr>
                          <m:ctrlPr>
                            <a:rPr lang="es-AR" i="1" smtClean="0">
                              <a:latin typeface="Cambria Math" panose="02040503050406030204" pitchFamily="18" charset="0"/>
                            </a:rPr>
                          </m:ctrlPr>
                        </m:fPr>
                        <m:num>
                          <m:r>
                            <a:rPr lang="es-AR" i="1">
                              <a:latin typeface="Cambria Math" panose="02040503050406030204" pitchFamily="18" charset="0"/>
                            </a:rPr>
                            <m:t>𝐻</m:t>
                          </m:r>
                          <m:d>
                            <m:dPr>
                              <m:ctrlPr>
                                <a:rPr lang="es-AR" i="1">
                                  <a:latin typeface="Cambria Math" panose="02040503050406030204" pitchFamily="18" charset="0"/>
                                </a:rPr>
                              </m:ctrlPr>
                            </m:dPr>
                            <m:e>
                              <m:r>
                                <a:rPr lang="es-AR" i="1">
                                  <a:latin typeface="Cambria Math" panose="02040503050406030204" pitchFamily="18" charset="0"/>
                                </a:rPr>
                                <m:t>𝑆</m:t>
                              </m:r>
                            </m:e>
                          </m:d>
                        </m:num>
                        <m:den>
                          <m:func>
                            <m:funcPr>
                              <m:ctrlPr>
                                <a:rPr lang="es-AR" i="1">
                                  <a:latin typeface="Cambria Math" panose="02040503050406030204" pitchFamily="18" charset="0"/>
                                </a:rPr>
                              </m:ctrlPr>
                            </m:funcPr>
                            <m:fName>
                              <m:sSub>
                                <m:sSubPr>
                                  <m:ctrlPr>
                                    <a:rPr lang="es-AR" i="1">
                                      <a:latin typeface="Cambria Math" panose="02040503050406030204" pitchFamily="18" charset="0"/>
                                    </a:rPr>
                                  </m:ctrlPr>
                                </m:sSubPr>
                                <m:e>
                                  <m:r>
                                    <m:rPr>
                                      <m:sty m:val="p"/>
                                    </m:rPr>
                                    <a:rPr lang="es-AR">
                                      <a:latin typeface="Cambria Math" panose="02040503050406030204" pitchFamily="18" charset="0"/>
                                    </a:rPr>
                                    <m:t>log</m:t>
                                  </m:r>
                                </m:e>
                                <m:sub>
                                  <m:r>
                                    <a:rPr lang="es-AR" i="1">
                                      <a:latin typeface="Cambria Math" panose="02040503050406030204" pitchFamily="18" charset="0"/>
                                    </a:rPr>
                                    <m:t>2</m:t>
                                  </m:r>
                                </m:sub>
                              </m:sSub>
                            </m:fName>
                            <m:e>
                              <m:r>
                                <a:rPr lang="es-AR" i="1">
                                  <a:latin typeface="Cambria Math" panose="02040503050406030204" pitchFamily="18" charset="0"/>
                                </a:rPr>
                                <m:t>𝑟</m:t>
                              </m:r>
                            </m:e>
                          </m:func>
                        </m:den>
                      </m:f>
                    </m:oMath>
                  </m:oMathPara>
                </a14:m>
                <a:endParaRPr lang="en-US" dirty="0"/>
              </a:p>
            </p:txBody>
          </p:sp>
        </mc:Choice>
        <mc:Fallback xmlns="">
          <p:sp>
            <p:nvSpPr>
              <p:cNvPr id="3" name="Rectángulo 2"/>
              <p:cNvSpPr>
                <a:spLocks noRot="1" noChangeAspect="1" noMove="1" noResize="1" noEditPoints="1" noAdjustHandles="1" noChangeArrowheads="1" noChangeShapeType="1" noTextEdit="1"/>
              </p:cNvSpPr>
              <p:nvPr/>
            </p:nvSpPr>
            <p:spPr>
              <a:xfrm>
                <a:off x="4427984" y="5336618"/>
                <a:ext cx="1783373" cy="728341"/>
              </a:xfrm>
              <a:prstGeom prst="rect">
                <a:avLst/>
              </a:prstGeom>
              <a:blipFill>
                <a:blip r:embed="rId9"/>
                <a:stretch>
                  <a:fillRect/>
                </a:stretch>
              </a:blipFill>
            </p:spPr>
            <p:txBody>
              <a:bodyPr/>
              <a:lstStyle/>
              <a:p>
                <a:r>
                  <a:rPr lang="en-US">
                    <a:noFill/>
                  </a:rPr>
                  <a:t> </a:t>
                </a:r>
              </a:p>
            </p:txBody>
          </p:sp>
        </mc:Fallback>
      </mc:AlternateContent>
      <p:sp>
        <p:nvSpPr>
          <p:cNvPr id="70" name="14 CuadroTexto"/>
          <p:cNvSpPr txBox="1"/>
          <p:nvPr/>
        </p:nvSpPr>
        <p:spPr>
          <a:xfrm>
            <a:off x="6647659" y="5320464"/>
            <a:ext cx="2218600" cy="83099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Logrando una longitud media más cercana a la mínima.</a:t>
            </a:r>
            <a:endParaRPr lang="es-AR" sz="1600" baseline="30000" dirty="0" smtClean="0"/>
          </a:p>
        </p:txBody>
      </p:sp>
    </p:spTree>
    <p:extLst>
      <p:ext uri="{BB962C8B-B14F-4D97-AF65-F5344CB8AC3E}">
        <p14:creationId xmlns:p14="http://schemas.microsoft.com/office/powerpoint/2010/main" val="41716219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29</a:t>
            </a:fld>
            <a:endParaRPr lang="es-ES"/>
          </a:p>
        </p:txBody>
      </p:sp>
      <p:pic>
        <p:nvPicPr>
          <p:cNvPr id="7" name="Imagen 6"/>
          <p:cNvPicPr>
            <a:picLocks noChangeAspect="1"/>
          </p:cNvPicPr>
          <p:nvPr/>
        </p:nvPicPr>
        <p:blipFill rotWithShape="1">
          <a:blip r:embed="rId2"/>
          <a:srcRect l="33463" t="43000" r="41338" b="42300"/>
          <a:stretch/>
        </p:blipFill>
        <p:spPr>
          <a:xfrm>
            <a:off x="3175084" y="1844824"/>
            <a:ext cx="2952328" cy="968733"/>
          </a:xfrm>
          <a:prstGeom prst="rect">
            <a:avLst/>
          </a:prstGeom>
        </p:spPr>
      </p:pic>
      <p:sp>
        <p:nvSpPr>
          <p:cNvPr id="22" name="2 Marcador de contenido"/>
          <p:cNvSpPr>
            <a:spLocks noGrp="1"/>
          </p:cNvSpPr>
          <p:nvPr>
            <p:ph sz="quarter" idx="1"/>
          </p:nvPr>
        </p:nvSpPr>
        <p:spPr>
          <a:xfrm>
            <a:off x="457200" y="1219200"/>
            <a:ext cx="8229600" cy="4937760"/>
          </a:xfrm>
        </p:spPr>
        <p:txBody>
          <a:bodyPr>
            <a:normAutofit fontScale="85000" lnSpcReduction="20000"/>
          </a:bodyPr>
          <a:lstStyle/>
          <a:p>
            <a:pPr marL="0" indent="0" algn="just">
              <a:buNone/>
            </a:pPr>
            <a:r>
              <a:rPr lang="es-AR" dirty="0" smtClean="0"/>
              <a:t>Sea la siguiente matriz de transiciones de un canal binario:</a:t>
            </a:r>
            <a:endParaRPr lang="es-AR"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endParaRPr lang="es-AR" sz="1800" dirty="0"/>
          </a:p>
          <a:p>
            <a:pPr marL="0" indent="0" algn="just">
              <a:buNone/>
            </a:pPr>
            <a:endParaRPr lang="es-AR" sz="1800" dirty="0" smtClean="0"/>
          </a:p>
          <a:p>
            <a:pPr marL="0" indent="0" algn="just">
              <a:buNone/>
            </a:pPr>
            <a:r>
              <a:rPr lang="es-AR" sz="2400" dirty="0" smtClean="0"/>
              <a:t>Obtener:</a:t>
            </a:r>
          </a:p>
          <a:p>
            <a:pPr marL="0" indent="0" algn="just">
              <a:buNone/>
            </a:pPr>
            <a:endParaRPr lang="es-AR" sz="1800" dirty="0"/>
          </a:p>
          <a:p>
            <a:pPr marL="514350" lvl="0" indent="-514350">
              <a:buFont typeface="+mj-lt"/>
              <a:buAutoNum type="arabicPeriod"/>
            </a:pPr>
            <a:r>
              <a:rPr lang="es-ES" sz="2300" dirty="0" smtClean="0"/>
              <a:t>La </a:t>
            </a:r>
            <a:r>
              <a:rPr lang="es-ES" sz="2300" dirty="0"/>
              <a:t>distribución de probabilidades de los símbolos de salida. </a:t>
            </a:r>
            <a:endParaRPr lang="es-AR" sz="2300" dirty="0"/>
          </a:p>
          <a:p>
            <a:pPr marL="514350" lvl="0" indent="-514350">
              <a:buFont typeface="+mj-lt"/>
              <a:buAutoNum type="arabicPeriod"/>
            </a:pPr>
            <a:r>
              <a:rPr lang="es-ES" sz="2300" dirty="0"/>
              <a:t>La entropía a priori de los símbolos a la entrada del canal, H(A). </a:t>
            </a:r>
            <a:endParaRPr lang="es-AR" sz="2300" dirty="0"/>
          </a:p>
          <a:p>
            <a:pPr marL="514350" lvl="0" indent="-514350">
              <a:buFont typeface="+mj-lt"/>
              <a:buAutoNum type="arabicPeriod"/>
            </a:pPr>
            <a:r>
              <a:rPr lang="es-ES" sz="2300" dirty="0"/>
              <a:t>La entropía a priori de los símbolos a la salida del canal, H(B). </a:t>
            </a:r>
            <a:endParaRPr lang="es-AR" sz="2300" dirty="0"/>
          </a:p>
          <a:p>
            <a:pPr marL="514350" lvl="0" indent="-514350">
              <a:buFont typeface="+mj-lt"/>
              <a:buAutoNum type="arabicPeriod"/>
            </a:pPr>
            <a:r>
              <a:rPr lang="es-ES" sz="2300" dirty="0"/>
              <a:t>Las probabilidades “hacia atrás”, p(</a:t>
            </a:r>
            <a:r>
              <a:rPr lang="es-ES" sz="2300" dirty="0" err="1"/>
              <a:t>a</a:t>
            </a:r>
            <a:r>
              <a:rPr lang="es-ES" sz="2300" baseline="-25000" dirty="0" err="1"/>
              <a:t>i</a:t>
            </a:r>
            <a:r>
              <a:rPr lang="es-ES" sz="2300" dirty="0"/>
              <a:t>/</a:t>
            </a:r>
            <a:r>
              <a:rPr lang="es-ES" sz="2300" dirty="0" err="1"/>
              <a:t>b</a:t>
            </a:r>
            <a:r>
              <a:rPr lang="es-ES" sz="2300" baseline="-25000" dirty="0" err="1"/>
              <a:t>j</a:t>
            </a:r>
            <a:r>
              <a:rPr lang="es-ES" sz="2300" dirty="0"/>
              <a:t>). </a:t>
            </a:r>
            <a:endParaRPr lang="es-AR" sz="2300" dirty="0"/>
          </a:p>
          <a:p>
            <a:pPr marL="514350" lvl="0" indent="-514350">
              <a:buFont typeface="+mj-lt"/>
              <a:buAutoNum type="arabicPeriod"/>
            </a:pPr>
            <a:r>
              <a:rPr lang="es-ES" sz="2300" dirty="0"/>
              <a:t>Las entropías a posteriori, H(A/B) y H(B/A). </a:t>
            </a:r>
            <a:endParaRPr lang="es-AR" sz="2300" dirty="0"/>
          </a:p>
          <a:p>
            <a:pPr marL="514350" lvl="0" indent="-514350">
              <a:buFont typeface="+mj-lt"/>
              <a:buAutoNum type="arabicPeriod"/>
            </a:pPr>
            <a:r>
              <a:rPr lang="es-ES" sz="2300" dirty="0"/>
              <a:t>La información mutua del canal, I(A,B).</a:t>
            </a:r>
            <a:endParaRPr lang="es-AR" sz="2300" dirty="0"/>
          </a:p>
          <a:p>
            <a:pPr marL="0" indent="0" algn="just">
              <a:buNone/>
            </a:pP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
        <p:nvSpPr>
          <p:cNvPr id="8" name="CuadroTexto 17"/>
          <p:cNvSpPr txBox="1"/>
          <p:nvPr/>
        </p:nvSpPr>
        <p:spPr>
          <a:xfrm>
            <a:off x="6167444" y="1844824"/>
            <a:ext cx="1716924" cy="400110"/>
          </a:xfrm>
          <a:prstGeom prst="rect">
            <a:avLst/>
          </a:prstGeom>
          <a:solidFill>
            <a:schemeClr val="bg1"/>
          </a:solid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AR" sz="2000" dirty="0" smtClean="0"/>
              <a:t>p(a</a:t>
            </a:r>
            <a:r>
              <a:rPr lang="es-AR" sz="2000" baseline="-25000" dirty="0" smtClean="0"/>
              <a:t>1</a:t>
            </a:r>
            <a:r>
              <a:rPr lang="es-AR" sz="2000" dirty="0" smtClean="0"/>
              <a:t>) = 3/4</a:t>
            </a:r>
            <a:endParaRPr lang="es-AR" sz="2000" baseline="-25000" dirty="0"/>
          </a:p>
        </p:txBody>
      </p:sp>
      <p:sp>
        <p:nvSpPr>
          <p:cNvPr id="12" name="CuadroTexto 17"/>
          <p:cNvSpPr txBox="1"/>
          <p:nvPr/>
        </p:nvSpPr>
        <p:spPr>
          <a:xfrm>
            <a:off x="6156176" y="2452826"/>
            <a:ext cx="1716924" cy="400110"/>
          </a:xfrm>
          <a:prstGeom prst="rect">
            <a:avLst/>
          </a:prstGeom>
          <a:solidFill>
            <a:schemeClr val="bg1"/>
          </a:solid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AR" sz="2000" dirty="0" smtClean="0"/>
              <a:t>p(a</a:t>
            </a:r>
            <a:r>
              <a:rPr lang="es-AR" sz="2000" baseline="-25000" dirty="0"/>
              <a:t>2</a:t>
            </a:r>
            <a:r>
              <a:rPr lang="es-AR" sz="2000" dirty="0" smtClean="0"/>
              <a:t>) = 1/4</a:t>
            </a:r>
            <a:endParaRPr lang="es-AR" sz="2000" baseline="-25000" dirty="0"/>
          </a:p>
        </p:txBody>
      </p:sp>
    </p:spTree>
    <p:extLst>
      <p:ext uri="{BB962C8B-B14F-4D97-AF65-F5344CB8AC3E}">
        <p14:creationId xmlns:p14="http://schemas.microsoft.com/office/powerpoint/2010/main" val="32264020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30</a:t>
            </a:fld>
            <a:endParaRPr lang="es-ES"/>
          </a:p>
        </p:txBody>
      </p:sp>
      <p:pic>
        <p:nvPicPr>
          <p:cNvPr id="8" name="Imagen 7"/>
          <p:cNvPicPr>
            <a:picLocks noChangeAspect="1"/>
          </p:cNvPicPr>
          <p:nvPr/>
        </p:nvPicPr>
        <p:blipFill rotWithShape="1">
          <a:blip r:embed="rId2"/>
          <a:srcRect l="33856" t="31800" r="38975" b="40900"/>
          <a:stretch/>
        </p:blipFill>
        <p:spPr>
          <a:xfrm>
            <a:off x="2555776" y="1916832"/>
            <a:ext cx="4968552" cy="2808312"/>
          </a:xfrm>
          <a:prstGeom prst="rect">
            <a:avLst/>
          </a:prstGeom>
        </p:spPr>
      </p:pic>
      <p:sp>
        <p:nvSpPr>
          <p:cNvPr id="9" name="CuadroTexto 8"/>
          <p:cNvSpPr txBox="1"/>
          <p:nvPr/>
        </p:nvSpPr>
        <p:spPr>
          <a:xfrm>
            <a:off x="4470964" y="2003917"/>
            <a:ext cx="1080120" cy="400110"/>
          </a:xfrm>
          <a:prstGeom prst="rect">
            <a:avLst/>
          </a:prstGeom>
          <a:solidFill>
            <a:schemeClr val="bg1"/>
          </a:solidFill>
        </p:spPr>
        <p:txBody>
          <a:bodyPr wrap="square" rtlCol="0">
            <a:spAutoFit/>
          </a:bodyPr>
          <a:lstStyle/>
          <a:p>
            <a:pPr algn="ctr"/>
            <a:r>
              <a:rPr lang="es-AR" sz="2000" dirty="0" smtClean="0"/>
              <a:t>2/3</a:t>
            </a:r>
            <a:endParaRPr lang="es-AR" sz="2000" dirty="0"/>
          </a:p>
        </p:txBody>
      </p:sp>
      <p:sp>
        <p:nvSpPr>
          <p:cNvPr id="11" name="CuadroTexto 10"/>
          <p:cNvSpPr txBox="1"/>
          <p:nvPr/>
        </p:nvSpPr>
        <p:spPr>
          <a:xfrm>
            <a:off x="4427422" y="2521925"/>
            <a:ext cx="584448" cy="400110"/>
          </a:xfrm>
          <a:prstGeom prst="rect">
            <a:avLst/>
          </a:prstGeom>
          <a:solidFill>
            <a:schemeClr val="bg1"/>
          </a:solidFill>
        </p:spPr>
        <p:txBody>
          <a:bodyPr wrap="square" rtlCol="0">
            <a:spAutoFit/>
          </a:bodyPr>
          <a:lstStyle/>
          <a:p>
            <a:pPr algn="ctr"/>
            <a:r>
              <a:rPr lang="es-AR" sz="2000" dirty="0" smtClean="0"/>
              <a:t>1/3</a:t>
            </a:r>
            <a:endParaRPr lang="es-AR" sz="2000" dirty="0"/>
          </a:p>
        </p:txBody>
      </p:sp>
      <p:sp>
        <p:nvSpPr>
          <p:cNvPr id="12" name="CuadroTexto 11"/>
          <p:cNvSpPr txBox="1"/>
          <p:nvPr/>
        </p:nvSpPr>
        <p:spPr>
          <a:xfrm>
            <a:off x="4542972" y="3791950"/>
            <a:ext cx="1080120" cy="400110"/>
          </a:xfrm>
          <a:prstGeom prst="rect">
            <a:avLst/>
          </a:prstGeom>
          <a:solidFill>
            <a:schemeClr val="bg1"/>
          </a:solidFill>
        </p:spPr>
        <p:txBody>
          <a:bodyPr wrap="square" rtlCol="0">
            <a:spAutoFit/>
          </a:bodyPr>
          <a:lstStyle/>
          <a:p>
            <a:pPr algn="ctr"/>
            <a:r>
              <a:rPr lang="es-AR" sz="2000" dirty="0" smtClean="0"/>
              <a:t>9/10</a:t>
            </a:r>
            <a:endParaRPr lang="es-AR" sz="2000" dirty="0"/>
          </a:p>
        </p:txBody>
      </p:sp>
      <p:sp>
        <p:nvSpPr>
          <p:cNvPr id="13" name="CuadroTexto 12"/>
          <p:cNvSpPr txBox="1"/>
          <p:nvPr/>
        </p:nvSpPr>
        <p:spPr>
          <a:xfrm>
            <a:off x="3849828" y="3273942"/>
            <a:ext cx="679192" cy="400110"/>
          </a:xfrm>
          <a:prstGeom prst="rect">
            <a:avLst/>
          </a:prstGeom>
          <a:solidFill>
            <a:schemeClr val="bg1"/>
          </a:solidFill>
        </p:spPr>
        <p:txBody>
          <a:bodyPr wrap="square" rtlCol="0">
            <a:spAutoFit/>
          </a:bodyPr>
          <a:lstStyle/>
          <a:p>
            <a:pPr algn="ctr"/>
            <a:r>
              <a:rPr lang="es-AR" sz="2000" dirty="0" smtClean="0"/>
              <a:t>1/10</a:t>
            </a:r>
            <a:endParaRPr lang="es-AR" sz="2000" dirty="0"/>
          </a:p>
        </p:txBody>
      </p:sp>
      <p:sp>
        <p:nvSpPr>
          <p:cNvPr id="14" name="CuadroTexto 13"/>
          <p:cNvSpPr txBox="1"/>
          <p:nvPr/>
        </p:nvSpPr>
        <p:spPr>
          <a:xfrm>
            <a:off x="1591206" y="2156317"/>
            <a:ext cx="1080120" cy="400110"/>
          </a:xfrm>
          <a:prstGeom prst="rect">
            <a:avLst/>
          </a:prstGeom>
          <a:solidFill>
            <a:schemeClr val="bg1"/>
          </a:solidFill>
        </p:spPr>
        <p:txBody>
          <a:bodyPr wrap="square" rtlCol="0">
            <a:spAutoFit/>
          </a:bodyPr>
          <a:lstStyle/>
          <a:p>
            <a:pPr algn="ctr"/>
            <a:r>
              <a:rPr lang="es-AR" sz="2000" dirty="0" smtClean="0"/>
              <a:t>3/4</a:t>
            </a:r>
            <a:endParaRPr lang="es-AR" sz="2000" dirty="0"/>
          </a:p>
        </p:txBody>
      </p:sp>
      <p:sp>
        <p:nvSpPr>
          <p:cNvPr id="15" name="CuadroTexto 14"/>
          <p:cNvSpPr txBox="1"/>
          <p:nvPr/>
        </p:nvSpPr>
        <p:spPr>
          <a:xfrm>
            <a:off x="1839042" y="4187633"/>
            <a:ext cx="584448" cy="400110"/>
          </a:xfrm>
          <a:prstGeom prst="rect">
            <a:avLst/>
          </a:prstGeom>
          <a:solidFill>
            <a:schemeClr val="bg1"/>
          </a:solidFill>
        </p:spPr>
        <p:txBody>
          <a:bodyPr wrap="square" rtlCol="0">
            <a:spAutoFit/>
          </a:bodyPr>
          <a:lstStyle/>
          <a:p>
            <a:pPr algn="ctr"/>
            <a:r>
              <a:rPr lang="es-AR" sz="2000" dirty="0" smtClean="0"/>
              <a:t>1/4</a:t>
            </a:r>
            <a:endParaRPr lang="es-AR" sz="2000" dirty="0"/>
          </a:p>
        </p:txBody>
      </p:sp>
      <p:sp>
        <p:nvSpPr>
          <p:cNvPr id="16" name="14 CuadroTexto"/>
          <p:cNvSpPr txBox="1"/>
          <p:nvPr/>
        </p:nvSpPr>
        <p:spPr>
          <a:xfrm>
            <a:off x="4542972" y="4914201"/>
            <a:ext cx="2218600"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Probabilidades “hacia adelante”</a:t>
            </a:r>
            <a:endParaRPr lang="es-AR" sz="1600" baseline="30000" dirty="0" smtClean="0"/>
          </a:p>
        </p:txBody>
      </p:sp>
      <p:cxnSp>
        <p:nvCxnSpPr>
          <p:cNvPr id="17" name="Conector recto de flecha 16"/>
          <p:cNvCxnSpPr>
            <a:stCxn id="16" idx="0"/>
          </p:cNvCxnSpPr>
          <p:nvPr/>
        </p:nvCxnSpPr>
        <p:spPr>
          <a:xfrm flipH="1" flipV="1">
            <a:off x="4860032" y="3388604"/>
            <a:ext cx="792240" cy="1525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14 CuadroTexto"/>
          <p:cNvSpPr txBox="1"/>
          <p:nvPr/>
        </p:nvSpPr>
        <p:spPr>
          <a:xfrm>
            <a:off x="361501" y="3002755"/>
            <a:ext cx="2218600" cy="58477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Probabilidades “a priori” de la entrada</a:t>
            </a:r>
            <a:endParaRPr lang="es-AR" sz="1600" baseline="30000" dirty="0" smtClean="0"/>
          </a:p>
        </p:txBody>
      </p:sp>
      <p:sp>
        <p:nvSpPr>
          <p:cNvPr id="23" name="CuadroTexto 22"/>
          <p:cNvSpPr txBox="1"/>
          <p:nvPr/>
        </p:nvSpPr>
        <p:spPr>
          <a:xfrm>
            <a:off x="1620234" y="1516722"/>
            <a:ext cx="1080120" cy="400110"/>
          </a:xfrm>
          <a:prstGeom prst="rect">
            <a:avLst/>
          </a:prstGeom>
          <a:solidFill>
            <a:schemeClr val="bg1"/>
          </a:solidFill>
        </p:spPr>
        <p:txBody>
          <a:bodyPr wrap="square" rtlCol="0">
            <a:spAutoFit/>
          </a:bodyPr>
          <a:lstStyle/>
          <a:p>
            <a:pPr algn="ctr"/>
            <a:r>
              <a:rPr lang="es-AR" sz="2000" b="1" dirty="0" smtClean="0"/>
              <a:t>A</a:t>
            </a:r>
            <a:endParaRPr lang="es-AR" sz="2000" b="1" dirty="0"/>
          </a:p>
        </p:txBody>
      </p:sp>
      <p:sp>
        <p:nvSpPr>
          <p:cNvPr id="24" name="CuadroTexto 23"/>
          <p:cNvSpPr txBox="1"/>
          <p:nvPr/>
        </p:nvSpPr>
        <p:spPr>
          <a:xfrm>
            <a:off x="6660232" y="1516722"/>
            <a:ext cx="1080120" cy="400110"/>
          </a:xfrm>
          <a:prstGeom prst="rect">
            <a:avLst/>
          </a:prstGeom>
          <a:solidFill>
            <a:schemeClr val="bg1"/>
          </a:solidFill>
        </p:spPr>
        <p:txBody>
          <a:bodyPr wrap="square" rtlCol="0">
            <a:spAutoFit/>
          </a:bodyPr>
          <a:lstStyle/>
          <a:p>
            <a:pPr algn="ctr"/>
            <a:r>
              <a:rPr lang="es-AR" sz="2000" b="1" dirty="0" smtClean="0"/>
              <a:t>B</a:t>
            </a:r>
            <a:endParaRPr lang="es-AR" sz="2000" b="1" dirty="0"/>
          </a:p>
        </p:txBody>
      </p:sp>
      <p:sp>
        <p:nvSpPr>
          <p:cNvPr id="18" name="CuadroTexto 17"/>
          <p:cNvSpPr txBox="1"/>
          <p:nvPr/>
        </p:nvSpPr>
        <p:spPr>
          <a:xfrm>
            <a:off x="2655216" y="2165461"/>
            <a:ext cx="576064" cy="400110"/>
          </a:xfrm>
          <a:prstGeom prst="rect">
            <a:avLst/>
          </a:prstGeom>
          <a:solidFill>
            <a:schemeClr val="bg1"/>
          </a:solidFill>
        </p:spPr>
        <p:txBody>
          <a:bodyPr wrap="square" rtlCol="0">
            <a:spAutoFit/>
          </a:bodyPr>
          <a:lstStyle/>
          <a:p>
            <a:pPr algn="ctr"/>
            <a:r>
              <a:rPr lang="es-AR" sz="2000" dirty="0" smtClean="0"/>
              <a:t>a</a:t>
            </a:r>
            <a:r>
              <a:rPr lang="es-AR" sz="2000" baseline="-25000" dirty="0"/>
              <a:t>1</a:t>
            </a:r>
          </a:p>
        </p:txBody>
      </p:sp>
      <p:sp>
        <p:nvSpPr>
          <p:cNvPr id="19" name="CuadroTexto 18"/>
          <p:cNvSpPr txBox="1"/>
          <p:nvPr/>
        </p:nvSpPr>
        <p:spPr>
          <a:xfrm>
            <a:off x="2627784" y="4181018"/>
            <a:ext cx="576064" cy="400110"/>
          </a:xfrm>
          <a:prstGeom prst="rect">
            <a:avLst/>
          </a:prstGeom>
          <a:solidFill>
            <a:schemeClr val="bg1"/>
          </a:solidFill>
        </p:spPr>
        <p:txBody>
          <a:bodyPr wrap="square" rtlCol="0">
            <a:spAutoFit/>
          </a:bodyPr>
          <a:lstStyle/>
          <a:p>
            <a:pPr algn="ctr"/>
            <a:r>
              <a:rPr lang="es-AR" sz="2000" dirty="0" smtClean="0"/>
              <a:t>a</a:t>
            </a:r>
            <a:r>
              <a:rPr lang="es-AR" sz="2000" baseline="-25000" dirty="0" smtClean="0"/>
              <a:t>2</a:t>
            </a:r>
            <a:endParaRPr lang="es-AR" sz="2000" baseline="-25000" dirty="0"/>
          </a:p>
        </p:txBody>
      </p:sp>
      <p:sp>
        <p:nvSpPr>
          <p:cNvPr id="20" name="CuadroTexto 19"/>
          <p:cNvSpPr txBox="1"/>
          <p:nvPr/>
        </p:nvSpPr>
        <p:spPr>
          <a:xfrm>
            <a:off x="7092280" y="4181018"/>
            <a:ext cx="576064" cy="400110"/>
          </a:xfrm>
          <a:prstGeom prst="rect">
            <a:avLst/>
          </a:prstGeom>
          <a:solidFill>
            <a:schemeClr val="bg1"/>
          </a:solidFill>
        </p:spPr>
        <p:txBody>
          <a:bodyPr wrap="square" rtlCol="0">
            <a:spAutoFit/>
          </a:bodyPr>
          <a:lstStyle/>
          <a:p>
            <a:pPr algn="ctr"/>
            <a:r>
              <a:rPr lang="es-AR" sz="2000" dirty="0" smtClean="0"/>
              <a:t>b</a:t>
            </a:r>
            <a:r>
              <a:rPr lang="es-AR" sz="2000" baseline="-25000" dirty="0" smtClean="0"/>
              <a:t>2</a:t>
            </a:r>
            <a:endParaRPr lang="es-AR" sz="2000" baseline="-25000" dirty="0"/>
          </a:p>
        </p:txBody>
      </p:sp>
      <p:sp>
        <p:nvSpPr>
          <p:cNvPr id="22" name="CuadroTexto 21"/>
          <p:cNvSpPr txBox="1"/>
          <p:nvPr/>
        </p:nvSpPr>
        <p:spPr>
          <a:xfrm>
            <a:off x="6970450" y="2204278"/>
            <a:ext cx="576064" cy="400110"/>
          </a:xfrm>
          <a:prstGeom prst="rect">
            <a:avLst/>
          </a:prstGeom>
          <a:solidFill>
            <a:schemeClr val="bg1"/>
          </a:solidFill>
        </p:spPr>
        <p:txBody>
          <a:bodyPr wrap="square" rtlCol="0">
            <a:spAutoFit/>
          </a:bodyPr>
          <a:lstStyle/>
          <a:p>
            <a:pPr algn="ctr"/>
            <a:r>
              <a:rPr lang="es-AR" sz="2000" dirty="0" smtClean="0"/>
              <a:t>b</a:t>
            </a:r>
            <a:r>
              <a:rPr lang="es-AR" sz="2000" baseline="-25000" dirty="0" smtClean="0"/>
              <a:t>1</a:t>
            </a:r>
            <a:endParaRPr lang="es-AR" sz="2000" baseline="-25000" dirty="0"/>
          </a:p>
        </p:txBody>
      </p:sp>
    </p:spTree>
    <p:extLst>
      <p:ext uri="{BB962C8B-B14F-4D97-AF65-F5344CB8AC3E}">
        <p14:creationId xmlns:p14="http://schemas.microsoft.com/office/powerpoint/2010/main" val="21526734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31</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514350" lvl="0" indent="-514350">
              <a:buFont typeface="+mj-lt"/>
              <a:buAutoNum type="arabicPeriod"/>
            </a:pPr>
            <a:r>
              <a:rPr lang="es-ES" sz="2300" dirty="0" smtClean="0"/>
              <a:t>La </a:t>
            </a:r>
            <a:r>
              <a:rPr lang="es-ES" sz="2300" dirty="0"/>
              <a:t>distribución de probabilidades de los símbolos de salida. </a:t>
            </a:r>
            <a:endParaRPr lang="es-AR" sz="2300" dirty="0"/>
          </a:p>
          <a:p>
            <a:pPr marL="0" indent="0" algn="just">
              <a:buNone/>
            </a:pPr>
            <a:endParaRPr lang="es-AR" sz="1800" dirty="0" smtClean="0"/>
          </a:p>
          <a:p>
            <a:pPr marL="0" indent="0" algn="just">
              <a:buNone/>
            </a:pPr>
            <a:r>
              <a:rPr lang="es-AR" sz="1800" dirty="0" smtClean="0"/>
              <a:t>p(b</a:t>
            </a:r>
            <a:r>
              <a:rPr lang="es-AR" sz="1800" baseline="-25000" dirty="0" smtClean="0"/>
              <a:t>1</a:t>
            </a:r>
            <a:r>
              <a:rPr lang="es-AR" sz="1800" dirty="0" smtClean="0"/>
              <a:t>) = p(b</a:t>
            </a:r>
            <a:r>
              <a:rPr lang="es-AR" sz="1800" baseline="-25000" dirty="0" smtClean="0"/>
              <a:t>1</a:t>
            </a:r>
            <a:r>
              <a:rPr lang="es-AR" sz="1800" dirty="0" smtClean="0"/>
              <a:t>/a</a:t>
            </a:r>
            <a:r>
              <a:rPr lang="es-AR" sz="1800" baseline="-25000" dirty="0" smtClean="0"/>
              <a:t>1</a:t>
            </a:r>
            <a:r>
              <a:rPr lang="es-AR" sz="1800" dirty="0" smtClean="0"/>
              <a:t>).p(a</a:t>
            </a:r>
            <a:r>
              <a:rPr lang="es-AR" sz="1800" baseline="-25000" dirty="0" smtClean="0"/>
              <a:t>1</a:t>
            </a:r>
            <a:r>
              <a:rPr lang="es-AR" sz="1800" dirty="0" smtClean="0"/>
              <a:t>) + p(b</a:t>
            </a:r>
            <a:r>
              <a:rPr lang="es-AR" sz="1800" baseline="-25000" dirty="0" smtClean="0"/>
              <a:t>1</a:t>
            </a:r>
            <a:r>
              <a:rPr lang="es-AR" sz="1800" dirty="0" smtClean="0"/>
              <a:t>/a</a:t>
            </a:r>
            <a:r>
              <a:rPr lang="es-AR" sz="1800" baseline="-25000" dirty="0" smtClean="0"/>
              <a:t>2</a:t>
            </a:r>
            <a:r>
              <a:rPr lang="es-AR" sz="1800" dirty="0" smtClean="0"/>
              <a:t>).p(a</a:t>
            </a:r>
            <a:r>
              <a:rPr lang="es-AR" sz="1800" baseline="-25000" dirty="0" smtClean="0"/>
              <a:t>2</a:t>
            </a:r>
            <a:r>
              <a:rPr lang="es-AR" sz="1800" dirty="0" smtClean="0"/>
              <a:t>) =  2/3 . 3/4 + 1/10 . 1/4 = 21/40</a:t>
            </a:r>
          </a:p>
          <a:p>
            <a:pPr marL="0" indent="0" algn="just">
              <a:buNone/>
            </a:pPr>
            <a:endParaRPr lang="es-AR" sz="1800" dirty="0"/>
          </a:p>
          <a:p>
            <a:pPr marL="0" indent="0" algn="just">
              <a:buNone/>
            </a:pPr>
            <a:r>
              <a:rPr lang="es-AR" sz="1800" dirty="0" smtClean="0"/>
              <a:t>p(b</a:t>
            </a:r>
            <a:r>
              <a:rPr lang="es-AR" sz="1800" baseline="-25000" dirty="0" smtClean="0"/>
              <a:t>2</a:t>
            </a:r>
            <a:r>
              <a:rPr lang="es-AR" sz="1800" dirty="0" smtClean="0"/>
              <a:t>) </a:t>
            </a:r>
            <a:r>
              <a:rPr lang="es-AR" sz="1800" dirty="0"/>
              <a:t>= </a:t>
            </a:r>
            <a:r>
              <a:rPr lang="es-AR" sz="1800" dirty="0" smtClean="0"/>
              <a:t>p(b</a:t>
            </a:r>
            <a:r>
              <a:rPr lang="es-AR" sz="1800" baseline="-25000" dirty="0" smtClean="0"/>
              <a:t>2</a:t>
            </a:r>
            <a:r>
              <a:rPr lang="es-AR" sz="1800" dirty="0" smtClean="0"/>
              <a:t>/a</a:t>
            </a:r>
            <a:r>
              <a:rPr lang="es-AR" sz="1800" baseline="-25000" dirty="0" smtClean="0"/>
              <a:t>1</a:t>
            </a:r>
            <a:r>
              <a:rPr lang="es-AR" sz="1800" dirty="0"/>
              <a:t>).p(a</a:t>
            </a:r>
            <a:r>
              <a:rPr lang="es-AR" sz="1800" baseline="-25000" dirty="0"/>
              <a:t>1</a:t>
            </a:r>
            <a:r>
              <a:rPr lang="es-AR" sz="1800" dirty="0"/>
              <a:t>) + </a:t>
            </a:r>
            <a:r>
              <a:rPr lang="es-AR" sz="1800" dirty="0" smtClean="0"/>
              <a:t>p(b</a:t>
            </a:r>
            <a:r>
              <a:rPr lang="es-AR" sz="1800" baseline="-25000" dirty="0" smtClean="0"/>
              <a:t>2</a:t>
            </a:r>
            <a:r>
              <a:rPr lang="es-AR" sz="1800" dirty="0" smtClean="0"/>
              <a:t>/a</a:t>
            </a:r>
            <a:r>
              <a:rPr lang="es-AR" sz="1800" baseline="-25000" dirty="0" smtClean="0"/>
              <a:t>2</a:t>
            </a:r>
            <a:r>
              <a:rPr lang="es-AR" sz="1800" dirty="0"/>
              <a:t>).p(a</a:t>
            </a:r>
            <a:r>
              <a:rPr lang="es-AR" sz="1800" baseline="-25000" dirty="0"/>
              <a:t>2</a:t>
            </a:r>
            <a:r>
              <a:rPr lang="es-AR" sz="1800" dirty="0"/>
              <a:t>) =  </a:t>
            </a:r>
            <a:r>
              <a:rPr lang="es-AR" sz="1800" dirty="0" smtClean="0"/>
              <a:t>1/3 </a:t>
            </a:r>
            <a:r>
              <a:rPr lang="es-AR" sz="1800" dirty="0"/>
              <a:t>. 3/4 + </a:t>
            </a:r>
            <a:r>
              <a:rPr lang="es-AR" sz="1800" dirty="0" smtClean="0"/>
              <a:t>9/10 </a:t>
            </a:r>
            <a:r>
              <a:rPr lang="es-AR" sz="1800" dirty="0"/>
              <a:t>. 1/4 = </a:t>
            </a:r>
            <a:r>
              <a:rPr lang="es-AR" sz="1800" dirty="0" smtClean="0"/>
              <a:t>19/40</a:t>
            </a:r>
          </a:p>
          <a:p>
            <a:pPr marL="0" indent="0" algn="just">
              <a:buNone/>
            </a:pPr>
            <a:endParaRPr lang="es-AR" sz="1800" dirty="0"/>
          </a:p>
          <a:p>
            <a:pPr marL="0" indent="0" algn="just">
              <a:buNone/>
            </a:pP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pic>
        <p:nvPicPr>
          <p:cNvPr id="15" name="Imagen 14"/>
          <p:cNvPicPr>
            <a:picLocks noChangeAspect="1"/>
          </p:cNvPicPr>
          <p:nvPr/>
        </p:nvPicPr>
        <p:blipFill rotWithShape="1">
          <a:blip r:embed="rId2"/>
          <a:srcRect l="33856" t="31800" r="38975" b="40900"/>
          <a:stretch/>
        </p:blipFill>
        <p:spPr>
          <a:xfrm>
            <a:off x="2887350" y="3544026"/>
            <a:ext cx="4968552" cy="2808312"/>
          </a:xfrm>
          <a:prstGeom prst="rect">
            <a:avLst/>
          </a:prstGeom>
        </p:spPr>
      </p:pic>
      <p:sp>
        <p:nvSpPr>
          <p:cNvPr id="16" name="CuadroTexto 15"/>
          <p:cNvSpPr txBox="1"/>
          <p:nvPr/>
        </p:nvSpPr>
        <p:spPr>
          <a:xfrm>
            <a:off x="4802538" y="3631111"/>
            <a:ext cx="1080120" cy="400110"/>
          </a:xfrm>
          <a:prstGeom prst="rect">
            <a:avLst/>
          </a:prstGeom>
          <a:solidFill>
            <a:schemeClr val="bg1"/>
          </a:solidFill>
        </p:spPr>
        <p:txBody>
          <a:bodyPr wrap="square" rtlCol="0">
            <a:spAutoFit/>
          </a:bodyPr>
          <a:lstStyle/>
          <a:p>
            <a:pPr algn="ctr"/>
            <a:r>
              <a:rPr lang="es-AR" sz="2000" dirty="0" smtClean="0"/>
              <a:t>2/3</a:t>
            </a:r>
            <a:endParaRPr lang="es-AR" sz="2000" dirty="0"/>
          </a:p>
        </p:txBody>
      </p:sp>
      <p:sp>
        <p:nvSpPr>
          <p:cNvPr id="17" name="CuadroTexto 16"/>
          <p:cNvSpPr txBox="1"/>
          <p:nvPr/>
        </p:nvSpPr>
        <p:spPr>
          <a:xfrm>
            <a:off x="4758996" y="4149119"/>
            <a:ext cx="584448" cy="400110"/>
          </a:xfrm>
          <a:prstGeom prst="rect">
            <a:avLst/>
          </a:prstGeom>
          <a:solidFill>
            <a:schemeClr val="bg1"/>
          </a:solidFill>
        </p:spPr>
        <p:txBody>
          <a:bodyPr wrap="square" rtlCol="0">
            <a:spAutoFit/>
          </a:bodyPr>
          <a:lstStyle/>
          <a:p>
            <a:pPr algn="ctr"/>
            <a:r>
              <a:rPr lang="es-AR" sz="2000" dirty="0" smtClean="0"/>
              <a:t>1/3</a:t>
            </a:r>
            <a:endParaRPr lang="es-AR" sz="2000" dirty="0"/>
          </a:p>
        </p:txBody>
      </p:sp>
      <p:sp>
        <p:nvSpPr>
          <p:cNvPr id="18" name="CuadroTexto 17"/>
          <p:cNvSpPr txBox="1"/>
          <p:nvPr/>
        </p:nvSpPr>
        <p:spPr>
          <a:xfrm>
            <a:off x="4874546" y="5419144"/>
            <a:ext cx="1080120" cy="400110"/>
          </a:xfrm>
          <a:prstGeom prst="rect">
            <a:avLst/>
          </a:prstGeom>
          <a:solidFill>
            <a:schemeClr val="bg1"/>
          </a:solidFill>
        </p:spPr>
        <p:txBody>
          <a:bodyPr wrap="square" rtlCol="0">
            <a:spAutoFit/>
          </a:bodyPr>
          <a:lstStyle/>
          <a:p>
            <a:pPr algn="ctr"/>
            <a:r>
              <a:rPr lang="es-AR" sz="2000" dirty="0" smtClean="0"/>
              <a:t>9/10</a:t>
            </a:r>
            <a:endParaRPr lang="es-AR" sz="2000" dirty="0"/>
          </a:p>
        </p:txBody>
      </p:sp>
      <p:sp>
        <p:nvSpPr>
          <p:cNvPr id="19" name="CuadroTexto 18"/>
          <p:cNvSpPr txBox="1"/>
          <p:nvPr/>
        </p:nvSpPr>
        <p:spPr>
          <a:xfrm>
            <a:off x="4181402" y="4901136"/>
            <a:ext cx="679192" cy="400110"/>
          </a:xfrm>
          <a:prstGeom prst="rect">
            <a:avLst/>
          </a:prstGeom>
          <a:solidFill>
            <a:schemeClr val="bg1"/>
          </a:solidFill>
        </p:spPr>
        <p:txBody>
          <a:bodyPr wrap="square" rtlCol="0">
            <a:spAutoFit/>
          </a:bodyPr>
          <a:lstStyle/>
          <a:p>
            <a:pPr algn="ctr"/>
            <a:r>
              <a:rPr lang="es-AR" sz="2000" dirty="0" smtClean="0"/>
              <a:t>1/10</a:t>
            </a:r>
            <a:endParaRPr lang="es-AR" sz="2000" dirty="0"/>
          </a:p>
        </p:txBody>
      </p:sp>
      <p:sp>
        <p:nvSpPr>
          <p:cNvPr id="20" name="CuadroTexto 19"/>
          <p:cNvSpPr txBox="1"/>
          <p:nvPr/>
        </p:nvSpPr>
        <p:spPr>
          <a:xfrm>
            <a:off x="1922780" y="3783511"/>
            <a:ext cx="1080120" cy="400110"/>
          </a:xfrm>
          <a:prstGeom prst="rect">
            <a:avLst/>
          </a:prstGeom>
          <a:solidFill>
            <a:schemeClr val="bg1"/>
          </a:solidFill>
        </p:spPr>
        <p:txBody>
          <a:bodyPr wrap="square" rtlCol="0">
            <a:spAutoFit/>
          </a:bodyPr>
          <a:lstStyle/>
          <a:p>
            <a:pPr algn="ctr"/>
            <a:r>
              <a:rPr lang="es-AR" sz="2000" dirty="0" smtClean="0"/>
              <a:t>3/4</a:t>
            </a:r>
            <a:endParaRPr lang="es-AR" sz="2000" dirty="0"/>
          </a:p>
        </p:txBody>
      </p:sp>
      <p:sp>
        <p:nvSpPr>
          <p:cNvPr id="21" name="CuadroTexto 20"/>
          <p:cNvSpPr txBox="1"/>
          <p:nvPr/>
        </p:nvSpPr>
        <p:spPr>
          <a:xfrm>
            <a:off x="2170616" y="5814827"/>
            <a:ext cx="584448" cy="400110"/>
          </a:xfrm>
          <a:prstGeom prst="rect">
            <a:avLst/>
          </a:prstGeom>
          <a:solidFill>
            <a:schemeClr val="bg1"/>
          </a:solidFill>
        </p:spPr>
        <p:txBody>
          <a:bodyPr wrap="square" rtlCol="0">
            <a:spAutoFit/>
          </a:bodyPr>
          <a:lstStyle/>
          <a:p>
            <a:pPr algn="ctr"/>
            <a:r>
              <a:rPr lang="es-AR" sz="2000" dirty="0" smtClean="0"/>
              <a:t>1/4</a:t>
            </a:r>
            <a:endParaRPr lang="es-AR" sz="2000" dirty="0"/>
          </a:p>
        </p:txBody>
      </p:sp>
      <p:sp>
        <p:nvSpPr>
          <p:cNvPr id="23" name="CuadroTexto 22"/>
          <p:cNvSpPr txBox="1"/>
          <p:nvPr/>
        </p:nvSpPr>
        <p:spPr>
          <a:xfrm>
            <a:off x="1133643" y="4701081"/>
            <a:ext cx="1080120" cy="400110"/>
          </a:xfrm>
          <a:prstGeom prst="rect">
            <a:avLst/>
          </a:prstGeom>
          <a:solidFill>
            <a:schemeClr val="bg1"/>
          </a:solidFill>
        </p:spPr>
        <p:txBody>
          <a:bodyPr wrap="square" rtlCol="0">
            <a:spAutoFit/>
          </a:bodyPr>
          <a:lstStyle/>
          <a:p>
            <a:pPr algn="ctr"/>
            <a:r>
              <a:rPr lang="es-AR" sz="2000" b="1" dirty="0" smtClean="0"/>
              <a:t>A</a:t>
            </a:r>
            <a:endParaRPr lang="es-AR" sz="2000" b="1" dirty="0"/>
          </a:p>
        </p:txBody>
      </p:sp>
      <p:sp>
        <p:nvSpPr>
          <p:cNvPr id="24" name="CuadroTexto 23"/>
          <p:cNvSpPr txBox="1"/>
          <p:nvPr/>
        </p:nvSpPr>
        <p:spPr>
          <a:xfrm>
            <a:off x="8388424" y="4701081"/>
            <a:ext cx="1080120" cy="400110"/>
          </a:xfrm>
          <a:prstGeom prst="rect">
            <a:avLst/>
          </a:prstGeom>
          <a:solidFill>
            <a:schemeClr val="bg1"/>
          </a:solidFill>
        </p:spPr>
        <p:txBody>
          <a:bodyPr wrap="square" rtlCol="0">
            <a:spAutoFit/>
          </a:bodyPr>
          <a:lstStyle/>
          <a:p>
            <a:pPr algn="ctr"/>
            <a:r>
              <a:rPr lang="es-AR" sz="2000" b="1" dirty="0" smtClean="0"/>
              <a:t>B</a:t>
            </a:r>
            <a:endParaRPr lang="es-AR" sz="2000" b="1" dirty="0"/>
          </a:p>
        </p:txBody>
      </p:sp>
      <p:sp>
        <p:nvSpPr>
          <p:cNvPr id="25" name="CuadroTexto 24"/>
          <p:cNvSpPr txBox="1"/>
          <p:nvPr/>
        </p:nvSpPr>
        <p:spPr>
          <a:xfrm>
            <a:off x="7639878" y="3791988"/>
            <a:ext cx="1080120" cy="400110"/>
          </a:xfrm>
          <a:prstGeom prst="rect">
            <a:avLst/>
          </a:prstGeom>
          <a:solidFill>
            <a:schemeClr val="bg1"/>
          </a:solidFill>
        </p:spPr>
        <p:txBody>
          <a:bodyPr wrap="square" rtlCol="0">
            <a:spAutoFit/>
          </a:bodyPr>
          <a:lstStyle/>
          <a:p>
            <a:pPr algn="ctr"/>
            <a:r>
              <a:rPr lang="es-AR" sz="2000" dirty="0" smtClean="0"/>
              <a:t>21/40</a:t>
            </a:r>
            <a:endParaRPr lang="es-AR" sz="2000" dirty="0"/>
          </a:p>
        </p:txBody>
      </p:sp>
      <p:sp>
        <p:nvSpPr>
          <p:cNvPr id="26" name="CuadroTexto 25"/>
          <p:cNvSpPr txBox="1"/>
          <p:nvPr/>
        </p:nvSpPr>
        <p:spPr>
          <a:xfrm>
            <a:off x="7639878" y="5823304"/>
            <a:ext cx="1080120" cy="400110"/>
          </a:xfrm>
          <a:prstGeom prst="rect">
            <a:avLst/>
          </a:prstGeom>
          <a:solidFill>
            <a:schemeClr val="bg1"/>
          </a:solidFill>
        </p:spPr>
        <p:txBody>
          <a:bodyPr wrap="square" rtlCol="0">
            <a:spAutoFit/>
          </a:bodyPr>
          <a:lstStyle/>
          <a:p>
            <a:pPr algn="ctr"/>
            <a:r>
              <a:rPr lang="es-AR" sz="2000" dirty="0" smtClean="0"/>
              <a:t>119/40</a:t>
            </a:r>
            <a:endParaRPr lang="es-AR" sz="2000" dirty="0"/>
          </a:p>
        </p:txBody>
      </p:sp>
      <p:sp>
        <p:nvSpPr>
          <p:cNvPr id="22" name="CuadroTexto 21"/>
          <p:cNvSpPr txBox="1"/>
          <p:nvPr/>
        </p:nvSpPr>
        <p:spPr>
          <a:xfrm>
            <a:off x="2970680" y="3789040"/>
            <a:ext cx="576064" cy="400110"/>
          </a:xfrm>
          <a:prstGeom prst="rect">
            <a:avLst/>
          </a:prstGeom>
          <a:solidFill>
            <a:schemeClr val="bg1"/>
          </a:solidFill>
        </p:spPr>
        <p:txBody>
          <a:bodyPr wrap="square" rtlCol="0">
            <a:spAutoFit/>
          </a:bodyPr>
          <a:lstStyle/>
          <a:p>
            <a:pPr algn="ctr"/>
            <a:r>
              <a:rPr lang="es-AR" sz="2000" dirty="0" smtClean="0"/>
              <a:t>a</a:t>
            </a:r>
            <a:r>
              <a:rPr lang="es-AR" sz="2000" baseline="-25000" dirty="0"/>
              <a:t>1</a:t>
            </a:r>
          </a:p>
        </p:txBody>
      </p:sp>
      <p:sp>
        <p:nvSpPr>
          <p:cNvPr id="27" name="CuadroTexto 26"/>
          <p:cNvSpPr txBox="1"/>
          <p:nvPr/>
        </p:nvSpPr>
        <p:spPr>
          <a:xfrm>
            <a:off x="2943248" y="5804597"/>
            <a:ext cx="576064" cy="400110"/>
          </a:xfrm>
          <a:prstGeom prst="rect">
            <a:avLst/>
          </a:prstGeom>
          <a:solidFill>
            <a:schemeClr val="bg1"/>
          </a:solidFill>
        </p:spPr>
        <p:txBody>
          <a:bodyPr wrap="square" rtlCol="0">
            <a:spAutoFit/>
          </a:bodyPr>
          <a:lstStyle/>
          <a:p>
            <a:pPr algn="ctr"/>
            <a:r>
              <a:rPr lang="es-AR" sz="2000" dirty="0" smtClean="0"/>
              <a:t>a</a:t>
            </a:r>
            <a:r>
              <a:rPr lang="es-AR" sz="2000" baseline="-25000" dirty="0" smtClean="0"/>
              <a:t>2</a:t>
            </a:r>
            <a:endParaRPr lang="es-AR" sz="2000" baseline="-25000" dirty="0"/>
          </a:p>
        </p:txBody>
      </p:sp>
      <p:sp>
        <p:nvSpPr>
          <p:cNvPr id="28" name="CuadroTexto 27"/>
          <p:cNvSpPr txBox="1"/>
          <p:nvPr/>
        </p:nvSpPr>
        <p:spPr>
          <a:xfrm>
            <a:off x="7407744" y="5804597"/>
            <a:ext cx="576064" cy="400110"/>
          </a:xfrm>
          <a:prstGeom prst="rect">
            <a:avLst/>
          </a:prstGeom>
          <a:solidFill>
            <a:schemeClr val="bg1"/>
          </a:solidFill>
        </p:spPr>
        <p:txBody>
          <a:bodyPr wrap="square" rtlCol="0">
            <a:spAutoFit/>
          </a:bodyPr>
          <a:lstStyle/>
          <a:p>
            <a:pPr algn="ctr"/>
            <a:r>
              <a:rPr lang="es-AR" sz="2000" dirty="0" smtClean="0"/>
              <a:t>b</a:t>
            </a:r>
            <a:r>
              <a:rPr lang="es-AR" sz="2000" baseline="-25000" dirty="0" smtClean="0"/>
              <a:t>2</a:t>
            </a:r>
            <a:endParaRPr lang="es-AR" sz="2000" baseline="-25000" dirty="0"/>
          </a:p>
        </p:txBody>
      </p:sp>
      <p:sp>
        <p:nvSpPr>
          <p:cNvPr id="29" name="CuadroTexto 28"/>
          <p:cNvSpPr txBox="1"/>
          <p:nvPr/>
        </p:nvSpPr>
        <p:spPr>
          <a:xfrm>
            <a:off x="7285914" y="3827857"/>
            <a:ext cx="576064" cy="400110"/>
          </a:xfrm>
          <a:prstGeom prst="rect">
            <a:avLst/>
          </a:prstGeom>
          <a:solidFill>
            <a:schemeClr val="bg1"/>
          </a:solidFill>
        </p:spPr>
        <p:txBody>
          <a:bodyPr wrap="square" rtlCol="0">
            <a:spAutoFit/>
          </a:bodyPr>
          <a:lstStyle/>
          <a:p>
            <a:pPr algn="ctr"/>
            <a:r>
              <a:rPr lang="es-AR" sz="2000" dirty="0" smtClean="0"/>
              <a:t>b</a:t>
            </a:r>
            <a:r>
              <a:rPr lang="es-AR" sz="2000" baseline="-25000" dirty="0" smtClean="0"/>
              <a:t>1</a:t>
            </a:r>
            <a:endParaRPr lang="es-AR" sz="2000" baseline="-25000" dirty="0"/>
          </a:p>
        </p:txBody>
      </p:sp>
    </p:spTree>
    <p:extLst>
      <p:ext uri="{BB962C8B-B14F-4D97-AF65-F5344CB8AC3E}">
        <p14:creationId xmlns:p14="http://schemas.microsoft.com/office/powerpoint/2010/main" val="20175634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32</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indent="0">
              <a:buNone/>
            </a:pPr>
            <a:r>
              <a:rPr lang="es-ES" sz="2300" dirty="0" smtClean="0"/>
              <a:t>2. La </a:t>
            </a:r>
            <a:r>
              <a:rPr lang="es-ES" sz="2300" dirty="0"/>
              <a:t>entropía a priori de los símbolos a la entrada del canal, H(A). </a:t>
            </a:r>
            <a:endParaRPr lang="es-AR" sz="2300" dirty="0"/>
          </a:p>
          <a:p>
            <a:pPr marL="0" lvl="0" indent="0">
              <a:buNone/>
            </a:pPr>
            <a:endParaRPr lang="es-AR" sz="2300" dirty="0"/>
          </a:p>
          <a:p>
            <a:pPr marL="0" indent="0" algn="just">
              <a:buNone/>
            </a:pPr>
            <a:r>
              <a:rPr lang="es-AR" sz="1800" dirty="0" smtClean="0"/>
              <a:t>H(A</a:t>
            </a:r>
            <a:r>
              <a:rPr lang="es-AR" sz="1800" dirty="0"/>
              <a:t>) </a:t>
            </a:r>
            <a:r>
              <a:rPr lang="es-AR" sz="1800" dirty="0" smtClean="0"/>
              <a:t>= p(a</a:t>
            </a:r>
            <a:r>
              <a:rPr lang="es-AR" sz="1800" baseline="-25000" dirty="0" smtClean="0"/>
              <a:t>1</a:t>
            </a:r>
            <a:r>
              <a:rPr lang="es-AR" sz="1800" dirty="0"/>
              <a:t>).</a:t>
            </a:r>
            <a:r>
              <a:rPr lang="es-AR" sz="1800" dirty="0" smtClean="0"/>
              <a:t>log</a:t>
            </a:r>
            <a:r>
              <a:rPr lang="es-AR" sz="1800" baseline="-25000" dirty="0" smtClean="0"/>
              <a:t>2</a:t>
            </a:r>
            <a:r>
              <a:rPr lang="es-AR" sz="1800" dirty="0" smtClean="0"/>
              <a:t>(1/p(a</a:t>
            </a:r>
            <a:r>
              <a:rPr lang="es-AR" sz="1800" baseline="-25000" dirty="0" smtClean="0"/>
              <a:t>1</a:t>
            </a:r>
            <a:r>
              <a:rPr lang="es-AR" sz="1800" dirty="0"/>
              <a:t>)) + </a:t>
            </a:r>
            <a:r>
              <a:rPr lang="es-AR" sz="1800" dirty="0" smtClean="0"/>
              <a:t>p(a</a:t>
            </a:r>
            <a:r>
              <a:rPr lang="es-AR" sz="1800" baseline="-25000" dirty="0" smtClean="0"/>
              <a:t>2</a:t>
            </a:r>
            <a:r>
              <a:rPr lang="es-AR" sz="1800" dirty="0"/>
              <a:t>).</a:t>
            </a:r>
            <a:r>
              <a:rPr lang="es-AR" sz="1800" dirty="0" smtClean="0"/>
              <a:t>log</a:t>
            </a:r>
            <a:r>
              <a:rPr lang="es-AR" sz="1800" baseline="-25000" dirty="0" smtClean="0"/>
              <a:t>2</a:t>
            </a:r>
            <a:r>
              <a:rPr lang="es-AR" sz="1800" dirty="0" smtClean="0"/>
              <a:t>(1/p(a</a:t>
            </a:r>
            <a:r>
              <a:rPr lang="es-AR" sz="1800" baseline="-25000" dirty="0" smtClean="0"/>
              <a:t>2</a:t>
            </a:r>
            <a:r>
              <a:rPr lang="es-AR" sz="1800" dirty="0"/>
              <a:t>)) = </a:t>
            </a:r>
          </a:p>
          <a:p>
            <a:pPr marL="0" indent="0" algn="just">
              <a:buNone/>
            </a:pPr>
            <a:r>
              <a:rPr lang="es-AR" sz="1800" dirty="0"/>
              <a:t>    </a:t>
            </a:r>
          </a:p>
          <a:p>
            <a:pPr marL="0" indent="0" algn="just">
              <a:buNone/>
            </a:pPr>
            <a:r>
              <a:rPr lang="es-AR" sz="1800" dirty="0"/>
              <a:t>       = </a:t>
            </a:r>
            <a:r>
              <a:rPr lang="es-AR" sz="1800" dirty="0" smtClean="0"/>
              <a:t>3/4 </a:t>
            </a:r>
            <a:r>
              <a:rPr lang="es-AR" sz="1800" dirty="0"/>
              <a:t>. </a:t>
            </a:r>
            <a:r>
              <a:rPr lang="es-AR" sz="1800" dirty="0" smtClean="0"/>
              <a:t>log</a:t>
            </a:r>
            <a:r>
              <a:rPr lang="es-AR" sz="1800" baseline="-25000" dirty="0" smtClean="0"/>
              <a:t>2</a:t>
            </a:r>
            <a:r>
              <a:rPr lang="es-AR" sz="1800" dirty="0" smtClean="0"/>
              <a:t>(4/3) </a:t>
            </a:r>
            <a:r>
              <a:rPr lang="es-AR" sz="1800" dirty="0"/>
              <a:t>+ </a:t>
            </a:r>
            <a:r>
              <a:rPr lang="es-AR" sz="1800" dirty="0" smtClean="0"/>
              <a:t>1/4 </a:t>
            </a:r>
            <a:r>
              <a:rPr lang="es-AR" sz="1800" dirty="0"/>
              <a:t>. </a:t>
            </a:r>
            <a:r>
              <a:rPr lang="es-AR" sz="1800" dirty="0" smtClean="0"/>
              <a:t>log</a:t>
            </a:r>
            <a:r>
              <a:rPr lang="es-AR" sz="1800" baseline="-25000" dirty="0" smtClean="0"/>
              <a:t>2</a:t>
            </a:r>
            <a:r>
              <a:rPr lang="es-AR" sz="1800" dirty="0" smtClean="0"/>
              <a:t>(4) </a:t>
            </a:r>
            <a:r>
              <a:rPr lang="es-AR" sz="1800" dirty="0"/>
              <a:t>= </a:t>
            </a:r>
            <a:r>
              <a:rPr lang="es-AR" sz="1800" b="1" dirty="0" smtClean="0"/>
              <a:t>0,81 </a:t>
            </a:r>
            <a:r>
              <a:rPr lang="es-AR" sz="1800" b="1" dirty="0"/>
              <a:t>bits</a:t>
            </a:r>
          </a:p>
          <a:p>
            <a:pPr marL="0" indent="0" algn="just">
              <a:buNone/>
            </a:pPr>
            <a:endParaRPr lang="es-AR" sz="1800" dirty="0"/>
          </a:p>
          <a:p>
            <a:pPr marL="0" indent="0" algn="just">
              <a:buNone/>
            </a:pPr>
            <a:endParaRPr lang="es-AR" sz="1800" dirty="0"/>
          </a:p>
          <a:p>
            <a:pPr marL="0" indent="0" algn="just">
              <a:buNone/>
            </a:pP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Tree>
    <p:extLst>
      <p:ext uri="{BB962C8B-B14F-4D97-AF65-F5344CB8AC3E}">
        <p14:creationId xmlns:p14="http://schemas.microsoft.com/office/powerpoint/2010/main" val="5553675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33</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lvl="0" indent="0">
              <a:buNone/>
            </a:pPr>
            <a:r>
              <a:rPr lang="es-ES" sz="2300" dirty="0" smtClean="0"/>
              <a:t>3. La </a:t>
            </a:r>
            <a:r>
              <a:rPr lang="es-ES" sz="2300" dirty="0"/>
              <a:t>entropía a priori de los símbolos a la </a:t>
            </a:r>
            <a:r>
              <a:rPr lang="es-ES" sz="2300" dirty="0" smtClean="0"/>
              <a:t>salida </a:t>
            </a:r>
            <a:r>
              <a:rPr lang="es-ES" sz="2300" dirty="0"/>
              <a:t>del canal, </a:t>
            </a:r>
            <a:r>
              <a:rPr lang="es-ES" sz="2300" dirty="0" smtClean="0"/>
              <a:t>H(B). </a:t>
            </a:r>
            <a:endParaRPr lang="es-AR" sz="2300" dirty="0"/>
          </a:p>
          <a:p>
            <a:pPr marL="0" indent="0" algn="just">
              <a:buNone/>
            </a:pPr>
            <a:endParaRPr lang="es-AR" sz="1800" dirty="0" smtClean="0"/>
          </a:p>
          <a:p>
            <a:pPr marL="0" indent="0" algn="just">
              <a:buNone/>
            </a:pPr>
            <a:r>
              <a:rPr lang="es-AR" sz="1800" dirty="0" smtClean="0"/>
              <a:t>H(B) = p(b</a:t>
            </a:r>
            <a:r>
              <a:rPr lang="es-AR" sz="1800" baseline="-25000" dirty="0" smtClean="0"/>
              <a:t>1</a:t>
            </a:r>
            <a:r>
              <a:rPr lang="es-AR" sz="1800" dirty="0" smtClean="0"/>
              <a:t>).log</a:t>
            </a:r>
            <a:r>
              <a:rPr lang="es-AR" sz="1800" baseline="-25000" dirty="0" smtClean="0"/>
              <a:t>2</a:t>
            </a:r>
            <a:r>
              <a:rPr lang="es-AR" sz="1800" dirty="0" smtClean="0"/>
              <a:t>(1/p(b</a:t>
            </a:r>
            <a:r>
              <a:rPr lang="es-AR" sz="1800" baseline="-25000" dirty="0" smtClean="0"/>
              <a:t>1</a:t>
            </a:r>
            <a:r>
              <a:rPr lang="es-AR" sz="1800" dirty="0" smtClean="0"/>
              <a:t>)) </a:t>
            </a:r>
            <a:r>
              <a:rPr lang="es-AR" sz="1800" dirty="0"/>
              <a:t>+ </a:t>
            </a:r>
            <a:r>
              <a:rPr lang="es-AR" sz="1800" dirty="0" smtClean="0"/>
              <a:t>p(b</a:t>
            </a:r>
            <a:r>
              <a:rPr lang="es-AR" sz="1800" baseline="-25000" dirty="0" smtClean="0"/>
              <a:t>2</a:t>
            </a:r>
            <a:r>
              <a:rPr lang="es-AR" sz="1800" dirty="0" smtClean="0"/>
              <a:t>).log</a:t>
            </a:r>
            <a:r>
              <a:rPr lang="es-AR" sz="1800" baseline="-25000" dirty="0" smtClean="0"/>
              <a:t>2</a:t>
            </a:r>
            <a:r>
              <a:rPr lang="es-AR" sz="1800" dirty="0" smtClean="0"/>
              <a:t>(1/p(b</a:t>
            </a:r>
            <a:r>
              <a:rPr lang="es-AR" sz="1800" baseline="-25000" dirty="0" smtClean="0"/>
              <a:t>2</a:t>
            </a:r>
            <a:r>
              <a:rPr lang="es-AR" sz="1800" dirty="0" smtClean="0"/>
              <a:t>)) = </a:t>
            </a:r>
          </a:p>
          <a:p>
            <a:pPr marL="0" indent="0" algn="just">
              <a:buNone/>
            </a:pPr>
            <a:r>
              <a:rPr lang="es-AR" sz="1800" dirty="0"/>
              <a:t> </a:t>
            </a:r>
            <a:r>
              <a:rPr lang="es-AR" sz="1800" dirty="0" smtClean="0"/>
              <a:t>   </a:t>
            </a:r>
          </a:p>
          <a:p>
            <a:pPr marL="0" indent="0" algn="just">
              <a:buNone/>
            </a:pPr>
            <a:r>
              <a:rPr lang="es-AR" sz="1800" dirty="0" smtClean="0"/>
              <a:t>       = 21/40 . log</a:t>
            </a:r>
            <a:r>
              <a:rPr lang="es-AR" sz="1800" baseline="-25000" dirty="0" smtClean="0"/>
              <a:t>2</a:t>
            </a:r>
            <a:r>
              <a:rPr lang="es-AR" sz="1800" dirty="0" smtClean="0"/>
              <a:t>(40/21) + 19/40 . log</a:t>
            </a:r>
            <a:r>
              <a:rPr lang="es-AR" sz="1800" baseline="-25000" dirty="0" smtClean="0"/>
              <a:t>2</a:t>
            </a:r>
            <a:r>
              <a:rPr lang="es-AR" sz="1800" dirty="0" smtClean="0"/>
              <a:t>(40/19) = </a:t>
            </a:r>
            <a:r>
              <a:rPr lang="es-AR" sz="1800" b="1" dirty="0" smtClean="0"/>
              <a:t>0,99 bits</a:t>
            </a:r>
          </a:p>
          <a:p>
            <a:pPr marL="0" indent="0" algn="just">
              <a:buNone/>
            </a:pPr>
            <a:endParaRPr lang="es-AR" sz="1800" b="1" dirty="0"/>
          </a:p>
          <a:p>
            <a:pPr marL="0" indent="0" algn="just">
              <a:buNone/>
            </a:pPr>
            <a:r>
              <a:rPr lang="es-ES" sz="2300" dirty="0" smtClean="0"/>
              <a:t>4. Las </a:t>
            </a:r>
            <a:r>
              <a:rPr lang="es-ES" sz="2300" dirty="0"/>
              <a:t>probabilidades “hacia atrás”, p(</a:t>
            </a:r>
            <a:r>
              <a:rPr lang="es-ES" sz="2300" dirty="0" err="1"/>
              <a:t>a</a:t>
            </a:r>
            <a:r>
              <a:rPr lang="es-ES" sz="2300" baseline="-25000" dirty="0" err="1"/>
              <a:t>i</a:t>
            </a:r>
            <a:r>
              <a:rPr lang="es-ES" sz="2300" dirty="0"/>
              <a:t>/</a:t>
            </a:r>
            <a:r>
              <a:rPr lang="es-ES" sz="2300" dirty="0" err="1"/>
              <a:t>b</a:t>
            </a:r>
            <a:r>
              <a:rPr lang="es-ES" sz="2300" baseline="-25000" dirty="0" err="1"/>
              <a:t>j</a:t>
            </a:r>
            <a:r>
              <a:rPr lang="es-ES" sz="2300" dirty="0"/>
              <a:t>). </a:t>
            </a:r>
            <a:endParaRPr lang="es-ES" sz="2300" dirty="0" smtClean="0"/>
          </a:p>
          <a:p>
            <a:pPr marL="0" indent="0" algn="just">
              <a:buNone/>
            </a:pPr>
            <a:endParaRPr lang="es-ES" sz="2300" dirty="0"/>
          </a:p>
          <a:p>
            <a:pPr marL="0" indent="0">
              <a:buNone/>
            </a:pPr>
            <a:r>
              <a:rPr lang="es-ES" sz="1800" dirty="0" smtClean="0"/>
              <a:t>P(a</a:t>
            </a:r>
            <a:r>
              <a:rPr lang="es-ES" sz="1800" baseline="-25000" dirty="0" smtClean="0"/>
              <a:t>1</a:t>
            </a:r>
            <a:r>
              <a:rPr lang="es-ES" sz="1800" dirty="0" smtClean="0"/>
              <a:t>/b</a:t>
            </a:r>
            <a:r>
              <a:rPr lang="es-ES" sz="1800" baseline="-25000" dirty="0"/>
              <a:t>1</a:t>
            </a:r>
            <a:r>
              <a:rPr lang="es-ES" sz="1800" dirty="0" smtClean="0"/>
              <a:t>) = p(b</a:t>
            </a:r>
            <a:r>
              <a:rPr lang="es-ES" sz="1800" baseline="-25000" dirty="0" smtClean="0"/>
              <a:t>1</a:t>
            </a:r>
            <a:r>
              <a:rPr lang="es-ES" sz="1800" dirty="0" smtClean="0"/>
              <a:t>/a</a:t>
            </a:r>
            <a:r>
              <a:rPr lang="es-ES" sz="1800" baseline="-25000" dirty="0"/>
              <a:t>1</a:t>
            </a:r>
            <a:r>
              <a:rPr lang="es-ES" sz="1800" dirty="0" smtClean="0"/>
              <a:t>) . p(a</a:t>
            </a:r>
            <a:r>
              <a:rPr lang="es-ES" sz="1800" baseline="-25000" dirty="0"/>
              <a:t>1</a:t>
            </a:r>
            <a:r>
              <a:rPr lang="es-ES" sz="1800" dirty="0" smtClean="0"/>
              <a:t>) / p(b</a:t>
            </a:r>
            <a:r>
              <a:rPr lang="es-ES" sz="1800" baseline="-25000" dirty="0"/>
              <a:t>1</a:t>
            </a:r>
            <a:r>
              <a:rPr lang="es-ES" sz="1800" dirty="0" smtClean="0"/>
              <a:t>) = 2/3 . 3/4 / 21/40 = 20/21</a:t>
            </a:r>
          </a:p>
          <a:p>
            <a:pPr marL="0" indent="0" algn="just">
              <a:buNone/>
            </a:pPr>
            <a:r>
              <a:rPr lang="es-ES" sz="1800" dirty="0" smtClean="0"/>
              <a:t>P(a</a:t>
            </a:r>
            <a:r>
              <a:rPr lang="es-ES" sz="1800" baseline="-25000" dirty="0" smtClean="0"/>
              <a:t>1</a:t>
            </a:r>
            <a:r>
              <a:rPr lang="es-ES" sz="1800" dirty="0" smtClean="0"/>
              <a:t>/b</a:t>
            </a:r>
            <a:r>
              <a:rPr lang="es-ES" sz="1800" baseline="-25000" dirty="0"/>
              <a:t>2</a:t>
            </a:r>
            <a:r>
              <a:rPr lang="es-ES" sz="1800" dirty="0" smtClean="0"/>
              <a:t>) </a:t>
            </a:r>
            <a:r>
              <a:rPr lang="es-ES" sz="1800" dirty="0"/>
              <a:t>= </a:t>
            </a:r>
            <a:r>
              <a:rPr lang="es-ES" sz="1800" dirty="0" smtClean="0"/>
              <a:t>p(b</a:t>
            </a:r>
            <a:r>
              <a:rPr lang="es-ES" sz="1800" baseline="-25000" dirty="0" smtClean="0"/>
              <a:t>2</a:t>
            </a:r>
            <a:r>
              <a:rPr lang="es-ES" sz="1800" dirty="0" smtClean="0"/>
              <a:t>/a</a:t>
            </a:r>
            <a:r>
              <a:rPr lang="es-ES" sz="1800" baseline="-25000" dirty="0"/>
              <a:t>1</a:t>
            </a:r>
            <a:r>
              <a:rPr lang="es-ES" sz="1800" dirty="0" smtClean="0"/>
              <a:t>) </a:t>
            </a:r>
            <a:r>
              <a:rPr lang="es-ES" sz="1800" dirty="0"/>
              <a:t>. </a:t>
            </a:r>
            <a:r>
              <a:rPr lang="es-ES" sz="1800" dirty="0" smtClean="0"/>
              <a:t>p(a</a:t>
            </a:r>
            <a:r>
              <a:rPr lang="es-ES" sz="1800" baseline="-25000" dirty="0"/>
              <a:t>1</a:t>
            </a:r>
            <a:r>
              <a:rPr lang="es-ES" sz="1800" dirty="0" smtClean="0"/>
              <a:t>) </a:t>
            </a:r>
            <a:r>
              <a:rPr lang="es-ES" sz="1800" dirty="0"/>
              <a:t>/ </a:t>
            </a:r>
            <a:r>
              <a:rPr lang="es-ES" sz="1800" dirty="0" smtClean="0"/>
              <a:t>p(b</a:t>
            </a:r>
            <a:r>
              <a:rPr lang="es-ES" sz="1800" baseline="-25000" dirty="0"/>
              <a:t>2</a:t>
            </a:r>
            <a:r>
              <a:rPr lang="es-ES" sz="1800" dirty="0" smtClean="0"/>
              <a:t>) </a:t>
            </a:r>
            <a:r>
              <a:rPr lang="es-ES" sz="1800" dirty="0"/>
              <a:t>= </a:t>
            </a:r>
            <a:r>
              <a:rPr lang="es-ES" sz="1800" dirty="0" smtClean="0"/>
              <a:t>… = 10/19</a:t>
            </a:r>
          </a:p>
          <a:p>
            <a:pPr marL="0" indent="0" algn="just">
              <a:buNone/>
            </a:pPr>
            <a:r>
              <a:rPr lang="es-ES" sz="1800" dirty="0" smtClean="0"/>
              <a:t>P(a</a:t>
            </a:r>
            <a:r>
              <a:rPr lang="es-ES" sz="1800" baseline="-25000" dirty="0" smtClean="0"/>
              <a:t>2</a:t>
            </a:r>
            <a:r>
              <a:rPr lang="es-ES" sz="1800" dirty="0" smtClean="0"/>
              <a:t>/b</a:t>
            </a:r>
            <a:r>
              <a:rPr lang="es-ES" sz="1800" baseline="-25000" dirty="0"/>
              <a:t>1</a:t>
            </a:r>
            <a:r>
              <a:rPr lang="es-ES" sz="1800" dirty="0" smtClean="0"/>
              <a:t>) </a:t>
            </a:r>
            <a:r>
              <a:rPr lang="es-ES" sz="1800" dirty="0"/>
              <a:t>= </a:t>
            </a:r>
            <a:r>
              <a:rPr lang="es-ES" sz="1800" dirty="0" smtClean="0"/>
              <a:t>p(b</a:t>
            </a:r>
            <a:r>
              <a:rPr lang="es-ES" sz="1800" baseline="-25000" dirty="0" smtClean="0"/>
              <a:t>1</a:t>
            </a:r>
            <a:r>
              <a:rPr lang="es-ES" sz="1800" dirty="0" smtClean="0"/>
              <a:t>/a</a:t>
            </a:r>
            <a:r>
              <a:rPr lang="es-ES" sz="1800" baseline="-25000" dirty="0"/>
              <a:t>2</a:t>
            </a:r>
            <a:r>
              <a:rPr lang="es-ES" sz="1800" dirty="0" smtClean="0"/>
              <a:t>) </a:t>
            </a:r>
            <a:r>
              <a:rPr lang="es-ES" sz="1800" dirty="0"/>
              <a:t>. </a:t>
            </a:r>
            <a:r>
              <a:rPr lang="es-ES" sz="1800" dirty="0" smtClean="0"/>
              <a:t>p(a</a:t>
            </a:r>
            <a:r>
              <a:rPr lang="es-ES" sz="1800" baseline="-25000" dirty="0"/>
              <a:t>2</a:t>
            </a:r>
            <a:r>
              <a:rPr lang="es-ES" sz="1800" dirty="0" smtClean="0"/>
              <a:t>) </a:t>
            </a:r>
            <a:r>
              <a:rPr lang="es-ES" sz="1800" dirty="0"/>
              <a:t>/ </a:t>
            </a:r>
            <a:r>
              <a:rPr lang="es-ES" sz="1800" dirty="0" smtClean="0"/>
              <a:t>p(b</a:t>
            </a:r>
            <a:r>
              <a:rPr lang="es-ES" sz="1800" baseline="-25000" dirty="0"/>
              <a:t>1</a:t>
            </a:r>
            <a:r>
              <a:rPr lang="es-ES" sz="1800" dirty="0" smtClean="0"/>
              <a:t>) </a:t>
            </a:r>
            <a:r>
              <a:rPr lang="es-ES" sz="1800" dirty="0"/>
              <a:t>= … = </a:t>
            </a:r>
            <a:r>
              <a:rPr lang="es-ES" sz="1800" dirty="0" smtClean="0"/>
              <a:t>1/21</a:t>
            </a:r>
          </a:p>
          <a:p>
            <a:pPr marL="0" indent="0" algn="just">
              <a:buNone/>
            </a:pPr>
            <a:r>
              <a:rPr lang="es-ES" sz="1800" dirty="0" smtClean="0"/>
              <a:t>P(a</a:t>
            </a:r>
            <a:r>
              <a:rPr lang="es-ES" sz="1800" baseline="-25000" dirty="0" smtClean="0"/>
              <a:t>2</a:t>
            </a:r>
            <a:r>
              <a:rPr lang="es-ES" sz="1800" dirty="0" smtClean="0"/>
              <a:t>/b</a:t>
            </a:r>
            <a:r>
              <a:rPr lang="es-ES" sz="1800" baseline="-25000" dirty="0"/>
              <a:t>2</a:t>
            </a:r>
            <a:r>
              <a:rPr lang="es-ES" sz="1800" dirty="0" smtClean="0"/>
              <a:t>) </a:t>
            </a:r>
            <a:r>
              <a:rPr lang="es-ES" sz="1800" dirty="0"/>
              <a:t>= </a:t>
            </a:r>
            <a:r>
              <a:rPr lang="es-ES" sz="1800" dirty="0" smtClean="0"/>
              <a:t>p(b</a:t>
            </a:r>
            <a:r>
              <a:rPr lang="es-ES" sz="1800" baseline="-25000" dirty="0" smtClean="0"/>
              <a:t>2</a:t>
            </a:r>
            <a:r>
              <a:rPr lang="es-ES" sz="1800" dirty="0" smtClean="0"/>
              <a:t>/a</a:t>
            </a:r>
            <a:r>
              <a:rPr lang="es-ES" sz="1800" baseline="-25000" dirty="0"/>
              <a:t>2</a:t>
            </a:r>
            <a:r>
              <a:rPr lang="es-ES" sz="1800" dirty="0" smtClean="0"/>
              <a:t>) </a:t>
            </a:r>
            <a:r>
              <a:rPr lang="es-ES" sz="1800" dirty="0"/>
              <a:t>. </a:t>
            </a:r>
            <a:r>
              <a:rPr lang="es-ES" sz="1800" dirty="0" smtClean="0"/>
              <a:t>p(a</a:t>
            </a:r>
            <a:r>
              <a:rPr lang="es-ES" sz="1800" baseline="-25000" dirty="0"/>
              <a:t>2</a:t>
            </a:r>
            <a:r>
              <a:rPr lang="es-ES" sz="1800" dirty="0" smtClean="0"/>
              <a:t>) </a:t>
            </a:r>
            <a:r>
              <a:rPr lang="es-ES" sz="1800" dirty="0"/>
              <a:t>/ </a:t>
            </a:r>
            <a:r>
              <a:rPr lang="es-ES" sz="1800" dirty="0" smtClean="0"/>
              <a:t>p(b</a:t>
            </a:r>
            <a:r>
              <a:rPr lang="es-ES" sz="1800" baseline="-25000" dirty="0" smtClean="0"/>
              <a:t>2</a:t>
            </a:r>
            <a:r>
              <a:rPr lang="es-ES" sz="1800" dirty="0" smtClean="0"/>
              <a:t>) </a:t>
            </a:r>
            <a:r>
              <a:rPr lang="es-ES" sz="1800" dirty="0"/>
              <a:t>= … = </a:t>
            </a:r>
            <a:r>
              <a:rPr lang="es-ES" sz="1800" dirty="0" smtClean="0"/>
              <a:t>9/19</a:t>
            </a:r>
            <a:endParaRPr lang="es-AR" sz="18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Tree>
    <p:extLst>
      <p:ext uri="{BB962C8B-B14F-4D97-AF65-F5344CB8AC3E}">
        <p14:creationId xmlns:p14="http://schemas.microsoft.com/office/powerpoint/2010/main" val="11053628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34</a:t>
            </a:fld>
            <a:endParaRPr lang="es-ES"/>
          </a:p>
        </p:txBody>
      </p:sp>
      <p:sp>
        <p:nvSpPr>
          <p:cNvPr id="14" name="2 Marcador de contenido"/>
          <p:cNvSpPr>
            <a:spLocks noGrp="1"/>
          </p:cNvSpPr>
          <p:nvPr>
            <p:ph sz="quarter" idx="1"/>
          </p:nvPr>
        </p:nvSpPr>
        <p:spPr>
          <a:xfrm>
            <a:off x="457200" y="1219200"/>
            <a:ext cx="8229600" cy="4937760"/>
          </a:xfrm>
        </p:spPr>
        <p:txBody>
          <a:bodyPr>
            <a:normAutofit lnSpcReduction="10000"/>
          </a:bodyPr>
          <a:lstStyle/>
          <a:p>
            <a:pPr marL="0" lvl="0" indent="0">
              <a:buNone/>
            </a:pPr>
            <a:r>
              <a:rPr lang="es-ES" sz="2300" dirty="0" smtClean="0"/>
              <a:t>5. </a:t>
            </a:r>
            <a:r>
              <a:rPr lang="es-ES" sz="2300" dirty="0"/>
              <a:t>Las entropías a posteriori, H(A/B) y H(B/A). </a:t>
            </a:r>
          </a:p>
          <a:p>
            <a:pPr marL="0" lvl="0" indent="0">
              <a:buNone/>
            </a:pPr>
            <a:endParaRPr lang="es-AR" sz="2300" dirty="0" smtClean="0"/>
          </a:p>
          <a:p>
            <a:pPr marL="0" indent="0" algn="just">
              <a:buNone/>
            </a:pPr>
            <a:r>
              <a:rPr lang="es-AR" sz="1800" dirty="0" smtClean="0"/>
              <a:t>H(A/</a:t>
            </a:r>
            <a:r>
              <a:rPr lang="es-AR" sz="1800" dirty="0"/>
              <a:t>b</a:t>
            </a:r>
            <a:r>
              <a:rPr lang="es-AR" sz="1800" baseline="-25000" dirty="0"/>
              <a:t>1</a:t>
            </a:r>
            <a:r>
              <a:rPr lang="es-AR" sz="1800" dirty="0" smtClean="0"/>
              <a:t>) = p(a</a:t>
            </a:r>
            <a:r>
              <a:rPr lang="es-AR" sz="1800" baseline="-25000" dirty="0" smtClean="0"/>
              <a:t>1</a:t>
            </a:r>
            <a:r>
              <a:rPr lang="es-AR" sz="1800" dirty="0" smtClean="0"/>
              <a:t>/b</a:t>
            </a:r>
            <a:r>
              <a:rPr lang="es-AR" sz="1800" baseline="-25000" dirty="0" smtClean="0"/>
              <a:t>1</a:t>
            </a:r>
            <a:r>
              <a:rPr lang="es-AR" sz="1800" dirty="0" smtClean="0"/>
              <a:t>).log</a:t>
            </a:r>
            <a:r>
              <a:rPr lang="es-AR" sz="1800" baseline="-25000" dirty="0" smtClean="0"/>
              <a:t>2</a:t>
            </a:r>
            <a:r>
              <a:rPr lang="es-AR" sz="1800" dirty="0" smtClean="0"/>
              <a:t>(1/p(a</a:t>
            </a:r>
            <a:r>
              <a:rPr lang="es-AR" sz="1800" baseline="-25000" dirty="0" smtClean="0"/>
              <a:t>1</a:t>
            </a:r>
            <a:r>
              <a:rPr lang="es-AR" sz="1800" dirty="0" smtClean="0"/>
              <a:t>/b</a:t>
            </a:r>
            <a:r>
              <a:rPr lang="es-AR" sz="1800" baseline="-25000" dirty="0" smtClean="0"/>
              <a:t>1</a:t>
            </a:r>
            <a:r>
              <a:rPr lang="es-AR" sz="1800" dirty="0" smtClean="0"/>
              <a:t>)) </a:t>
            </a:r>
            <a:r>
              <a:rPr lang="es-AR" sz="1800" dirty="0"/>
              <a:t>+ </a:t>
            </a:r>
            <a:r>
              <a:rPr lang="es-AR" sz="1800" dirty="0" smtClean="0"/>
              <a:t>p(a</a:t>
            </a:r>
            <a:r>
              <a:rPr lang="es-AR" sz="1800" baseline="-25000" dirty="0" smtClean="0"/>
              <a:t>2</a:t>
            </a:r>
            <a:r>
              <a:rPr lang="es-AR" sz="1800" dirty="0" smtClean="0"/>
              <a:t>/b</a:t>
            </a:r>
            <a:r>
              <a:rPr lang="es-AR" sz="1800" baseline="-25000" dirty="0"/>
              <a:t>1</a:t>
            </a:r>
            <a:r>
              <a:rPr lang="es-AR" sz="1800" dirty="0" smtClean="0"/>
              <a:t>).log</a:t>
            </a:r>
            <a:r>
              <a:rPr lang="es-AR" sz="1800" baseline="-25000" dirty="0" smtClean="0"/>
              <a:t>2</a:t>
            </a:r>
            <a:r>
              <a:rPr lang="es-AR" sz="1800" dirty="0" smtClean="0"/>
              <a:t>(1/p(</a:t>
            </a:r>
            <a:r>
              <a:rPr lang="es-AR" sz="1800" dirty="0"/>
              <a:t>a</a:t>
            </a:r>
            <a:r>
              <a:rPr lang="es-AR" sz="1800" baseline="-25000" dirty="0"/>
              <a:t>2</a:t>
            </a:r>
            <a:r>
              <a:rPr lang="es-AR" sz="1800" dirty="0"/>
              <a:t>/b</a:t>
            </a:r>
            <a:r>
              <a:rPr lang="es-AR" sz="1800" baseline="-25000" dirty="0"/>
              <a:t>1</a:t>
            </a:r>
            <a:r>
              <a:rPr lang="es-AR" sz="1800" dirty="0" smtClean="0"/>
              <a:t>)) = </a:t>
            </a:r>
          </a:p>
          <a:p>
            <a:pPr marL="0" indent="0" algn="just">
              <a:buNone/>
            </a:pPr>
            <a:r>
              <a:rPr lang="es-AR" sz="1800" dirty="0"/>
              <a:t> </a:t>
            </a:r>
            <a:r>
              <a:rPr lang="es-AR" sz="1800" dirty="0" smtClean="0"/>
              <a:t>   </a:t>
            </a:r>
          </a:p>
          <a:p>
            <a:pPr marL="0" indent="0" algn="just">
              <a:buNone/>
            </a:pPr>
            <a:r>
              <a:rPr lang="es-AR" sz="1800" dirty="0" smtClean="0"/>
              <a:t>       = 20/21 . log</a:t>
            </a:r>
            <a:r>
              <a:rPr lang="es-AR" sz="1800" baseline="-25000" dirty="0" smtClean="0"/>
              <a:t>2</a:t>
            </a:r>
            <a:r>
              <a:rPr lang="es-AR" sz="1800" dirty="0" smtClean="0"/>
              <a:t>(21/20) + 1/21 . log</a:t>
            </a:r>
            <a:r>
              <a:rPr lang="es-AR" sz="1800" baseline="-25000" dirty="0" smtClean="0"/>
              <a:t>2</a:t>
            </a:r>
            <a:r>
              <a:rPr lang="es-AR" sz="1800" dirty="0" smtClean="0"/>
              <a:t>(21) = </a:t>
            </a:r>
            <a:r>
              <a:rPr lang="es-AR" sz="1800" b="1" dirty="0" smtClean="0"/>
              <a:t>0,27 bits</a:t>
            </a:r>
          </a:p>
          <a:p>
            <a:pPr marL="0" indent="0" algn="just">
              <a:buNone/>
            </a:pPr>
            <a:endParaRPr lang="es-AR" sz="1800" b="1" dirty="0"/>
          </a:p>
          <a:p>
            <a:pPr marL="0" indent="0" algn="just">
              <a:buNone/>
            </a:pPr>
            <a:r>
              <a:rPr lang="es-AR" sz="1800" dirty="0" smtClean="0"/>
              <a:t>H(A/b</a:t>
            </a:r>
            <a:r>
              <a:rPr lang="es-AR" sz="1800" baseline="-25000" dirty="0" smtClean="0"/>
              <a:t>2</a:t>
            </a:r>
            <a:r>
              <a:rPr lang="es-AR" sz="1800" dirty="0" smtClean="0"/>
              <a:t>) </a:t>
            </a:r>
            <a:r>
              <a:rPr lang="es-AR" sz="1800" dirty="0"/>
              <a:t>= </a:t>
            </a:r>
            <a:r>
              <a:rPr lang="es-AR" sz="1800" dirty="0" smtClean="0"/>
              <a:t>p(a</a:t>
            </a:r>
            <a:r>
              <a:rPr lang="es-AR" sz="1800" baseline="-25000" dirty="0" smtClean="0"/>
              <a:t>1</a:t>
            </a:r>
            <a:r>
              <a:rPr lang="es-AR" sz="1800" dirty="0" smtClean="0"/>
              <a:t>/b</a:t>
            </a:r>
            <a:r>
              <a:rPr lang="es-AR" sz="1800" baseline="-25000" dirty="0" smtClean="0"/>
              <a:t>2</a:t>
            </a:r>
            <a:r>
              <a:rPr lang="es-AR" sz="1800" dirty="0" smtClean="0"/>
              <a:t>).log</a:t>
            </a:r>
            <a:r>
              <a:rPr lang="es-AR" sz="1800" baseline="-25000" dirty="0" smtClean="0"/>
              <a:t>2</a:t>
            </a:r>
            <a:r>
              <a:rPr lang="es-AR" sz="1800" dirty="0" smtClean="0"/>
              <a:t>(1/p(a</a:t>
            </a:r>
            <a:r>
              <a:rPr lang="es-AR" sz="1800" baseline="-25000" dirty="0" smtClean="0"/>
              <a:t>1</a:t>
            </a:r>
            <a:r>
              <a:rPr lang="es-AR" sz="1800" dirty="0" smtClean="0"/>
              <a:t>/b</a:t>
            </a:r>
            <a:r>
              <a:rPr lang="es-AR" sz="1800" baseline="-25000" dirty="0" smtClean="0"/>
              <a:t>2</a:t>
            </a:r>
            <a:r>
              <a:rPr lang="es-AR" sz="1800" dirty="0" smtClean="0"/>
              <a:t>)) </a:t>
            </a:r>
            <a:r>
              <a:rPr lang="es-AR" sz="1800" dirty="0"/>
              <a:t>+ </a:t>
            </a:r>
            <a:r>
              <a:rPr lang="es-AR" sz="1800" dirty="0" smtClean="0"/>
              <a:t>p(a</a:t>
            </a:r>
            <a:r>
              <a:rPr lang="es-AR" sz="1800" baseline="-25000" dirty="0" smtClean="0"/>
              <a:t>2</a:t>
            </a:r>
            <a:r>
              <a:rPr lang="es-AR" sz="1800" dirty="0" smtClean="0"/>
              <a:t>/b</a:t>
            </a:r>
            <a:r>
              <a:rPr lang="es-AR" sz="1800" baseline="-25000" dirty="0" smtClean="0"/>
              <a:t>2</a:t>
            </a:r>
            <a:r>
              <a:rPr lang="es-AR" sz="1800" dirty="0" smtClean="0"/>
              <a:t>).log</a:t>
            </a:r>
            <a:r>
              <a:rPr lang="es-AR" sz="1800" baseline="-25000" dirty="0" smtClean="0"/>
              <a:t>2</a:t>
            </a:r>
            <a:r>
              <a:rPr lang="es-AR" sz="1800" dirty="0" smtClean="0"/>
              <a:t>(1/p(a</a:t>
            </a:r>
            <a:r>
              <a:rPr lang="es-AR" sz="1800" baseline="-25000" dirty="0" smtClean="0"/>
              <a:t>2</a:t>
            </a:r>
            <a:r>
              <a:rPr lang="es-AR" sz="1800" dirty="0" smtClean="0"/>
              <a:t>/b</a:t>
            </a:r>
            <a:r>
              <a:rPr lang="es-AR" sz="1800" baseline="-25000" dirty="0" smtClean="0"/>
              <a:t>2</a:t>
            </a:r>
            <a:r>
              <a:rPr lang="es-AR" sz="1800" dirty="0" smtClean="0"/>
              <a:t>)) </a:t>
            </a:r>
            <a:r>
              <a:rPr lang="es-AR" sz="1800" dirty="0"/>
              <a:t>= </a:t>
            </a:r>
          </a:p>
          <a:p>
            <a:pPr marL="0" indent="0" algn="just">
              <a:buNone/>
            </a:pPr>
            <a:r>
              <a:rPr lang="es-AR" sz="1800" dirty="0"/>
              <a:t>    </a:t>
            </a:r>
          </a:p>
          <a:p>
            <a:pPr marL="0" indent="0" algn="just">
              <a:buNone/>
            </a:pPr>
            <a:r>
              <a:rPr lang="es-AR" sz="1800" dirty="0"/>
              <a:t>       = </a:t>
            </a:r>
            <a:r>
              <a:rPr lang="es-AR" sz="1800" dirty="0" smtClean="0"/>
              <a:t>10/19 </a:t>
            </a:r>
            <a:r>
              <a:rPr lang="es-AR" sz="1800" dirty="0"/>
              <a:t>. </a:t>
            </a:r>
            <a:r>
              <a:rPr lang="es-AR" sz="1800" dirty="0" smtClean="0"/>
              <a:t>log</a:t>
            </a:r>
            <a:r>
              <a:rPr lang="es-AR" sz="1800" baseline="-25000" dirty="0" smtClean="0"/>
              <a:t>2</a:t>
            </a:r>
            <a:r>
              <a:rPr lang="es-AR" sz="1800" dirty="0" smtClean="0"/>
              <a:t>(19/10</a:t>
            </a:r>
            <a:r>
              <a:rPr lang="es-AR" sz="1800" dirty="0"/>
              <a:t>) + </a:t>
            </a:r>
            <a:r>
              <a:rPr lang="es-AR" sz="1800" dirty="0" smtClean="0"/>
              <a:t>9/19 </a:t>
            </a:r>
            <a:r>
              <a:rPr lang="es-AR" sz="1800" dirty="0"/>
              <a:t>. </a:t>
            </a:r>
            <a:r>
              <a:rPr lang="es-AR" sz="1800" dirty="0" smtClean="0"/>
              <a:t>log</a:t>
            </a:r>
            <a:r>
              <a:rPr lang="es-AR" sz="1800" baseline="-25000" dirty="0" smtClean="0"/>
              <a:t>2</a:t>
            </a:r>
            <a:r>
              <a:rPr lang="es-AR" sz="1800" dirty="0" smtClean="0"/>
              <a:t>(19/9) </a:t>
            </a:r>
            <a:r>
              <a:rPr lang="es-AR" sz="1800" dirty="0"/>
              <a:t>= </a:t>
            </a:r>
            <a:r>
              <a:rPr lang="es-AR" sz="1800" b="1" dirty="0" smtClean="0"/>
              <a:t>0,99 </a:t>
            </a:r>
            <a:r>
              <a:rPr lang="es-AR" sz="1800" b="1" dirty="0"/>
              <a:t>bits</a:t>
            </a:r>
          </a:p>
          <a:p>
            <a:pPr marL="0" indent="0">
              <a:buNone/>
            </a:pPr>
            <a:r>
              <a:rPr lang="es-AR" sz="2300" dirty="0"/>
              <a:t>Finalmente,</a:t>
            </a:r>
          </a:p>
          <a:p>
            <a:pPr marL="0" indent="0" algn="just">
              <a:buNone/>
            </a:pPr>
            <a:endParaRPr lang="es-AR" sz="1800" dirty="0" smtClean="0"/>
          </a:p>
          <a:p>
            <a:pPr marL="0" indent="0" algn="just">
              <a:buNone/>
            </a:pPr>
            <a:r>
              <a:rPr lang="es-AR" sz="1800" dirty="0" smtClean="0"/>
              <a:t>H(A/B) </a:t>
            </a:r>
            <a:r>
              <a:rPr lang="es-AR" sz="1800" dirty="0"/>
              <a:t>= </a:t>
            </a:r>
            <a:r>
              <a:rPr lang="es-AR" sz="1800" dirty="0" smtClean="0"/>
              <a:t>H(A/b</a:t>
            </a:r>
            <a:r>
              <a:rPr lang="es-AR" sz="1800" baseline="-25000" dirty="0"/>
              <a:t>1</a:t>
            </a:r>
            <a:r>
              <a:rPr lang="es-AR" sz="1800" dirty="0" smtClean="0"/>
              <a:t>).p(</a:t>
            </a:r>
            <a:r>
              <a:rPr lang="es-AR" sz="1800" dirty="0"/>
              <a:t>b</a:t>
            </a:r>
            <a:r>
              <a:rPr lang="es-AR" sz="1800" baseline="-25000" dirty="0"/>
              <a:t>1</a:t>
            </a:r>
            <a:r>
              <a:rPr lang="es-AR" sz="1800" dirty="0" smtClean="0"/>
              <a:t>) </a:t>
            </a:r>
            <a:r>
              <a:rPr lang="es-AR" sz="1800" dirty="0"/>
              <a:t>+ </a:t>
            </a:r>
            <a:r>
              <a:rPr lang="es-AR" sz="1800" dirty="0" smtClean="0"/>
              <a:t>H(A/b</a:t>
            </a:r>
            <a:r>
              <a:rPr lang="es-AR" sz="1800" baseline="-25000" dirty="0" smtClean="0"/>
              <a:t>2</a:t>
            </a:r>
            <a:r>
              <a:rPr lang="es-AR" sz="1800" dirty="0" smtClean="0"/>
              <a:t>).p(b</a:t>
            </a:r>
            <a:r>
              <a:rPr lang="es-AR" sz="1800" baseline="-25000" dirty="0" smtClean="0"/>
              <a:t>2</a:t>
            </a:r>
            <a:r>
              <a:rPr lang="es-AR" sz="1800" dirty="0" smtClean="0"/>
              <a:t>) = </a:t>
            </a:r>
          </a:p>
          <a:p>
            <a:pPr marL="0" indent="0" algn="just">
              <a:buNone/>
            </a:pPr>
            <a:endParaRPr lang="es-AR" sz="1800" dirty="0" smtClean="0"/>
          </a:p>
          <a:p>
            <a:pPr marL="0" indent="0" algn="just">
              <a:buNone/>
            </a:pPr>
            <a:r>
              <a:rPr lang="es-AR" sz="1800" dirty="0" smtClean="0"/>
              <a:t>            = 0,27 . 21/40 + 0,99.19/40 = </a:t>
            </a:r>
            <a:r>
              <a:rPr lang="es-AR" sz="1800" b="1" dirty="0" smtClean="0"/>
              <a:t>0,62 bits</a:t>
            </a:r>
          </a:p>
          <a:p>
            <a:pPr marL="0" indent="0" algn="just">
              <a:buNone/>
            </a:pPr>
            <a:endParaRPr lang="es-AR" sz="1800" b="1"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
        <p:nvSpPr>
          <p:cNvPr id="8" name="14 CuadroTexto"/>
          <p:cNvSpPr txBox="1"/>
          <p:nvPr/>
        </p:nvSpPr>
        <p:spPr>
          <a:xfrm>
            <a:off x="6385848" y="5250686"/>
            <a:ext cx="2218600" cy="33855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sz="1600" dirty="0" smtClean="0"/>
              <a:t>Repetir para H(B/A)</a:t>
            </a:r>
            <a:endParaRPr lang="es-AR" sz="1600" baseline="30000" dirty="0" smtClean="0"/>
          </a:p>
        </p:txBody>
      </p:sp>
    </p:spTree>
    <p:extLst>
      <p:ext uri="{BB962C8B-B14F-4D97-AF65-F5344CB8AC3E}">
        <p14:creationId xmlns:p14="http://schemas.microsoft.com/office/powerpoint/2010/main" val="4251305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9 – Canal binario</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35</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indent="0">
              <a:buNone/>
            </a:pPr>
            <a:r>
              <a:rPr lang="es-ES" sz="2500" dirty="0" smtClean="0"/>
              <a:t>6. </a:t>
            </a:r>
            <a:r>
              <a:rPr lang="es-ES" sz="2500" dirty="0"/>
              <a:t>La información mutua del canal, I(A,B).</a:t>
            </a:r>
            <a:endParaRPr lang="es-AR" sz="2500" dirty="0"/>
          </a:p>
          <a:p>
            <a:pPr marL="0" lvl="0" indent="0">
              <a:buNone/>
            </a:pPr>
            <a:endParaRPr lang="es-ES" sz="2300" dirty="0"/>
          </a:p>
          <a:p>
            <a:pPr marL="0" lvl="0" indent="0">
              <a:buNone/>
            </a:pPr>
            <a:r>
              <a:rPr lang="es-AR" sz="1800" dirty="0" smtClean="0"/>
              <a:t>I(A, B) = H(A) – H(A/B) </a:t>
            </a:r>
            <a:r>
              <a:rPr lang="es-AR" sz="1800" smtClean="0"/>
              <a:t>= </a:t>
            </a:r>
            <a:r>
              <a:rPr lang="es-AR" sz="1800" smtClean="0"/>
              <a:t>H(B) </a:t>
            </a:r>
            <a:r>
              <a:rPr lang="es-AR" sz="1800"/>
              <a:t>– </a:t>
            </a:r>
            <a:r>
              <a:rPr lang="es-AR" sz="1800" smtClean="0"/>
              <a:t>H(B/A) = 0,81 </a:t>
            </a:r>
            <a:r>
              <a:rPr lang="es-AR" sz="1800" dirty="0" smtClean="0"/>
              <a:t>– 0,62 = </a:t>
            </a:r>
            <a:r>
              <a:rPr lang="es-AR" sz="1800" b="1" dirty="0" smtClean="0"/>
              <a:t>0,19 bits</a:t>
            </a:r>
          </a:p>
          <a:p>
            <a:pPr marL="0" lvl="0" indent="0">
              <a:buNone/>
            </a:pPr>
            <a:r>
              <a:rPr lang="es-AR" sz="1800" b="1" dirty="0" smtClean="0"/>
              <a:t>            </a:t>
            </a:r>
            <a:endParaRPr lang="es-AR" sz="1800" b="1" dirty="0" smtClean="0"/>
          </a:p>
          <a:p>
            <a:pPr marL="0" indent="0" algn="just">
              <a:buNone/>
            </a:pPr>
            <a:r>
              <a:rPr lang="es-AR" sz="1800" dirty="0" smtClean="0"/>
              <a:t>H(A, B) = H(A) + H(B) – I(A, B) = 0,81 + 0,99 – 0,19 = </a:t>
            </a:r>
            <a:r>
              <a:rPr lang="es-AR" sz="1800" b="1" dirty="0" smtClean="0"/>
              <a:t>1,61 bits</a:t>
            </a:r>
            <a:endParaRPr lang="es-AR" sz="1800" b="1"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
        <p:nvSpPr>
          <p:cNvPr id="3" name="Elipse 2"/>
          <p:cNvSpPr/>
          <p:nvPr/>
        </p:nvSpPr>
        <p:spPr>
          <a:xfrm>
            <a:off x="3249480" y="3824208"/>
            <a:ext cx="1656184" cy="1656184"/>
          </a:xfrm>
          <a:prstGeom prst="ellipse">
            <a:avLst/>
          </a:prstGeom>
          <a:solidFill>
            <a:srgbClr val="B88472">
              <a:alpha val="40000"/>
            </a:srgb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AR"/>
          </a:p>
        </p:txBody>
      </p:sp>
      <p:sp>
        <p:nvSpPr>
          <p:cNvPr id="8" name="Elipse 7"/>
          <p:cNvSpPr/>
          <p:nvPr/>
        </p:nvSpPr>
        <p:spPr>
          <a:xfrm>
            <a:off x="4257592" y="3824208"/>
            <a:ext cx="1656184" cy="1656184"/>
          </a:xfrm>
          <a:prstGeom prst="ellipse">
            <a:avLst/>
          </a:prstGeom>
          <a:solidFill>
            <a:srgbClr val="727CA3">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p:cNvSpPr txBox="1"/>
          <p:nvPr/>
        </p:nvSpPr>
        <p:spPr>
          <a:xfrm>
            <a:off x="2915816" y="3640381"/>
            <a:ext cx="1036578" cy="276999"/>
          </a:xfrm>
          <a:prstGeom prst="rect">
            <a:avLst/>
          </a:prstGeom>
          <a:noFill/>
        </p:spPr>
        <p:txBody>
          <a:bodyPr wrap="square" rtlCol="0">
            <a:spAutoFit/>
          </a:bodyPr>
          <a:lstStyle/>
          <a:p>
            <a:pPr algn="ctr"/>
            <a:r>
              <a:rPr lang="es-AR" sz="1200" dirty="0" smtClean="0"/>
              <a:t>H(A) = 0,81</a:t>
            </a:r>
            <a:endParaRPr lang="es-AR" sz="1200" dirty="0"/>
          </a:p>
        </p:txBody>
      </p:sp>
      <p:sp>
        <p:nvSpPr>
          <p:cNvPr id="10" name="CuadroTexto 9"/>
          <p:cNvSpPr txBox="1"/>
          <p:nvPr/>
        </p:nvSpPr>
        <p:spPr>
          <a:xfrm>
            <a:off x="5292080" y="3640380"/>
            <a:ext cx="1036578" cy="276999"/>
          </a:xfrm>
          <a:prstGeom prst="rect">
            <a:avLst/>
          </a:prstGeom>
          <a:noFill/>
        </p:spPr>
        <p:txBody>
          <a:bodyPr wrap="square" rtlCol="0">
            <a:spAutoFit/>
          </a:bodyPr>
          <a:lstStyle/>
          <a:p>
            <a:pPr algn="ctr"/>
            <a:r>
              <a:rPr lang="es-AR" sz="1200" dirty="0" smtClean="0"/>
              <a:t>H(B) = 0,99</a:t>
            </a:r>
            <a:endParaRPr lang="es-AR" sz="1200" dirty="0"/>
          </a:p>
        </p:txBody>
      </p:sp>
      <p:sp>
        <p:nvSpPr>
          <p:cNvPr id="11" name="CuadroTexto 10"/>
          <p:cNvSpPr txBox="1"/>
          <p:nvPr/>
        </p:nvSpPr>
        <p:spPr>
          <a:xfrm rot="16200000">
            <a:off x="3883328" y="4483313"/>
            <a:ext cx="1373584" cy="276999"/>
          </a:xfrm>
          <a:prstGeom prst="rect">
            <a:avLst/>
          </a:prstGeom>
          <a:noFill/>
        </p:spPr>
        <p:txBody>
          <a:bodyPr wrap="square" rtlCol="0">
            <a:spAutoFit/>
          </a:bodyPr>
          <a:lstStyle/>
          <a:p>
            <a:pPr algn="ctr"/>
            <a:r>
              <a:rPr lang="es-AR" sz="1200" dirty="0" smtClean="0"/>
              <a:t>I(A,B) = 0,19</a:t>
            </a:r>
            <a:endParaRPr lang="es-AR" sz="1200" dirty="0"/>
          </a:p>
        </p:txBody>
      </p:sp>
      <p:sp>
        <p:nvSpPr>
          <p:cNvPr id="12" name="CuadroTexto 11"/>
          <p:cNvSpPr txBox="1"/>
          <p:nvPr/>
        </p:nvSpPr>
        <p:spPr>
          <a:xfrm>
            <a:off x="3676096" y="5672281"/>
            <a:ext cx="1795168" cy="276999"/>
          </a:xfrm>
          <a:prstGeom prst="rect">
            <a:avLst/>
          </a:prstGeom>
          <a:noFill/>
        </p:spPr>
        <p:txBody>
          <a:bodyPr wrap="square" rtlCol="0">
            <a:spAutoFit/>
          </a:bodyPr>
          <a:lstStyle/>
          <a:p>
            <a:pPr algn="ctr"/>
            <a:r>
              <a:rPr lang="es-AR" sz="1200" dirty="0" smtClean="0"/>
              <a:t>H(A,B) = 1,61</a:t>
            </a:r>
            <a:endParaRPr lang="es-AR" sz="1200" dirty="0"/>
          </a:p>
        </p:txBody>
      </p:sp>
      <p:sp>
        <p:nvSpPr>
          <p:cNvPr id="7" name="Abrir corchete 6"/>
          <p:cNvSpPr/>
          <p:nvPr/>
        </p:nvSpPr>
        <p:spPr>
          <a:xfrm rot="16200000">
            <a:off x="4558768" y="4325310"/>
            <a:ext cx="45719" cy="2664296"/>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5" name="CuadroTexto 14"/>
          <p:cNvSpPr txBox="1"/>
          <p:nvPr/>
        </p:nvSpPr>
        <p:spPr>
          <a:xfrm>
            <a:off x="3068624" y="4500897"/>
            <a:ext cx="1363404" cy="276999"/>
          </a:xfrm>
          <a:prstGeom prst="rect">
            <a:avLst/>
          </a:prstGeom>
          <a:noFill/>
        </p:spPr>
        <p:txBody>
          <a:bodyPr wrap="square" rtlCol="0">
            <a:spAutoFit/>
          </a:bodyPr>
          <a:lstStyle/>
          <a:p>
            <a:pPr algn="ctr"/>
            <a:r>
              <a:rPr lang="es-AR" sz="1200" dirty="0" smtClean="0"/>
              <a:t>H(A/B) = 0,62</a:t>
            </a:r>
            <a:endParaRPr lang="es-AR" sz="1200" dirty="0"/>
          </a:p>
        </p:txBody>
      </p:sp>
      <p:sp>
        <p:nvSpPr>
          <p:cNvPr id="16" name="CuadroTexto 15"/>
          <p:cNvSpPr txBox="1"/>
          <p:nvPr/>
        </p:nvSpPr>
        <p:spPr>
          <a:xfrm>
            <a:off x="4716016" y="4509120"/>
            <a:ext cx="1363404" cy="276999"/>
          </a:xfrm>
          <a:prstGeom prst="rect">
            <a:avLst/>
          </a:prstGeom>
          <a:noFill/>
        </p:spPr>
        <p:txBody>
          <a:bodyPr wrap="square" rtlCol="0">
            <a:spAutoFit/>
          </a:bodyPr>
          <a:lstStyle/>
          <a:p>
            <a:pPr algn="ctr"/>
            <a:r>
              <a:rPr lang="es-AR" sz="1200" dirty="0" smtClean="0"/>
              <a:t>H(B/A) = ?</a:t>
            </a:r>
            <a:endParaRPr lang="es-AR" sz="1200" dirty="0"/>
          </a:p>
        </p:txBody>
      </p:sp>
    </p:spTree>
    <p:extLst>
      <p:ext uri="{BB962C8B-B14F-4D97-AF65-F5344CB8AC3E}">
        <p14:creationId xmlns:p14="http://schemas.microsoft.com/office/powerpoint/2010/main" val="33204325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t>Ejercicio 12 – Límite de Shannon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36</a:t>
            </a:fld>
            <a:endParaRPr lang="es-ES"/>
          </a:p>
        </p:txBody>
      </p:sp>
      <p:cxnSp>
        <p:nvCxnSpPr>
          <p:cNvPr id="13" name="Conector recto de flecha 12"/>
          <p:cNvCxnSpPr/>
          <p:nvPr/>
        </p:nvCxnSpPr>
        <p:spPr>
          <a:xfrm flipV="1">
            <a:off x="2511176" y="3015240"/>
            <a:ext cx="0" cy="2952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p:cNvCxnSpPr/>
          <p:nvPr/>
        </p:nvCxnSpPr>
        <p:spPr>
          <a:xfrm flipV="1">
            <a:off x="2240312" y="5823552"/>
            <a:ext cx="4185248" cy="8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rco 17"/>
          <p:cNvSpPr/>
          <p:nvPr/>
        </p:nvSpPr>
        <p:spPr>
          <a:xfrm flipH="1">
            <a:off x="2511176" y="4139936"/>
            <a:ext cx="6245352" cy="3393520"/>
          </a:xfrm>
          <a:prstGeom prst="arc">
            <a:avLst>
              <a:gd name="adj1" fmla="val 16218427"/>
              <a:gd name="adj2" fmla="val 0"/>
            </a:avLst>
          </a:prstGeom>
          <a:ln>
            <a:solidFill>
              <a:srgbClr val="FF0000"/>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s-AR"/>
          </a:p>
        </p:txBody>
      </p:sp>
      <p:cxnSp>
        <p:nvCxnSpPr>
          <p:cNvPr id="20" name="Conector recto 19"/>
          <p:cNvCxnSpPr/>
          <p:nvPr/>
        </p:nvCxnSpPr>
        <p:spPr>
          <a:xfrm>
            <a:off x="2468560" y="4103360"/>
            <a:ext cx="368761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1" name="CuadroTexto 20"/>
          <p:cNvSpPr txBox="1"/>
          <p:nvPr/>
        </p:nvSpPr>
        <p:spPr>
          <a:xfrm>
            <a:off x="2168304" y="2738241"/>
            <a:ext cx="1036578" cy="276999"/>
          </a:xfrm>
          <a:prstGeom prst="rect">
            <a:avLst/>
          </a:prstGeom>
          <a:noFill/>
        </p:spPr>
        <p:txBody>
          <a:bodyPr wrap="square" rtlCol="0">
            <a:spAutoFit/>
          </a:bodyPr>
          <a:lstStyle/>
          <a:p>
            <a:pPr algn="ctr"/>
            <a:r>
              <a:rPr lang="es-AR" sz="1200" dirty="0" smtClean="0"/>
              <a:t>C [bps]</a:t>
            </a:r>
            <a:endParaRPr lang="es-AR" sz="1200" dirty="0"/>
          </a:p>
        </p:txBody>
      </p:sp>
      <p:sp>
        <p:nvSpPr>
          <p:cNvPr id="22" name="CuadroTexto 21"/>
          <p:cNvSpPr txBox="1"/>
          <p:nvPr/>
        </p:nvSpPr>
        <p:spPr>
          <a:xfrm>
            <a:off x="5956262" y="5895560"/>
            <a:ext cx="1036578" cy="276999"/>
          </a:xfrm>
          <a:prstGeom prst="rect">
            <a:avLst/>
          </a:prstGeom>
          <a:noFill/>
        </p:spPr>
        <p:txBody>
          <a:bodyPr wrap="square" rtlCol="0">
            <a:spAutoFit/>
          </a:bodyPr>
          <a:lstStyle/>
          <a:p>
            <a:pPr algn="ctr"/>
            <a:r>
              <a:rPr lang="es-AR" sz="1200" dirty="0" smtClean="0"/>
              <a:t>B [Hz]</a:t>
            </a:r>
            <a:endParaRPr lang="es-AR" sz="1200" dirty="0"/>
          </a:p>
        </p:txBody>
      </p:sp>
      <p:sp>
        <p:nvSpPr>
          <p:cNvPr id="23" name="CuadroTexto 22"/>
          <p:cNvSpPr txBox="1"/>
          <p:nvPr/>
        </p:nvSpPr>
        <p:spPr>
          <a:xfrm>
            <a:off x="1547664" y="3899513"/>
            <a:ext cx="1036578" cy="276999"/>
          </a:xfrm>
          <a:prstGeom prst="rect">
            <a:avLst/>
          </a:prstGeom>
          <a:noFill/>
        </p:spPr>
        <p:txBody>
          <a:bodyPr wrap="square" rtlCol="0">
            <a:spAutoFit/>
          </a:bodyPr>
          <a:lstStyle/>
          <a:p>
            <a:pPr algn="ctr"/>
            <a:r>
              <a:rPr lang="es-AR" sz="1200" dirty="0" smtClean="0"/>
              <a:t>1,44. P</a:t>
            </a:r>
            <a:r>
              <a:rPr lang="es-AR" sz="1200" baseline="-25000" dirty="0" smtClean="0"/>
              <a:t>1</a:t>
            </a:r>
            <a:r>
              <a:rPr lang="es-AR" sz="1200" dirty="0" smtClean="0"/>
              <a:t>/No</a:t>
            </a:r>
            <a:endParaRPr lang="es-AR" sz="1200" dirty="0"/>
          </a:p>
        </p:txBody>
      </p:sp>
      <p:sp>
        <p:nvSpPr>
          <p:cNvPr id="24" name="Arco 23"/>
          <p:cNvSpPr/>
          <p:nvPr/>
        </p:nvSpPr>
        <p:spPr>
          <a:xfrm flipH="1">
            <a:off x="2508912" y="3667623"/>
            <a:ext cx="6245352" cy="4369889"/>
          </a:xfrm>
          <a:prstGeom prst="arc">
            <a:avLst>
              <a:gd name="adj1" fmla="val 16215026"/>
              <a:gd name="adj2" fmla="val 0"/>
            </a:avLst>
          </a:prstGeom>
          <a:ln>
            <a:solidFill>
              <a:srgbClr val="00B050"/>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s-AR"/>
          </a:p>
        </p:txBody>
      </p:sp>
      <p:cxnSp>
        <p:nvCxnSpPr>
          <p:cNvPr id="25" name="Conector recto 24"/>
          <p:cNvCxnSpPr/>
          <p:nvPr/>
        </p:nvCxnSpPr>
        <p:spPr>
          <a:xfrm>
            <a:off x="2468560" y="3633991"/>
            <a:ext cx="368761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6" name="CuadroTexto 25"/>
          <p:cNvSpPr txBox="1"/>
          <p:nvPr/>
        </p:nvSpPr>
        <p:spPr>
          <a:xfrm>
            <a:off x="1547664" y="3430144"/>
            <a:ext cx="1036578" cy="276999"/>
          </a:xfrm>
          <a:prstGeom prst="rect">
            <a:avLst/>
          </a:prstGeom>
          <a:noFill/>
        </p:spPr>
        <p:txBody>
          <a:bodyPr wrap="square" rtlCol="0">
            <a:spAutoFit/>
          </a:bodyPr>
          <a:lstStyle/>
          <a:p>
            <a:pPr algn="ctr"/>
            <a:r>
              <a:rPr lang="es-AR" sz="1200" dirty="0" smtClean="0"/>
              <a:t>1,44. P</a:t>
            </a:r>
            <a:r>
              <a:rPr lang="es-AR" sz="1200" baseline="-25000" dirty="0" smtClean="0"/>
              <a:t>2</a:t>
            </a:r>
            <a:r>
              <a:rPr lang="es-AR" sz="1200" dirty="0" smtClean="0"/>
              <a:t>/No</a:t>
            </a:r>
            <a:endParaRPr lang="es-AR" sz="1200" dirty="0"/>
          </a:p>
        </p:txBody>
      </p:sp>
      <p:sp>
        <p:nvSpPr>
          <p:cNvPr id="27" name="Rectángulo 26"/>
          <p:cNvSpPr/>
          <p:nvPr/>
        </p:nvSpPr>
        <p:spPr>
          <a:xfrm>
            <a:off x="3257377" y="1844824"/>
            <a:ext cx="3815468" cy="923330"/>
          </a:xfrm>
          <a:prstGeom prst="rect">
            <a:avLst/>
          </a:prstGeom>
        </p:spPr>
        <p:txBody>
          <a:bodyPr wrap="none">
            <a:spAutoFit/>
          </a:bodyPr>
          <a:lstStyle/>
          <a:p>
            <a:r>
              <a:rPr lang="es-AR" dirty="0" smtClean="0"/>
              <a:t>R &lt; C </a:t>
            </a:r>
            <a:r>
              <a:rPr lang="es-AR" dirty="0"/>
              <a:t>= B . log</a:t>
            </a:r>
            <a:r>
              <a:rPr lang="es-AR" baseline="-25000" dirty="0"/>
              <a:t>2</a:t>
            </a:r>
            <a:r>
              <a:rPr lang="es-AR" dirty="0"/>
              <a:t>(1 + P/</a:t>
            </a:r>
            <a:r>
              <a:rPr lang="es-AR" dirty="0" err="1"/>
              <a:t>No.B</a:t>
            </a:r>
            <a:r>
              <a:rPr lang="es-AR" dirty="0" smtClean="0"/>
              <a:t>)    [bps]</a:t>
            </a:r>
          </a:p>
          <a:p>
            <a:endParaRPr lang="es-AR" dirty="0"/>
          </a:p>
          <a:p>
            <a:r>
              <a:rPr lang="es-AR" dirty="0" smtClean="0"/>
              <a:t>No = K.T   [W/Hz]</a:t>
            </a:r>
            <a:endParaRPr lang="es-AR" dirty="0"/>
          </a:p>
        </p:txBody>
      </p:sp>
      <p:sp>
        <p:nvSpPr>
          <p:cNvPr id="28" name="Rectángulo 27"/>
          <p:cNvSpPr/>
          <p:nvPr/>
        </p:nvSpPr>
        <p:spPr>
          <a:xfrm>
            <a:off x="5076056" y="3743854"/>
            <a:ext cx="2722928" cy="461665"/>
          </a:xfrm>
          <a:prstGeom prst="rect">
            <a:avLst/>
          </a:prstGeom>
        </p:spPr>
        <p:txBody>
          <a:bodyPr wrap="square">
            <a:spAutoFit/>
          </a:bodyPr>
          <a:lstStyle/>
          <a:p>
            <a:r>
              <a:rPr lang="es-AR" sz="1200" dirty="0" smtClean="0"/>
              <a:t>B </a:t>
            </a:r>
            <a:r>
              <a:rPr lang="es-AR" sz="1200" dirty="0" smtClean="0">
                <a:latin typeface="Times New Roman" panose="02020603050405020304" pitchFamily="18" charset="0"/>
                <a:cs typeface="Times New Roman" panose="02020603050405020304" pitchFamily="18" charset="0"/>
              </a:rPr>
              <a:t>→</a:t>
            </a:r>
            <a:r>
              <a:rPr lang="es-AR" sz="1200" dirty="0" smtClean="0"/>
              <a:t> ∞	C </a:t>
            </a:r>
            <a:r>
              <a:rPr lang="es-AR" sz="1200" dirty="0" smtClean="0">
                <a:latin typeface="Times New Roman" panose="02020603050405020304" pitchFamily="18" charset="0"/>
                <a:cs typeface="Times New Roman" panose="02020603050405020304" pitchFamily="18" charset="0"/>
              </a:rPr>
              <a:t>→ </a:t>
            </a:r>
            <a:r>
              <a:rPr lang="es-AR" sz="1200" dirty="0"/>
              <a:t>1,44. </a:t>
            </a:r>
            <a:r>
              <a:rPr lang="es-AR" sz="1200" dirty="0" smtClean="0"/>
              <a:t>P/No</a:t>
            </a:r>
            <a:endParaRPr lang="es-AR" sz="1200" dirty="0"/>
          </a:p>
          <a:p>
            <a:r>
              <a:rPr lang="es-AR" sz="1200" dirty="0" smtClean="0"/>
              <a:t> </a:t>
            </a:r>
            <a:endParaRPr lang="es-AR" sz="1200" dirty="0"/>
          </a:p>
        </p:txBody>
      </p:sp>
    </p:spTree>
    <p:extLst>
      <p:ext uri="{BB962C8B-B14F-4D97-AF65-F5344CB8AC3E}">
        <p14:creationId xmlns:p14="http://schemas.microsoft.com/office/powerpoint/2010/main" val="25049497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 13 – Teorema de la capacidad del canal</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37</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indent="0" algn="just">
              <a:buNone/>
            </a:pPr>
            <a:r>
              <a:rPr lang="es-ES" sz="2000" dirty="0"/>
              <a:t>Una imagen de video en blanco y negro posee 3x10</a:t>
            </a:r>
            <a:r>
              <a:rPr lang="es-ES" sz="2000" baseline="30000" dirty="0"/>
              <a:t>5</a:t>
            </a:r>
            <a:r>
              <a:rPr lang="es-ES" sz="2000" dirty="0"/>
              <a:t> </a:t>
            </a:r>
            <a:r>
              <a:rPr lang="es-ES" sz="2000" dirty="0" err="1" smtClean="0"/>
              <a:t>pixels</a:t>
            </a:r>
            <a:r>
              <a:rPr lang="es-ES" sz="2000" dirty="0" smtClean="0"/>
              <a:t> por cuadro. </a:t>
            </a:r>
            <a:r>
              <a:rPr lang="es-ES" sz="2000" dirty="0"/>
              <a:t>El brillo (negro, grises y blanco) de cada pixel se representa mediante una escala de 16 niveles. </a:t>
            </a:r>
            <a:endParaRPr lang="es-AR" sz="2000" dirty="0"/>
          </a:p>
          <a:p>
            <a:pPr marL="457200" lvl="0" indent="-457200" algn="just">
              <a:buFont typeface="+mj-lt"/>
              <a:buAutoNum type="arabicPeriod"/>
            </a:pPr>
            <a:r>
              <a:rPr lang="es-ES" sz="2000" dirty="0"/>
              <a:t>Las imágenes se transmiten a una tasa de 30 cuadros por segundo. Calcule el ancho de banda mínimo para transmitir una señal de vídeo suponiendo que se necesita una SNR de 30 dB para una reproducción aceptable de la imagen. </a:t>
            </a:r>
            <a:endParaRPr lang="es-AR" sz="2000" dirty="0"/>
          </a:p>
          <a:p>
            <a:pPr marL="457200" lvl="0" indent="-457200" algn="just">
              <a:buFont typeface="+mj-lt"/>
              <a:buAutoNum type="arabicPeriod"/>
            </a:pPr>
            <a:r>
              <a:rPr lang="es-ES" sz="2000" dirty="0"/>
              <a:t>Se reemplaza el transmisor blanco y negro por color, y cada pixel pasa a cuantificarse con una paleta de 64 niveles de color. ¿Qué consecuencias sufrirá la recepción de la señal si no se modifica ningún otro parámetro del sistema? </a:t>
            </a:r>
            <a:endParaRPr lang="es-AR" sz="20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Tree>
    <p:extLst>
      <p:ext uri="{BB962C8B-B14F-4D97-AF65-F5344CB8AC3E}">
        <p14:creationId xmlns:p14="http://schemas.microsoft.com/office/powerpoint/2010/main" val="38757603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 13 – Teorema de la capacidad del canal</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38</a:t>
            </a:fld>
            <a:endParaRPr lang="es-ES"/>
          </a:p>
        </p:txBody>
      </p:sp>
      <p:sp>
        <p:nvSpPr>
          <p:cNvPr id="14" name="2 Marcador de contenido"/>
          <p:cNvSpPr>
            <a:spLocks noGrp="1"/>
          </p:cNvSpPr>
          <p:nvPr>
            <p:ph sz="quarter" idx="1"/>
          </p:nvPr>
        </p:nvSpPr>
        <p:spPr>
          <a:xfrm>
            <a:off x="457200" y="1219200"/>
            <a:ext cx="8229600" cy="4937760"/>
          </a:xfrm>
        </p:spPr>
        <p:txBody>
          <a:bodyPr>
            <a:normAutofit fontScale="92500" lnSpcReduction="10000"/>
          </a:bodyPr>
          <a:lstStyle/>
          <a:p>
            <a:pPr marL="457200" indent="-457200" algn="just">
              <a:buAutoNum type="arabicPeriod"/>
            </a:pPr>
            <a:r>
              <a:rPr lang="es-AR" sz="2000" dirty="0" smtClean="0"/>
              <a:t>Calculamos el tamaño, en bits, de una imagen.</a:t>
            </a:r>
          </a:p>
          <a:p>
            <a:pPr marL="0" indent="0" algn="just">
              <a:buNone/>
            </a:pPr>
            <a:r>
              <a:rPr lang="es-AR" sz="2000" dirty="0" smtClean="0"/>
              <a:t>Para ello, sabemos que cada pixel lleva un nivel de gris, blanco y negro, con una paleta de 16 variaciones. Por lo tanto, se necesitan log</a:t>
            </a:r>
            <a:r>
              <a:rPr lang="es-AR" sz="2000" baseline="-25000" dirty="0" smtClean="0"/>
              <a:t>2</a:t>
            </a:r>
            <a:r>
              <a:rPr lang="es-AR" sz="2000" dirty="0" smtClean="0"/>
              <a:t>(16) = 4 bits para representar cada nivel. O bien, 4 bits pueden representar 2</a:t>
            </a:r>
            <a:r>
              <a:rPr lang="es-AR" sz="2000" baseline="30000" dirty="0" smtClean="0"/>
              <a:t>4</a:t>
            </a:r>
            <a:r>
              <a:rPr lang="es-AR" sz="2000" dirty="0" smtClean="0"/>
              <a:t> = 16 niveles.</a:t>
            </a:r>
          </a:p>
          <a:p>
            <a:pPr marL="0" indent="0" algn="just">
              <a:buNone/>
            </a:pPr>
            <a:endParaRPr lang="es-AR" sz="2000" dirty="0"/>
          </a:p>
          <a:p>
            <a:pPr marL="2422525" indent="0" algn="just">
              <a:buNone/>
            </a:pPr>
            <a:endParaRPr lang="es-AR" sz="2000" dirty="0" smtClean="0"/>
          </a:p>
          <a:p>
            <a:pPr marL="2422525" indent="0" algn="just">
              <a:buNone/>
            </a:pPr>
            <a:endParaRPr lang="es-AR" sz="2000" dirty="0"/>
          </a:p>
          <a:p>
            <a:pPr marL="2422525" indent="0" algn="just">
              <a:buNone/>
            </a:pPr>
            <a:endParaRPr lang="es-AR" sz="2000" dirty="0" smtClean="0"/>
          </a:p>
          <a:p>
            <a:pPr marL="2422525" indent="0" algn="just">
              <a:buNone/>
            </a:pPr>
            <a:endParaRPr lang="es-AR" sz="2000" dirty="0"/>
          </a:p>
          <a:p>
            <a:pPr marL="2422525" indent="0" algn="just">
              <a:buNone/>
            </a:pPr>
            <a:endParaRPr lang="es-AR" sz="2000" dirty="0" smtClean="0"/>
          </a:p>
          <a:p>
            <a:pPr marL="2422525" indent="0" algn="just">
              <a:buNone/>
            </a:pPr>
            <a:r>
              <a:rPr lang="es-AR" sz="2000" dirty="0" smtClean="0"/>
              <a:t>Luego, una imagen compuesta por </a:t>
            </a:r>
            <a:r>
              <a:rPr lang="es-ES" sz="2000" dirty="0" smtClean="0"/>
              <a:t>3x10</a:t>
            </a:r>
            <a:r>
              <a:rPr lang="es-ES" sz="2000" baseline="30000" dirty="0"/>
              <a:t>5</a:t>
            </a:r>
            <a:r>
              <a:rPr lang="es-ES" sz="2000" dirty="0" smtClean="0"/>
              <a:t> </a:t>
            </a:r>
            <a:r>
              <a:rPr lang="es-ES" sz="2000" dirty="0" err="1" smtClean="0"/>
              <a:t>pixels</a:t>
            </a:r>
            <a:r>
              <a:rPr lang="es-ES" sz="2000" dirty="0" smtClean="0"/>
              <a:t> requiere para su codificación </a:t>
            </a:r>
          </a:p>
          <a:p>
            <a:pPr marL="2422525" indent="0" algn="just">
              <a:buNone/>
            </a:pPr>
            <a:endParaRPr lang="es-ES" sz="2000" dirty="0"/>
          </a:p>
          <a:p>
            <a:pPr marL="2422525" indent="0" algn="just">
              <a:buNone/>
            </a:pPr>
            <a:r>
              <a:rPr lang="es-ES" sz="2000" dirty="0" smtClean="0"/>
              <a:t>	3x10</a:t>
            </a:r>
            <a:r>
              <a:rPr lang="es-ES" sz="2000" baseline="30000" dirty="0" smtClean="0"/>
              <a:t>5 </a:t>
            </a:r>
            <a:r>
              <a:rPr lang="es-ES" sz="2000" dirty="0" err="1" smtClean="0"/>
              <a:t>pixels</a:t>
            </a:r>
            <a:r>
              <a:rPr lang="es-ES" sz="2000" dirty="0" smtClean="0"/>
              <a:t>. 4 bits/pixel = 12x10</a:t>
            </a:r>
            <a:r>
              <a:rPr lang="es-ES" sz="2000" baseline="30000" dirty="0" smtClean="0"/>
              <a:t>5 </a:t>
            </a:r>
            <a:r>
              <a:rPr lang="es-ES" sz="2000" dirty="0" smtClean="0"/>
              <a:t>bits</a:t>
            </a:r>
            <a:endParaRPr lang="es-AR" sz="2000" dirty="0"/>
          </a:p>
          <a:p>
            <a:pPr marL="0" indent="0" algn="just">
              <a:buNone/>
            </a:pPr>
            <a:endParaRPr lang="es-AR" sz="2000" dirty="0"/>
          </a:p>
          <a:p>
            <a:pPr marL="0" indent="0" algn="just">
              <a:buNone/>
            </a:pPr>
            <a:endParaRPr lang="es-AR" sz="1800" dirty="0" smtClean="0"/>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pic>
        <p:nvPicPr>
          <p:cNvPr id="7" name="Imagen 6"/>
          <p:cNvPicPr>
            <a:picLocks noChangeAspect="1"/>
          </p:cNvPicPr>
          <p:nvPr/>
        </p:nvPicPr>
        <p:blipFill>
          <a:blip r:embed="rId2"/>
          <a:stretch>
            <a:fillRect/>
          </a:stretch>
        </p:blipFill>
        <p:spPr>
          <a:xfrm>
            <a:off x="899592" y="3284984"/>
            <a:ext cx="1800225" cy="2543175"/>
          </a:xfrm>
          <a:prstGeom prst="rect">
            <a:avLst/>
          </a:prstGeom>
        </p:spPr>
      </p:pic>
      <p:sp>
        <p:nvSpPr>
          <p:cNvPr id="9" name="CuadroTexto 8"/>
          <p:cNvSpPr txBox="1"/>
          <p:nvPr/>
        </p:nvSpPr>
        <p:spPr>
          <a:xfrm>
            <a:off x="504503" y="3007985"/>
            <a:ext cx="1954560" cy="276999"/>
          </a:xfrm>
          <a:prstGeom prst="rect">
            <a:avLst/>
          </a:prstGeom>
          <a:noFill/>
        </p:spPr>
        <p:txBody>
          <a:bodyPr wrap="square" rtlCol="0">
            <a:spAutoFit/>
          </a:bodyPr>
          <a:lstStyle/>
          <a:p>
            <a:pPr algn="ctr"/>
            <a:r>
              <a:rPr lang="es-AR" sz="1200" dirty="0" smtClean="0"/>
              <a:t>0000   0001   0010….</a:t>
            </a:r>
            <a:endParaRPr lang="es-AR" sz="1200" dirty="0"/>
          </a:p>
        </p:txBody>
      </p:sp>
      <p:sp>
        <p:nvSpPr>
          <p:cNvPr id="10" name="CuadroTexto 9"/>
          <p:cNvSpPr txBox="1"/>
          <p:nvPr/>
        </p:nvSpPr>
        <p:spPr>
          <a:xfrm>
            <a:off x="1347552" y="5816297"/>
            <a:ext cx="1594520" cy="276999"/>
          </a:xfrm>
          <a:prstGeom prst="rect">
            <a:avLst/>
          </a:prstGeom>
          <a:noFill/>
        </p:spPr>
        <p:txBody>
          <a:bodyPr wrap="square" rtlCol="0">
            <a:spAutoFit/>
          </a:bodyPr>
          <a:lstStyle/>
          <a:p>
            <a:pPr algn="ctr"/>
            <a:r>
              <a:rPr lang="es-AR" sz="1200" dirty="0" smtClean="0"/>
              <a:t>…1101   1110   1111</a:t>
            </a:r>
            <a:endParaRPr lang="es-AR" sz="1200" dirty="0"/>
          </a:p>
        </p:txBody>
      </p:sp>
      <p:pic>
        <p:nvPicPr>
          <p:cNvPr id="8" name="Imagen 7"/>
          <p:cNvPicPr>
            <a:picLocks noChangeAspect="1"/>
          </p:cNvPicPr>
          <p:nvPr/>
        </p:nvPicPr>
        <p:blipFill>
          <a:blip r:embed="rId3"/>
          <a:stretch>
            <a:fillRect/>
          </a:stretch>
        </p:blipFill>
        <p:spPr>
          <a:xfrm>
            <a:off x="4067944" y="2636912"/>
            <a:ext cx="2619375" cy="1743075"/>
          </a:xfrm>
          <a:prstGeom prst="rect">
            <a:avLst/>
          </a:prstGeom>
        </p:spPr>
      </p:pic>
      <p:sp>
        <p:nvSpPr>
          <p:cNvPr id="11" name="Flecha derecha 10"/>
          <p:cNvSpPr/>
          <p:nvPr/>
        </p:nvSpPr>
        <p:spPr>
          <a:xfrm rot="19973414">
            <a:off x="2771711" y="3188716"/>
            <a:ext cx="1561578"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1653911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 13 – Teorema de la capacidad del canal</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39</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indent="0" algn="just">
              <a:buNone/>
            </a:pPr>
            <a:r>
              <a:rPr lang="es-AR" sz="2000" dirty="0" smtClean="0"/>
              <a:t>Luego calculamos la tasa de transmisión de bits.</a:t>
            </a:r>
          </a:p>
          <a:p>
            <a:pPr marL="0" indent="0" algn="just">
              <a:buNone/>
            </a:pPr>
            <a:r>
              <a:rPr lang="es-AR" sz="2000" dirty="0" smtClean="0"/>
              <a:t>Si una imagen requiere </a:t>
            </a:r>
            <a:r>
              <a:rPr lang="es-ES" sz="2000" dirty="0"/>
              <a:t>12x10</a:t>
            </a:r>
            <a:r>
              <a:rPr lang="es-ES" sz="2000" baseline="30000" dirty="0"/>
              <a:t>5 </a:t>
            </a:r>
            <a:r>
              <a:rPr lang="es-ES" sz="2000" dirty="0" smtClean="0"/>
              <a:t>bits para su codificación, y se transmiten a una tasa de 30 imágenes por segundo, estaremos transmitiendo </a:t>
            </a:r>
          </a:p>
          <a:p>
            <a:pPr marL="0" indent="0" algn="just">
              <a:buNone/>
            </a:pPr>
            <a:endParaRPr lang="es-ES" sz="2000" dirty="0"/>
          </a:p>
          <a:p>
            <a:pPr marL="0" indent="0" algn="just">
              <a:buNone/>
            </a:pPr>
            <a:r>
              <a:rPr lang="es-ES" sz="1800" dirty="0" smtClean="0"/>
              <a:t>(30 imágenes.12x10</a:t>
            </a:r>
            <a:r>
              <a:rPr lang="es-ES" sz="1800" baseline="30000" dirty="0" smtClean="0"/>
              <a:t>5 </a:t>
            </a:r>
            <a:r>
              <a:rPr lang="es-ES" sz="1800" dirty="0" smtClean="0"/>
              <a:t>bits/imagen) / 1 segundo = 360x10</a:t>
            </a:r>
            <a:r>
              <a:rPr lang="es-ES" sz="1800" baseline="30000" dirty="0" smtClean="0"/>
              <a:t>5</a:t>
            </a:r>
            <a:r>
              <a:rPr lang="es-ES" sz="1800" dirty="0"/>
              <a:t> </a:t>
            </a:r>
            <a:r>
              <a:rPr lang="es-ES" sz="1800" dirty="0" smtClean="0"/>
              <a:t>bits/segundo</a:t>
            </a:r>
          </a:p>
          <a:p>
            <a:pPr marL="0" indent="0" algn="just">
              <a:buNone/>
            </a:pPr>
            <a:endParaRPr lang="es-ES" sz="1800" dirty="0"/>
          </a:p>
          <a:p>
            <a:pPr marL="0" indent="0" algn="just">
              <a:buNone/>
            </a:pPr>
            <a:r>
              <a:rPr lang="es-ES" sz="1800" dirty="0" smtClean="0"/>
              <a:t>					           = 36 Mbps = R</a:t>
            </a:r>
            <a:endParaRPr lang="es-AR" sz="1800" dirty="0"/>
          </a:p>
          <a:p>
            <a:pPr marL="0" indent="0" algn="just">
              <a:buNone/>
            </a:pPr>
            <a:endParaRPr lang="es-AR" sz="2000" dirty="0"/>
          </a:p>
          <a:p>
            <a:pPr marL="0" indent="0" algn="just">
              <a:buNone/>
            </a:pPr>
            <a:r>
              <a:rPr lang="es-AR" sz="1800" dirty="0" smtClean="0"/>
              <a:t>Luego, el teorema de la capacidad del canal establece que la capacidad de un canal de ancho de banda limitado a B [Hz], con ruido AWGN, está dada por:</a:t>
            </a:r>
          </a:p>
          <a:p>
            <a:pPr marL="0" indent="0" algn="just">
              <a:buNone/>
            </a:pPr>
            <a:endParaRPr lang="es-AR" sz="1800" dirty="0"/>
          </a:p>
          <a:p>
            <a:pPr marL="0" indent="0" algn="ctr">
              <a:buNone/>
            </a:pPr>
            <a:r>
              <a:rPr lang="es-AR" sz="1800" dirty="0" smtClean="0"/>
              <a:t>C = B . </a:t>
            </a:r>
            <a:r>
              <a:rPr lang="es-AR" sz="1800" dirty="0"/>
              <a:t>l</a:t>
            </a:r>
            <a:r>
              <a:rPr lang="es-AR" sz="1800" dirty="0" smtClean="0"/>
              <a:t>og</a:t>
            </a:r>
            <a:r>
              <a:rPr lang="es-AR" sz="1800" baseline="-25000" dirty="0" smtClean="0"/>
              <a:t>2</a:t>
            </a:r>
            <a:r>
              <a:rPr lang="es-AR" sz="1800" dirty="0" smtClean="0"/>
              <a:t>(1 + P/</a:t>
            </a:r>
            <a:r>
              <a:rPr lang="es-AR" sz="1800" dirty="0" err="1" smtClean="0"/>
              <a:t>No.B</a:t>
            </a:r>
            <a:r>
              <a:rPr lang="es-AR" sz="1800" dirty="0" smtClean="0"/>
              <a:t>)		R &lt; C</a:t>
            </a:r>
          </a:p>
          <a:p>
            <a:pPr marL="0" indent="0" algn="just">
              <a:buNone/>
            </a:pPr>
            <a:endParaRPr lang="es-AR" sz="1800" dirty="0" smtClean="0"/>
          </a:p>
          <a:p>
            <a:pPr marL="0" indent="0" algn="just">
              <a:buNone/>
            </a:pPr>
            <a:endParaRPr lang="es-AR" sz="1800" dirty="0" smtClean="0"/>
          </a:p>
          <a:p>
            <a:pPr marL="0" indent="0" algn="just">
              <a:buNone/>
            </a:pPr>
            <a:endParaRPr lang="es-AR" sz="1800" dirty="0"/>
          </a:p>
          <a:p>
            <a:pPr marL="0" indent="0" algn="just">
              <a:buNone/>
            </a:pPr>
            <a:endParaRPr lang="es-AR" sz="1800" dirty="0"/>
          </a:p>
        </p:txBody>
      </p:sp>
    </p:spTree>
    <p:extLst>
      <p:ext uri="{BB962C8B-B14F-4D97-AF65-F5344CB8AC3E}">
        <p14:creationId xmlns:p14="http://schemas.microsoft.com/office/powerpoint/2010/main" val="39356982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 13 – Teorema de la capacidad del canal</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40</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indent="0" algn="ctr">
              <a:buNone/>
            </a:pPr>
            <a:r>
              <a:rPr lang="es-AR" sz="1800" dirty="0" smtClean="0"/>
              <a:t>C = B . </a:t>
            </a:r>
            <a:r>
              <a:rPr lang="es-AR" sz="1800" dirty="0"/>
              <a:t>l</a:t>
            </a:r>
            <a:r>
              <a:rPr lang="es-AR" sz="1800" dirty="0" smtClean="0"/>
              <a:t>og</a:t>
            </a:r>
            <a:r>
              <a:rPr lang="es-AR" sz="1800" baseline="-25000" dirty="0" smtClean="0"/>
              <a:t>2</a:t>
            </a:r>
            <a:r>
              <a:rPr lang="es-AR" sz="1800" dirty="0" smtClean="0"/>
              <a:t>(1 + SNR)		R &lt; C</a:t>
            </a:r>
          </a:p>
          <a:p>
            <a:pPr marL="0" indent="0" algn="just">
              <a:buNone/>
            </a:pPr>
            <a:endParaRPr lang="es-AR" sz="1800" dirty="0" smtClean="0"/>
          </a:p>
          <a:p>
            <a:pPr marL="0" indent="0" algn="just">
              <a:buNone/>
            </a:pPr>
            <a:r>
              <a:rPr lang="es-AR" sz="1800" dirty="0" smtClean="0"/>
              <a:t>Tomando el límite C = 36 Mbps y SNR = 1000 veces (es decir, 30 dB), podemos despejar B.</a:t>
            </a:r>
          </a:p>
          <a:p>
            <a:pPr marL="0" indent="0" algn="just">
              <a:buNone/>
            </a:pPr>
            <a:endParaRPr lang="es-AR" sz="1800" dirty="0"/>
          </a:p>
          <a:p>
            <a:pPr marL="0" indent="0" algn="just">
              <a:buNone/>
            </a:pPr>
            <a:r>
              <a:rPr lang="es-AR" sz="1800" dirty="0" smtClean="0"/>
              <a:t>B = C </a:t>
            </a:r>
            <a:r>
              <a:rPr lang="es-AR" sz="1800" dirty="0"/>
              <a:t>/ log</a:t>
            </a:r>
            <a:r>
              <a:rPr lang="es-AR" sz="1800" baseline="-25000" dirty="0"/>
              <a:t>2</a:t>
            </a:r>
            <a:r>
              <a:rPr lang="es-AR" sz="1800" dirty="0"/>
              <a:t>(1 + </a:t>
            </a:r>
            <a:r>
              <a:rPr lang="es-AR" sz="1800" dirty="0" smtClean="0"/>
              <a:t>1000) = 36 Mbps / 10 = 3,6 MHz</a:t>
            </a:r>
            <a:endParaRPr lang="es-AR" sz="1800" dirty="0"/>
          </a:p>
          <a:p>
            <a:pPr marL="0" indent="0" algn="just">
              <a:buNone/>
            </a:pPr>
            <a:endParaRPr lang="es-AR" sz="1800" dirty="0"/>
          </a:p>
        </p:txBody>
      </p:sp>
    </p:spTree>
    <p:extLst>
      <p:ext uri="{BB962C8B-B14F-4D97-AF65-F5344CB8AC3E}">
        <p14:creationId xmlns:p14="http://schemas.microsoft.com/office/powerpoint/2010/main" val="2162516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 13 – Teorema de la capacidad del canal</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41</a:t>
            </a:fld>
            <a:endParaRPr lang="es-ES"/>
          </a:p>
        </p:txBody>
      </p:sp>
      <p:sp>
        <p:nvSpPr>
          <p:cNvPr id="14" name="2 Marcador de contenido"/>
          <p:cNvSpPr>
            <a:spLocks noGrp="1"/>
          </p:cNvSpPr>
          <p:nvPr>
            <p:ph sz="quarter" idx="1"/>
          </p:nvPr>
        </p:nvSpPr>
        <p:spPr>
          <a:xfrm>
            <a:off x="457200" y="1219200"/>
            <a:ext cx="8229600" cy="4937760"/>
          </a:xfrm>
        </p:spPr>
        <p:txBody>
          <a:bodyPr>
            <a:normAutofit/>
          </a:bodyPr>
          <a:lstStyle/>
          <a:p>
            <a:pPr marL="0" indent="0" algn="just">
              <a:buNone/>
            </a:pPr>
            <a:r>
              <a:rPr lang="es-AR" sz="1800" dirty="0" smtClean="0"/>
              <a:t>2. Para transmitir imágenes con 64 niveles de color, se requieren log</a:t>
            </a:r>
            <a:r>
              <a:rPr lang="es-AR" sz="1800" baseline="-25000" dirty="0" smtClean="0"/>
              <a:t>2</a:t>
            </a:r>
            <a:r>
              <a:rPr lang="es-AR" sz="1800" dirty="0" smtClean="0"/>
              <a:t>(64) = 6 bits para codificar cada píxel. Esto aumentará el tamaño de una imagen en bits y la tasa de transmisión. ¿Qué ocurrirá si no aumenta el ancho de banda y la SNR del canal?</a:t>
            </a:r>
          </a:p>
          <a:p>
            <a:pPr marL="0" indent="0" algn="just">
              <a:buNone/>
            </a:pPr>
            <a:endParaRPr lang="es-AR" sz="1800" dirty="0"/>
          </a:p>
          <a:p>
            <a:pPr marL="0" indent="0" algn="just">
              <a:buNone/>
            </a:pPr>
            <a:endParaRPr lang="es-AR" sz="1800" dirty="0"/>
          </a:p>
        </p:txBody>
      </p:sp>
      <p:pic>
        <p:nvPicPr>
          <p:cNvPr id="8" name="Imagen 7"/>
          <p:cNvPicPr>
            <a:picLocks noChangeAspect="1"/>
          </p:cNvPicPr>
          <p:nvPr/>
        </p:nvPicPr>
        <p:blipFill>
          <a:blip r:embed="rId2"/>
          <a:stretch>
            <a:fillRect/>
          </a:stretch>
        </p:blipFill>
        <p:spPr>
          <a:xfrm>
            <a:off x="4427984" y="3140968"/>
            <a:ext cx="3824233" cy="2088232"/>
          </a:xfrm>
          <a:prstGeom prst="rect">
            <a:avLst/>
          </a:prstGeom>
        </p:spPr>
      </p:pic>
      <p:pic>
        <p:nvPicPr>
          <p:cNvPr id="9" name="Imagen 8"/>
          <p:cNvPicPr>
            <a:picLocks noChangeAspect="1"/>
          </p:cNvPicPr>
          <p:nvPr/>
        </p:nvPicPr>
        <p:blipFill>
          <a:blip r:embed="rId3"/>
          <a:stretch>
            <a:fillRect/>
          </a:stretch>
        </p:blipFill>
        <p:spPr>
          <a:xfrm>
            <a:off x="1115616" y="3284984"/>
            <a:ext cx="2143072" cy="2143072"/>
          </a:xfrm>
          <a:prstGeom prst="rect">
            <a:avLst/>
          </a:prstGeom>
        </p:spPr>
      </p:pic>
      <p:sp>
        <p:nvSpPr>
          <p:cNvPr id="10" name="CuadroTexto 9"/>
          <p:cNvSpPr txBox="1"/>
          <p:nvPr/>
        </p:nvSpPr>
        <p:spPr>
          <a:xfrm>
            <a:off x="395536" y="3007985"/>
            <a:ext cx="1954560" cy="276999"/>
          </a:xfrm>
          <a:prstGeom prst="rect">
            <a:avLst/>
          </a:prstGeom>
          <a:noFill/>
        </p:spPr>
        <p:txBody>
          <a:bodyPr wrap="square" rtlCol="0">
            <a:spAutoFit/>
          </a:bodyPr>
          <a:lstStyle/>
          <a:p>
            <a:pPr algn="ctr"/>
            <a:r>
              <a:rPr lang="es-AR" sz="1200" dirty="0" smtClean="0"/>
              <a:t>000000   000001….</a:t>
            </a:r>
            <a:endParaRPr lang="es-AR" sz="1200" dirty="0"/>
          </a:p>
        </p:txBody>
      </p:sp>
      <p:sp>
        <p:nvSpPr>
          <p:cNvPr id="11" name="CuadroTexto 10"/>
          <p:cNvSpPr txBox="1"/>
          <p:nvPr/>
        </p:nvSpPr>
        <p:spPr>
          <a:xfrm>
            <a:off x="2267744" y="5517232"/>
            <a:ext cx="1594520" cy="276999"/>
          </a:xfrm>
          <a:prstGeom prst="rect">
            <a:avLst/>
          </a:prstGeom>
          <a:noFill/>
        </p:spPr>
        <p:txBody>
          <a:bodyPr wrap="square" rtlCol="0">
            <a:spAutoFit/>
          </a:bodyPr>
          <a:lstStyle/>
          <a:p>
            <a:pPr algn="ctr"/>
            <a:r>
              <a:rPr lang="es-AR" sz="1200" dirty="0" smtClean="0"/>
              <a:t>…111110  111111</a:t>
            </a:r>
            <a:endParaRPr lang="es-AR" sz="1200" dirty="0"/>
          </a:p>
        </p:txBody>
      </p:sp>
      <p:sp>
        <p:nvSpPr>
          <p:cNvPr id="12" name="Flecha derecha 11"/>
          <p:cNvSpPr/>
          <p:nvPr/>
        </p:nvSpPr>
        <p:spPr>
          <a:xfrm rot="19973414">
            <a:off x="3131751" y="3885308"/>
            <a:ext cx="1561578"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9398294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t>Ejercicio 14 – Fuente continua de información</a:t>
            </a:r>
            <a:endParaRPr lang="es-AR" dirty="0"/>
          </a:p>
        </p:txBody>
      </p:sp>
      <p:sp>
        <p:nvSpPr>
          <p:cNvPr id="4" name="3 Marcador de fecha"/>
          <p:cNvSpPr>
            <a:spLocks noGrp="1"/>
          </p:cNvSpPr>
          <p:nvPr>
            <p:ph type="dt" sz="half" idx="10"/>
          </p:nvPr>
        </p:nvSpPr>
        <p:spPr/>
        <p:txBody>
          <a:bodyPr/>
          <a:lstStyle/>
          <a:p>
            <a:r>
              <a:rPr lang="es-ES" dirty="0" smtClean="0"/>
              <a:t>Abril 2024</a:t>
            </a:r>
            <a:endParaRPr lang="es-ES" dirty="0"/>
          </a:p>
        </p:txBody>
      </p:sp>
      <p:sp>
        <p:nvSpPr>
          <p:cNvPr id="5" name="4 Marcador de pie de página"/>
          <p:cNvSpPr>
            <a:spLocks noGrp="1"/>
          </p:cNvSpPr>
          <p:nvPr>
            <p:ph type="ftr" sz="quarter" idx="11"/>
          </p:nvPr>
        </p:nvSpPr>
        <p:spPr/>
        <p:txBody>
          <a:bodyPr/>
          <a:lstStyle/>
          <a:p>
            <a:r>
              <a:rPr lang="es-ES" dirty="0" smtClean="0"/>
              <a:t>Ing. Leonel E. Hochman</a:t>
            </a:r>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42</a:t>
            </a:fld>
            <a:endParaRPr lang="es-ES"/>
          </a:p>
        </p:txBody>
      </p:sp>
      <mc:AlternateContent xmlns:mc="http://schemas.openxmlformats.org/markup-compatibility/2006" xmlns:a14="http://schemas.microsoft.com/office/drawing/2010/main">
        <mc:Choice Requires="a14">
          <p:sp>
            <p:nvSpPr>
              <p:cNvPr id="14" name="2 Marcador de contenido"/>
              <p:cNvSpPr>
                <a:spLocks noGrp="1"/>
              </p:cNvSpPr>
              <p:nvPr>
                <p:ph sz="quarter" idx="1"/>
              </p:nvPr>
            </p:nvSpPr>
            <p:spPr>
              <a:xfrm>
                <a:off x="457200" y="1219200"/>
                <a:ext cx="8229600" cy="4937760"/>
              </a:xfrm>
            </p:spPr>
            <p:txBody>
              <a:bodyPr>
                <a:normAutofit/>
              </a:bodyPr>
              <a:lstStyle/>
              <a:p>
                <a:pPr marL="0" indent="0" algn="just">
                  <a:buNone/>
                </a:pPr>
                <a:r>
                  <a:rPr lang="es-AR" sz="1800" dirty="0" smtClean="0"/>
                  <a:t>Para una fuente de información continua, modelada como una V.A. uniforme, calculamos su entropía diferencial:</a:t>
                </a:r>
              </a:p>
              <a:p>
                <a:pPr marL="0" indent="0" algn="just">
                  <a:buNone/>
                </a:pPr>
                <a:endParaRPr lang="es-AR" sz="1800" dirty="0" smtClean="0"/>
              </a:p>
              <a:p>
                <a:pPr marL="0" indent="0" algn="just">
                  <a:buNone/>
                </a:pPr>
                <a14:m>
                  <m:oMathPara xmlns:m="http://schemas.openxmlformats.org/officeDocument/2006/math">
                    <m:oMathParaPr>
                      <m:jc m:val="left"/>
                    </m:oMathParaPr>
                    <m:oMath xmlns:m="http://schemas.openxmlformats.org/officeDocument/2006/math">
                      <m:r>
                        <a:rPr lang="es-AR" sz="1800" b="0" i="1" smtClean="0">
                          <a:latin typeface="Cambria Math" panose="02040503050406030204" pitchFamily="18" charset="0"/>
                        </a:rPr>
                        <m:t>h</m:t>
                      </m:r>
                      <m:d>
                        <m:dPr>
                          <m:ctrlPr>
                            <a:rPr lang="es-AR" sz="1800" b="0" i="1" smtClean="0">
                              <a:latin typeface="Cambria Math" panose="02040503050406030204" pitchFamily="18" charset="0"/>
                            </a:rPr>
                          </m:ctrlPr>
                        </m:dPr>
                        <m:e>
                          <m:r>
                            <a:rPr lang="es-AR" sz="1800" b="0" i="1" smtClean="0">
                              <a:latin typeface="Cambria Math" panose="02040503050406030204" pitchFamily="18" charset="0"/>
                            </a:rPr>
                            <m:t>𝑥</m:t>
                          </m:r>
                        </m:e>
                      </m:d>
                      <m:r>
                        <a:rPr lang="es-AR" sz="1800" b="0" i="1" smtClean="0">
                          <a:latin typeface="Cambria Math" panose="02040503050406030204" pitchFamily="18" charset="0"/>
                        </a:rPr>
                        <m:t>= </m:t>
                      </m:r>
                      <m:nary>
                        <m:naryPr>
                          <m:ctrlPr>
                            <a:rPr lang="es-AR" sz="1800" b="0" i="1" smtClean="0">
                              <a:latin typeface="Cambria Math" panose="02040503050406030204" pitchFamily="18" charset="0"/>
                            </a:rPr>
                          </m:ctrlPr>
                        </m:naryPr>
                        <m:sub>
                          <m:r>
                            <m:rPr>
                              <m:brk m:alnAt="23"/>
                            </m:rPr>
                            <a:rPr lang="es-AR" sz="1800" b="0" i="1" smtClean="0">
                              <a:latin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m:t>
                          </m:r>
                        </m:sub>
                        <m:sup>
                          <m:r>
                            <a:rPr lang="es-AR" sz="1800" b="0" i="1" smtClean="0">
                              <a:latin typeface="Cambria Math" panose="02040503050406030204" pitchFamily="18" charset="0"/>
                            </a:rPr>
                            <m:t>+</m:t>
                          </m:r>
                          <m:r>
                            <a:rPr lang="es-AR" sz="1800" i="1">
                              <a:latin typeface="Cambria Math" panose="02040503050406030204" pitchFamily="18" charset="0"/>
                              <a:ea typeface="Cambria Math" panose="02040503050406030204" pitchFamily="18" charset="0"/>
                            </a:rPr>
                            <m:t>∞</m:t>
                          </m:r>
                        </m:sup>
                        <m:e>
                          <m:r>
                            <a:rPr lang="es-AR" sz="1800" b="0" i="1" smtClean="0">
                              <a:latin typeface="Cambria Math" panose="02040503050406030204" pitchFamily="18" charset="0"/>
                            </a:rPr>
                            <m:t>𝑓</m:t>
                          </m:r>
                          <m:d>
                            <m:dPr>
                              <m:ctrlPr>
                                <a:rPr lang="es-AR" sz="1800" b="0" i="1" smtClean="0">
                                  <a:latin typeface="Cambria Math" panose="02040503050406030204" pitchFamily="18" charset="0"/>
                                </a:rPr>
                              </m:ctrlPr>
                            </m:dPr>
                            <m:e>
                              <m:r>
                                <a:rPr lang="es-AR" sz="1800" b="0" i="1" smtClean="0">
                                  <a:latin typeface="Cambria Math" panose="02040503050406030204" pitchFamily="18" charset="0"/>
                                </a:rPr>
                                <m:t>𝑥</m:t>
                              </m:r>
                            </m:e>
                          </m:d>
                          <m:r>
                            <a:rPr lang="es-AR" sz="1800" b="0" i="1" smtClean="0">
                              <a:latin typeface="Cambria Math" panose="02040503050406030204" pitchFamily="18" charset="0"/>
                            </a:rPr>
                            <m:t>.</m:t>
                          </m:r>
                          <m:func>
                            <m:funcPr>
                              <m:ctrlPr>
                                <a:rPr lang="es-AR" sz="1800" b="0" i="1" smtClean="0">
                                  <a:latin typeface="Cambria Math" panose="02040503050406030204" pitchFamily="18" charset="0"/>
                                </a:rPr>
                              </m:ctrlPr>
                            </m:funcPr>
                            <m:fName>
                              <m:r>
                                <a:rPr lang="es-AR" sz="1800" b="0" i="1" smtClean="0">
                                  <a:latin typeface="Cambria Math" panose="02040503050406030204" pitchFamily="18" charset="0"/>
                                </a:rPr>
                                <m:t>𝑙𝑜𝑔</m:t>
                              </m:r>
                            </m:fName>
                            <m:e>
                              <m:d>
                                <m:dPr>
                                  <m:ctrlPr>
                                    <a:rPr lang="es-AR" sz="1800" b="0" i="1" smtClean="0">
                                      <a:latin typeface="Cambria Math" panose="02040503050406030204" pitchFamily="18" charset="0"/>
                                    </a:rPr>
                                  </m:ctrlPr>
                                </m:dPr>
                                <m:e>
                                  <m:f>
                                    <m:fPr>
                                      <m:ctrlPr>
                                        <a:rPr lang="es-AR" sz="1800" b="0" i="1" smtClean="0">
                                          <a:latin typeface="Cambria Math" panose="02040503050406030204" pitchFamily="18" charset="0"/>
                                        </a:rPr>
                                      </m:ctrlPr>
                                    </m:fPr>
                                    <m:num>
                                      <m:r>
                                        <a:rPr lang="es-AR" sz="1800" b="0" i="1" smtClean="0">
                                          <a:latin typeface="Cambria Math" panose="02040503050406030204" pitchFamily="18" charset="0"/>
                                        </a:rPr>
                                        <m:t>1</m:t>
                                      </m:r>
                                    </m:num>
                                    <m:den>
                                      <m:r>
                                        <a:rPr lang="es-AR" sz="1800" b="0" i="1" smtClean="0">
                                          <a:latin typeface="Cambria Math" panose="02040503050406030204" pitchFamily="18" charset="0"/>
                                        </a:rPr>
                                        <m:t>𝑓</m:t>
                                      </m:r>
                                      <m:r>
                                        <a:rPr lang="es-AR" sz="1800" b="0" i="1" smtClean="0">
                                          <a:latin typeface="Cambria Math" panose="02040503050406030204" pitchFamily="18" charset="0"/>
                                        </a:rPr>
                                        <m:t>(</m:t>
                                      </m:r>
                                      <m:r>
                                        <a:rPr lang="es-AR" sz="1800" b="0" i="1" smtClean="0">
                                          <a:latin typeface="Cambria Math" panose="02040503050406030204" pitchFamily="18" charset="0"/>
                                        </a:rPr>
                                        <m:t>𝑥</m:t>
                                      </m:r>
                                      <m:r>
                                        <a:rPr lang="es-AR" sz="1800" b="0" i="1" smtClean="0">
                                          <a:latin typeface="Cambria Math" panose="02040503050406030204" pitchFamily="18" charset="0"/>
                                        </a:rPr>
                                        <m:t>)</m:t>
                                      </m:r>
                                    </m:den>
                                  </m:f>
                                </m:e>
                              </m:d>
                            </m:e>
                          </m:func>
                          <m:r>
                            <a:rPr lang="es-AR" sz="1800" b="0" i="1" smtClean="0">
                              <a:latin typeface="Cambria Math" panose="02040503050406030204" pitchFamily="18" charset="0"/>
                            </a:rPr>
                            <m:t>𝑑𝑥</m:t>
                          </m:r>
                        </m:e>
                      </m:nary>
                    </m:oMath>
                  </m:oMathPara>
                </a14:m>
                <a:endParaRPr lang="es-AR" sz="1800" dirty="0" smtClean="0"/>
              </a:p>
              <a:p>
                <a:pPr marL="0" indent="0" algn="just">
                  <a:buNone/>
                </a:pPr>
                <a:endParaRPr lang="es-AR" sz="1800" dirty="0"/>
              </a:p>
              <a:p>
                <a:pPr marL="0" indent="0" algn="just">
                  <a:buNone/>
                </a:pPr>
                <a:r>
                  <a:rPr lang="es-AR" sz="1800" dirty="0" smtClean="0"/>
                  <a:t>siendo </a:t>
                </a:r>
                <a:r>
                  <a:rPr lang="es-AR" sz="1800" i="1" dirty="0" smtClean="0"/>
                  <a:t>f(x)</a:t>
                </a:r>
                <a:r>
                  <a:rPr lang="es-AR" sz="1800" dirty="0" smtClean="0"/>
                  <a:t> su función de densidad de probabilidad.</a:t>
                </a:r>
              </a:p>
              <a:p>
                <a:pPr marL="0" indent="0" algn="just">
                  <a:buNone/>
                </a:pPr>
                <a:endParaRPr lang="es-AR" sz="1800" dirty="0"/>
              </a:p>
              <a:p>
                <a:pPr marL="0" indent="0" algn="just">
                  <a:buNone/>
                </a:pPr>
                <a:r>
                  <a:rPr lang="es-AR" sz="1800" dirty="0" smtClean="0"/>
                  <a:t>Para la V.A. uniforme entre </a:t>
                </a:r>
                <a:r>
                  <a:rPr lang="es-AR" sz="1800" i="1" dirty="0" smtClean="0"/>
                  <a:t>a</a:t>
                </a:r>
                <a:r>
                  <a:rPr lang="es-AR" sz="1800" dirty="0" smtClean="0"/>
                  <a:t> y </a:t>
                </a:r>
                <a:r>
                  <a:rPr lang="es-AR" sz="1800" i="1" dirty="0" smtClean="0"/>
                  <a:t>b</a:t>
                </a:r>
                <a:r>
                  <a:rPr lang="es-AR" sz="1800" dirty="0" smtClean="0"/>
                  <a:t>, </a:t>
                </a:r>
                <a:r>
                  <a:rPr lang="es-AR" sz="1800" i="1" dirty="0" smtClean="0"/>
                  <a:t>f(x) = 1/(b – a)	   a ≤ x ≤ b</a:t>
                </a:r>
                <a:r>
                  <a:rPr lang="es-AR" sz="1800" dirty="0" smtClean="0"/>
                  <a:t>	</a:t>
                </a:r>
              </a:p>
              <a:p>
                <a:pPr marL="0" indent="0" algn="just">
                  <a:buNone/>
                </a:pPr>
                <a:endParaRPr lang="es-AR" sz="1800" dirty="0"/>
              </a:p>
              <a:p>
                <a:pPr marL="0" indent="0" algn="just">
                  <a:buNone/>
                </a:pPr>
                <a14:m>
                  <m:oMathPara xmlns:m="http://schemas.openxmlformats.org/officeDocument/2006/math">
                    <m:oMathParaPr>
                      <m:jc m:val="centerGroup"/>
                    </m:oMathParaPr>
                    <m:oMath xmlns:m="http://schemas.openxmlformats.org/officeDocument/2006/math">
                      <m:r>
                        <a:rPr lang="es-AR" sz="1800" i="1">
                          <a:latin typeface="Cambria Math" panose="02040503050406030204" pitchFamily="18" charset="0"/>
                        </a:rPr>
                        <m:t>h</m:t>
                      </m:r>
                      <m:d>
                        <m:dPr>
                          <m:ctrlPr>
                            <a:rPr lang="es-AR" sz="1800" i="1">
                              <a:latin typeface="Cambria Math" panose="02040503050406030204" pitchFamily="18" charset="0"/>
                            </a:rPr>
                          </m:ctrlPr>
                        </m:dPr>
                        <m:e>
                          <m:r>
                            <a:rPr lang="es-AR" sz="1800" i="1">
                              <a:latin typeface="Cambria Math" panose="02040503050406030204" pitchFamily="18" charset="0"/>
                            </a:rPr>
                            <m:t>𝑥</m:t>
                          </m:r>
                        </m:e>
                      </m:d>
                      <m:r>
                        <a:rPr lang="es-AR" sz="1800" i="1">
                          <a:latin typeface="Cambria Math" panose="02040503050406030204" pitchFamily="18" charset="0"/>
                        </a:rPr>
                        <m:t>= </m:t>
                      </m:r>
                      <m:nary>
                        <m:naryPr>
                          <m:ctrlPr>
                            <a:rPr lang="es-AR" sz="1800" i="1">
                              <a:latin typeface="Cambria Math" panose="02040503050406030204" pitchFamily="18" charset="0"/>
                            </a:rPr>
                          </m:ctrlPr>
                        </m:naryPr>
                        <m:sub>
                          <m:r>
                            <a:rPr lang="es-AR" sz="1800" b="0" i="1" smtClean="0">
                              <a:latin typeface="Cambria Math" panose="02040503050406030204" pitchFamily="18" charset="0"/>
                            </a:rPr>
                            <m:t>𝑎</m:t>
                          </m:r>
                        </m:sub>
                        <m:sup>
                          <m:r>
                            <a:rPr lang="es-AR" sz="1800" b="0" i="1" smtClean="0">
                              <a:latin typeface="Cambria Math" panose="02040503050406030204" pitchFamily="18" charset="0"/>
                            </a:rPr>
                            <m:t>𝑏</m:t>
                          </m:r>
                        </m:sup>
                        <m:e>
                          <m:f>
                            <m:fPr>
                              <m:ctrlPr>
                                <a:rPr lang="es-AR" sz="1800" i="1" smtClean="0">
                                  <a:latin typeface="Cambria Math" panose="02040503050406030204" pitchFamily="18" charset="0"/>
                                  <a:ea typeface="Cambria Math" panose="02040503050406030204" pitchFamily="18" charset="0"/>
                                </a:rPr>
                              </m:ctrlPr>
                            </m:fPr>
                            <m:num>
                              <m:r>
                                <a:rPr lang="es-AR" sz="1800" b="0" i="1" smtClean="0">
                                  <a:latin typeface="Cambria Math" panose="02040503050406030204" pitchFamily="18" charset="0"/>
                                  <a:ea typeface="Cambria Math" panose="02040503050406030204" pitchFamily="18" charset="0"/>
                                </a:rPr>
                                <m:t>1</m:t>
                              </m:r>
                            </m:num>
                            <m:den>
                              <m:r>
                                <a:rPr lang="es-AR" sz="1800" b="0" i="1" smtClean="0">
                                  <a:latin typeface="Cambria Math" panose="02040503050406030204" pitchFamily="18" charset="0"/>
                                  <a:ea typeface="Cambria Math" panose="02040503050406030204" pitchFamily="18" charset="0"/>
                                </a:rPr>
                                <m:t>𝑏</m:t>
                              </m:r>
                              <m:r>
                                <a:rPr lang="es-AR" sz="1800" b="0" i="1" smtClean="0">
                                  <a:latin typeface="Cambria Math" panose="02040503050406030204" pitchFamily="18" charset="0"/>
                                  <a:ea typeface="Cambria Math" panose="02040503050406030204" pitchFamily="18" charset="0"/>
                                </a:rPr>
                                <m:t>−</m:t>
                              </m:r>
                              <m:r>
                                <a:rPr lang="es-AR" sz="1800" b="0" i="1" smtClean="0">
                                  <a:latin typeface="Cambria Math" panose="02040503050406030204" pitchFamily="18" charset="0"/>
                                  <a:ea typeface="Cambria Math" panose="02040503050406030204" pitchFamily="18" charset="0"/>
                                </a:rPr>
                                <m:t>𝑎</m:t>
                              </m:r>
                            </m:den>
                          </m:f>
                          <m:r>
                            <a:rPr lang="es-AR" sz="1800" i="1">
                              <a:latin typeface="Cambria Math" panose="02040503050406030204" pitchFamily="18" charset="0"/>
                            </a:rPr>
                            <m:t>.</m:t>
                          </m:r>
                          <m:func>
                            <m:funcPr>
                              <m:ctrlPr>
                                <a:rPr lang="es-AR" sz="1800" i="1">
                                  <a:latin typeface="Cambria Math" panose="02040503050406030204" pitchFamily="18" charset="0"/>
                                </a:rPr>
                              </m:ctrlPr>
                            </m:funcPr>
                            <m:fName>
                              <m:r>
                                <a:rPr lang="es-AR" sz="1800" i="1">
                                  <a:latin typeface="Cambria Math" panose="02040503050406030204" pitchFamily="18" charset="0"/>
                                </a:rPr>
                                <m:t>𝑙𝑜𝑔</m:t>
                              </m:r>
                            </m:fName>
                            <m:e>
                              <m:d>
                                <m:dPr>
                                  <m:ctrlPr>
                                    <a:rPr lang="es-AR" sz="1800" i="1">
                                      <a:latin typeface="Cambria Math" panose="02040503050406030204" pitchFamily="18" charset="0"/>
                                    </a:rPr>
                                  </m:ctrlPr>
                                </m:dPr>
                                <m:e>
                                  <m:r>
                                    <a:rPr lang="es-AR" sz="1800" b="0" i="1" smtClean="0">
                                      <a:latin typeface="Cambria Math" panose="02040503050406030204" pitchFamily="18" charset="0"/>
                                    </a:rPr>
                                    <m:t>𝑏</m:t>
                                  </m:r>
                                  <m:r>
                                    <a:rPr lang="es-AR" sz="1800" b="0" i="1" smtClean="0">
                                      <a:latin typeface="Cambria Math" panose="02040503050406030204" pitchFamily="18" charset="0"/>
                                    </a:rPr>
                                    <m:t> −</m:t>
                                  </m:r>
                                  <m:r>
                                    <a:rPr lang="es-AR" sz="1800" b="0" i="1" smtClean="0">
                                      <a:latin typeface="Cambria Math" panose="02040503050406030204" pitchFamily="18" charset="0"/>
                                    </a:rPr>
                                    <m:t>𝑎</m:t>
                                  </m:r>
                                </m:e>
                              </m:d>
                            </m:e>
                          </m:func>
                          <m:r>
                            <a:rPr lang="es-AR" sz="1800" b="0" i="1" smtClean="0">
                              <a:latin typeface="Cambria Math" panose="02040503050406030204" pitchFamily="18" charset="0"/>
                            </a:rPr>
                            <m:t>𝑑𝑥</m:t>
                          </m:r>
                          <m:r>
                            <a:rPr lang="es-AR" sz="1800" b="0" i="1" smtClean="0">
                              <a:latin typeface="Cambria Math" panose="02040503050406030204" pitchFamily="18" charset="0"/>
                            </a:rPr>
                            <m:t>=</m:t>
                          </m:r>
                          <m:func>
                            <m:funcPr>
                              <m:ctrlPr>
                                <a:rPr lang="es-AR" sz="1800" i="1">
                                  <a:latin typeface="Cambria Math" panose="02040503050406030204" pitchFamily="18" charset="0"/>
                                </a:rPr>
                              </m:ctrlPr>
                            </m:funcPr>
                            <m:fName>
                              <m:r>
                                <a:rPr lang="es-AR" sz="1800" i="1">
                                  <a:latin typeface="Cambria Math" panose="02040503050406030204" pitchFamily="18" charset="0"/>
                                </a:rPr>
                                <m:t>𝑙𝑜𝑔</m:t>
                              </m:r>
                            </m:fName>
                            <m:e>
                              <m:d>
                                <m:dPr>
                                  <m:ctrlPr>
                                    <a:rPr lang="es-AR" sz="1800" i="1">
                                      <a:latin typeface="Cambria Math" panose="02040503050406030204" pitchFamily="18" charset="0"/>
                                    </a:rPr>
                                  </m:ctrlPr>
                                </m:dPr>
                                <m:e>
                                  <m:r>
                                    <a:rPr lang="es-AR" sz="1800" i="1">
                                      <a:latin typeface="Cambria Math" panose="02040503050406030204" pitchFamily="18" charset="0"/>
                                    </a:rPr>
                                    <m:t>𝑏</m:t>
                                  </m:r>
                                  <m:r>
                                    <a:rPr lang="es-AR" sz="1800" i="1">
                                      <a:latin typeface="Cambria Math" panose="02040503050406030204" pitchFamily="18" charset="0"/>
                                    </a:rPr>
                                    <m:t> −</m:t>
                                  </m:r>
                                  <m:r>
                                    <a:rPr lang="es-AR" sz="1800" i="1">
                                      <a:latin typeface="Cambria Math" panose="02040503050406030204" pitchFamily="18" charset="0"/>
                                    </a:rPr>
                                    <m:t>𝑎</m:t>
                                  </m:r>
                                </m:e>
                              </m:d>
                            </m:e>
                          </m:func>
                        </m:e>
                      </m:nary>
                    </m:oMath>
                  </m:oMathPara>
                </a14:m>
                <a:endParaRPr lang="es-AR" sz="1800" dirty="0"/>
              </a:p>
            </p:txBody>
          </p:sp>
        </mc:Choice>
        <mc:Fallback xmlns="">
          <p:sp>
            <p:nvSpPr>
              <p:cNvPr id="14" name="2 Marcador de contenido"/>
              <p:cNvSpPr>
                <a:spLocks noGrp="1" noRot="1" noChangeAspect="1" noMove="1" noResize="1" noEditPoints="1" noAdjustHandles="1" noChangeArrowheads="1" noChangeShapeType="1" noTextEdit="1"/>
              </p:cNvSpPr>
              <p:nvPr>
                <p:ph sz="quarter" idx="1"/>
              </p:nvPr>
            </p:nvSpPr>
            <p:spPr>
              <a:xfrm>
                <a:off x="457200" y="1219200"/>
                <a:ext cx="8229600" cy="4937760"/>
              </a:xfrm>
              <a:blipFill>
                <a:blip r:embed="rId2"/>
                <a:stretch>
                  <a:fillRect l="-593" t="-494" r="-593"/>
                </a:stretch>
              </a:blipFill>
            </p:spPr>
            <p:txBody>
              <a:bodyPr/>
              <a:lstStyle/>
              <a:p>
                <a:r>
                  <a:rPr lang="es-AR">
                    <a:noFill/>
                  </a:rPr>
                  <a:t> </a:t>
                </a:r>
              </a:p>
            </p:txBody>
          </p:sp>
        </mc:Fallback>
      </mc:AlternateContent>
      <p:sp>
        <p:nvSpPr>
          <p:cNvPr id="13" name="14 CuadroTexto"/>
          <p:cNvSpPr txBox="1"/>
          <p:nvPr/>
        </p:nvSpPr>
        <p:spPr>
          <a:xfrm>
            <a:off x="4733529" y="5373216"/>
            <a:ext cx="3923453"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AR" dirty="0" smtClean="0"/>
              <a:t>¿Cómo será </a:t>
            </a:r>
            <a:r>
              <a:rPr lang="es-AR" i="1" dirty="0" smtClean="0"/>
              <a:t>h(x)</a:t>
            </a:r>
            <a:r>
              <a:rPr lang="es-AR" dirty="0" smtClean="0"/>
              <a:t> si </a:t>
            </a:r>
            <a:r>
              <a:rPr lang="es-AR" i="1" dirty="0" smtClean="0"/>
              <a:t>b – a ≤ 1</a:t>
            </a:r>
            <a:r>
              <a:rPr lang="es-AR" dirty="0" smtClean="0"/>
              <a:t> ?</a:t>
            </a:r>
            <a:endParaRPr lang="es-AR" baseline="30000" dirty="0" smtClean="0"/>
          </a:p>
        </p:txBody>
      </p:sp>
      <p:pic>
        <p:nvPicPr>
          <p:cNvPr id="7" name="Imagen 6"/>
          <p:cNvPicPr>
            <a:picLocks noChangeAspect="1"/>
          </p:cNvPicPr>
          <p:nvPr/>
        </p:nvPicPr>
        <p:blipFill>
          <a:blip r:embed="rId3"/>
          <a:stretch>
            <a:fillRect/>
          </a:stretch>
        </p:blipFill>
        <p:spPr>
          <a:xfrm>
            <a:off x="6300192" y="2038834"/>
            <a:ext cx="2674987" cy="1750206"/>
          </a:xfrm>
          <a:prstGeom prst="rect">
            <a:avLst/>
          </a:prstGeom>
        </p:spPr>
      </p:pic>
    </p:spTree>
    <p:extLst>
      <p:ext uri="{BB962C8B-B14F-4D97-AF65-F5344CB8AC3E}">
        <p14:creationId xmlns:p14="http://schemas.microsoft.com/office/powerpoint/2010/main" val="9491074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r>
              <a:rPr lang="es-ES" dirty="0" smtClean="0"/>
              <a:t>Abril 2024</a:t>
            </a:r>
            <a:endParaRPr lang="es-ES" dirty="0"/>
          </a:p>
        </p:txBody>
      </p:sp>
      <p:sp>
        <p:nvSpPr>
          <p:cNvPr id="4" name="3 Marcador de pie de página"/>
          <p:cNvSpPr>
            <a:spLocks noGrp="1"/>
          </p:cNvSpPr>
          <p:nvPr>
            <p:ph type="ftr" sz="quarter" idx="11"/>
          </p:nvPr>
        </p:nvSpPr>
        <p:spPr/>
        <p:txBody>
          <a:bodyPr/>
          <a:lstStyle/>
          <a:p>
            <a:r>
              <a:rPr lang="es-ES" smtClean="0"/>
              <a:t>Ing. Leonel E. Hochman</a:t>
            </a:r>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43</a:t>
            </a:fld>
            <a:endParaRPr lang="es-ES"/>
          </a:p>
        </p:txBody>
      </p:sp>
      <p:sp>
        <p:nvSpPr>
          <p:cNvPr id="9" name="8 Título"/>
          <p:cNvSpPr>
            <a:spLocks noGrp="1"/>
          </p:cNvSpPr>
          <p:nvPr>
            <p:ph type="title" idx="4294967295"/>
          </p:nvPr>
        </p:nvSpPr>
        <p:spPr>
          <a:xfrm>
            <a:off x="446856" y="2925134"/>
            <a:ext cx="8229600" cy="990600"/>
          </a:xfrm>
        </p:spPr>
        <p:txBody>
          <a:bodyPr>
            <a:normAutofit fontScale="90000"/>
          </a:bodyPr>
          <a:lstStyle/>
          <a:p>
            <a:pPr algn="ctr"/>
            <a:r>
              <a:rPr lang="es-AR" dirty="0" smtClean="0"/>
              <a:t>¿Dudas?</a:t>
            </a:r>
            <a:br>
              <a:rPr lang="es-AR" dirty="0" smtClean="0"/>
            </a:br>
            <a:r>
              <a:rPr lang="es-AR" dirty="0" smtClean="0"/>
              <a:t>¿Consultas?</a:t>
            </a:r>
            <a:endParaRPr lang="es-AR" dirty="0"/>
          </a:p>
        </p:txBody>
      </p:sp>
    </p:spTree>
    <p:extLst>
      <p:ext uri="{BB962C8B-B14F-4D97-AF65-F5344CB8AC3E}">
        <p14:creationId xmlns:p14="http://schemas.microsoft.com/office/powerpoint/2010/main" val="11276489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r>
              <a:rPr lang="es-ES" dirty="0" smtClean="0"/>
              <a:t>Abril 2024</a:t>
            </a:r>
            <a:endParaRPr lang="es-ES" dirty="0"/>
          </a:p>
        </p:txBody>
      </p:sp>
      <p:sp>
        <p:nvSpPr>
          <p:cNvPr id="4" name="3 Marcador de pie de página"/>
          <p:cNvSpPr>
            <a:spLocks noGrp="1"/>
          </p:cNvSpPr>
          <p:nvPr>
            <p:ph type="ftr" sz="quarter" idx="11"/>
          </p:nvPr>
        </p:nvSpPr>
        <p:spPr/>
        <p:txBody>
          <a:bodyPr/>
          <a:lstStyle/>
          <a:p>
            <a:r>
              <a:rPr lang="es-ES" smtClean="0"/>
              <a:t>Ing. Leonel E. Hochman</a:t>
            </a:r>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44</a:t>
            </a:fld>
            <a:endParaRPr lang="es-ES"/>
          </a:p>
        </p:txBody>
      </p:sp>
      <p:sp>
        <p:nvSpPr>
          <p:cNvPr id="9" name="8 Título"/>
          <p:cNvSpPr>
            <a:spLocks noGrp="1"/>
          </p:cNvSpPr>
          <p:nvPr>
            <p:ph type="title" idx="4294967295"/>
          </p:nvPr>
        </p:nvSpPr>
        <p:spPr>
          <a:xfrm>
            <a:off x="446856" y="2420888"/>
            <a:ext cx="8229600" cy="990600"/>
          </a:xfrm>
        </p:spPr>
        <p:txBody>
          <a:bodyPr>
            <a:normAutofit/>
          </a:bodyPr>
          <a:lstStyle/>
          <a:p>
            <a:pPr algn="ctr"/>
            <a:r>
              <a:rPr lang="es-AR" dirty="0" smtClean="0"/>
              <a:t>Muchas gracias por su atención</a:t>
            </a:r>
            <a:endParaRPr lang="es-AR" dirty="0"/>
          </a:p>
        </p:txBody>
      </p:sp>
    </p:spTree>
    <p:extLst>
      <p:ext uri="{BB962C8B-B14F-4D97-AF65-F5344CB8AC3E}">
        <p14:creationId xmlns:p14="http://schemas.microsoft.com/office/powerpoint/2010/main" val="272652305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en">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3367</TotalTime>
  <Words>4832</Words>
  <Application>Microsoft Office PowerPoint</Application>
  <PresentationFormat>Presentación en pantalla (4:3)</PresentationFormat>
  <Paragraphs>1136</Paragraphs>
  <Slides>44</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44</vt:i4>
      </vt:variant>
    </vt:vector>
  </HeadingPairs>
  <TitlesOfParts>
    <vt:vector size="53" baseType="lpstr">
      <vt:lpstr>Bookman Old Style</vt:lpstr>
      <vt:lpstr>Calibri</vt:lpstr>
      <vt:lpstr>Cambria</vt:lpstr>
      <vt:lpstr>Cambria Math</vt:lpstr>
      <vt:lpstr>Gill Sans MT</vt:lpstr>
      <vt:lpstr>Times New Roman</vt:lpstr>
      <vt:lpstr>Wingdings</vt:lpstr>
      <vt:lpstr>Wingdings 3</vt:lpstr>
      <vt:lpstr>Origen</vt:lpstr>
      <vt:lpstr>G1 – Elementos de TI  Orientación para la resolución de ejercicios seleccionados</vt:lpstr>
      <vt:lpstr>Introducción a las modulaciones digitales</vt:lpstr>
      <vt:lpstr>Elementos de Teoría de la Información</vt:lpstr>
      <vt:lpstr>Elementos de Teoría de la Información</vt:lpstr>
      <vt:lpstr>Elementos de Teoría de la Información</vt:lpstr>
      <vt:lpstr>Ejercicio 1 – Cantidad de información</vt:lpstr>
      <vt:lpstr>Ejercicio 1 – Cantidad de información</vt:lpstr>
      <vt:lpstr>Ejercicio 1 – Cantidad de información</vt:lpstr>
      <vt:lpstr>Ejercicio 4 – Entropía máxima</vt:lpstr>
      <vt:lpstr>Ejercicio 5 – CP y CUD</vt:lpstr>
      <vt:lpstr>Ejercicio 5 – CP y CUD</vt:lpstr>
      <vt:lpstr>Ejercicio 5 – CP y CUD</vt:lpstr>
      <vt:lpstr>Ejercicio 5 – CP y CUD</vt:lpstr>
      <vt:lpstr>Ejercicio 5 – CP y CUD</vt:lpstr>
      <vt:lpstr>Ejercicio 5 – CP y CUD</vt:lpstr>
      <vt:lpstr>Ejercicio 5 – CP y CUD</vt:lpstr>
      <vt:lpstr>Ejercicio 5 – CP y CUD</vt:lpstr>
      <vt:lpstr>Ejercicios 6 y 7 – Desigualdad K-McM y TCF</vt:lpstr>
      <vt:lpstr>Ejercicios 6 y 7 – Desigualdad K-McM y TCF</vt:lpstr>
      <vt:lpstr>Ejercicio 8 – Obtención de códigos óptimos – Método de Huffman</vt:lpstr>
      <vt:lpstr>Ejercicio 8 – Obtención de códigos óptimos – Método de Huffman</vt:lpstr>
      <vt:lpstr>Ejercicio 8 – Obtención de códigos óptimos – Método de Huffman</vt:lpstr>
      <vt:lpstr>Ejercicio 8 – Obtención de códigos óptimos – Método de Huffman</vt:lpstr>
      <vt:lpstr>Ejercicio 8 – Obtención de códigos óptimos – Método de Huffman</vt:lpstr>
      <vt:lpstr>Ejercicio 8 – Obtención de códigos óptimos – Método de Huffman</vt:lpstr>
      <vt:lpstr>Ejercicio 8 – Obtención de códigos óptimos – Método de Huffman</vt:lpstr>
      <vt:lpstr>Ejercicio 8 – Obtención de códigos óptimos – Método de Huffman</vt:lpstr>
      <vt:lpstr>Primer Teorema de Shannon</vt:lpstr>
      <vt:lpstr>Ejercicio 9 – Canal binario</vt:lpstr>
      <vt:lpstr>Ejercicio 9 – Canal binario</vt:lpstr>
      <vt:lpstr>Ejercicio 9 – Canal binario</vt:lpstr>
      <vt:lpstr>Ejercicio 9 – Canal binario</vt:lpstr>
      <vt:lpstr>Ejercicio 9 – Canal binario</vt:lpstr>
      <vt:lpstr>Ejercicio 9 – Canal binario</vt:lpstr>
      <vt:lpstr>Ejercicio 9 – Canal binario</vt:lpstr>
      <vt:lpstr>Ejercicio 12 – Límite de Shannon</vt:lpstr>
      <vt:lpstr>Ejercicio 13 – Teorema de la capacidad del canal</vt:lpstr>
      <vt:lpstr>Ejercicio 13 – Teorema de la capacidad del canal</vt:lpstr>
      <vt:lpstr>Ejercicio 13 – Teorema de la capacidad del canal</vt:lpstr>
      <vt:lpstr>Ejercicio 13 – Teorema de la capacidad del canal</vt:lpstr>
      <vt:lpstr>Ejercicio 13 – Teorema de la capacidad del canal</vt:lpstr>
      <vt:lpstr>Ejercicio 14 – Fuente continua de información</vt:lpstr>
      <vt:lpstr>¿Dudas? ¿Consultas?</vt:lpstr>
      <vt:lpstr>Muchas 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Cálculo de probabilidad de error en sistemas M-PSK</dc:title>
  <dc:creator>Leonel Hochman</dc:creator>
  <cp:lastModifiedBy>Hochman Leonel Enrique</cp:lastModifiedBy>
  <cp:revision>805</cp:revision>
  <dcterms:created xsi:type="dcterms:W3CDTF">2014-11-17T01:34:56Z</dcterms:created>
  <dcterms:modified xsi:type="dcterms:W3CDTF">2025-04-09T20:52:13Z</dcterms:modified>
</cp:coreProperties>
</file>